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</p:sldMasterIdLst>
  <p:notesMasterIdLst>
    <p:notesMasterId r:id="rId20"/>
  </p:notesMasterIdLst>
  <p:handoutMasterIdLst>
    <p:handoutMasterId r:id="rId21"/>
  </p:handoutMasterIdLst>
  <p:sldIdLst>
    <p:sldId id="269" r:id="rId5"/>
    <p:sldId id="275" r:id="rId6"/>
    <p:sldId id="270" r:id="rId7"/>
    <p:sldId id="279" r:id="rId8"/>
    <p:sldId id="271" r:id="rId9"/>
    <p:sldId id="280" r:id="rId10"/>
    <p:sldId id="285" r:id="rId11"/>
    <p:sldId id="286" r:id="rId12"/>
    <p:sldId id="287" r:id="rId13"/>
    <p:sldId id="289" r:id="rId14"/>
    <p:sldId id="288" r:id="rId15"/>
    <p:sldId id="272" r:id="rId16"/>
    <p:sldId id="284" r:id="rId17"/>
    <p:sldId id="283" r:id="rId18"/>
    <p:sldId id="274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efliger Sarah" initials="HS" lastIdx="1" clrIdx="0">
    <p:extLst>
      <p:ext uri="{19B8F6BF-5375-455C-9EA6-DF929625EA0E}">
        <p15:presenceInfo xmlns:p15="http://schemas.microsoft.com/office/powerpoint/2012/main" userId="S-1-5-21-2908198854-538845383-240637774-774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5E4"/>
    <a:srgbClr val="C6D0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D3FAC-D4D7-4874-9516-4F82DC790689}" v="1" dt="2026-06-05T14:47:53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886" autoAdjust="0"/>
  </p:normalViewPr>
  <p:slideViewPr>
    <p:cSldViewPr snapToGrid="0">
      <p:cViewPr varScale="1">
        <p:scale>
          <a:sx n="85" d="100"/>
          <a:sy n="85" d="100"/>
        </p:scale>
        <p:origin x="10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schan Sriganthan" userId="34441ecdfeb3e653" providerId="LiveId" clId="{02B31705-FE09-402A-8132-E2F37BBBA7A8}"/>
    <pc:docChg chg="undo custSel modSld">
      <pc:chgData name="Kapischan Sriganthan" userId="34441ecdfeb3e653" providerId="LiveId" clId="{02B31705-FE09-402A-8132-E2F37BBBA7A8}" dt="2026-06-05T14:54:16.234" v="3" actId="1076"/>
      <pc:docMkLst>
        <pc:docMk/>
      </pc:docMkLst>
      <pc:sldChg chg="modSp mod">
        <pc:chgData name="Kapischan Sriganthan" userId="34441ecdfeb3e653" providerId="LiveId" clId="{02B31705-FE09-402A-8132-E2F37BBBA7A8}" dt="2026-06-05T14:54:16.234" v="3" actId="1076"/>
        <pc:sldMkLst>
          <pc:docMk/>
          <pc:sldMk cId="3879218607" sldId="271"/>
        </pc:sldMkLst>
        <pc:spChg chg="mod">
          <ac:chgData name="Kapischan Sriganthan" userId="34441ecdfeb3e653" providerId="LiveId" clId="{02B31705-FE09-402A-8132-E2F37BBBA7A8}" dt="2026-06-05T14:54:16.234" v="3" actId="1076"/>
          <ac:spMkLst>
            <pc:docMk/>
            <pc:sldMk cId="3879218607" sldId="271"/>
            <ac:spMk id="4" creationId="{85B750EE-83D6-8C88-7CDB-3FA57BCF8D82}"/>
          </ac:spMkLst>
        </pc:spChg>
      </pc:sldChg>
      <pc:sldChg chg="modSp mod">
        <pc:chgData name="Kapischan Sriganthan" userId="34441ecdfeb3e653" providerId="LiveId" clId="{02B31705-FE09-402A-8132-E2F37BBBA7A8}" dt="2026-05-21T13:45:07.859" v="1" actId="20577"/>
        <pc:sldMkLst>
          <pc:docMk/>
          <pc:sldMk cId="1950776949" sldId="288"/>
        </pc:sldMkLst>
        <pc:spChg chg="mod">
          <ac:chgData name="Kapischan Sriganthan" userId="34441ecdfeb3e653" providerId="LiveId" clId="{02B31705-FE09-402A-8132-E2F37BBBA7A8}" dt="2026-05-21T13:45:07.859" v="1" actId="20577"/>
          <ac:spMkLst>
            <pc:docMk/>
            <pc:sldMk cId="1950776949" sldId="288"/>
            <ac:spMk id="5" creationId="{6779C8A3-9E27-4787-5A02-926B7E8385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153AE8-0340-45ED-9685-C92B0216AE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617E6D-F8D4-40A5-8428-4BE0130CDC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C6C6B-D9F5-419F-9429-30DB99A59677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0A212F-746F-473A-B283-86BE09A114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B17E3-8875-458D-AF0C-425761E1F7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CF783-6BFF-4BDA-9BF7-5A92214862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250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D163-32E0-437B-913C-B45EB86EFEE4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12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3851312"/>
            <a:ext cx="5486400" cy="46356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495B7-89A3-4DC8-8694-137E31A3F9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4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9388" indent="-179388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9245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781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04D8F27B-38CD-417C-A96A-5C46230F32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AADD33B-2F95-480B-8937-1C88CFDD2E5D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CEF8558-BF84-425D-A244-2DEBD1A62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7FC5287A-D220-4920-A175-F714461CC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33DFF2-7170-40D9-A728-01663590A9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</p:spTree>
    <p:extLst>
      <p:ext uri="{BB962C8B-B14F-4D97-AF65-F5344CB8AC3E}">
        <p14:creationId xmlns:p14="http://schemas.microsoft.com/office/powerpoint/2010/main" val="115183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0744EB-94E3-4BAA-B37A-30E33BF8320D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2C3C3875-0202-4913-9FCD-0A12B89F754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89B38DF-57BD-4F57-8700-CACA72448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8C418D9-D2AA-4392-B85E-D02E3D212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470846A-AA05-45E5-99D8-814D7D32AF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B8CFFCBD-6089-4BE8-BBB2-714D47184522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1171" y="4292600"/>
            <a:ext cx="3335487" cy="2571984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F5E81E-FB46-455E-ADE2-85CAE3D1642F}"/>
              </a:ext>
            </a:extLst>
          </p:cNvPr>
          <p:cNvSpPr/>
          <p:nvPr userDrawn="1"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970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4A672A56-0B1F-4E8F-BEBD-47BFDCD51E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881445" y="6206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A5714E-0FB8-4165-93F2-4FF55E8B8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12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54220A53-994F-43B6-88FD-53A23B13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12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1797B95-96A2-4588-B2C7-86E383AC5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412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90AA74D8-401F-46EB-B858-1665506FFA0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05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807907-7629-4F03-83AD-11FE12CF5A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8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C9F95C9-1016-4C4F-8083-B95E057D1D2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038" y="-2134"/>
            <a:ext cx="611603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1BDE96F-D073-4EF5-BF9E-A01EC0512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0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7EEB13-C279-41D5-A8D3-636DAD07B4E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FD839CF-36F2-4C13-94D3-6D6781442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B9A2B40-EAD1-4CC7-806E-7E97A0E7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C9EC776-17B6-4994-9140-2146CFB7A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-24001" y="0"/>
            <a:ext cx="612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D53017-553E-4EC3-818A-85C89607EAD7}"/>
              </a:ext>
            </a:extLst>
          </p:cNvPr>
          <p:cNvSpPr/>
          <p:nvPr/>
        </p:nvSpPr>
        <p:spPr>
          <a:xfrm>
            <a:off x="6096000" y="0"/>
            <a:ext cx="611496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C60C2162-1FAA-418F-9CF5-43E202D5E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9A419403-A75E-4872-AC73-76910711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7BBBFE5-B478-4B6C-8DA7-F2E45889C1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4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32"/>
            <a:ext cx="20700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121AF1B8-2A32-4DB5-9299-D0B00B8D8A9D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32"/>
            <a:ext cx="41148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5990" y="6459332"/>
            <a:ext cx="153035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DAABB91F-C869-4DEF-ACAB-85D44D968A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F0D5E9B0-A824-408A-9F7C-8C446E3EB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07989" y="1268413"/>
            <a:ext cx="11376024" cy="2160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860800"/>
            <a:ext cx="12186334" cy="29972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1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4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11376025" cy="4968899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BBFFFE76-0DC4-4D07-8565-3C6F333EB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5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5F90B1F1-DE75-4415-890D-1A7CAB7FFBAC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5938"/>
            <a:ext cx="11376025" cy="4321374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A59C42DA-06F4-4E47-B9A7-A13355F31F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CB36620-7FED-4EB4-8DE7-220CC740B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61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FECEC0D6-E0A0-48CE-85D1-9CAB721C81D4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42F08725-4BFD-4B8A-A340-CD32126858A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9C3D6271-46E6-4DFF-BBB3-BB262E23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FEEEBEB-4EC1-4282-BD74-0C0AE97A81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8AA0C819-6911-42A8-B196-B5B4A398C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4005C68-AB0F-4DA6-A7E8-727350633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41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1ECB100C-2F65-4D65-B905-9EC31420FA3A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04C3E4-9B80-46BD-9B37-5E0E5872D5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1268413"/>
            <a:ext cx="5543996" cy="431800"/>
          </a:xfrm>
        </p:spPr>
        <p:txBody>
          <a:bodyPr wrap="none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 oder Titel Bereich 1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09F936A1-5C56-4561-B0DC-D0B17F816C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0017" y="1268413"/>
            <a:ext cx="5543996" cy="429696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Titel Bereich 2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E3E51609-B8C0-4C1A-89AF-D0ECA0E9DF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6" name="Titel 1">
            <a:extLst>
              <a:ext uri="{FF2B5EF4-FFF2-40B4-BE49-F238E27FC236}">
                <a16:creationId xmlns:a16="http://schemas.microsoft.com/office/drawing/2014/main" id="{C8C3F265-1903-434D-80E4-91474AA9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8" name="Inhaltsplatzhalter 7">
            <a:extLst>
              <a:ext uri="{FF2B5EF4-FFF2-40B4-BE49-F238E27FC236}">
                <a16:creationId xmlns:a16="http://schemas.microsoft.com/office/drawing/2014/main" id="{C6EE206A-4608-4E89-B909-8D16877E80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E572EE94-5CD8-4F08-8FCD-B5FD6D8C4E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4" name="Grafik 13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BD1C1F6-95D1-48B1-A2BF-A1F1F67FCC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36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DC982107-10EC-461A-BA93-2A1E04553243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00FA40B-A450-423A-B962-C26877BE6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 und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20000701-407E-4649-9E96-BDCD46FAE3C7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63046CDA-8FEB-4733-9149-F4F932A73F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A5CBD604-DF86-4243-9EBF-7998435790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79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329E6EAF-049F-44B2-925D-A2869F663B39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C1E354FD-77C2-4DE7-BC2D-0433BDEF43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230FD6ED-3AB7-494F-9CA8-75C893CDBD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30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01663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Vielen Dank für Ihre Aufmerksamkeit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12186334" cy="3429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A82482-B1CC-4B5A-87DE-64E3FA88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8913"/>
            <a:ext cx="11376025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A4A949-57EC-41C3-BFF5-B8314FA6C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268413"/>
            <a:ext cx="11376024" cy="49688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FE0FEE-DB44-411C-8C4A-C92AAF51D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60640" y="6459372"/>
            <a:ext cx="207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6433DAC8-FA24-40DF-8EA8-9B3D5648F4DB}" type="datetime1">
              <a:rPr lang="de-DE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67D46-57A5-43CD-A27B-924E3B26C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368" y="6459372"/>
            <a:ext cx="41148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538D8-965A-40B0-BABB-6D5E1D0CF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5990" y="6459372"/>
            <a:ext cx="153035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371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4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ts val="19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orient="horz" pos="2160" userDrawn="1">
          <p15:clr>
            <a:srgbClr val="F26B43"/>
          </p15:clr>
        </p15:guide>
        <p15:guide id="37" pos="3840" userDrawn="1">
          <p15:clr>
            <a:srgbClr val="F26B43"/>
          </p15:clr>
        </p15:guide>
        <p15:guide id="38" pos="5745" userDrawn="1">
          <p15:clr>
            <a:srgbClr val="F26B43"/>
          </p15:clr>
        </p15:guide>
        <p15:guide id="39" orient="horz" pos="1071" userDrawn="1">
          <p15:clr>
            <a:srgbClr val="F26B43"/>
          </p15:clr>
        </p15:guide>
        <p15:guide id="40" orient="horz" pos="3249" userDrawn="1">
          <p15:clr>
            <a:srgbClr val="F26B43"/>
          </p15:clr>
        </p15:guide>
        <p15:guide id="41" pos="1935" userDrawn="1">
          <p15:clr>
            <a:srgbClr val="F26B43"/>
          </p15:clr>
        </p15:guide>
        <p15:guide id="42" orient="horz" pos="2704" userDrawn="1">
          <p15:clr>
            <a:srgbClr val="F26B43"/>
          </p15:clr>
        </p15:guide>
        <p15:guide id="43" orient="horz" pos="3793" userDrawn="1">
          <p15:clr>
            <a:srgbClr val="F26B43"/>
          </p15:clr>
        </p15:guide>
        <p15:guide id="44" orient="horz" pos="1616" userDrawn="1">
          <p15:clr>
            <a:srgbClr val="F26B43"/>
          </p15:clr>
        </p15:guide>
        <p15:guide id="45" orient="horz" pos="391" userDrawn="1">
          <p15:clr>
            <a:srgbClr val="F26B43"/>
          </p15:clr>
        </p15:guide>
        <p15:guide id="46" pos="4793" userDrawn="1">
          <p15:clr>
            <a:srgbClr val="F26B43"/>
          </p15:clr>
        </p15:guide>
        <p15:guide id="47" pos="2887" userDrawn="1">
          <p15:clr>
            <a:srgbClr val="F26B43"/>
          </p15:clr>
        </p15:guide>
        <p15:guide id="48" pos="6698" userDrawn="1">
          <p15:clr>
            <a:srgbClr val="F26B43"/>
          </p15:clr>
        </p15:guide>
        <p15:guide id="49" pos="982" userDrawn="1">
          <p15:clr>
            <a:srgbClr val="F26B43"/>
          </p15:clr>
        </p15:guide>
        <p15:guide id="50" pos="7174" userDrawn="1">
          <p15:clr>
            <a:srgbClr val="F26B43"/>
          </p15:clr>
        </p15:guide>
        <p15:guide id="51" pos="506" userDrawn="1">
          <p15:clr>
            <a:srgbClr val="F26B43"/>
          </p15:clr>
        </p15:guide>
        <p15:guide id="52" orient="horz" pos="119" userDrawn="1">
          <p15:clr>
            <a:srgbClr val="F26B43"/>
          </p15:clr>
        </p15:guide>
        <p15:guide id="53" orient="horz" pos="4065" userDrawn="1">
          <p15:clr>
            <a:srgbClr val="F26B43"/>
          </p15:clr>
        </p15:guide>
        <p15:guide id="54" orient="horz" pos="1888" userDrawn="1">
          <p15:clr>
            <a:srgbClr val="F26B43"/>
          </p15:clr>
        </p15:guide>
        <p15:guide id="55" orient="horz" pos="1344" userDrawn="1">
          <p15:clr>
            <a:srgbClr val="F26B43"/>
          </p15:clr>
        </p15:guide>
        <p15:guide id="56" orient="horz" pos="799" userDrawn="1">
          <p15:clr>
            <a:srgbClr val="F26B43"/>
          </p15:clr>
        </p15:guide>
        <p15:guide id="57" pos="3364" userDrawn="1">
          <p15:clr>
            <a:srgbClr val="F26B43"/>
          </p15:clr>
        </p15:guide>
        <p15:guide id="58" pos="2411" userDrawn="1">
          <p15:clr>
            <a:srgbClr val="F26B43"/>
          </p15:clr>
        </p15:guide>
        <p15:guide id="59" pos="1459" userDrawn="1">
          <p15:clr>
            <a:srgbClr val="F26B43"/>
          </p15:clr>
        </p15:guide>
        <p15:guide id="60" pos="257" userDrawn="1">
          <p15:clr>
            <a:srgbClr val="F26B43"/>
          </p15:clr>
        </p15:guide>
        <p15:guide id="61" pos="4316" userDrawn="1">
          <p15:clr>
            <a:srgbClr val="F26B43"/>
          </p15:clr>
        </p15:guide>
        <p15:guide id="62" pos="5269" userDrawn="1">
          <p15:clr>
            <a:srgbClr val="F26B43"/>
          </p15:clr>
        </p15:guide>
        <p15:guide id="63" pos="6221" userDrawn="1">
          <p15:clr>
            <a:srgbClr val="F26B43"/>
          </p15:clr>
        </p15:guide>
        <p15:guide id="64" pos="7423" userDrawn="1">
          <p15:clr>
            <a:srgbClr val="F26B43"/>
          </p15:clr>
        </p15:guide>
        <p15:guide id="65" orient="horz" pos="2432" userDrawn="1">
          <p15:clr>
            <a:srgbClr val="F26B43"/>
          </p15:clr>
        </p15:guide>
        <p15:guide id="66" orient="horz" pos="2976" userDrawn="1">
          <p15:clr>
            <a:srgbClr val="F26B43"/>
          </p15:clr>
        </p15:guide>
        <p15:guide id="67" orient="horz" pos="3521" userDrawn="1">
          <p15:clr>
            <a:srgbClr val="F26B43"/>
          </p15:clr>
        </p15:guide>
        <p15:guide id="68" orient="horz" pos="3929" userDrawn="1">
          <p15:clr>
            <a:srgbClr val="F26B43"/>
          </p15:clr>
        </p15:guide>
        <p15:guide id="69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BE14F-4D97-D459-5771-B645E89B4D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EB19DD-75E8-1E52-CB01-AC75465F3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Austrittsprozess</a:t>
            </a:r>
            <a:br>
              <a:rPr lang="de-CH"/>
            </a:br>
            <a:r>
              <a:rPr lang="de-CH"/>
              <a:t>IST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333B7826-3254-44F0-48AC-39E7D68C4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Protokoll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087D31-5CFF-3BCD-3BE5-61A50C9A1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err="1"/>
              <a:t>Kapischan</a:t>
            </a:r>
            <a:r>
              <a:rPr lang="de-CH"/>
              <a:t> </a:t>
            </a:r>
            <a:r>
              <a:rPr lang="de-CH" err="1"/>
              <a:t>Sriganthan</a:t>
            </a:r>
            <a:endParaRPr lang="de-CH"/>
          </a:p>
          <a:p>
            <a:r>
              <a:rPr lang="de-CH"/>
              <a:t>Sarah Haefliger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1A927A1-B9D0-A575-26D0-4393C52DDE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13" name="Bildplatzhalter 12" descr="Ein Bild, das Rechteck, Holzblock enthält.&#10;&#10;KI-generierte Inhalte können fehlerhaft sein.">
            <a:extLst>
              <a:ext uri="{FF2B5EF4-FFF2-40B4-BE49-F238E27FC236}">
                <a16:creationId xmlns:a16="http://schemas.microsoft.com/office/drawing/2014/main" id="{592324CF-E527-D6DA-4AF8-8F82750032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9" r="203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225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E14C10-4037-3962-1118-CE98A490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Teilnehmende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B1860EE6-36CA-B4CE-E3A0-1F66F0BA488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/>
              <a:t>Kathrin Kühnle</a:t>
            </a:r>
            <a:endParaRPr lang="de-CH" dirty="0">
              <a:cs typeface="Arial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Karin Huber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Maria König-Salgado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Marion Gafner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Ramona Bussmann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/>
              <a:t>Steven </a:t>
            </a:r>
            <a:r>
              <a:rPr lang="de-CH" dirty="0" err="1"/>
              <a:t>Boeni</a:t>
            </a:r>
            <a:endParaRPr lang="de-CH" dirty="0">
              <a:cs typeface="Arial" panose="020B0604020202020204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Kerstin Grube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Miriam Lehners (entschuldigt)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endParaRPr lang="de-CH" dirty="0">
              <a:cs typeface="Arial" panose="020B0604020202020204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Sarah Haefliger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 err="1">
                <a:cs typeface="Arial" panose="020B0604020202020204"/>
              </a:rPr>
              <a:t>Kapischan</a:t>
            </a:r>
            <a:r>
              <a:rPr lang="de-CH" dirty="0">
                <a:cs typeface="Arial" panose="020B0604020202020204"/>
              </a:rPr>
              <a:t> </a:t>
            </a:r>
            <a:r>
              <a:rPr lang="de-CH" dirty="0" err="1">
                <a:cs typeface="Arial" panose="020B0604020202020204"/>
              </a:rPr>
              <a:t>Sriganthan</a:t>
            </a:r>
            <a:endParaRPr lang="de-CH" dirty="0"/>
          </a:p>
          <a:p>
            <a:endParaRPr lang="de-CH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4C750C-8D01-0A72-1988-305E0572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A18-43AA-4555-88AA-AF11442681F0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5DADC3-B188-F713-2206-8904C510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676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44ECFA-4AD8-A6EF-6B1A-26508E6C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D3486-BB3E-461B-A37C-BF2BBE26FE47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91AEB1-A047-2559-722A-AEC45F17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0FB0139-28B5-98F9-8954-57D7D4E9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Ziele heute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43E11E-94F4-D2B6-A088-31FFE4A268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CH"/>
              <a:t>Der IST-Austrittsprozess ist vollständig und korrekt abgebildet – wir sind uns einig: so arbeiten wir heute.</a:t>
            </a:r>
          </a:p>
          <a:p>
            <a:r>
              <a:rPr lang="de-CH"/>
              <a:t>Pain Points sowie Handlungsfelder zur Optimierung sind identifiziert. </a:t>
            </a:r>
          </a:p>
          <a:p>
            <a:endParaRPr lang="de-CH"/>
          </a:p>
          <a:p>
            <a:pPr marL="0" indent="0">
              <a:buNone/>
            </a:pPr>
            <a:endParaRPr lang="de-CH"/>
          </a:p>
          <a:p>
            <a:pPr marL="0" indent="0">
              <a:buNone/>
            </a:pPr>
            <a:endParaRPr lang="de-CH"/>
          </a:p>
          <a:p>
            <a:pPr>
              <a:buFontTx/>
              <a:buChar char="-"/>
            </a:pPr>
            <a:endParaRPr lang="de-CH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67C716D-D5D0-4BF4-0B26-9D7D14007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84888"/>
              </p:ext>
            </p:extLst>
          </p:nvPr>
        </p:nvGraphicFramePr>
        <p:xfrm>
          <a:off x="407368" y="3011182"/>
          <a:ext cx="113760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3383">
                  <a:extLst>
                    <a:ext uri="{9D8B030D-6E8A-4147-A177-3AD203B41FA5}">
                      <a16:colId xmlns:a16="http://schemas.microsoft.com/office/drawing/2014/main" val="3625978141"/>
                    </a:ext>
                  </a:extLst>
                </a:gridCol>
                <a:gridCol w="1972643">
                  <a:extLst>
                    <a:ext uri="{9D8B030D-6E8A-4147-A177-3AD203B41FA5}">
                      <a16:colId xmlns:a16="http://schemas.microsoft.com/office/drawing/2014/main" val="3556841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/>
                        <a:t>Ablauf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175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Durchsicht IST-Prozess(e)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09:00-10:30 Uhr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275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Pain Points &amp; Handlungsfelder identifizieren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10:30-11:00 Uhr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64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09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74BF-A681-3B30-A0E1-C5675E37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E289E0-2A0F-6C65-50D2-C622BEE2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339BAD3E-D4E1-4B3B-8A57-6A43F9CAD322}" type="datetime1">
              <a:rPr lang="de-DE" smtClean="0"/>
              <a:t>05.06.2026</a:t>
            </a:fld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93B805F3-BED3-B33A-7B6E-DD04855E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3325292-FA1E-F737-C733-D0192F35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CH"/>
              <a:t>Betrachtete Austrittskonstellationen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9478AFA-43B0-6FB9-FF7D-BD460DB5BB46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folgenden Austrittskonstellationen werden im Rahmen der Bachelorarbeit berücksichtigt: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0697451-337F-AC0D-CE3C-C2907BE7C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45179"/>
              </p:ext>
            </p:extLst>
          </p:nvPr>
        </p:nvGraphicFramePr>
        <p:xfrm>
          <a:off x="845153" y="1915938"/>
          <a:ext cx="10501696" cy="4321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0848">
                  <a:extLst>
                    <a:ext uri="{9D8B030D-6E8A-4147-A177-3AD203B41FA5}">
                      <a16:colId xmlns:a16="http://schemas.microsoft.com/office/drawing/2014/main" val="3443870087"/>
                    </a:ext>
                  </a:extLst>
                </a:gridCol>
                <a:gridCol w="5250848">
                  <a:extLst>
                    <a:ext uri="{9D8B030D-6E8A-4147-A177-3AD203B41FA5}">
                      <a16:colId xmlns:a16="http://schemas.microsoft.com/office/drawing/2014/main" val="179684261"/>
                    </a:ext>
                  </a:extLst>
                </a:gridCol>
              </a:tblGrid>
              <a:tr h="4321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Anstellungsart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Austrittsgrund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518756955"/>
                  </a:ext>
                </a:extLst>
              </a:tr>
              <a:tr h="432138">
                <a:tc rowSpan="9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USB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Fonds (Drittmittel)</a:t>
                      </a:r>
                      <a:endParaRPr lang="de-CH" sz="20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Aus- und Weiterbildung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Arbeitnehmer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157161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Arbeitgeber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2532224691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Auflösungsvereinbarung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401058269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Vertragsablauf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51902117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Ordentliche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38553575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Vorzeitige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993677653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Teilpensionierung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69372374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Teilaustritt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05724259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Schwangerschafts- und Mutterschaftsurlaub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6040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41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ingekerbter Richtungspfeil 85">
            <a:extLst>
              <a:ext uri="{FF2B5EF4-FFF2-40B4-BE49-F238E27FC236}">
                <a16:creationId xmlns:a16="http://schemas.microsoft.com/office/drawing/2014/main" id="{6A89B726-AD1D-F1E9-E2D0-879FB48DE1FC}"/>
              </a:ext>
            </a:extLst>
          </p:cNvPr>
          <p:cNvSpPr/>
          <p:nvPr/>
        </p:nvSpPr>
        <p:spPr>
          <a:xfrm>
            <a:off x="1276350" y="4434684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Mitarbeiter/in</a:t>
            </a:r>
          </a:p>
        </p:txBody>
      </p:sp>
      <p:sp>
        <p:nvSpPr>
          <p:cNvPr id="12" name="Eingekerbter Richtungspfeil 85">
            <a:extLst>
              <a:ext uri="{FF2B5EF4-FFF2-40B4-BE49-F238E27FC236}">
                <a16:creationId xmlns:a16="http://schemas.microsoft.com/office/drawing/2014/main" id="{974316E5-BF9D-1C0E-AC87-78A7BAA85899}"/>
              </a:ext>
            </a:extLst>
          </p:cNvPr>
          <p:cNvSpPr/>
          <p:nvPr/>
        </p:nvSpPr>
        <p:spPr>
          <a:xfrm>
            <a:off x="1276351" y="1637953"/>
            <a:ext cx="6708722" cy="1386039"/>
          </a:xfrm>
          <a:prstGeom prst="roundRect">
            <a:avLst>
              <a:gd name="adj" fmla="val 4921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Direktion Personal</a:t>
            </a:r>
          </a:p>
        </p:txBody>
      </p:sp>
      <p:sp>
        <p:nvSpPr>
          <p:cNvPr id="11" name="Eingekerbter Richtungspfeil 85">
            <a:extLst>
              <a:ext uri="{FF2B5EF4-FFF2-40B4-BE49-F238E27FC236}">
                <a16:creationId xmlns:a16="http://schemas.microsoft.com/office/drawing/2014/main" id="{484B87AE-610B-CB42-0AE1-271F429FDDE5}"/>
              </a:ext>
            </a:extLst>
          </p:cNvPr>
          <p:cNvSpPr/>
          <p:nvPr/>
        </p:nvSpPr>
        <p:spPr>
          <a:xfrm>
            <a:off x="1276350" y="3322262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Vorgesetzte/r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1DB9B8-BC8E-19F6-FBBA-B284146E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3B33-E240-4202-83C7-CBAEBE207BE9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01892E-51B1-C3C7-1F28-C67471F8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5B750EE-83D6-8C88-7CDB-3FA57BCF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IST Austrittsprozess(e)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860B96E5-4097-639D-3989-9DA54496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77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9" name="AutoShape 24">
            <a:extLst>
              <a:ext uri="{FF2B5EF4-FFF2-40B4-BE49-F238E27FC236}">
                <a16:creationId xmlns:a16="http://schemas.microsoft.com/office/drawing/2014/main" id="{B00C18D1-F40A-0AF3-DB86-E56C415B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630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verbuchen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E7300E02-BDA9-0052-9450-0B14E76A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1065488"/>
            <a:ext cx="6708722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F3E085CE-6D54-526A-7C86-2293B331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072" y="10654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74213570-1404-78B2-F392-F9E78D4BFF39}"/>
              </a:ext>
            </a:extLst>
          </p:cNvPr>
          <p:cNvSpPr/>
          <p:nvPr/>
        </p:nvSpPr>
        <p:spPr>
          <a:xfrm>
            <a:off x="2455021" y="1973430"/>
            <a:ext cx="1349052" cy="35986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78274BB8-6BAC-862F-9208-A8A636077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71521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2CAA6F7C-1B22-5473-2B44-FD440B1DD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322260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AN/AG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369A224F-7E67-7FE8-F965-441E50554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312" y="376544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6BD09D56-1CBB-9C2C-7F33-97676F08B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33148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 err="1">
                <a:solidFill>
                  <a:schemeClr val="tx2"/>
                </a:solidFill>
              </a:rPr>
              <a:t>AuW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178ECB3F-0ED7-C0FA-3FC6-EBFFA313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92644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>
                <a:solidFill>
                  <a:schemeClr val="tx2"/>
                </a:solidFill>
              </a:rPr>
              <a:t>…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AE364CA-6007-3D67-8770-C72B99F0A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16078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3AD89A7-9226-20DB-03E3-6278C7E99B10}"/>
              </a:ext>
            </a:extLst>
          </p:cNvPr>
          <p:cNvSpPr txBox="1"/>
          <p:nvPr/>
        </p:nvSpPr>
        <p:spPr>
          <a:xfrm>
            <a:off x="8387929" y="2769844"/>
            <a:ext cx="3363913" cy="11610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2000">
                <a:solidFill>
                  <a:schemeClr val="tx2"/>
                </a:solidFill>
              </a:rPr>
              <a:t>Die Variationen im Austrittsprozess entstehen bei der Meldung des Austritts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D2511FA-FE23-22EB-0A9A-53A6E64A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024" y="468624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</p:spTree>
    <p:extLst>
      <p:ext uri="{BB962C8B-B14F-4D97-AF65-F5344CB8AC3E}">
        <p14:creationId xmlns:p14="http://schemas.microsoft.com/office/powerpoint/2010/main" val="387921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6524-59F1-0CA2-DCCD-F8086F99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B7B735-10B7-F44D-94D0-CB1708F0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BF9A59AC-DF7E-408D-A52A-F73BC92F213D}" type="datetime1">
              <a:rPr lang="de-DE" smtClean="0"/>
              <a:t>05.06.2026</a:t>
            </a:fld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8C22C31-8CB6-3954-E797-D3307B9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20DF57-114F-7EA7-F7E1-CD0B87BB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DE"/>
              <a:t>IST-Konzept: Strukturierung in sechs Prozessmodelle</a:t>
            </a:r>
            <a:endParaRPr lang="de-CH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6319000-3763-ECE2-4E0E-2B362A116B12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Austrittskonstellationen wurden zur besseren Vergleichbarkeit in sechs Prozessmodelle gegliedert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003E7D4-6008-DAEF-5441-C492BABAD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79018"/>
              </p:ext>
            </p:extLst>
          </p:nvPr>
        </p:nvGraphicFramePr>
        <p:xfrm>
          <a:off x="1611376" y="1975166"/>
          <a:ext cx="88676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de-CH"/>
                        <a:t>USB und Fonds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AG / Auflösungsvereinbarung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902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Pensionierung (Ordentlich / Frühzeitig)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383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657C9CE-E866-4C7B-FD53-DD0291ADB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12961"/>
              </p:ext>
            </p:extLst>
          </p:nvPr>
        </p:nvGraphicFramePr>
        <p:xfrm>
          <a:off x="1611376" y="4330219"/>
          <a:ext cx="8867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e-CH"/>
                        <a:t>Aus- und Weiterbildung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(MA / AG) / Auflösung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B7C32E94-04CD-D51B-C4A1-D08825A73B0E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Protokoll: Die IST-Prozesse sind validiert</a:t>
            </a:r>
          </a:p>
        </p:txBody>
      </p:sp>
    </p:spTree>
    <p:extLst>
      <p:ext uri="{BB962C8B-B14F-4D97-AF65-F5344CB8AC3E}">
        <p14:creationId xmlns:p14="http://schemas.microsoft.com/office/powerpoint/2010/main" val="9339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8CDE4B-7EA6-DC09-02A3-EA628C01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4E3280-C820-56E7-40F3-23364D7F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E5BA20D-3F0E-55DE-F503-AA1800C4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496305-2DE7-3C38-2625-0F4E6940116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Vertragsablauf USB:</a:t>
            </a:r>
          </a:p>
          <a:p>
            <a:pPr marL="431800" lvl="1" indent="-215900"/>
            <a:r>
              <a:rPr lang="de-CH" dirty="0"/>
              <a:t>HR Support involviert HR Beratung nach Erstellung der </a:t>
            </a:r>
            <a:r>
              <a:rPr lang="de-CH" dirty="0" err="1"/>
              <a:t>Vertragsablaufsliste</a:t>
            </a:r>
            <a:r>
              <a:rPr lang="de-CH" dirty="0"/>
              <a:t> – ggf. sind schon Informationen vorhanden</a:t>
            </a:r>
            <a:endParaRPr lang="de-CH" dirty="0">
              <a:cs typeface="Arial"/>
            </a:endParaRPr>
          </a:p>
          <a:p>
            <a:pPr lvl="1"/>
            <a:r>
              <a:rPr lang="de-CH" dirty="0"/>
              <a:t>Bei Vertragsablauf wir das Jira Formular Vertragsablauf verwendet (nicht Austritt/Kündigung)</a:t>
            </a:r>
          </a:p>
          <a:p>
            <a:pPr marL="431800" lvl="1" indent="-215900"/>
            <a:r>
              <a:rPr lang="de-CH" dirty="0">
                <a:sym typeface="Wingdings" panose="05000000000000000000" pitchFamily="2" charset="2"/>
              </a:rPr>
              <a:t>Doppelte Meldungen sollten eigentlich nicht mehr vorkommen – HR Support meldet </a:t>
            </a:r>
            <a:r>
              <a:rPr lang="de-CH" dirty="0" err="1">
                <a:sym typeface="Wingdings" panose="05000000000000000000" pitchFamily="2" charset="2"/>
              </a:rPr>
              <a:t>zT</a:t>
            </a:r>
            <a:r>
              <a:rPr lang="de-CH" dirty="0">
                <a:sym typeface="Wingdings" panose="05000000000000000000" pitchFamily="2" charset="2"/>
              </a:rPr>
              <a:t> «vor», wenn der Lohn nicht mehr oder eben weiterhin ausbezahlt werden soll und reicht die Infos nach. </a:t>
            </a:r>
            <a:endParaRPr lang="de-CH" dirty="0">
              <a:cs typeface="Arial"/>
            </a:endParaRPr>
          </a:p>
          <a:p>
            <a:pPr marL="431800" lvl="1" indent="-215900"/>
            <a:r>
              <a:rPr lang="de-CH" dirty="0">
                <a:sym typeface="Wingdings" panose="05000000000000000000" pitchFamily="2" charset="2"/>
              </a:rPr>
              <a:t>In gewissen Fällen braucht die </a:t>
            </a:r>
            <a:r>
              <a:rPr lang="de-CH" dirty="0" err="1">
                <a:sym typeface="Wingdings" panose="05000000000000000000" pitchFamily="2" charset="2"/>
              </a:rPr>
              <a:t>Payroll</a:t>
            </a:r>
            <a:r>
              <a:rPr lang="de-CH" dirty="0">
                <a:sym typeface="Wingdings" panose="05000000000000000000" pitchFamily="2" charset="2"/>
              </a:rPr>
              <a:t> die Austrittsinfo zeitnah bei Prozessstart (</a:t>
            </a:r>
            <a:r>
              <a:rPr lang="de-CH" dirty="0" err="1">
                <a:sym typeface="Wingdings" panose="05000000000000000000" pitchFamily="2" charset="2"/>
              </a:rPr>
              <a:t>zB</a:t>
            </a:r>
            <a:r>
              <a:rPr lang="de-CH" dirty="0">
                <a:sym typeface="Wingdings" panose="05000000000000000000" pitchFamily="2" charset="2"/>
              </a:rPr>
              <a:t> Untermonatige Austritte / kurzfristige Austritte / SMU)</a:t>
            </a:r>
            <a:endParaRPr lang="de-CH" dirty="0">
              <a:cs typeface="Arial"/>
            </a:endParaRPr>
          </a:p>
          <a:p>
            <a:pPr marL="431800" lvl="1" indent="-215900"/>
            <a:r>
              <a:rPr lang="de-CH" dirty="0">
                <a:sym typeface="Wingdings" panose="05000000000000000000" pitchFamily="2" charset="2"/>
              </a:rPr>
              <a:t>Es gibt regelmässig Rückfragen von MA an die </a:t>
            </a:r>
            <a:r>
              <a:rPr lang="de-CH" dirty="0" err="1">
                <a:sym typeface="Wingdings" panose="05000000000000000000" pitchFamily="2" charset="2"/>
              </a:rPr>
              <a:t>Payroll</a:t>
            </a:r>
            <a:r>
              <a:rPr lang="de-CH" dirty="0">
                <a:sym typeface="Wingdings" panose="05000000000000000000" pitchFamily="2" charset="2"/>
              </a:rPr>
              <a:t>, da Zeitsaldi nicht ausbezahlt wurden wie mit dem VG vereinbart</a:t>
            </a:r>
            <a:endParaRPr lang="de-CH" dirty="0">
              <a:cs typeface="Arial"/>
            </a:endParaRPr>
          </a:p>
          <a:p>
            <a:pPr marL="216000" lvl="1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45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360C-15C6-82FB-1FEF-02EE7616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472704-8ED4-DE41-DFBE-36E281ED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AF34D4-0F18-F466-36B7-4BCCA5CB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5EE348C-B6A5-1BF5-7CDD-3C102E43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ADF08C6-5EC5-EF2E-54D1-C1310C70B08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Kündigung MA (USB/Fonds)</a:t>
            </a:r>
          </a:p>
          <a:p>
            <a:pPr marL="431800" lvl="1" indent="-215900"/>
            <a:r>
              <a:rPr lang="de-CH" dirty="0"/>
              <a:t>Bei Kündigungen teilt die HRB die Rückzahlungspflicht (Berechnung wird durch HRB mittels einem Excel-Formular gemacht und ein Schreiben dazu erstellt) an die </a:t>
            </a:r>
            <a:r>
              <a:rPr lang="de-CH" dirty="0" err="1"/>
              <a:t>Payroll</a:t>
            </a:r>
            <a:r>
              <a:rPr lang="de-CH" dirty="0"/>
              <a:t> mit </a:t>
            </a:r>
            <a:r>
              <a:rPr lang="de-CH" dirty="0">
                <a:sym typeface="Wingdings" panose="05000000000000000000" pitchFamily="2" charset="2"/>
              </a:rPr>
              <a:t> erfolgt i.d.R. erst im Auftrag durch die HR Admin (prüft die Rückzahlungspflicht auch)</a:t>
            </a:r>
            <a:endParaRPr lang="de-CH" dirty="0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Bei Freistellung: Time Management verarbeitet Informationen gemäss Freistellungsformular in Jira direkt beim Erhalt. Verarbeitung gemäss Guthabenregelung. -&gt; Sollte im SOLL als eine separate Variante betrachtet werden </a:t>
            </a:r>
            <a:endParaRPr lang="de-CH" dirty="0">
              <a:cs typeface="Arial"/>
            </a:endParaRPr>
          </a:p>
          <a:p>
            <a:pPr marL="431800" lvl="1" indent="-215900"/>
            <a:r>
              <a:rPr lang="de-CH" dirty="0">
                <a:sym typeface="Wingdings" panose="05000000000000000000" pitchFamily="2" charset="2"/>
              </a:rPr>
              <a:t>Wichtig bei Auflösungsvereinbarung: Das Time Management und </a:t>
            </a:r>
            <a:r>
              <a:rPr lang="de-CH" dirty="0" err="1">
                <a:sym typeface="Wingdings" panose="05000000000000000000" pitchFamily="2" charset="2"/>
              </a:rPr>
              <a:t>Payroll</a:t>
            </a:r>
            <a:r>
              <a:rPr lang="de-CH" dirty="0">
                <a:sym typeface="Wingdings" panose="05000000000000000000" pitchFamily="2" charset="2"/>
              </a:rPr>
              <a:t> brauchen die gleichen Infos – für die Ausbuchung und Auszahlung im Austrittsmonat</a:t>
            </a:r>
            <a:endParaRPr lang="de-CH" dirty="0">
              <a:cs typeface="Arial"/>
            </a:endParaRPr>
          </a:p>
          <a:p>
            <a:pPr marL="431800" lvl="1" indent="-215900"/>
            <a:r>
              <a:rPr lang="de-CH" dirty="0"/>
              <a:t>Bei (frühzeitiger) Pensionierung wird der </a:t>
            </a:r>
            <a:r>
              <a:rPr lang="de-CH" dirty="0" err="1"/>
              <a:t>Dienstjubi</a:t>
            </a:r>
            <a:r>
              <a:rPr lang="de-CH" dirty="0"/>
              <a:t>-Anspruch bis 6 Mte nach Austritt berücksichtigt. Bei Kündigung entfällt dieser Anspruch</a:t>
            </a:r>
            <a:endParaRPr lang="de-CH" dirty="0">
              <a:cs typeface="Arial"/>
            </a:endParaRPr>
          </a:p>
          <a:p>
            <a:pPr lvl="1"/>
            <a:r>
              <a:rPr lang="de-CH" dirty="0"/>
              <a:t>Bei Rückzahlungspflicht muss die Information frühzeitig vorhanden sein, auch wenn sie nachgereicht wird. Jemand muss diese pendent halten, wer? </a:t>
            </a:r>
          </a:p>
          <a:p>
            <a:r>
              <a:rPr lang="de-CH" dirty="0"/>
              <a:t>Kündigung AG/ Auflösung</a:t>
            </a:r>
          </a:p>
          <a:p>
            <a:pPr marL="431800" lvl="1" indent="-215900"/>
            <a:r>
              <a:rPr lang="de-CH" dirty="0"/>
              <a:t>Nach Bearbeitung durch die HR Beratung wird das Ticket entweder an den HR Support (Ergänzung Formular Austritt/Kündigung) weitergeleitet oder das Formular direkt ausgefüllt und das Ticket an die HR Admin übergeben</a:t>
            </a:r>
            <a:endParaRPr lang="de-CH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77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EE7E-540F-8AF6-A7A5-EEDB7D7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7EA59F-87D2-8D50-D517-0A89B2CF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EA3EA1-DBFB-B053-A882-F51128B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9DE247-9A45-74A8-E947-A5156751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3A3009E-DD75-3000-4B92-E5C6B52DC9C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Ordentliche/ Frühzeitige Pensionierung</a:t>
            </a:r>
          </a:p>
          <a:p>
            <a:pPr lvl="1"/>
            <a:r>
              <a:rPr lang="de-CH" dirty="0"/>
              <a:t>Intention: proaktiv auf Führungspersonen zugehen </a:t>
            </a:r>
          </a:p>
          <a:p>
            <a:pPr lvl="1"/>
            <a:r>
              <a:rPr lang="de-CH" dirty="0"/>
              <a:t>Ordentliche Pensionierung wie Vertragsablauf mit zusätzlichem Zugehen auf Personen zugehen</a:t>
            </a:r>
          </a:p>
          <a:p>
            <a:pPr marL="215900" indent="-215900"/>
            <a:r>
              <a:rPr lang="de-CH" dirty="0"/>
              <a:t>Vertragsablauf </a:t>
            </a:r>
            <a:r>
              <a:rPr lang="de-CH" dirty="0" err="1"/>
              <a:t>AuW</a:t>
            </a:r>
            <a:endParaRPr lang="de-CH" dirty="0">
              <a:cs typeface="Arial" panose="020B0604020202020204"/>
            </a:endParaRPr>
          </a:p>
          <a:p>
            <a:pPr marL="431800" lvl="1" indent="-215900"/>
            <a:r>
              <a:rPr lang="de-CH" dirty="0" err="1">
                <a:cs typeface="Arial"/>
              </a:rPr>
              <a:t>Sharepoint</a:t>
            </a:r>
            <a:r>
              <a:rPr lang="de-CH" dirty="0">
                <a:cs typeface="Arial"/>
              </a:rPr>
              <a:t>-Liste wird aktuell nicht geprüft, </a:t>
            </a:r>
            <a:r>
              <a:rPr lang="de-CH" dirty="0" err="1">
                <a:cs typeface="Arial"/>
              </a:rPr>
              <a:t>sonder</a:t>
            </a:r>
            <a:r>
              <a:rPr lang="de-CH" dirty="0"/>
              <a:t>n</a:t>
            </a:r>
            <a:r>
              <a:rPr lang="de-CH" dirty="0">
                <a:cs typeface="Arial"/>
              </a:rPr>
              <a:t> direkt für die Bearbeitung bereitgestellt</a:t>
            </a:r>
          </a:p>
          <a:p>
            <a:pPr marL="431800" lvl="1" indent="-215900"/>
            <a:r>
              <a:rPr lang="de-CH"/>
              <a:t>Ergänzung auf Austrittsliste: Abteilung, wo sie tätig waren (für Zeugnis) und ob es ein Zeugnis oder Arbeitsbestätigung </a:t>
            </a:r>
            <a:r>
              <a:rPr lang="de-CH" dirty="0"/>
              <a:t>gibt. Standardaustritte ab 6 Monaten = Austrittszeugnis. Klärung Vorgaben Ausbildungen</a:t>
            </a:r>
            <a:endParaRPr lang="de-CH"/>
          </a:p>
          <a:p>
            <a:pPr marL="431800" lvl="1" indent="-215900"/>
            <a:r>
              <a:rPr lang="de-CH" dirty="0"/>
              <a:t>Rückzahlungspflicht: was ist, wenn </a:t>
            </a:r>
            <a:r>
              <a:rPr lang="de-CH"/>
              <a:t>sie nach</a:t>
            </a:r>
            <a:r>
              <a:rPr lang="de-CH" dirty="0"/>
              <a:t> Abschluss Ausbildung keine Stelle finden? Besteht dann die Rückzahlungspflicht? </a:t>
            </a:r>
            <a:endParaRPr lang="de-CH" dirty="0">
              <a:cs typeface="Arial"/>
            </a:endParaRPr>
          </a:p>
          <a:p>
            <a:pPr lvl="1"/>
            <a:r>
              <a:rPr lang="de-CH" dirty="0"/>
              <a:t>Austrittsschein: Unklar, was damit gemacht werden muss – wer füllt ihn aus</a:t>
            </a:r>
          </a:p>
          <a:p>
            <a:pPr marL="647700" lvl="2" indent="-215900"/>
            <a:r>
              <a:rPr lang="de-CH" dirty="0">
                <a:cs typeface="Arial"/>
              </a:rPr>
              <a:t>Ziel ist es das Guthaben zu kompensieren, so dass es nicht zu einer </a:t>
            </a:r>
            <a:r>
              <a:rPr lang="de-CH">
                <a:cs typeface="Arial"/>
              </a:rPr>
              <a:t>Auszahlung kommt</a:t>
            </a:r>
            <a:endParaRPr lang="de-CH" dirty="0">
              <a:cs typeface="Arial"/>
            </a:endParaRPr>
          </a:p>
          <a:p>
            <a:pPr marL="215900" indent="-215900"/>
            <a:r>
              <a:rPr lang="de-CH" dirty="0"/>
              <a:t>Kündigung/ Auflösung </a:t>
            </a:r>
            <a:r>
              <a:rPr lang="de-CH" dirty="0" err="1"/>
              <a:t>AuW</a:t>
            </a:r>
            <a:endParaRPr lang="de-CH" dirty="0">
              <a:cs typeface="Arial" panose="020B0604020202020204"/>
            </a:endParaRPr>
          </a:p>
          <a:p>
            <a:pPr marL="431800" lvl="1" indent="-215900"/>
            <a:r>
              <a:rPr lang="de-CH"/>
              <a:t>Auflösung entsteht i.d.R. aufgrund einer Nicht-bestandenen Prüfung. -&gt; ca. 6-7 Fälle im Jahr</a:t>
            </a:r>
            <a:endParaRPr lang="de-CH">
              <a:cs typeface="Arial"/>
            </a:endParaRPr>
          </a:p>
          <a:p>
            <a:pPr lvl="2"/>
            <a:r>
              <a:rPr lang="de-CH" dirty="0"/>
              <a:t>Zeugnis gibt es nach Standard bei mehr als 6 Mte = Zeugnis und sonst eine Bestätigung</a:t>
            </a:r>
          </a:p>
          <a:p>
            <a:pPr lvl="2"/>
            <a:r>
              <a:rPr lang="de-CH" dirty="0"/>
              <a:t>Müssen da immer alle Parteien unterschreiben? Im Vertrag ist bereits geregelt, dass bei Nicht-Bestehen der Vertrag endet. </a:t>
            </a:r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467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BEF5-1BB0-E7A3-D525-5FB0B742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0BD383-B866-37BE-66DC-C0D55017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CC8E6D-5F1A-AEA0-5AF9-6DCD73AF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EC74A8-6AF1-FE52-DF56-46C73544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8198828-6344-2CF4-55A9-5BA066EA38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15900" indent="-215900"/>
            <a:r>
              <a:rPr lang="de-CH" dirty="0"/>
              <a:t>Kündigung/ Auflösung </a:t>
            </a:r>
            <a:r>
              <a:rPr lang="de-CH" dirty="0" err="1"/>
              <a:t>AuW</a:t>
            </a:r>
            <a:endParaRPr lang="de-CH" dirty="0" err="1">
              <a:cs typeface="Arial" panose="020B0604020202020204"/>
            </a:endParaRPr>
          </a:p>
          <a:p>
            <a:pPr marL="431800" lvl="1" indent="-215900"/>
            <a:r>
              <a:rPr lang="de-CH"/>
              <a:t>Auch bei den Lehrverträgen kann es zu Kündigung MA kommen</a:t>
            </a:r>
            <a:endParaRPr lang="de-CH">
              <a:cs typeface="Arial"/>
            </a:endParaRPr>
          </a:p>
          <a:p>
            <a:pPr marL="647700" lvl="2" indent="-215900"/>
            <a:r>
              <a:rPr lang="de-CH">
                <a:cs typeface="Arial"/>
              </a:rPr>
              <a:t>Bei Minderjährigen muss ein Gespräch mit den Eltern geführt werden</a:t>
            </a:r>
            <a:endParaRPr lang="de-CH" dirty="0">
              <a:cs typeface="Arial"/>
            </a:endParaRPr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494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35A0DC-6D93-C344-5B89-6915E99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D829-8F53-4BB1-8DE8-D93B19B2730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5C190C-9DCE-3B72-58D7-BDD6980D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2DF9C39-9386-8C89-1184-3ECB2D3D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779C8A3-9E27-4787-5A02-926B7E83858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Generelle Inputs</a:t>
            </a:r>
          </a:p>
          <a:p>
            <a:pPr lvl="1"/>
            <a:r>
              <a:rPr lang="de-CH" dirty="0"/>
              <a:t>Austrittsschein</a:t>
            </a:r>
          </a:p>
          <a:p>
            <a:pPr marL="647700" lvl="2" indent="-215900"/>
            <a:r>
              <a:rPr lang="de-CH" dirty="0"/>
              <a:t>Generell überarbeiten/reduzieren auf das notwendige/abschaffen?</a:t>
            </a:r>
            <a:endParaRPr lang="de-CH" dirty="0">
              <a:cs typeface="Arial" panose="020B0604020202020204"/>
            </a:endParaRPr>
          </a:p>
          <a:p>
            <a:pPr lvl="2"/>
            <a:r>
              <a:rPr lang="de-CH" dirty="0"/>
              <a:t>Regelung zur Auszahlung der Zeitsaldi standardisierbar? </a:t>
            </a:r>
          </a:p>
          <a:p>
            <a:pPr lvl="2"/>
            <a:r>
              <a:rPr lang="de-CH" dirty="0"/>
              <a:t>Wichtig: beim Austritt müssen gewisse Infos / Kenntnisnahme mitgegeben / unterschrieben werden</a:t>
            </a:r>
          </a:p>
          <a:p>
            <a:pPr lvl="2"/>
            <a:r>
              <a:rPr lang="de-CH" dirty="0"/>
              <a:t>Wenn möglich ein Prozess für alle </a:t>
            </a:r>
          </a:p>
          <a:p>
            <a:pPr lvl="1"/>
            <a:r>
              <a:rPr lang="de-CH" dirty="0"/>
              <a:t>Meldung Rückzahlungspflicht</a:t>
            </a:r>
          </a:p>
          <a:p>
            <a:pPr marL="647700" lvl="2" indent="-215900"/>
            <a:r>
              <a:rPr lang="de-CH" dirty="0"/>
              <a:t>Frühzeitig, einheitlich</a:t>
            </a:r>
          </a:p>
          <a:p>
            <a:pPr marL="431800" lvl="1" indent="-215900"/>
            <a:r>
              <a:rPr lang="de-CH" dirty="0" err="1">
                <a:cs typeface="Arial"/>
              </a:rPr>
              <a:t>Geburtstagsbons</a:t>
            </a:r>
            <a:endParaRPr lang="de-CH" dirty="0">
              <a:cs typeface="Arial"/>
            </a:endParaRPr>
          </a:p>
          <a:p>
            <a:pPr marL="647700" lvl="2" indent="-215900"/>
            <a:r>
              <a:rPr lang="de-CH" dirty="0">
                <a:cs typeface="Arial"/>
              </a:rPr>
              <a:t>Werden aktuell bei USB/Fonds-Anstellung infolge Austritts zurückgefordert, bei </a:t>
            </a:r>
            <a:r>
              <a:rPr lang="de-CH" dirty="0" err="1">
                <a:cs typeface="Arial"/>
              </a:rPr>
              <a:t>AuW</a:t>
            </a:r>
            <a:r>
              <a:rPr lang="de-CH" dirty="0">
                <a:cs typeface="Arial"/>
              </a:rPr>
              <a:t> nicht</a:t>
            </a:r>
          </a:p>
          <a:p>
            <a:pPr lvl="1"/>
            <a:r>
              <a:rPr lang="de-CH" dirty="0"/>
              <a:t>Austritt UA </a:t>
            </a:r>
          </a:p>
          <a:p>
            <a:pPr lvl="2"/>
            <a:r>
              <a:rPr lang="de-CH" dirty="0"/>
              <a:t>Aus erhalten bereits mit dem Vertrag einen reduzierten Austrittsschein (ohne Zeitsaldi)</a:t>
            </a:r>
          </a:p>
          <a:p>
            <a:pPr lvl="2"/>
            <a:r>
              <a:rPr lang="de-CH" dirty="0"/>
              <a:t>Es erfolgt keine Meldung, der Austritt wird direkt durch die HR Admin bearbeitet.</a:t>
            </a:r>
          </a:p>
          <a:p>
            <a:pPr marL="647700" lvl="2" indent="-215900"/>
            <a:r>
              <a:rPr lang="de-CH" dirty="0">
                <a:cs typeface="Arial" panose="020B0604020202020204"/>
              </a:rPr>
              <a:t>Überspringt HR Time Management</a:t>
            </a:r>
          </a:p>
          <a:p>
            <a:pPr lvl="1"/>
            <a:endParaRPr lang="de-CH" dirty="0">
              <a:cs typeface="Arial" panose="020B0604020202020204"/>
            </a:endParaRPr>
          </a:p>
          <a:p>
            <a:endParaRPr lang="de-CH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0776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171A67-B05D-89CE-8C74-99F34CEB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B6A-0D79-41AE-B67E-3E255C252341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D1A0A9-AA80-E40A-3B38-C8092B58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911341-4CFF-7F11-A28C-96C2457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 der IST Analyse wurden vier Handlungsfelder identifiziert</a:t>
            </a: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71BAA58-E01E-3DFE-274B-15B47F531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994582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30" name="AutoShape 7">
            <a:extLst>
              <a:ext uri="{FF2B5EF4-FFF2-40B4-BE49-F238E27FC236}">
                <a16:creationId xmlns:a16="http://schemas.microsoft.com/office/drawing/2014/main" id="{2D3929BC-0C9A-FD41-6A31-06D444A4E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 sz="1200"/>
          </a:p>
        </p:txBody>
      </p:sp>
      <p:sp>
        <p:nvSpPr>
          <p:cNvPr id="79" name="AutoShape 7">
            <a:extLst>
              <a:ext uri="{FF2B5EF4-FFF2-40B4-BE49-F238E27FC236}">
                <a16:creationId xmlns:a16="http://schemas.microsoft.com/office/drawing/2014/main" id="{B7AECE30-9F56-DE1C-73B7-2B47A431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82" name="Group 117">
            <a:extLst>
              <a:ext uri="{FF2B5EF4-FFF2-40B4-BE49-F238E27FC236}">
                <a16:creationId xmlns:a16="http://schemas.microsoft.com/office/drawing/2014/main" id="{C3CE408A-37E3-2CB6-5531-FC530151D75A}"/>
              </a:ext>
            </a:extLst>
          </p:cNvPr>
          <p:cNvGrpSpPr>
            <a:grpSpLocks/>
          </p:cNvGrpSpPr>
          <p:nvPr/>
        </p:nvGrpSpPr>
        <p:grpSpPr bwMode="auto">
          <a:xfrm>
            <a:off x="9556750" y="5597051"/>
            <a:ext cx="2006523" cy="385762"/>
            <a:chOff x="909" y="3960"/>
            <a:chExt cx="1004" cy="243"/>
          </a:xfrm>
        </p:grpSpPr>
        <p:sp>
          <p:nvSpPr>
            <p:cNvPr id="83" name="Line 118">
              <a:extLst>
                <a:ext uri="{FF2B5EF4-FFF2-40B4-BE49-F238E27FC236}">
                  <a16:creationId xmlns:a16="http://schemas.microsoft.com/office/drawing/2014/main" id="{D12B72CD-6D5D-57C6-456F-1CDFF5936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4" name="Line 119">
              <a:extLst>
                <a:ext uri="{FF2B5EF4-FFF2-40B4-BE49-F238E27FC236}">
                  <a16:creationId xmlns:a16="http://schemas.microsoft.com/office/drawing/2014/main" id="{BF55DDEB-979B-A925-4436-E27544C2C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5" name="Line 120">
              <a:extLst>
                <a:ext uri="{FF2B5EF4-FFF2-40B4-BE49-F238E27FC236}">
                  <a16:creationId xmlns:a16="http://schemas.microsoft.com/office/drawing/2014/main" id="{4EEABD67-D00D-4FE2-0095-AF339F46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6" name="Line 121">
              <a:extLst>
                <a:ext uri="{FF2B5EF4-FFF2-40B4-BE49-F238E27FC236}">
                  <a16:creationId xmlns:a16="http://schemas.microsoft.com/office/drawing/2014/main" id="{95B1DCD3-852C-8713-DD5C-83FF95E4F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7" name="Line 122">
              <a:extLst>
                <a:ext uri="{FF2B5EF4-FFF2-40B4-BE49-F238E27FC236}">
                  <a16:creationId xmlns:a16="http://schemas.microsoft.com/office/drawing/2014/main" id="{3A1E2D71-DC8B-BF49-E826-D6E6A2F64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8" name="Line 123">
              <a:extLst>
                <a:ext uri="{FF2B5EF4-FFF2-40B4-BE49-F238E27FC236}">
                  <a16:creationId xmlns:a16="http://schemas.microsoft.com/office/drawing/2014/main" id="{C7AFCA0F-C4E7-35A6-E514-D40079CCF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9" name="Line 124">
              <a:extLst>
                <a:ext uri="{FF2B5EF4-FFF2-40B4-BE49-F238E27FC236}">
                  <a16:creationId xmlns:a16="http://schemas.microsoft.com/office/drawing/2014/main" id="{61F03409-5432-F1A4-8A0A-B1C6B5574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0" name="Line 125">
              <a:extLst>
                <a:ext uri="{FF2B5EF4-FFF2-40B4-BE49-F238E27FC236}">
                  <a16:creationId xmlns:a16="http://schemas.microsoft.com/office/drawing/2014/main" id="{CFD1F56D-ED8E-A875-9BD0-A320BCC03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1" name="Line 126">
              <a:extLst>
                <a:ext uri="{FF2B5EF4-FFF2-40B4-BE49-F238E27FC236}">
                  <a16:creationId xmlns:a16="http://schemas.microsoft.com/office/drawing/2014/main" id="{151C8503-9E14-E22A-AF00-A66A9A697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2" name="Line 127">
              <a:extLst>
                <a:ext uri="{FF2B5EF4-FFF2-40B4-BE49-F238E27FC236}">
                  <a16:creationId xmlns:a16="http://schemas.microsoft.com/office/drawing/2014/main" id="{65282CC2-C8D7-C75A-6E04-9E37FBFA0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3" name="Line 128">
              <a:extLst>
                <a:ext uri="{FF2B5EF4-FFF2-40B4-BE49-F238E27FC236}">
                  <a16:creationId xmlns:a16="http://schemas.microsoft.com/office/drawing/2014/main" id="{ACE128B2-787E-FAF7-99E2-7B25CCDD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4" name="Text Box 129">
              <a:extLst>
                <a:ext uri="{FF2B5EF4-FFF2-40B4-BE49-F238E27FC236}">
                  <a16:creationId xmlns:a16="http://schemas.microsoft.com/office/drawing/2014/main" id="{44CD5EE8-F8A1-68FA-D3E3-05C4B6924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5" name="Text Box 130">
              <a:extLst>
                <a:ext uri="{FF2B5EF4-FFF2-40B4-BE49-F238E27FC236}">
                  <a16:creationId xmlns:a16="http://schemas.microsoft.com/office/drawing/2014/main" id="{C619BA66-FA35-524C-5DED-5C28F2F08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6" name="Text Box 131">
              <a:extLst>
                <a:ext uri="{FF2B5EF4-FFF2-40B4-BE49-F238E27FC236}">
                  <a16:creationId xmlns:a16="http://schemas.microsoft.com/office/drawing/2014/main" id="{CF476467-AC86-6797-4C31-948210354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97" name="Text Box 132">
              <a:extLst>
                <a:ext uri="{FF2B5EF4-FFF2-40B4-BE49-F238E27FC236}">
                  <a16:creationId xmlns:a16="http://schemas.microsoft.com/office/drawing/2014/main" id="{151BB99D-76A0-FBD2-18C2-56F82D263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98" name="Text Box 133">
              <a:extLst>
                <a:ext uri="{FF2B5EF4-FFF2-40B4-BE49-F238E27FC236}">
                  <a16:creationId xmlns:a16="http://schemas.microsoft.com/office/drawing/2014/main" id="{6A8181F3-130B-E866-E994-C6E743C5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99" name="Text Box 134">
              <a:extLst>
                <a:ext uri="{FF2B5EF4-FFF2-40B4-BE49-F238E27FC236}">
                  <a16:creationId xmlns:a16="http://schemas.microsoft.com/office/drawing/2014/main" id="{99278EEB-D9D9-C2F0-324B-31A9E6F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00" name="Text Box 135">
              <a:extLst>
                <a:ext uri="{FF2B5EF4-FFF2-40B4-BE49-F238E27FC236}">
                  <a16:creationId xmlns:a16="http://schemas.microsoft.com/office/drawing/2014/main" id="{CDEDADAE-2C1F-DE5B-C077-BB906915C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01" name="Text Box 136">
              <a:extLst>
                <a:ext uri="{FF2B5EF4-FFF2-40B4-BE49-F238E27FC236}">
                  <a16:creationId xmlns:a16="http://schemas.microsoft.com/office/drawing/2014/main" id="{934F5825-E4C0-43AA-2ACE-F898F1C52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02" name="Text Box 137">
              <a:extLst>
                <a:ext uri="{FF2B5EF4-FFF2-40B4-BE49-F238E27FC236}">
                  <a16:creationId xmlns:a16="http://schemas.microsoft.com/office/drawing/2014/main" id="{8BE467C1-3CC0-D154-5B3F-C02F0B4C9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03" name="Text Box 138">
              <a:extLst>
                <a:ext uri="{FF2B5EF4-FFF2-40B4-BE49-F238E27FC236}">
                  <a16:creationId xmlns:a16="http://schemas.microsoft.com/office/drawing/2014/main" id="{759DDBDC-89B8-AACF-4796-8E70934CF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107" name="Oval 141">
            <a:extLst>
              <a:ext uri="{FF2B5EF4-FFF2-40B4-BE49-F238E27FC236}">
                <a16:creationId xmlns:a16="http://schemas.microsoft.com/office/drawing/2014/main" id="{58F023F0-3BD6-5595-0D92-C9AA593BB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47" y="646065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8" name="Textfeld 143">
            <a:extLst>
              <a:ext uri="{FF2B5EF4-FFF2-40B4-BE49-F238E27FC236}">
                <a16:creationId xmlns:a16="http://schemas.microsoft.com/office/drawing/2014/main" id="{B04D7F23-B9E4-C87D-0E5A-E0827CA7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477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IST</a:t>
            </a:r>
          </a:p>
        </p:txBody>
      </p:sp>
      <p:sp>
        <p:nvSpPr>
          <p:cNvPr id="109" name="Oval 141">
            <a:extLst>
              <a:ext uri="{FF2B5EF4-FFF2-40B4-BE49-F238E27FC236}">
                <a16:creationId xmlns:a16="http://schemas.microsoft.com/office/drawing/2014/main" id="{EA60A3FF-D08E-FC65-FE0B-7A22CB378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288" y="646065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0" name="Textfeld 143">
            <a:extLst>
              <a:ext uri="{FF2B5EF4-FFF2-40B4-BE49-F238E27FC236}">
                <a16:creationId xmlns:a16="http://schemas.microsoft.com/office/drawing/2014/main" id="{207ED5B2-7D9F-4B99-2F46-8434E2704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018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SOLL</a:t>
            </a: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8AA3D721-FC2A-2342-028C-C12B81EEA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3004322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​​</a:t>
            </a: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C881522F-16EF-70A9-9CB5-BBDCE82D3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3004322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​</a:t>
            </a: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9468687-B88A-B630-4D45-3455435D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3004322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dokumentiert​</a:t>
            </a:r>
          </a:p>
        </p:txBody>
      </p:sp>
      <p:sp>
        <p:nvSpPr>
          <p:cNvPr id="115" name="Rectangle 21">
            <a:extLst>
              <a:ext uri="{FF2B5EF4-FFF2-40B4-BE49-F238E27FC236}">
                <a16:creationId xmlns:a16="http://schemas.microsoft.com/office/drawing/2014/main" id="{AA875C7C-1C0C-5FA6-020A-6D67DF74AF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396035" y="3704245"/>
            <a:ext cx="2074038" cy="46723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Value Proposition</a:t>
            </a:r>
            <a:br>
              <a:rPr lang="de-DE" altLang="de-DE" sz="1200">
                <a:solidFill>
                  <a:prstClr val="white"/>
                </a:solidFill>
              </a:rPr>
            </a:br>
            <a:r>
              <a:rPr lang="de-DE" altLang="de-DE" sz="1200">
                <a:solidFill>
                  <a:prstClr val="white"/>
                </a:solidFill>
              </a:rPr>
              <a:t>(Soll-Situation)</a:t>
            </a:r>
          </a:p>
        </p:txBody>
      </p:sp>
      <p:sp>
        <p:nvSpPr>
          <p:cNvPr id="116" name="Rectangle 19">
            <a:extLst>
              <a:ext uri="{FF2B5EF4-FFF2-40B4-BE49-F238E27FC236}">
                <a16:creationId xmlns:a16="http://schemas.microsoft.com/office/drawing/2014/main" id="{73D9320A-012E-1ABF-B58E-9AC5F957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930226"/>
            <a:ext cx="10656567" cy="14705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 dirty="0">
                <a:solidFill>
                  <a:srgbClr val="000000"/>
                </a:solidFill>
                <a:latin typeface="Arial"/>
                <a:cs typeface="Arial"/>
              </a:rPr>
              <a:t>Transparenz &amp; Übersicht: </a:t>
            </a:r>
            <a:r>
              <a:rPr lang="de-DE" altLang="de-DE" sz="1000" dirty="0">
                <a:solidFill>
                  <a:srgbClr val="000000"/>
                </a:solidFill>
                <a:latin typeface="Arial"/>
                <a:cs typeface="Arial"/>
              </a:rPr>
              <a:t>Eine transparente Übersicht über den einzelnen Austrittsfall – sowohl für Kunden als auch innerhalb von HR – schafft Klarheit über Status, Verantwortlichkeiten und nächste Schritte. </a:t>
            </a:r>
            <a:r>
              <a:rPr lang="de-DE" sz="1000" dirty="0"/>
              <a:t>Die übergreifende Sicht auf alle Austritte ermöglicht eine bessere Steuerung, Priorisierung und Ressourcenplanung innerhalb des HR. 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 dirty="0">
                <a:solidFill>
                  <a:srgbClr val="000000"/>
                </a:solidFill>
                <a:latin typeface="Arial"/>
                <a:cs typeface="Arial"/>
              </a:rPr>
              <a:t>Einheitliche Fallführung &amp; Systemintegration: </a:t>
            </a:r>
            <a:r>
              <a:rPr lang="de-DE" altLang="de-DE" sz="1000" dirty="0">
                <a:solidFill>
                  <a:srgbClr val="000000"/>
                </a:solidFill>
                <a:latin typeface="Arial"/>
                <a:cs typeface="Arial"/>
              </a:rPr>
              <a:t>Durchgängige und einheitliche Fallführung mit Systemintegration schafft eine konsistente Informationsbasis über alle beteiligten Rollen. </a:t>
            </a:r>
            <a:r>
              <a:rPr lang="de-DE" sz="1000" dirty="0"/>
              <a:t>Dadurch werden Mehrfacherfassungen, manuelle Abstimmungen, Rückfragen und Medienbrüche reduziert sowie die Qualität und Nachvollziehbarkeit der Prozesse erhöht.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 dirty="0">
                <a:solidFill>
                  <a:srgbClr val="000000"/>
                </a:solidFill>
                <a:latin typeface="Arial"/>
                <a:cs typeface="Arial"/>
              </a:rPr>
              <a:t>Prozessgestützte Bearbeitung</a:t>
            </a:r>
            <a:r>
              <a:rPr lang="de-DE" altLang="de-DE" sz="1000" dirty="0">
                <a:solidFill>
                  <a:srgbClr val="000000"/>
                </a:solidFill>
                <a:latin typeface="Arial"/>
                <a:cs typeface="Arial"/>
              </a:rPr>
              <a:t>: Austritte sollen strukturiert, standardisiert und möglichst automatisiert abgewickelt werden. Klare Verantwortlichkeiten sowie verbindliche Übergaben zwischen den beteiligten HR-Bereichen reduzieren Fehler, verkürzen Durchlaufzeiten und erhöhen die Prozesssicherheit/ Planungssicherheit.</a:t>
            </a:r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A9CD82E0-DF17-3EF0-ED73-5308B4EB556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9603" y="1347199"/>
            <a:ext cx="1301174" cy="467231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Zentrale Bedürfnisse</a:t>
            </a:r>
          </a:p>
        </p:txBody>
      </p:sp>
      <p:sp>
        <p:nvSpPr>
          <p:cNvPr id="118" name="AutoShape 22">
            <a:extLst>
              <a:ext uri="{FF2B5EF4-FFF2-40B4-BE49-F238E27FC236}">
                <a16:creationId xmlns:a16="http://schemas.microsoft.com/office/drawing/2014/main" id="{1F12E0D4-62AF-4FCC-C837-ED3C0A98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89" y="2399011"/>
            <a:ext cx="398585" cy="360362"/>
          </a:xfrm>
          <a:prstGeom prst="downArrow">
            <a:avLst>
              <a:gd name="adj1" fmla="val 50000"/>
              <a:gd name="adj2" fmla="val 40657"/>
            </a:avLst>
          </a:prstGeom>
          <a:solidFill>
            <a:schemeClr val="bg2">
              <a:lumMod val="75000"/>
            </a:schemeClr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90000" tIns="43200" rIns="90000" bIns="432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200">
              <a:solidFill>
                <a:srgbClr val="000000"/>
              </a:solidFill>
            </a:endParaRPr>
          </a:p>
        </p:txBody>
      </p:sp>
      <p:sp>
        <p:nvSpPr>
          <p:cNvPr id="119" name="Rectangle 23">
            <a:extLst>
              <a:ext uri="{FF2B5EF4-FFF2-40B4-BE49-F238E27FC236}">
                <a16:creationId xmlns:a16="http://schemas.microsoft.com/office/drawing/2014/main" id="{4EA44592-229D-2CD2-18E0-0536A7EB159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5228" y="5556107"/>
            <a:ext cx="731093" cy="46765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IST-Zustand</a:t>
            </a:r>
          </a:p>
        </p:txBody>
      </p:sp>
      <p:sp>
        <p:nvSpPr>
          <p:cNvPr id="121" name="AutoShape 7">
            <a:extLst>
              <a:ext uri="{FF2B5EF4-FFF2-40B4-BE49-F238E27FC236}">
                <a16:creationId xmlns:a16="http://schemas.microsoft.com/office/drawing/2014/main" id="{38CD3B16-8F87-3D75-30CE-CF462313A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sp>
        <p:nvSpPr>
          <p:cNvPr id="122" name="AutoShape 7">
            <a:extLst>
              <a:ext uri="{FF2B5EF4-FFF2-40B4-BE49-F238E27FC236}">
                <a16:creationId xmlns:a16="http://schemas.microsoft.com/office/drawing/2014/main" id="{DFB142C7-42D7-F6DF-EDF8-76B83BAB4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23" name="Group 117">
            <a:extLst>
              <a:ext uri="{FF2B5EF4-FFF2-40B4-BE49-F238E27FC236}">
                <a16:creationId xmlns:a16="http://schemas.microsoft.com/office/drawing/2014/main" id="{6B438A6C-E374-42B9-44D9-E50A723D9325}"/>
              </a:ext>
            </a:extLst>
          </p:cNvPr>
          <p:cNvGrpSpPr>
            <a:grpSpLocks/>
          </p:cNvGrpSpPr>
          <p:nvPr/>
        </p:nvGrpSpPr>
        <p:grpSpPr bwMode="auto">
          <a:xfrm>
            <a:off x="6959640" y="5597051"/>
            <a:ext cx="2006523" cy="385762"/>
            <a:chOff x="909" y="3960"/>
            <a:chExt cx="1004" cy="243"/>
          </a:xfrm>
        </p:grpSpPr>
        <p:sp>
          <p:nvSpPr>
            <p:cNvPr id="124" name="Line 118">
              <a:extLst>
                <a:ext uri="{FF2B5EF4-FFF2-40B4-BE49-F238E27FC236}">
                  <a16:creationId xmlns:a16="http://schemas.microsoft.com/office/drawing/2014/main" id="{59A6F8BB-7D95-1E86-1546-040C6E0F7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5" name="Line 119">
              <a:extLst>
                <a:ext uri="{FF2B5EF4-FFF2-40B4-BE49-F238E27FC236}">
                  <a16:creationId xmlns:a16="http://schemas.microsoft.com/office/drawing/2014/main" id="{EFD19718-2274-6D0C-1C7D-B165BD7A8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6" name="Line 120">
              <a:extLst>
                <a:ext uri="{FF2B5EF4-FFF2-40B4-BE49-F238E27FC236}">
                  <a16:creationId xmlns:a16="http://schemas.microsoft.com/office/drawing/2014/main" id="{350E0A16-D700-6A2C-3088-C3E4D309A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7" name="Line 121">
              <a:extLst>
                <a:ext uri="{FF2B5EF4-FFF2-40B4-BE49-F238E27FC236}">
                  <a16:creationId xmlns:a16="http://schemas.microsoft.com/office/drawing/2014/main" id="{B3277B75-A5C5-2038-8314-B68B586C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8" name="Line 122">
              <a:extLst>
                <a:ext uri="{FF2B5EF4-FFF2-40B4-BE49-F238E27FC236}">
                  <a16:creationId xmlns:a16="http://schemas.microsoft.com/office/drawing/2014/main" id="{4081BD3F-CAD7-1E25-950F-D8EC342C7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9" name="Line 123">
              <a:extLst>
                <a:ext uri="{FF2B5EF4-FFF2-40B4-BE49-F238E27FC236}">
                  <a16:creationId xmlns:a16="http://schemas.microsoft.com/office/drawing/2014/main" id="{DF383B8F-B26F-D235-84B7-B3B63B07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0" name="Line 124">
              <a:extLst>
                <a:ext uri="{FF2B5EF4-FFF2-40B4-BE49-F238E27FC236}">
                  <a16:creationId xmlns:a16="http://schemas.microsoft.com/office/drawing/2014/main" id="{03F3F097-4F9F-15A0-5085-01AF78D57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1" name="Line 125">
              <a:extLst>
                <a:ext uri="{FF2B5EF4-FFF2-40B4-BE49-F238E27FC236}">
                  <a16:creationId xmlns:a16="http://schemas.microsoft.com/office/drawing/2014/main" id="{74529832-9BD9-07C0-A9E9-1F5CC10D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2" name="Line 126">
              <a:extLst>
                <a:ext uri="{FF2B5EF4-FFF2-40B4-BE49-F238E27FC236}">
                  <a16:creationId xmlns:a16="http://schemas.microsoft.com/office/drawing/2014/main" id="{49BBF7FC-15E5-9860-7035-5429E8635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3" name="Line 127">
              <a:extLst>
                <a:ext uri="{FF2B5EF4-FFF2-40B4-BE49-F238E27FC236}">
                  <a16:creationId xmlns:a16="http://schemas.microsoft.com/office/drawing/2014/main" id="{3491344D-6337-BCBF-23CA-811BFAEE3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4" name="Line 128">
              <a:extLst>
                <a:ext uri="{FF2B5EF4-FFF2-40B4-BE49-F238E27FC236}">
                  <a16:creationId xmlns:a16="http://schemas.microsoft.com/office/drawing/2014/main" id="{D574E8E7-B1AA-5FC4-0548-C09B8F6BA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5" name="Text Box 129">
              <a:extLst>
                <a:ext uri="{FF2B5EF4-FFF2-40B4-BE49-F238E27FC236}">
                  <a16:creationId xmlns:a16="http://schemas.microsoft.com/office/drawing/2014/main" id="{2D8CA5BB-6897-7206-867A-75719728B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6" name="Text Box 130">
              <a:extLst>
                <a:ext uri="{FF2B5EF4-FFF2-40B4-BE49-F238E27FC236}">
                  <a16:creationId xmlns:a16="http://schemas.microsoft.com/office/drawing/2014/main" id="{BA4F0768-5081-9130-47E9-140CAEA88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7" name="Text Box 131">
              <a:extLst>
                <a:ext uri="{FF2B5EF4-FFF2-40B4-BE49-F238E27FC236}">
                  <a16:creationId xmlns:a16="http://schemas.microsoft.com/office/drawing/2014/main" id="{AD08CB2A-694D-0328-A0E0-CA574CDF2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8" name="Text Box 132">
              <a:extLst>
                <a:ext uri="{FF2B5EF4-FFF2-40B4-BE49-F238E27FC236}">
                  <a16:creationId xmlns:a16="http://schemas.microsoft.com/office/drawing/2014/main" id="{06557BA6-CAE0-B552-CC65-FB04B795F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9" name="Text Box 133">
              <a:extLst>
                <a:ext uri="{FF2B5EF4-FFF2-40B4-BE49-F238E27FC236}">
                  <a16:creationId xmlns:a16="http://schemas.microsoft.com/office/drawing/2014/main" id="{7B8C1C9A-D01F-B2CC-DC1D-19183A93F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40" name="Text Box 134">
              <a:extLst>
                <a:ext uri="{FF2B5EF4-FFF2-40B4-BE49-F238E27FC236}">
                  <a16:creationId xmlns:a16="http://schemas.microsoft.com/office/drawing/2014/main" id="{14A31DB1-8B71-34D7-C803-9A87F483B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41" name="Text Box 135">
              <a:extLst>
                <a:ext uri="{FF2B5EF4-FFF2-40B4-BE49-F238E27FC236}">
                  <a16:creationId xmlns:a16="http://schemas.microsoft.com/office/drawing/2014/main" id="{19876C3E-E62B-C7A6-2D70-5FF51172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42" name="Text Box 136">
              <a:extLst>
                <a:ext uri="{FF2B5EF4-FFF2-40B4-BE49-F238E27FC236}">
                  <a16:creationId xmlns:a16="http://schemas.microsoft.com/office/drawing/2014/main" id="{7F973255-EDBC-1F21-B088-6C90C831A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43" name="Text Box 137">
              <a:extLst>
                <a:ext uri="{FF2B5EF4-FFF2-40B4-BE49-F238E27FC236}">
                  <a16:creationId xmlns:a16="http://schemas.microsoft.com/office/drawing/2014/main" id="{8CBEAC37-5C8D-F678-E7FD-7B60AA225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44" name="Text Box 138">
              <a:extLst>
                <a:ext uri="{FF2B5EF4-FFF2-40B4-BE49-F238E27FC236}">
                  <a16:creationId xmlns:a16="http://schemas.microsoft.com/office/drawing/2014/main" id="{E483C760-BCFB-9AA6-DAB6-809093F61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45" name="Group 117">
            <a:extLst>
              <a:ext uri="{FF2B5EF4-FFF2-40B4-BE49-F238E27FC236}">
                <a16:creationId xmlns:a16="http://schemas.microsoft.com/office/drawing/2014/main" id="{C4C63D76-E3C8-1DFD-1EAB-DBCC165AF0D2}"/>
              </a:ext>
            </a:extLst>
          </p:cNvPr>
          <p:cNvGrpSpPr>
            <a:grpSpLocks/>
          </p:cNvGrpSpPr>
          <p:nvPr/>
        </p:nvGrpSpPr>
        <p:grpSpPr bwMode="auto">
          <a:xfrm>
            <a:off x="4116734" y="5597051"/>
            <a:ext cx="2006523" cy="385762"/>
            <a:chOff x="909" y="3960"/>
            <a:chExt cx="1004" cy="243"/>
          </a:xfrm>
        </p:grpSpPr>
        <p:sp>
          <p:nvSpPr>
            <p:cNvPr id="146" name="Line 118">
              <a:extLst>
                <a:ext uri="{FF2B5EF4-FFF2-40B4-BE49-F238E27FC236}">
                  <a16:creationId xmlns:a16="http://schemas.microsoft.com/office/drawing/2014/main" id="{BDCBB0D8-97FD-F87E-E47A-475321B11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7" name="Line 119">
              <a:extLst>
                <a:ext uri="{FF2B5EF4-FFF2-40B4-BE49-F238E27FC236}">
                  <a16:creationId xmlns:a16="http://schemas.microsoft.com/office/drawing/2014/main" id="{A471ED9B-5BAA-D95B-9F9E-C4550D869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8" name="Line 120">
              <a:extLst>
                <a:ext uri="{FF2B5EF4-FFF2-40B4-BE49-F238E27FC236}">
                  <a16:creationId xmlns:a16="http://schemas.microsoft.com/office/drawing/2014/main" id="{14613CAA-FFC0-25AA-60D6-93050AB04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9" name="Line 121">
              <a:extLst>
                <a:ext uri="{FF2B5EF4-FFF2-40B4-BE49-F238E27FC236}">
                  <a16:creationId xmlns:a16="http://schemas.microsoft.com/office/drawing/2014/main" id="{93363A2A-B8ED-CA4A-89E0-509729090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0" name="Line 122">
              <a:extLst>
                <a:ext uri="{FF2B5EF4-FFF2-40B4-BE49-F238E27FC236}">
                  <a16:creationId xmlns:a16="http://schemas.microsoft.com/office/drawing/2014/main" id="{A80E81CD-3D5B-7095-53A0-C31ACA84F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1" name="Line 123">
              <a:extLst>
                <a:ext uri="{FF2B5EF4-FFF2-40B4-BE49-F238E27FC236}">
                  <a16:creationId xmlns:a16="http://schemas.microsoft.com/office/drawing/2014/main" id="{C2EC5B97-EE0F-B5A7-D909-7AF9905A8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2" name="Line 124">
              <a:extLst>
                <a:ext uri="{FF2B5EF4-FFF2-40B4-BE49-F238E27FC236}">
                  <a16:creationId xmlns:a16="http://schemas.microsoft.com/office/drawing/2014/main" id="{9D9EA477-46E7-B24F-4555-DB70753DA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3" name="Line 125">
              <a:extLst>
                <a:ext uri="{FF2B5EF4-FFF2-40B4-BE49-F238E27FC236}">
                  <a16:creationId xmlns:a16="http://schemas.microsoft.com/office/drawing/2014/main" id="{B55A63A3-4787-D1C2-E721-8BA07A327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4" name="Line 126">
              <a:extLst>
                <a:ext uri="{FF2B5EF4-FFF2-40B4-BE49-F238E27FC236}">
                  <a16:creationId xmlns:a16="http://schemas.microsoft.com/office/drawing/2014/main" id="{DFCFA178-3410-94BF-9A30-32532F03F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5" name="Line 127">
              <a:extLst>
                <a:ext uri="{FF2B5EF4-FFF2-40B4-BE49-F238E27FC236}">
                  <a16:creationId xmlns:a16="http://schemas.microsoft.com/office/drawing/2014/main" id="{046EB176-1F15-0DF3-8CF8-68BDACFD4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6" name="Line 128">
              <a:extLst>
                <a:ext uri="{FF2B5EF4-FFF2-40B4-BE49-F238E27FC236}">
                  <a16:creationId xmlns:a16="http://schemas.microsoft.com/office/drawing/2014/main" id="{016DCB6A-085E-5A9B-9A60-31F938422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7" name="Text Box 129">
              <a:extLst>
                <a:ext uri="{FF2B5EF4-FFF2-40B4-BE49-F238E27FC236}">
                  <a16:creationId xmlns:a16="http://schemas.microsoft.com/office/drawing/2014/main" id="{A113D07A-16B8-A8A2-71D6-62CEB184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58" name="Text Box 130">
              <a:extLst>
                <a:ext uri="{FF2B5EF4-FFF2-40B4-BE49-F238E27FC236}">
                  <a16:creationId xmlns:a16="http://schemas.microsoft.com/office/drawing/2014/main" id="{81322F0C-C023-8828-88B6-4EE034A4A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9" name="Text Box 131">
              <a:extLst>
                <a:ext uri="{FF2B5EF4-FFF2-40B4-BE49-F238E27FC236}">
                  <a16:creationId xmlns:a16="http://schemas.microsoft.com/office/drawing/2014/main" id="{AE9ECAC8-FC28-D879-A297-6982F4EE8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60" name="Text Box 132">
              <a:extLst>
                <a:ext uri="{FF2B5EF4-FFF2-40B4-BE49-F238E27FC236}">
                  <a16:creationId xmlns:a16="http://schemas.microsoft.com/office/drawing/2014/main" id="{BD2E2259-7AE9-907C-2A7B-A5BB7B749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61" name="Text Box 133">
              <a:extLst>
                <a:ext uri="{FF2B5EF4-FFF2-40B4-BE49-F238E27FC236}">
                  <a16:creationId xmlns:a16="http://schemas.microsoft.com/office/drawing/2014/main" id="{D6862C2D-BA78-0D2C-3D12-DABF25CD4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62" name="Text Box 134">
              <a:extLst>
                <a:ext uri="{FF2B5EF4-FFF2-40B4-BE49-F238E27FC236}">
                  <a16:creationId xmlns:a16="http://schemas.microsoft.com/office/drawing/2014/main" id="{C272122F-A57E-4CAB-547C-986AB9723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63" name="Text Box 135">
              <a:extLst>
                <a:ext uri="{FF2B5EF4-FFF2-40B4-BE49-F238E27FC236}">
                  <a16:creationId xmlns:a16="http://schemas.microsoft.com/office/drawing/2014/main" id="{DDD1ED41-4CC3-C2E7-BA49-8BAAC5976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64" name="Text Box 136">
              <a:extLst>
                <a:ext uri="{FF2B5EF4-FFF2-40B4-BE49-F238E27FC236}">
                  <a16:creationId xmlns:a16="http://schemas.microsoft.com/office/drawing/2014/main" id="{9C482CCC-F8F1-E1BB-B31B-756134A70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65" name="Text Box 137">
              <a:extLst>
                <a:ext uri="{FF2B5EF4-FFF2-40B4-BE49-F238E27FC236}">
                  <a16:creationId xmlns:a16="http://schemas.microsoft.com/office/drawing/2014/main" id="{AAB07348-362D-8163-9C20-FD060370E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66" name="Text Box 138">
              <a:extLst>
                <a:ext uri="{FF2B5EF4-FFF2-40B4-BE49-F238E27FC236}">
                  <a16:creationId xmlns:a16="http://schemas.microsoft.com/office/drawing/2014/main" id="{7487084A-B302-56F5-E855-F92CE1B85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67" name="Group 117">
            <a:extLst>
              <a:ext uri="{FF2B5EF4-FFF2-40B4-BE49-F238E27FC236}">
                <a16:creationId xmlns:a16="http://schemas.microsoft.com/office/drawing/2014/main" id="{E882A804-E110-77AF-DE15-031394B500A9}"/>
              </a:ext>
            </a:extLst>
          </p:cNvPr>
          <p:cNvGrpSpPr>
            <a:grpSpLocks/>
          </p:cNvGrpSpPr>
          <p:nvPr/>
        </p:nvGrpSpPr>
        <p:grpSpPr bwMode="auto">
          <a:xfrm>
            <a:off x="1348183" y="5597051"/>
            <a:ext cx="2006523" cy="385762"/>
            <a:chOff x="909" y="3960"/>
            <a:chExt cx="1004" cy="243"/>
          </a:xfrm>
        </p:grpSpPr>
        <p:sp>
          <p:nvSpPr>
            <p:cNvPr id="168" name="Line 118">
              <a:extLst>
                <a:ext uri="{FF2B5EF4-FFF2-40B4-BE49-F238E27FC236}">
                  <a16:creationId xmlns:a16="http://schemas.microsoft.com/office/drawing/2014/main" id="{AA0D675A-4AF7-B2D1-B68E-7891C6EBF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69" name="Line 119">
              <a:extLst>
                <a:ext uri="{FF2B5EF4-FFF2-40B4-BE49-F238E27FC236}">
                  <a16:creationId xmlns:a16="http://schemas.microsoft.com/office/drawing/2014/main" id="{9031A101-2200-A509-B13E-9B0F916E2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0" name="Line 120">
              <a:extLst>
                <a:ext uri="{FF2B5EF4-FFF2-40B4-BE49-F238E27FC236}">
                  <a16:creationId xmlns:a16="http://schemas.microsoft.com/office/drawing/2014/main" id="{D385029E-B667-94A4-E169-9B4C2C232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1" name="Line 121">
              <a:extLst>
                <a:ext uri="{FF2B5EF4-FFF2-40B4-BE49-F238E27FC236}">
                  <a16:creationId xmlns:a16="http://schemas.microsoft.com/office/drawing/2014/main" id="{F90DC908-75C4-2E89-2B18-3D1475DBF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2" name="Line 122">
              <a:extLst>
                <a:ext uri="{FF2B5EF4-FFF2-40B4-BE49-F238E27FC236}">
                  <a16:creationId xmlns:a16="http://schemas.microsoft.com/office/drawing/2014/main" id="{3EEFA5A2-12ED-6231-C586-BC8C719B9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3" name="Line 123">
              <a:extLst>
                <a:ext uri="{FF2B5EF4-FFF2-40B4-BE49-F238E27FC236}">
                  <a16:creationId xmlns:a16="http://schemas.microsoft.com/office/drawing/2014/main" id="{623B8FD8-0A32-F867-84D2-1528046AD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4" name="Line 124">
              <a:extLst>
                <a:ext uri="{FF2B5EF4-FFF2-40B4-BE49-F238E27FC236}">
                  <a16:creationId xmlns:a16="http://schemas.microsoft.com/office/drawing/2014/main" id="{74BBBA18-BD8C-C9EA-555F-23DE9DD3A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5" name="Line 125">
              <a:extLst>
                <a:ext uri="{FF2B5EF4-FFF2-40B4-BE49-F238E27FC236}">
                  <a16:creationId xmlns:a16="http://schemas.microsoft.com/office/drawing/2014/main" id="{7283DD0D-33EE-B6E8-420B-56C204B36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6" name="Line 126">
              <a:extLst>
                <a:ext uri="{FF2B5EF4-FFF2-40B4-BE49-F238E27FC236}">
                  <a16:creationId xmlns:a16="http://schemas.microsoft.com/office/drawing/2014/main" id="{7CE682CC-48B3-C547-D996-7A1EA271A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7" name="Line 127">
              <a:extLst>
                <a:ext uri="{FF2B5EF4-FFF2-40B4-BE49-F238E27FC236}">
                  <a16:creationId xmlns:a16="http://schemas.microsoft.com/office/drawing/2014/main" id="{A249978A-5283-A9BE-04E1-7D609AF98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8" name="Line 128">
              <a:extLst>
                <a:ext uri="{FF2B5EF4-FFF2-40B4-BE49-F238E27FC236}">
                  <a16:creationId xmlns:a16="http://schemas.microsoft.com/office/drawing/2014/main" id="{BD91BDAD-C86C-B7E7-5368-230510226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9" name="Text Box 129">
              <a:extLst>
                <a:ext uri="{FF2B5EF4-FFF2-40B4-BE49-F238E27FC236}">
                  <a16:creationId xmlns:a16="http://schemas.microsoft.com/office/drawing/2014/main" id="{9C655C53-BB75-8B1E-D76B-66B8D7442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0" name="Text Box 130">
              <a:extLst>
                <a:ext uri="{FF2B5EF4-FFF2-40B4-BE49-F238E27FC236}">
                  <a16:creationId xmlns:a16="http://schemas.microsoft.com/office/drawing/2014/main" id="{36280935-6115-F47F-642C-D709286E3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1" name="Text Box 131">
              <a:extLst>
                <a:ext uri="{FF2B5EF4-FFF2-40B4-BE49-F238E27FC236}">
                  <a16:creationId xmlns:a16="http://schemas.microsoft.com/office/drawing/2014/main" id="{DA8C34CC-A134-7F90-CC84-9AD5FF217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2" name="Text Box 132">
              <a:extLst>
                <a:ext uri="{FF2B5EF4-FFF2-40B4-BE49-F238E27FC236}">
                  <a16:creationId xmlns:a16="http://schemas.microsoft.com/office/drawing/2014/main" id="{DDF24694-6F28-378F-C333-117D164F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83" name="Text Box 133">
              <a:extLst>
                <a:ext uri="{FF2B5EF4-FFF2-40B4-BE49-F238E27FC236}">
                  <a16:creationId xmlns:a16="http://schemas.microsoft.com/office/drawing/2014/main" id="{03E0EDD7-E533-F02C-1177-CEE16E7F3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84" name="Text Box 134">
              <a:extLst>
                <a:ext uri="{FF2B5EF4-FFF2-40B4-BE49-F238E27FC236}">
                  <a16:creationId xmlns:a16="http://schemas.microsoft.com/office/drawing/2014/main" id="{9A8B1F7E-C7FE-EA39-476D-C3AE1C512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85" name="Text Box 135">
              <a:extLst>
                <a:ext uri="{FF2B5EF4-FFF2-40B4-BE49-F238E27FC236}">
                  <a16:creationId xmlns:a16="http://schemas.microsoft.com/office/drawing/2014/main" id="{9D75151F-9244-75FA-9E74-09A31B082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86" name="Text Box 136">
              <a:extLst>
                <a:ext uri="{FF2B5EF4-FFF2-40B4-BE49-F238E27FC236}">
                  <a16:creationId xmlns:a16="http://schemas.microsoft.com/office/drawing/2014/main" id="{7A494693-3216-30F8-9DE2-85FF23CE0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87" name="Text Box 137">
              <a:extLst>
                <a:ext uri="{FF2B5EF4-FFF2-40B4-BE49-F238E27FC236}">
                  <a16:creationId xmlns:a16="http://schemas.microsoft.com/office/drawing/2014/main" id="{9F08FA4F-45D1-4E57-89DD-43C7BB129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88" name="Text Box 138">
              <a:extLst>
                <a:ext uri="{FF2B5EF4-FFF2-40B4-BE49-F238E27FC236}">
                  <a16:creationId xmlns:a16="http://schemas.microsoft.com/office/drawing/2014/main" id="{78074F20-0370-8FA4-03C4-CAC94B7A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6" name="Oval 141">
            <a:extLst>
              <a:ext uri="{FF2B5EF4-FFF2-40B4-BE49-F238E27FC236}">
                <a16:creationId xmlns:a16="http://schemas.microsoft.com/office/drawing/2014/main" id="{C0C4F0C0-8AAD-1C48-3355-F7FA6FCF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897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8" name="Oval 141">
            <a:extLst>
              <a:ext uri="{FF2B5EF4-FFF2-40B4-BE49-F238E27FC236}">
                <a16:creationId xmlns:a16="http://schemas.microsoft.com/office/drawing/2014/main" id="{79185DC2-7B90-9CF5-AC60-386BFDBF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67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9" name="Oval 141">
            <a:extLst>
              <a:ext uri="{FF2B5EF4-FFF2-40B4-BE49-F238E27FC236}">
                <a16:creationId xmlns:a16="http://schemas.microsoft.com/office/drawing/2014/main" id="{21AD189F-CAA5-C9AC-624A-60BC91B3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163" y="5612928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" name="Oval 141">
            <a:extLst>
              <a:ext uri="{FF2B5EF4-FFF2-40B4-BE49-F238E27FC236}">
                <a16:creationId xmlns:a16="http://schemas.microsoft.com/office/drawing/2014/main" id="{29CEE8EC-8632-0DE5-C457-2AAD3D34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78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" name="Oval 141">
            <a:extLst>
              <a:ext uri="{FF2B5EF4-FFF2-40B4-BE49-F238E27FC236}">
                <a16:creationId xmlns:a16="http://schemas.microsoft.com/office/drawing/2014/main" id="{AD271883-769C-C64B-06EA-C5265EDFE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82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2" name="Oval 141">
            <a:extLst>
              <a:ext uri="{FF2B5EF4-FFF2-40B4-BE49-F238E27FC236}">
                <a16:creationId xmlns:a16="http://schemas.microsoft.com/office/drawing/2014/main" id="{460D31A3-D8FE-5DAF-7180-6BA45AE08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4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3" name="Oval 141">
            <a:extLst>
              <a:ext uri="{FF2B5EF4-FFF2-40B4-BE49-F238E27FC236}">
                <a16:creationId xmlns:a16="http://schemas.microsoft.com/office/drawing/2014/main" id="{49EF3153-A663-8F45-0356-D9ADCCC5F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1872" y="5612928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4" name="Oval 141">
            <a:extLst>
              <a:ext uri="{FF2B5EF4-FFF2-40B4-BE49-F238E27FC236}">
                <a16:creationId xmlns:a16="http://schemas.microsoft.com/office/drawing/2014/main" id="{8B082E6D-DB41-FE3F-E45E-5148226A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56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73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9D33-1CD4-C5B3-F9A4-098B05AD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876EF-95CD-29BB-E806-3471E4D0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 der IST Analyse wurden erste Optimierungsideen aufgenommen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30A5FE-BEE2-60E3-3CD3-E1835A96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18EF0-095E-4CE5-9269-2BAB6AB68D7D}" type="datetime1">
              <a:rPr lang="de-DE" smtClean="0"/>
              <a:t>05.06.2026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9F154-2FD2-A17F-96D5-EDC24ADE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B609311-7D8F-C899-3AB6-B51B2F13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690673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3443DA3-B0AD-A188-3E52-84C5B347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5794A8C-3B7C-0467-28AC-4BFD44807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6C34922-C890-84B1-C058-D822A8F8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700413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 dirty="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</a:t>
            </a:r>
            <a:r>
              <a:rPr lang="de-DE" sz="1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</a:t>
            </a:r>
            <a:r>
              <a:rPr lang="de-DE" sz="1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185E9D1E-9CEE-CF67-8123-96BA1400A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700413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0C1288F-4123-CF3D-72CE-959FC0B3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700413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BC920109-A0BF-9D38-C040-770369F62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52D671D1-5DFD-D80F-DA09-697B0C11F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D8525-996D-8C73-F586-62797875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3909998"/>
            <a:ext cx="2448000" cy="1892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Übersicht über alle Austritte und Einzelfälle inkl. Bearbeitungsstand, Zuständigkeiten, Prioritäten und Fälligkeiten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Filter- und Priorisierungslogiken für (zeit-)kritische Fälle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Einhaltung der definierten SLAs/ Durchlaufzeiten transparent darstellen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endParaRPr lang="de-DE" sz="10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094F04DD-D1A4-D77F-19B4-328D6BA3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3919738"/>
            <a:ext cx="2448000" cy="1920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Zentrale Fallführung und Dokumentation je Austritt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Relevante Daten systemübergreifend weiterverwenden (Schnittstelle zwischen SAP/ Umsystemen und Jira)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A7438CF-9286-77A4-8A1E-22D420B9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3919738"/>
            <a:ext cx="2448000" cy="19000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Prozessdokumentation inkl. Definition von Rollen und Verantwortlichkeiten.  Klare Rückfrage- und Eskalationswege.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/>
              <a:t>Prozessvarianten auf fachlich notwendige Ausnahmen begrenzen.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Standardisierte Bearbeitungskriterien. Definition von Pflichtschritten je Prozessvariante.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DD6E1B7-67CF-1756-551B-C401702F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3919738"/>
            <a:ext cx="2448000" cy="18839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Das System ermöglicht die prozessgestützte Bearbeitung. </a:t>
            </a:r>
            <a:r>
              <a:rPr lang="de-DE" sz="1000"/>
              <a:t>Aufgaben, Prüfungen, Übergaben und Entscheidungen werden strukturiert geführt sowie – wo sinnvoll – automatisiert ausgelöst und dokumentiert.</a:t>
            </a:r>
            <a:endParaRPr lang="de-DE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/>
              <a:t>SLA-basierte Erinnerungen und Eskalationen </a:t>
            </a:r>
            <a:endParaRPr lang="de-DE" sz="1000">
              <a:highlight>
                <a:srgbClr val="FFFF00"/>
              </a:highlight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endParaRPr lang="de-DE" sz="1000">
              <a:solidFill>
                <a:srgbClr val="000000"/>
              </a:solidFill>
              <a:cs typeface="Arial"/>
            </a:endParaRPr>
          </a:p>
          <a:p>
            <a:pPr marL="93345" indent="-93345">
              <a:lnSpc>
                <a:spcPts val="1100"/>
              </a:lnSpc>
              <a:spcAft>
                <a:spcPts val="400"/>
              </a:spcAft>
              <a:buClrTx/>
              <a:buSzTx/>
              <a:buFont typeface="Arial" pitchFamily="34" charset="0"/>
              <a:buChar char="•"/>
            </a:pPr>
            <a:endParaRPr lang="de-DE" altLang="de-DE" sz="1000">
              <a:solidFill>
                <a:srgbClr val="000000"/>
              </a:solidFill>
              <a:cs typeface="Arial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877B6F5-1291-4D18-E794-61169C57978B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Ideen zur Optimierung aus der IST-Analyse</a:t>
            </a:r>
          </a:p>
        </p:txBody>
      </p:sp>
    </p:spTree>
    <p:extLst>
      <p:ext uri="{BB962C8B-B14F-4D97-AF65-F5344CB8AC3E}">
        <p14:creationId xmlns:p14="http://schemas.microsoft.com/office/powerpoint/2010/main" val="312308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090EB4-05F9-4327-FE80-631CDD12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E63A-0E4C-42B3-BB73-39503B9FED29}" type="datetime1">
              <a:rPr lang="de-DE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DE790B-44FB-F126-6B74-4B5107A8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Protokoll Workshop IST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38781BD-38DA-9264-6191-BF488492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Nächste Schritte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674FB00-42E3-C285-8B5F-539F6773067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15900" indent="-215900"/>
            <a:r>
              <a:rPr lang="de-DE" dirty="0"/>
              <a:t>Validierung des IST-Prozesses: erfolgt am 21.5.2026</a:t>
            </a:r>
            <a:endParaRPr lang="de-DE" dirty="0">
              <a:cs typeface="Arial" panose="020B0604020202020204"/>
            </a:endParaRPr>
          </a:p>
          <a:p>
            <a:pPr marL="215900" indent="-215900"/>
            <a:r>
              <a:rPr lang="de-DE" dirty="0"/>
              <a:t>Rückmeldungen aus dem Workshop in das IST-Konzept einarbeiten</a:t>
            </a:r>
            <a:endParaRPr lang="de-DE" dirty="0">
              <a:cs typeface="Arial"/>
            </a:endParaRPr>
          </a:p>
          <a:p>
            <a:pPr marL="215900" indent="-215900"/>
            <a:r>
              <a:rPr lang="de-DE" dirty="0"/>
              <a:t>SOLL-Konzept ausarbeiten</a:t>
            </a:r>
          </a:p>
          <a:p>
            <a:r>
              <a:rPr lang="de-DE" dirty="0"/>
              <a:t>SOLL-Workshop</a:t>
            </a:r>
            <a:endParaRPr lang="de-C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2732B5-B4B6-ECD5-080D-DD17EB276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055" y="1173410"/>
            <a:ext cx="443202" cy="44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2F1CB05-C755-ABA5-DFD7-BA013AB38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96" y="1527691"/>
            <a:ext cx="443202" cy="44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04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99B9D-DEAD-6E08-C1F9-4FFBAABB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Vielen Dank für Eure Aufmerksamkeit!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D54E78-F30D-CC62-C03D-3D024F9A4A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BB42E8B-0546-6F57-CF89-01C4301523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9482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USB Gruen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288000" indent="-288000" algn="l">
          <a:lnSpc>
            <a:spcPts val="2400"/>
          </a:lnSpc>
          <a:spcAft>
            <a:spcPts val="900"/>
          </a:spcAft>
          <a:buBlip>
            <a:blip xmlns:r="http://schemas.openxmlformats.org/officeDocument/2006/relationships" r:embed="rId1"/>
          </a:buBlip>
          <a:defRPr sz="2000" dirty="0" smtClean="0"/>
        </a:defPPr>
      </a:lstStyle>
    </a:txDef>
  </a:objectDefaults>
  <a:extraClrSchemeLst/>
  <a:custClrLst>
    <a:custClr name="Dunkelbraun100">
      <a:srgbClr val="B96E50"/>
    </a:custClr>
    <a:custClr name="Weinrot100">
      <a:srgbClr val="9B233C"/>
    </a:custClr>
    <a:custClr name="Pink100">
      <a:srgbClr val="FA9196"/>
    </a:custClr>
    <a:custClr name="Violett100">
      <a:srgbClr val="644164"/>
    </a:custClr>
    <a:custClr name="Hellblau100">
      <a:srgbClr val="82B4D7"/>
    </a:custClr>
    <a:custClr name="Tuerkis100">
      <a:srgbClr val="78DEC8"/>
    </a:custClr>
    <a:custClr name="Dunkelgruen100">
      <a:srgbClr val="0A5F5A"/>
    </a:custClr>
    <a:custClr name="Hellgruen100">
      <a:srgbClr val="B4D796"/>
    </a:custClr>
    <a:custClr name="Lime100">
      <a:srgbClr val="F0EB96"/>
    </a:custClr>
    <a:custClr name="Apricot100">
      <a:srgbClr val="FFB97D"/>
    </a:custClr>
    <a:custClr name="Dunkelbraun75">
      <a:srgbClr val="C99277"/>
    </a:custClr>
    <a:custClr name="Weinrot75">
      <a:srgbClr val="B35861"/>
    </a:custClr>
    <a:custClr name="Pink75">
      <a:srgbClr val="F5AFB6"/>
    </a:custClr>
    <a:custClr name="Violett75">
      <a:srgbClr val="866A83"/>
    </a:custClr>
    <a:custClr name="Hellblau75">
      <a:srgbClr val="A7C7E2"/>
    </a:custClr>
    <a:custClr name="Tuerkis75">
      <a:srgbClr val="A0D4CA"/>
    </a:custClr>
    <a:custClr name="Dunkelgruen75">
      <a:srgbClr val="547F7C"/>
    </a:custClr>
    <a:custClr name="Hellgruen75">
      <a:srgbClr val="C7DFB0"/>
    </a:custClr>
    <a:custClr name="Lime75">
      <a:srgbClr val="F2F0B2"/>
    </a:custClr>
    <a:custClr name="Apricot75">
      <a:srgbClr val="F4C69C"/>
    </a:custClr>
    <a:custClr name="Dunkelbraun50">
      <a:srgbClr val="DBB6A2"/>
    </a:custClr>
    <a:custClr name="Weinrot50">
      <a:srgbClr val="C98E8F"/>
    </a:custClr>
    <a:custClr name="Pink50">
      <a:srgbClr val="F9CCCF"/>
    </a:custClr>
    <a:custClr name="Violett50">
      <a:srgbClr val="AA96A8"/>
    </a:custClr>
    <a:custClr name="Hellblau50">
      <a:srgbClr val="C7D9EC"/>
    </a:custClr>
    <a:custClr name="Tuerkis50">
      <a:srgbClr val="C4E3DD"/>
    </a:custClr>
    <a:custClr name="Dunkelgruen50">
      <a:srgbClr val="8DA5A3"/>
    </a:custClr>
    <a:custClr name="Hellgruen50">
      <a:srgbClr val="DBEACC"/>
    </a:custClr>
    <a:custClr name="Lime50">
      <a:srgbClr val="F6F5CE"/>
    </a:custClr>
    <a:custClr name="Apricot50">
      <a:srgbClr val="F8DABE"/>
    </a:custClr>
    <a:custClr name="Dunkelbraun25">
      <a:srgbClr val="ECDACF"/>
    </a:custClr>
    <a:custClr name="Weinrot25">
      <a:srgbClr val="E4C6C5"/>
    </a:custClr>
    <a:custClr name="Pink25">
      <a:srgbClr val="FCE7E7"/>
    </a:custClr>
    <a:custClr name="Violett25">
      <a:srgbClr val="D3C9D3"/>
    </a:custClr>
    <a:custClr name="Hellblau25">
      <a:srgbClr val="E4ECF6"/>
    </a:custClr>
    <a:custClr name="Tuerkis25">
      <a:srgbClr val="E2F1EE"/>
    </a:custClr>
    <a:custClr name="Dunkelgruen25">
      <a:srgbClr val="C6D0CF"/>
    </a:custClr>
    <a:custClr name="Hellgruen25">
      <a:srgbClr val="EDF5E6"/>
    </a:custClr>
    <a:custClr name="Lime25">
      <a:srgbClr val="FAFAE7"/>
    </a:custClr>
    <a:custClr name="Apricot25">
      <a:srgbClr val="FBECDE"/>
    </a:custClr>
    <a:custClr name="Red100">
      <a:srgbClr val="FF0000"/>
    </a:custClr>
    <a:custClr name="Red75">
      <a:srgbClr val="EA5E42"/>
    </a:custClr>
    <a:custClr name="Red50">
      <a:srgbClr val="F39A7D"/>
    </a:custClr>
    <a:custClr name="Red25">
      <a:srgbClr val="FAD0BE"/>
    </a:custClr>
    <a:custClr name="Lila100">
      <a:srgbClr val="DC87CD"/>
    </a:custClr>
    <a:custClr name="Lila75">
      <a:srgbClr val="D99FC7"/>
    </a:custClr>
    <a:custClr name="Lila50">
      <a:srgbClr val="E4C1DC"/>
    </a:custClr>
    <a:custClr name="Lila25">
      <a:srgbClr val="F1E0EF"/>
    </a:custClr>
  </a:custClrLst>
  <a:extLst>
    <a:ext uri="{05A4C25C-085E-4340-85A3-A5531E510DB2}">
      <thm15:themeFamily xmlns:thm15="http://schemas.microsoft.com/office/thememl/2012/main" name="USB Vorlage 2020 16 zu 9_gruen.potx" id="{9C70B0FC-C368-411E-BD7F-DAAE16757BB3}" vid="{9FEA0491-00B4-47C6-B1D5-A4DE62E2BE41}"/>
    </a:ext>
  </a:extLst>
</a:theme>
</file>

<file path=ppt/theme/theme2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4BC71C-F225-4516-971E-132CE6E13354}">
  <we:reference id="wa200010001" version="1.0.0.1" store="de-DE" storeType="OMEX"/>
  <we:alternateReferences>
    <we:reference id="WA200010001" version="1.0.0.1" store="" storeType="OMEX"/>
  </we:alternateReferences>
  <we:properties>
    <we:property name="claude.fileId" value="&quot;f1ca00d4-4015-4276-93ce-bd84e030d19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SB-Dokument" ma:contentTypeID="0x01010074254FFFFA788748BE9570FD90FA56DE009867CD9FD039AE4D8B879842556C0817" ma:contentTypeVersion="21" ma:contentTypeDescription="Ein neues USB-Dokument in der Bibliothek erstellen." ma:contentTypeScope="" ma:versionID="1845b4192588df029f4d3e042d29155e">
  <xsd:schema xmlns:xsd="http://www.w3.org/2001/XMLSchema" xmlns:xs="http://www.w3.org/2001/XMLSchema" xmlns:p="http://schemas.microsoft.com/office/2006/metadata/properties" xmlns:ns2="1a6a32df-cebd-464d-90a1-442646676872" xmlns:ns3="a5f4cae7-4d49-4c48-bd7f-5fff0e82947d" targetNamespace="http://schemas.microsoft.com/office/2006/metadata/properties" ma:root="true" ma:fieldsID="fb44a321940245152344639d0ddf4c3e" ns2:_="" ns3:_="">
    <xsd:import namespace="1a6a32df-cebd-464d-90a1-442646676872"/>
    <xsd:import namespace="a5f4cae7-4d49-4c48-bd7f-5fff0e82947d"/>
    <xsd:element name="properties">
      <xsd:complexType>
        <xsd:sequence>
          <xsd:element name="documentManagement">
            <xsd:complexType>
              <xsd:all>
                <xsd:element ref="ns2:Patientdata" minOccurs="0"/>
                <xsd:element ref="ns2:Confidentiality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a32df-cebd-464d-90a1-442646676872" elementFormDefault="qualified">
    <xsd:import namespace="http://schemas.microsoft.com/office/2006/documentManagement/types"/>
    <xsd:import namespace="http://schemas.microsoft.com/office/infopath/2007/PartnerControls"/>
    <xsd:element name="Patientdata" ma:index="2" nillable="true" ma:displayName="Patientendaten" ma:default="0" ma:internalName="Patientdata">
      <xsd:simpleType>
        <xsd:restriction base="dms:Boolean"/>
      </xsd:simpleType>
    </xsd:element>
    <xsd:element name="Confidentiality" ma:index="3" ma:displayName="Vertraulichkeit" ma:default="Intern" ma:internalName="Confidentiality">
      <xsd:simpleType>
        <xsd:restriction base="dms:Choice">
          <xsd:enumeration value="Intern"/>
          <xsd:enumeration value="Öffentlich"/>
          <xsd:enumeration value="Vertraulich"/>
        </xsd:restriction>
      </xsd:simpleType>
    </xsd:element>
    <xsd:element name="TaxCatchAll" ma:index="16" nillable="true" ma:displayName="Taxonomy Catch All Column" ma:hidden="true" ma:list="{bdaec8a2-fa84-4a01-825a-8df98d1ea18a}" ma:internalName="TaxCatchAll" ma:showField="CatchAllData" ma:web="1a6a32df-cebd-464d-90a1-4426466768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4cae7-4d49-4c48-bd7f-5fff0e8294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ce74e7c6-f287-46cf-95f5-59efda0c9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6a32df-cebd-464d-90a1-442646676872" xsi:nil="true"/>
    <lcf76f155ced4ddcb4097134ff3c332f xmlns="a5f4cae7-4d49-4c48-bd7f-5fff0e82947d">
      <Terms xmlns="http://schemas.microsoft.com/office/infopath/2007/PartnerControls"/>
    </lcf76f155ced4ddcb4097134ff3c332f>
    <Confidentiality xmlns="1a6a32df-cebd-464d-90a1-442646676872">Intern</Confidentiality>
    <Patientdata xmlns="1a6a32df-cebd-464d-90a1-442646676872">false</Patientdata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40B19B-10FD-4A96-B669-15496EEBEFB3}">
  <ds:schemaRefs>
    <ds:schemaRef ds:uri="1a6a32df-cebd-464d-90a1-442646676872"/>
    <ds:schemaRef ds:uri="a5f4cae7-4d49-4c48-bd7f-5fff0e8294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4C71BE-9143-4301-89A0-8F1E5BC1E075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1a6a32df-cebd-464d-90a1-442646676872"/>
    <ds:schemaRef ds:uri="http://schemas.microsoft.com/office/2006/metadata/properties"/>
    <ds:schemaRef ds:uri="http://schemas.openxmlformats.org/package/2006/metadata/core-properties"/>
    <ds:schemaRef ds:uri="a5f4cae7-4d49-4c48-bd7f-5fff0e82947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1C2694B-096A-45FD-A240-861CD045B4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USB Vorlage 2020 16 zu 9_gruen</Template>
  <TotalTime>0</TotalTime>
  <Words>1479</Words>
  <Application>Microsoft Office PowerPoint</Application>
  <PresentationFormat>Breitbild</PresentationFormat>
  <Paragraphs>257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Arial,Sans-Serif</vt:lpstr>
      <vt:lpstr>Wingdings</vt:lpstr>
      <vt:lpstr>USB Gruen</vt:lpstr>
      <vt:lpstr>Austrittsprozess IST</vt:lpstr>
      <vt:lpstr>Teilnehmende</vt:lpstr>
      <vt:lpstr>Ziele heute</vt:lpstr>
      <vt:lpstr>Betrachtete Austrittskonstellationen</vt:lpstr>
      <vt:lpstr>IST Austrittsprozess(e)</vt:lpstr>
      <vt:lpstr>IST-Konzept: Strukturierung in sechs Prozessmodelle</vt:lpstr>
      <vt:lpstr>Notizen Durchsicht IST-Prozesse</vt:lpstr>
      <vt:lpstr>Notizen Durchsicht IST-Prozesse</vt:lpstr>
      <vt:lpstr>Notizen Durchsicht IST-Prozesse</vt:lpstr>
      <vt:lpstr>Notizen Durchsicht IST-Prozesse</vt:lpstr>
      <vt:lpstr>Notizen Durchsicht IST-Prozesse</vt:lpstr>
      <vt:lpstr>Bei der IST Analyse wurden vier Handlungsfelder identifiziert</vt:lpstr>
      <vt:lpstr>Bei der IST Analyse wurden erste Optimierungsideen aufgenommen</vt:lpstr>
      <vt:lpstr>Nächste Schritte</vt:lpstr>
      <vt:lpstr>Vielen Dank für Eure Aufmerksamkeit!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Haefliger Sarah</dc:creator>
  <cp:lastModifiedBy>Kapischan Sriganthan</cp:lastModifiedBy>
  <cp:revision>67</cp:revision>
  <dcterms:created xsi:type="dcterms:W3CDTF">2023-06-19T13:30:35Z</dcterms:created>
  <dcterms:modified xsi:type="dcterms:W3CDTF">2026-06-05T15:15:57Z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0x01010074254FFFFA788748BE9570FD90FA56DE009867CD9FD039AE4D8B879842556C0817</vt:lpwstr>
  </property>
  <property fmtid="{D5CDD505-2E9C-101B-9397-08002B2CF9AE}" pid="3" name="MediaServiceImageTags">
    <vt:lpwstr/>
  </property>
</Properties>
</file>