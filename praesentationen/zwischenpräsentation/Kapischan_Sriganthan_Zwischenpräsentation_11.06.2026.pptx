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38"/>
  </p:notesMasterIdLst>
  <p:sldIdLst>
    <p:sldId id="259" r:id="rId3"/>
    <p:sldId id="335" r:id="rId4"/>
    <p:sldId id="336" r:id="rId5"/>
    <p:sldId id="262" r:id="rId6"/>
    <p:sldId id="296" r:id="rId7"/>
    <p:sldId id="353" r:id="rId8"/>
    <p:sldId id="334" r:id="rId9"/>
    <p:sldId id="337" r:id="rId10"/>
    <p:sldId id="326" r:id="rId11"/>
    <p:sldId id="314" r:id="rId12"/>
    <p:sldId id="338" r:id="rId13"/>
    <p:sldId id="344" r:id="rId14"/>
    <p:sldId id="347" r:id="rId15"/>
    <p:sldId id="346" r:id="rId16"/>
    <p:sldId id="345" r:id="rId17"/>
    <p:sldId id="276" r:id="rId18"/>
    <p:sldId id="293" r:id="rId19"/>
    <p:sldId id="360" r:id="rId20"/>
    <p:sldId id="349" r:id="rId21"/>
    <p:sldId id="350" r:id="rId22"/>
    <p:sldId id="281" r:id="rId23"/>
    <p:sldId id="363" r:id="rId24"/>
    <p:sldId id="365" r:id="rId25"/>
    <p:sldId id="367" r:id="rId26"/>
    <p:sldId id="370" r:id="rId27"/>
    <p:sldId id="351" r:id="rId28"/>
    <p:sldId id="316" r:id="rId29"/>
    <p:sldId id="318" r:id="rId30"/>
    <p:sldId id="289" r:id="rId31"/>
    <p:sldId id="354" r:id="rId32"/>
    <p:sldId id="285" r:id="rId33"/>
    <p:sldId id="294" r:id="rId34"/>
    <p:sldId id="352" r:id="rId35"/>
    <p:sldId id="266" r:id="rId36"/>
    <p:sldId id="332" r:id="rId3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fang (3 Min)" id="{8AE5FF40-C6DF-41C6-B089-BD5559F27EEB}">
          <p14:sldIdLst>
            <p14:sldId id="259"/>
            <p14:sldId id="335"/>
          </p14:sldIdLst>
        </p14:section>
        <p14:section name="Projektinitialisierung-Kick-Off (4 Min)" id="{0C58A7B7-BF92-448B-BFBC-5484E2667212}">
          <p14:sldIdLst>
            <p14:sldId id="336"/>
            <p14:sldId id="262"/>
            <p14:sldId id="296"/>
            <p14:sldId id="353"/>
            <p14:sldId id="334"/>
          </p14:sldIdLst>
        </p14:section>
        <p14:section name="Projektinitialisierung-Wissenschaftlicher Teil (3 Min)" id="{E0120BC0-CE78-4899-B9B9-ECAB25501D52}">
          <p14:sldIdLst>
            <p14:sldId id="337"/>
            <p14:sldId id="326"/>
            <p14:sldId id="314"/>
          </p14:sldIdLst>
        </p14:section>
        <p14:section name="IST-Erhebung (10 Min)" id="{96EEA20B-60F5-4978-AC5F-5724D77A709F}">
          <p14:sldIdLst>
            <p14:sldId id="338"/>
            <p14:sldId id="344"/>
            <p14:sldId id="347"/>
            <p14:sldId id="346"/>
            <p14:sldId id="345"/>
            <p14:sldId id="276"/>
            <p14:sldId id="293"/>
            <p14:sldId id="360"/>
            <p14:sldId id="349"/>
          </p14:sldIdLst>
        </p14:section>
        <p14:section name="IST-Analyse (2 Min)" id="{552E7C8F-3E37-49DF-A687-2C178C4C1252}">
          <p14:sldIdLst>
            <p14:sldId id="350"/>
            <p14:sldId id="281"/>
            <p14:sldId id="363"/>
            <p14:sldId id="365"/>
            <p14:sldId id="367"/>
            <p14:sldId id="370"/>
            <p14:sldId id="351"/>
            <p14:sldId id="316"/>
          </p14:sldIdLst>
        </p14:section>
        <p14:section name="Ausblick (2 Min)" id="{54C602BC-8C08-4D19-BC39-486D3EEC3989}">
          <p14:sldIdLst>
            <p14:sldId id="318"/>
            <p14:sldId id="289"/>
            <p14:sldId id="354"/>
          </p14:sldIdLst>
        </p14:section>
        <p14:section name="Herausforderungen und Feedback von mir (1 Min)" id="{11911EDD-CC6A-4E43-9E85-5D54E112B24E}">
          <p14:sldIdLst>
            <p14:sldId id="285"/>
            <p14:sldId id="294"/>
          </p14:sldIdLst>
        </p14:section>
        <p14:section name="Feedback &amp; Fragen" id="{5C1F95C9-70E7-4050-9C1B-BFC4E8C95FD9}">
          <p14:sldIdLst>
            <p14:sldId id="352"/>
            <p14:sldId id="266"/>
          </p14:sldIdLst>
        </p14:section>
        <p14:section name="Backup" id="{650A1F3C-39AE-4C4D-884C-D82FE7B3335D}">
          <p14:sldIdLst>
            <p14:sldId id="33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9803"/>
    <a:srgbClr val="ECD6ED"/>
    <a:srgbClr val="B4FAA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C3DDDE-77EB-414F-A6F5-9E9DC2580E39}" v="254" dt="2026-06-12T23:40:57.743"/>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ABFCF23-3B69-468F-B69F-88F6DE6A72F2}" styleName="Mittlere Formatvorlage 1 - Akz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2838BEF-8BB2-4498-84A7-C5851F593DF1}" styleName="Mittlere Formatvorlage 4 - Akz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521" autoAdjust="0"/>
  </p:normalViewPr>
  <p:slideViewPr>
    <p:cSldViewPr snapToGrid="0">
      <p:cViewPr varScale="1">
        <p:scale>
          <a:sx n="106" d="100"/>
          <a:sy n="106" d="100"/>
        </p:scale>
        <p:origin x="792" y="9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microsoft.com/office/2016/11/relationships/changesInfo" Target="changesInfos/changesInfo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pischan Sriganthan" userId="34441ecdfeb3e653" providerId="LiveId" clId="{02B31705-FE09-402A-8132-E2F37BBBA7A8}"/>
    <pc:docChg chg="modSld">
      <pc:chgData name="Kapischan Sriganthan" userId="34441ecdfeb3e653" providerId="LiveId" clId="{02B31705-FE09-402A-8132-E2F37BBBA7A8}" dt="2026-06-12T23:40:57.743" v="0"/>
      <pc:docMkLst>
        <pc:docMk/>
      </pc:docMkLst>
      <pc:sldChg chg="addSp">
        <pc:chgData name="Kapischan Sriganthan" userId="34441ecdfeb3e653" providerId="LiveId" clId="{02B31705-FE09-402A-8132-E2F37BBBA7A8}" dt="2026-06-12T23:40:57.743" v="0"/>
        <pc:sldMkLst>
          <pc:docMk/>
          <pc:sldMk cId="2052459745" sldId="347"/>
        </pc:sldMkLst>
        <pc:spChg chg="add">
          <ac:chgData name="Kapischan Sriganthan" userId="34441ecdfeb3e653" providerId="LiveId" clId="{02B31705-FE09-402A-8132-E2F37BBBA7A8}" dt="2026-06-12T23:40:57.743" v="0"/>
          <ac:spMkLst>
            <pc:docMk/>
            <pc:sldMk cId="2052459745" sldId="347"/>
            <ac:spMk id="3" creationId="{C2461BB1-1344-5276-76F4-DFE4029FF3F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8D3090-B2EB-4004-9A6B-B604AC30A3EC}" type="datetimeFigureOut">
              <a:rPr lang="de-CH" smtClean="0"/>
              <a:t>13.06.2026</a:t>
            </a:fld>
            <a:endParaRPr lang="de-CH"/>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085661-3870-4692-BE49-B1BAFBD411E0}" type="slidenum">
              <a:rPr lang="de-CH" smtClean="0"/>
              <a:t>‹Nr.›</a:t>
            </a:fld>
            <a:endParaRPr lang="de-CH"/>
          </a:p>
        </p:txBody>
      </p:sp>
    </p:spTree>
    <p:extLst>
      <p:ext uri="{BB962C8B-B14F-4D97-AF65-F5344CB8AC3E}">
        <p14:creationId xmlns:p14="http://schemas.microsoft.com/office/powerpoint/2010/main" val="566953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CH" dirty="0"/>
              <a:t>Die Präsentation folgt dem Projektverlauf: Zuerst ordne ich Ausgangslage, Zielsetzung und Methodik ein. Danach zeige ich, wie die IST-Erhebung aufgebaut wurde, wie das IST-Konzept validiert wurde und wie daraus Pain Points, Handlungsfelder und die Grundlage für das SOLL-Konzept entstanden sind.</a:t>
            </a:r>
          </a:p>
        </p:txBody>
      </p:sp>
      <p:sp>
        <p:nvSpPr>
          <p:cNvPr id="4" name="Foliennummernplatzhalter 3"/>
          <p:cNvSpPr>
            <a:spLocks noGrp="1"/>
          </p:cNvSpPr>
          <p:nvPr>
            <p:ph type="sldNum" sz="quarter" idx="5"/>
          </p:nvPr>
        </p:nvSpPr>
        <p:spPr/>
        <p:txBody>
          <a:bodyPr/>
          <a:lstStyle/>
          <a:p>
            <a:fld id="{1B085661-3870-4692-BE49-B1BAFBD411E0}" type="slidenum">
              <a:rPr lang="de-CH" smtClean="0"/>
              <a:t>1</a:t>
            </a:fld>
            <a:endParaRPr lang="de-CH"/>
          </a:p>
        </p:txBody>
      </p:sp>
    </p:spTree>
    <p:extLst>
      <p:ext uri="{BB962C8B-B14F-4D97-AF65-F5344CB8AC3E}">
        <p14:creationId xmlns:p14="http://schemas.microsoft.com/office/powerpoint/2010/main" val="1490590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CH" dirty="0"/>
          </a:p>
        </p:txBody>
      </p:sp>
      <p:sp>
        <p:nvSpPr>
          <p:cNvPr id="4" name="Foliennummernplatzhalter 3"/>
          <p:cNvSpPr>
            <a:spLocks noGrp="1"/>
          </p:cNvSpPr>
          <p:nvPr>
            <p:ph type="sldNum" sz="quarter" idx="5"/>
          </p:nvPr>
        </p:nvSpPr>
        <p:spPr/>
        <p:txBody>
          <a:bodyPr/>
          <a:lstStyle/>
          <a:p>
            <a:fld id="{1B085661-3870-4692-BE49-B1BAFBD411E0}" type="slidenum">
              <a:rPr lang="de-CH" smtClean="0"/>
              <a:t>2</a:t>
            </a:fld>
            <a:endParaRPr lang="de-CH"/>
          </a:p>
        </p:txBody>
      </p:sp>
    </p:spTree>
    <p:extLst>
      <p:ext uri="{BB962C8B-B14F-4D97-AF65-F5344CB8AC3E}">
        <p14:creationId xmlns:p14="http://schemas.microsoft.com/office/powerpoint/2010/main" val="4109944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Die Arbeit ist in die Weiterentwicklung der HR-Organisation eingebettet. Mit dem digitalen HR-Portal, dem HR Service Point und Jira Service Management wurden neue Zugänge und technische Grundlagen geschaffen. Der Austrittsprozess ist ein konkreter HR-Prozess, bei dem diese Digitalisierung fachlich ausgestaltet werden muss. Die zentrale Aussage ist deshalb: Jira schafft die technische Basis, die fachliche Standardisierung muss jedoch im Prozesskonzept geleistet werden.</a:t>
            </a:r>
          </a:p>
        </p:txBody>
      </p:sp>
      <p:sp>
        <p:nvSpPr>
          <p:cNvPr id="4" name="Foliennummernplatzhalter 3"/>
          <p:cNvSpPr>
            <a:spLocks noGrp="1"/>
          </p:cNvSpPr>
          <p:nvPr>
            <p:ph type="sldNum" sz="quarter" idx="5"/>
          </p:nvPr>
        </p:nvSpPr>
        <p:spPr/>
        <p:txBody>
          <a:bodyPr/>
          <a:lstStyle/>
          <a:p>
            <a:fld id="{1B085661-3870-4692-BE49-B1BAFBD411E0}" type="slidenum">
              <a:rPr lang="de-CH" smtClean="0"/>
              <a:t>4</a:t>
            </a:fld>
            <a:endParaRPr lang="de-CH"/>
          </a:p>
        </p:txBody>
      </p:sp>
    </p:spTree>
    <p:extLst>
      <p:ext uri="{BB962C8B-B14F-4D97-AF65-F5344CB8AC3E}">
        <p14:creationId xmlns:p14="http://schemas.microsoft.com/office/powerpoint/2010/main" val="2193835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Medienbruch = Wechsel zwischen Systemen, Medien oder Informationsträgern (Daten stehen in SAP, müssen, aber manuell ins Jira-Formular übertragen werden)</a:t>
            </a:r>
          </a:p>
          <a:p>
            <a:r>
              <a:rPr lang="de-CH" dirty="0"/>
              <a:t>Manueller Schritt = Händische Tätigkeit (HR Administration prüft manuell, ob eine Rückzahlungspflicht besteht)</a:t>
            </a:r>
          </a:p>
        </p:txBody>
      </p:sp>
      <p:sp>
        <p:nvSpPr>
          <p:cNvPr id="4" name="Foliennummernplatzhalter 3"/>
          <p:cNvSpPr>
            <a:spLocks noGrp="1"/>
          </p:cNvSpPr>
          <p:nvPr>
            <p:ph type="sldNum" sz="quarter" idx="5"/>
          </p:nvPr>
        </p:nvSpPr>
        <p:spPr/>
        <p:txBody>
          <a:bodyPr/>
          <a:lstStyle/>
          <a:p>
            <a:fld id="{1B085661-3870-4692-BE49-B1BAFBD411E0}" type="slidenum">
              <a:rPr lang="de-CH" smtClean="0"/>
              <a:t>5</a:t>
            </a:fld>
            <a:endParaRPr lang="de-CH"/>
          </a:p>
        </p:txBody>
      </p:sp>
    </p:spTree>
    <p:extLst>
      <p:ext uri="{BB962C8B-B14F-4D97-AF65-F5344CB8AC3E}">
        <p14:creationId xmlns:p14="http://schemas.microsoft.com/office/powerpoint/2010/main" val="1849161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Felix fragen: Ist das nötig?</a:t>
            </a:r>
          </a:p>
        </p:txBody>
      </p:sp>
      <p:sp>
        <p:nvSpPr>
          <p:cNvPr id="4" name="Foliennummernplatzhalter 3"/>
          <p:cNvSpPr>
            <a:spLocks noGrp="1"/>
          </p:cNvSpPr>
          <p:nvPr>
            <p:ph type="sldNum" sz="quarter" idx="5"/>
          </p:nvPr>
        </p:nvSpPr>
        <p:spPr/>
        <p:txBody>
          <a:bodyPr/>
          <a:lstStyle/>
          <a:p>
            <a:fld id="{1B085661-3870-4692-BE49-B1BAFBD411E0}" type="slidenum">
              <a:rPr lang="de-CH" smtClean="0"/>
              <a:t>6</a:t>
            </a:fld>
            <a:endParaRPr lang="de-CH"/>
          </a:p>
        </p:txBody>
      </p:sp>
    </p:spTree>
    <p:extLst>
      <p:ext uri="{BB962C8B-B14F-4D97-AF65-F5344CB8AC3E}">
        <p14:creationId xmlns:p14="http://schemas.microsoft.com/office/powerpoint/2010/main" val="2063184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DSRM wird in der Arbeit als übergeordneter Forschungsrahmen verstanden. Problemverständnis, Zieldefinition und Analyse wurden iterativ geschärft. Insbesondere die Erkenntnisse aus Interviews, Modellierung und IST-Workshop wurden mehrfach rückgekoppelt und bilden nun die Grundlage für die Design- und Entwicklungsphase des SOLL-Konzepts.</a:t>
            </a:r>
          </a:p>
          <a:p>
            <a:endParaRPr lang="de-CH" dirty="0"/>
          </a:p>
          <a:p>
            <a:r>
              <a:rPr lang="de-CH" b="1" dirty="0"/>
              <a:t>Entry Point: </a:t>
            </a:r>
            <a:r>
              <a:rPr lang="de-CH" b="1" dirty="0" err="1"/>
              <a:t>Objective-Centered</a:t>
            </a:r>
            <a:r>
              <a:rPr lang="de-CH" b="1" dirty="0"/>
              <a:t> Solution</a:t>
            </a:r>
            <a:br>
              <a:rPr lang="de-CH" dirty="0"/>
            </a:br>
            <a:r>
              <a:rPr lang="de-CH" dirty="0"/>
              <a:t>Das bedeutet: Dein Projekt startet nicht komplett „forschungsneutral“ bei null, sondern mit einem bereits grob definierten Ziel aus dem Kick-off. Die Auftraggeberschaft wusste bereits: Der Austrittsprozess soll optimiert und digitalisierungsfähig gemacht werden. Deshalb ist der Einstieg in DSRM eher </a:t>
            </a:r>
            <a:r>
              <a:rPr lang="de-CH" b="1" dirty="0"/>
              <a:t>zielorientiert</a:t>
            </a:r>
            <a:r>
              <a:rPr lang="de-CH" dirty="0"/>
              <a:t>.</a:t>
            </a:r>
          </a:p>
          <a:p>
            <a:endParaRPr lang="de-CH" dirty="0"/>
          </a:p>
          <a:p>
            <a:r>
              <a:rPr lang="de-CH" b="1" dirty="0"/>
              <a:t>Was ist das «Design &amp; Entwicklung»-Artefakt konkret?</a:t>
            </a:r>
          </a:p>
          <a:p>
            <a:r>
              <a:rPr lang="de-CH" dirty="0"/>
              <a:t>«Das Artefakt ist das systemgestützte SOLL-Prozessmodell inkl. Anforderungskatalog für Jira Service Management.» Das verbindet DSRM direkt mit der Forschungsfrage.</a:t>
            </a:r>
          </a:p>
          <a:p>
            <a:endParaRPr lang="de-CH" dirty="0"/>
          </a:p>
          <a:p>
            <a:endParaRPr lang="de-CH" b="1" dirty="0"/>
          </a:p>
          <a:p>
            <a:r>
              <a:rPr lang="de-CH" b="1" dirty="0"/>
              <a:t>1 Problemidentifikation</a:t>
            </a:r>
            <a:br>
              <a:rPr lang="de-CH" dirty="0"/>
            </a:br>
            <a:r>
              <a:rPr lang="de-CH" dirty="0"/>
              <a:t>Kick-off, Dokumentenanalyse, Interviews, IST-Modellierung und IST-Workshop zeigen die Ausgangslage, Variantenvielfalt, Medienbrüche, manuelle Arbeitsschritte und fehlende Standardisierung.</a:t>
            </a:r>
          </a:p>
          <a:p>
            <a:r>
              <a:rPr lang="de-CH" b="1" dirty="0"/>
              <a:t>2 Zieldefinition</a:t>
            </a:r>
            <a:br>
              <a:rPr lang="de-CH" dirty="0"/>
            </a:br>
            <a:r>
              <a:rPr lang="de-CH" dirty="0"/>
              <a:t>Projektziele, Forschungsfragen, Akzeptanzkriterien und Handlungsfelder definieren, was das SOLL-Konzept leisten muss.</a:t>
            </a:r>
          </a:p>
          <a:p>
            <a:r>
              <a:rPr lang="de-CH" b="1" dirty="0"/>
              <a:t>3 Design &amp; Entwicklung</a:t>
            </a:r>
            <a:br>
              <a:rPr lang="de-CH" dirty="0"/>
            </a:br>
            <a:r>
              <a:rPr lang="de-CH" dirty="0"/>
              <a:t>SOLL-Workshop, SOLL-Konzept, SOLL-Modellierung, Anforderungskatalog, User Stories und Use Cases.</a:t>
            </a:r>
          </a:p>
          <a:p>
            <a:r>
              <a:rPr lang="de-CH" b="1" dirty="0"/>
              <a:t>4 Demonstration</a:t>
            </a:r>
            <a:br>
              <a:rPr lang="de-CH" dirty="0"/>
            </a:br>
            <a:r>
              <a:rPr lang="de-CH" dirty="0" err="1"/>
              <a:t>Demonstration</a:t>
            </a:r>
            <a:r>
              <a:rPr lang="de-CH" dirty="0"/>
              <a:t> durch Anwendung des SOLL-Konzepts auf ausgewählte Prozessfragmente</a:t>
            </a:r>
          </a:p>
          <a:p>
            <a:r>
              <a:rPr lang="de-CH" b="1" dirty="0"/>
              <a:t>5 Evaluation</a:t>
            </a:r>
            <a:br>
              <a:rPr lang="de-CH" dirty="0"/>
            </a:br>
            <a:r>
              <a:rPr lang="de-CH" dirty="0"/>
              <a:t>Validierung des SOLL-Konzepts durch Stakeholder, Abgleich mit Projektzielen, Akzeptanzkriterien und Handlungsfeldern.</a:t>
            </a:r>
          </a:p>
          <a:p>
            <a:r>
              <a:rPr lang="de-CH" b="1" dirty="0"/>
              <a:t>6 Kommunikation</a:t>
            </a:r>
            <a:br>
              <a:rPr lang="de-CH" dirty="0"/>
            </a:br>
            <a:r>
              <a:rPr lang="de-CH" dirty="0"/>
              <a:t>Bachelorarbeit, Zwischenpräsentation, Projektabnahme und Schlusspräsentation.</a:t>
            </a:r>
          </a:p>
          <a:p>
            <a:endParaRPr lang="de-CH" dirty="0"/>
          </a:p>
          <a:p>
            <a:r>
              <a:rPr lang="de-CH" b="1" dirty="0"/>
              <a:t>BPM-Lifecycle</a:t>
            </a:r>
            <a:r>
              <a:rPr lang="de-CH" dirty="0"/>
              <a:t> konkretisiert vor allem die Prozessarbeit:</a:t>
            </a:r>
          </a:p>
          <a:p>
            <a:r>
              <a:rPr lang="de-CH" dirty="0"/>
              <a:t>DSRM 1 Problemidentifikation → </a:t>
            </a:r>
            <a:r>
              <a:rPr lang="de-CH" b="1" dirty="0"/>
              <a:t>Prozesserhebung / IST-Erhebung</a:t>
            </a:r>
            <a:r>
              <a:rPr lang="de-CH" dirty="0"/>
              <a:t> </a:t>
            </a:r>
          </a:p>
          <a:p>
            <a:r>
              <a:rPr lang="de-CH" dirty="0"/>
              <a:t>DSRM 2 Ziele definieren → </a:t>
            </a:r>
            <a:r>
              <a:rPr lang="de-CH" b="1" dirty="0"/>
              <a:t>Prozessanalyse / Handlungsfelder</a:t>
            </a:r>
            <a:r>
              <a:rPr lang="de-CH" dirty="0"/>
              <a:t> </a:t>
            </a:r>
          </a:p>
          <a:p>
            <a:r>
              <a:rPr lang="de-CH" dirty="0"/>
              <a:t>DSRM 3 Design &amp; Entwicklung → </a:t>
            </a:r>
            <a:r>
              <a:rPr lang="de-CH" b="1" dirty="0"/>
              <a:t>Prozessdesign / SOLL-Konzept</a:t>
            </a:r>
            <a:r>
              <a:rPr lang="de-CH" dirty="0"/>
              <a:t> </a:t>
            </a:r>
          </a:p>
          <a:p>
            <a:r>
              <a:rPr lang="de-CH" b="1" dirty="0" err="1"/>
              <a:t>Requirements</a:t>
            </a:r>
            <a:r>
              <a:rPr lang="de-CH" b="1" dirty="0"/>
              <a:t> Engineering</a:t>
            </a:r>
            <a:r>
              <a:rPr lang="de-CH" dirty="0"/>
              <a:t> konkretisiert vor allem die Anforderungsarbeit:</a:t>
            </a:r>
          </a:p>
          <a:p>
            <a:r>
              <a:rPr lang="de-CH" dirty="0"/>
              <a:t>DSRM 1 Problemidentifikation → Stakeholder identifizieren, Perspektiven verstehen </a:t>
            </a:r>
          </a:p>
          <a:p>
            <a:r>
              <a:rPr lang="de-CH" dirty="0"/>
              <a:t>DSRM 2 Ziele definieren → Anforderungen vorbereiten, Zielbilder ableiten </a:t>
            </a:r>
          </a:p>
          <a:p>
            <a:r>
              <a:rPr lang="de-CH" dirty="0"/>
              <a:t>DSRM 3 Design &amp; Entwicklung → Anforderungen strukturieren, User Stories, Use Cases, Anforderungskatalog </a:t>
            </a:r>
          </a:p>
          <a:p>
            <a:r>
              <a:rPr lang="de-CH" dirty="0"/>
              <a:t>DSRM 5 Evaluation → Anforderungen mit Stakeholdern validieren</a:t>
            </a:r>
          </a:p>
          <a:p>
            <a:endParaRPr lang="de-CH" dirty="0"/>
          </a:p>
          <a:p>
            <a:endParaRPr lang="de-CH" dirty="0"/>
          </a:p>
        </p:txBody>
      </p:sp>
      <p:sp>
        <p:nvSpPr>
          <p:cNvPr id="4" name="Foliennummernplatzhalter 3"/>
          <p:cNvSpPr>
            <a:spLocks noGrp="1"/>
          </p:cNvSpPr>
          <p:nvPr>
            <p:ph type="sldNum" sz="quarter" idx="5"/>
          </p:nvPr>
        </p:nvSpPr>
        <p:spPr/>
        <p:txBody>
          <a:bodyPr/>
          <a:lstStyle/>
          <a:p>
            <a:fld id="{1B085661-3870-4692-BE49-B1BAFBD411E0}" type="slidenum">
              <a:rPr lang="de-CH" smtClean="0"/>
              <a:t>9</a:t>
            </a:fld>
            <a:endParaRPr lang="de-CH"/>
          </a:p>
        </p:txBody>
      </p:sp>
    </p:spTree>
    <p:extLst>
      <p:ext uri="{BB962C8B-B14F-4D97-AF65-F5344CB8AC3E}">
        <p14:creationId xmlns:p14="http://schemas.microsoft.com/office/powerpoint/2010/main" val="1263359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Nach der methodischen Einordnung folgt nun die fachliche IST-Erhebung. Ziel war es, aus Dokumenten, Interviews und Modellierung ein belastbares IST-Bild zu erstellen.</a:t>
            </a:r>
          </a:p>
        </p:txBody>
      </p:sp>
      <p:sp>
        <p:nvSpPr>
          <p:cNvPr id="4" name="Foliennummernplatzhalter 3"/>
          <p:cNvSpPr>
            <a:spLocks noGrp="1"/>
          </p:cNvSpPr>
          <p:nvPr>
            <p:ph type="sldNum" sz="quarter" idx="5"/>
          </p:nvPr>
        </p:nvSpPr>
        <p:spPr/>
        <p:txBody>
          <a:bodyPr/>
          <a:lstStyle/>
          <a:p>
            <a:fld id="{1B085661-3870-4692-BE49-B1BAFBD411E0}" type="slidenum">
              <a:rPr lang="de-CH" smtClean="0"/>
              <a:t>11</a:t>
            </a:fld>
            <a:endParaRPr lang="de-CH"/>
          </a:p>
        </p:txBody>
      </p:sp>
    </p:spTree>
    <p:extLst>
      <p:ext uri="{BB962C8B-B14F-4D97-AF65-F5344CB8AC3E}">
        <p14:creationId xmlns:p14="http://schemas.microsoft.com/office/powerpoint/2010/main" val="2278976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Felix fragen: Leitfaden zeigen?</a:t>
            </a:r>
          </a:p>
        </p:txBody>
      </p:sp>
      <p:sp>
        <p:nvSpPr>
          <p:cNvPr id="4" name="Foliennummernplatzhalter 3"/>
          <p:cNvSpPr>
            <a:spLocks noGrp="1"/>
          </p:cNvSpPr>
          <p:nvPr>
            <p:ph type="sldNum" sz="quarter" idx="5"/>
          </p:nvPr>
        </p:nvSpPr>
        <p:spPr/>
        <p:txBody>
          <a:bodyPr/>
          <a:lstStyle/>
          <a:p>
            <a:fld id="{1B085661-3870-4692-BE49-B1BAFBD411E0}" type="slidenum">
              <a:rPr lang="de-CH" smtClean="0"/>
              <a:t>12</a:t>
            </a:fld>
            <a:endParaRPr lang="de-CH"/>
          </a:p>
        </p:txBody>
      </p:sp>
    </p:spTree>
    <p:extLst>
      <p:ext uri="{BB962C8B-B14F-4D97-AF65-F5344CB8AC3E}">
        <p14:creationId xmlns:p14="http://schemas.microsoft.com/office/powerpoint/2010/main" val="61415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CH" dirty="0"/>
          </a:p>
        </p:txBody>
      </p:sp>
      <p:sp>
        <p:nvSpPr>
          <p:cNvPr id="4" name="Foliennummernplatzhalter 3"/>
          <p:cNvSpPr>
            <a:spLocks noGrp="1"/>
          </p:cNvSpPr>
          <p:nvPr>
            <p:ph type="sldNum" sz="quarter" idx="5"/>
          </p:nvPr>
        </p:nvSpPr>
        <p:spPr/>
        <p:txBody>
          <a:bodyPr/>
          <a:lstStyle/>
          <a:p>
            <a:fld id="{1B085661-3870-4692-BE49-B1BAFBD411E0}" type="slidenum">
              <a:rPr lang="de-CH" smtClean="0"/>
              <a:t>13</a:t>
            </a:fld>
            <a:endParaRPr lang="de-CH"/>
          </a:p>
        </p:txBody>
      </p:sp>
    </p:spTree>
    <p:extLst>
      <p:ext uri="{BB962C8B-B14F-4D97-AF65-F5344CB8AC3E}">
        <p14:creationId xmlns:p14="http://schemas.microsoft.com/office/powerpoint/2010/main" val="40529658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CH" dirty="0"/>
          </a:p>
        </p:txBody>
      </p:sp>
      <p:sp>
        <p:nvSpPr>
          <p:cNvPr id="4" name="Foliennummernplatzhalter 3"/>
          <p:cNvSpPr>
            <a:spLocks noGrp="1"/>
          </p:cNvSpPr>
          <p:nvPr>
            <p:ph type="sldNum" sz="quarter" idx="5"/>
          </p:nvPr>
        </p:nvSpPr>
        <p:spPr/>
        <p:txBody>
          <a:bodyPr/>
          <a:lstStyle/>
          <a:p>
            <a:fld id="{1B085661-3870-4692-BE49-B1BAFBD411E0}" type="slidenum">
              <a:rPr lang="de-CH" smtClean="0"/>
              <a:t>14</a:t>
            </a:fld>
            <a:endParaRPr lang="de-CH"/>
          </a:p>
        </p:txBody>
      </p:sp>
    </p:spTree>
    <p:extLst>
      <p:ext uri="{BB962C8B-B14F-4D97-AF65-F5344CB8AC3E}">
        <p14:creationId xmlns:p14="http://schemas.microsoft.com/office/powerpoint/2010/main" val="3196372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Absprung </a:t>
            </a:r>
            <a:r>
              <a:rPr lang="de-CH" dirty="0" err="1"/>
              <a:t>Camunda</a:t>
            </a:r>
            <a:r>
              <a:rPr lang="de-CH" dirty="0"/>
              <a:t> </a:t>
            </a:r>
            <a:r>
              <a:rPr lang="de-CH" dirty="0" err="1"/>
              <a:t>Modeler</a:t>
            </a:r>
            <a:endParaRPr lang="de-CH" dirty="0"/>
          </a:p>
        </p:txBody>
      </p:sp>
      <p:sp>
        <p:nvSpPr>
          <p:cNvPr id="4" name="Foliennummernplatzhalter 3"/>
          <p:cNvSpPr>
            <a:spLocks noGrp="1"/>
          </p:cNvSpPr>
          <p:nvPr>
            <p:ph type="sldNum" sz="quarter" idx="5"/>
          </p:nvPr>
        </p:nvSpPr>
        <p:spPr/>
        <p:txBody>
          <a:bodyPr/>
          <a:lstStyle/>
          <a:p>
            <a:fld id="{1B085661-3870-4692-BE49-B1BAFBD411E0}" type="slidenum">
              <a:rPr lang="de-CH" smtClean="0"/>
              <a:t>15</a:t>
            </a:fld>
            <a:endParaRPr lang="de-CH"/>
          </a:p>
        </p:txBody>
      </p:sp>
    </p:spTree>
    <p:extLst>
      <p:ext uri="{BB962C8B-B14F-4D97-AF65-F5344CB8AC3E}">
        <p14:creationId xmlns:p14="http://schemas.microsoft.com/office/powerpoint/2010/main" val="3336346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Die vier Handlungsfelder wurden im IST-Workshop als zentrale Zielrichtungen festgelegt. Sie zeigen, entlang welcher Bereiche das SOLL-Konzept später entwickelt werden soll: Transparenz, Datenbasis, Standardisierung und systemgestützte Ausführung.</a:t>
            </a:r>
          </a:p>
        </p:txBody>
      </p:sp>
      <p:sp>
        <p:nvSpPr>
          <p:cNvPr id="4" name="Foliennummernplatzhalter 3"/>
          <p:cNvSpPr>
            <a:spLocks noGrp="1"/>
          </p:cNvSpPr>
          <p:nvPr>
            <p:ph type="sldNum" sz="quarter" idx="5"/>
          </p:nvPr>
        </p:nvSpPr>
        <p:spPr/>
        <p:txBody>
          <a:bodyPr/>
          <a:lstStyle/>
          <a:p>
            <a:fld id="{1B085661-3870-4692-BE49-B1BAFBD411E0}" type="slidenum">
              <a:rPr lang="de-CH" smtClean="0"/>
              <a:t>17</a:t>
            </a:fld>
            <a:endParaRPr lang="de-CH"/>
          </a:p>
        </p:txBody>
      </p:sp>
    </p:spTree>
    <p:extLst>
      <p:ext uri="{BB962C8B-B14F-4D97-AF65-F5344CB8AC3E}">
        <p14:creationId xmlns:p14="http://schemas.microsoft.com/office/powerpoint/2010/main" val="3412527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Die anschliessende Konsolidierung der Pain Points zeigt, welche konkreten Schwachstellen hinter diesen Handlungsfeldern stehen. Damit wird sichtbar, dass die Handlungsfelder direkt auf die Forschungsfrage einzahlen: Medienbrüche reduzieren, manuelle Aufwände minimieren und Transparenz erhöhen.</a:t>
            </a:r>
          </a:p>
          <a:p>
            <a:endParaRPr lang="de-CH" dirty="0"/>
          </a:p>
          <a:p>
            <a:r>
              <a:rPr lang="de-CH" dirty="0"/>
              <a:t>Referenz auf die Forschungsfrage: </a:t>
            </a:r>
          </a:p>
          <a:p>
            <a:r>
              <a:rPr lang="de-CH" dirty="0"/>
              <a:t>Die IST-Erhebung hat gezeigt, dass die zentralen Schwachstellen genau entlang der Forschungsfrage liegen: Medienbrüche, manuelle Aufwände und fehlende Transparenz. Die Pain Points machen diese Schwachstellen konkret sichtbar. Die vier Handlungsfelder bündeln sie und zeigen, worauf das SOLL-Konzept ausgerichtet werden muss. Damit bilden sie die Grundlage für die spätere Beantwortung der Forschungsfrage.</a:t>
            </a:r>
          </a:p>
        </p:txBody>
      </p:sp>
      <p:sp>
        <p:nvSpPr>
          <p:cNvPr id="4" name="Foliennummernplatzhalter 3"/>
          <p:cNvSpPr>
            <a:spLocks noGrp="1"/>
          </p:cNvSpPr>
          <p:nvPr>
            <p:ph type="sldNum" sz="quarter" idx="5"/>
          </p:nvPr>
        </p:nvSpPr>
        <p:spPr/>
        <p:txBody>
          <a:bodyPr/>
          <a:lstStyle/>
          <a:p>
            <a:fld id="{1B085661-3870-4692-BE49-B1BAFBD411E0}" type="slidenum">
              <a:rPr lang="de-CH" smtClean="0"/>
              <a:t>18</a:t>
            </a:fld>
            <a:endParaRPr lang="de-CH"/>
          </a:p>
        </p:txBody>
      </p:sp>
    </p:spTree>
    <p:extLst>
      <p:ext uri="{BB962C8B-B14F-4D97-AF65-F5344CB8AC3E}">
        <p14:creationId xmlns:p14="http://schemas.microsoft.com/office/powerpoint/2010/main" val="34141897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Die Pain Points wurden nicht nur gesammelt, sondern in der IST-Analyse strukturiert und methodisch geprüft. Dadurch wurden die im Workshop festgelegten Handlungsfelder fachlich bestätigt.</a:t>
            </a:r>
          </a:p>
        </p:txBody>
      </p:sp>
      <p:sp>
        <p:nvSpPr>
          <p:cNvPr id="4" name="Foliennummernplatzhalter 3"/>
          <p:cNvSpPr>
            <a:spLocks noGrp="1"/>
          </p:cNvSpPr>
          <p:nvPr>
            <p:ph type="sldNum" sz="quarter" idx="5"/>
          </p:nvPr>
        </p:nvSpPr>
        <p:spPr/>
        <p:txBody>
          <a:bodyPr/>
          <a:lstStyle/>
          <a:p>
            <a:fld id="{1B085661-3870-4692-BE49-B1BAFBD411E0}" type="slidenum">
              <a:rPr lang="de-CH" smtClean="0"/>
              <a:t>20</a:t>
            </a:fld>
            <a:endParaRPr lang="de-CH"/>
          </a:p>
        </p:txBody>
      </p:sp>
    </p:spTree>
    <p:extLst>
      <p:ext uri="{BB962C8B-B14F-4D97-AF65-F5344CB8AC3E}">
        <p14:creationId xmlns:p14="http://schemas.microsoft.com/office/powerpoint/2010/main" val="41304822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err="1"/>
              <a:t>Issue</a:t>
            </a:r>
            <a:r>
              <a:rPr lang="de-CH" dirty="0"/>
              <a:t> Register: Die Pain Points in Tabellenform beschrieben: Qualitative Auswirkungen, Analysefokus, Zuordnung Handlungsfelder, Bezug zu Projektziele und Quelle</a:t>
            </a:r>
          </a:p>
          <a:p>
            <a:endParaRPr lang="de-CH" dirty="0"/>
          </a:p>
        </p:txBody>
      </p:sp>
      <p:sp>
        <p:nvSpPr>
          <p:cNvPr id="4" name="Foliennummernplatzhalter 3"/>
          <p:cNvSpPr>
            <a:spLocks noGrp="1"/>
          </p:cNvSpPr>
          <p:nvPr>
            <p:ph type="sldNum" sz="quarter" idx="5"/>
          </p:nvPr>
        </p:nvSpPr>
        <p:spPr/>
        <p:txBody>
          <a:bodyPr/>
          <a:lstStyle/>
          <a:p>
            <a:fld id="{1B085661-3870-4692-BE49-B1BAFBD411E0}" type="slidenum">
              <a:rPr lang="de-CH" smtClean="0"/>
              <a:t>21</a:t>
            </a:fld>
            <a:endParaRPr lang="de-CH"/>
          </a:p>
        </p:txBody>
      </p:sp>
    </p:spTree>
    <p:extLst>
      <p:ext uri="{BB962C8B-B14F-4D97-AF65-F5344CB8AC3E}">
        <p14:creationId xmlns:p14="http://schemas.microsoft.com/office/powerpoint/2010/main" val="37689338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Beispiele für WS: Guthaben auszahlen, Zeugnis an MA zustellen</a:t>
            </a:r>
          </a:p>
          <a:p>
            <a:r>
              <a:rPr lang="de-CH" dirty="0"/>
              <a:t>Beispiele für GWS: Dokumente ablegen, Rückzahlungspflicht prüfen</a:t>
            </a:r>
          </a:p>
          <a:p>
            <a:r>
              <a:rPr lang="de-CH" dirty="0"/>
              <a:t>Beispiele für NWS: SAP-Daten manuell ins Jira-Ticket eintragen, Manuelle Geburtstagslistenprüfung, HR Time Management wartet auf Austrittsdatum</a:t>
            </a:r>
          </a:p>
          <a:p>
            <a:endParaRPr lang="de-CH" dirty="0"/>
          </a:p>
          <a:p>
            <a:r>
              <a:rPr lang="de-CH" dirty="0"/>
              <a:t>Fakt ist, dass es Austrittsprozess ein administrativer Pflichtprozess mit vielen GWS bleibt. Die NWS sind referenzieren bereits auf die Pain Points. Hier soll der Fokus auf die Verbesserung sein und weniger die Elimination. NWS gibt es quasi, um die GWS auszuführen. Z.B. Ticket ergänzen mit Infos und diese weitergeben an die nachgelagerte HR-Abteilung.</a:t>
            </a:r>
          </a:p>
          <a:p>
            <a:endParaRPr lang="de-CH" dirty="0"/>
          </a:p>
          <a:p>
            <a:r>
              <a:rPr lang="de-CH" dirty="0"/>
              <a:t>Optimierungsfokus: Value </a:t>
            </a:r>
            <a:r>
              <a:rPr lang="de-CH" dirty="0" err="1"/>
              <a:t>Added</a:t>
            </a:r>
            <a:r>
              <a:rPr lang="de-CH" dirty="0"/>
              <a:t> Analyse zeigt wo man sinnvoll optimieren soll und wo nicht. Nur 6 von 38 Schritte sind nicht wertschöpfend. Der grösste Teil ist geschäftswertschöpfend, also fachlich notwendig. Der Fokus wird eingegrenzt von Elimination zu notwendigen Tätigkeiten besser auszuführen.</a:t>
            </a:r>
          </a:p>
          <a:p>
            <a:endParaRPr lang="de-CH" dirty="0"/>
          </a:p>
          <a:p>
            <a:r>
              <a:rPr lang="de-CH" dirty="0"/>
              <a:t>NWS entstehen aber durch Medienbrüche, redundante Erfassung und Systemwartezeiten – sie lassen sich nicht streichen, sondern nur durch Systemintegration auflösen. </a:t>
            </a:r>
          </a:p>
        </p:txBody>
      </p:sp>
      <p:sp>
        <p:nvSpPr>
          <p:cNvPr id="4" name="Foliennummernplatzhalter 3"/>
          <p:cNvSpPr>
            <a:spLocks noGrp="1"/>
          </p:cNvSpPr>
          <p:nvPr>
            <p:ph type="sldNum" sz="quarter" idx="5"/>
          </p:nvPr>
        </p:nvSpPr>
        <p:spPr/>
        <p:txBody>
          <a:bodyPr/>
          <a:lstStyle/>
          <a:p>
            <a:fld id="{1B085661-3870-4692-BE49-B1BAFBD411E0}" type="slidenum">
              <a:rPr lang="de-CH" smtClean="0"/>
              <a:t>22</a:t>
            </a:fld>
            <a:endParaRPr lang="de-CH"/>
          </a:p>
        </p:txBody>
      </p:sp>
    </p:spTree>
    <p:extLst>
      <p:ext uri="{BB962C8B-B14F-4D97-AF65-F5344CB8AC3E}">
        <p14:creationId xmlns:p14="http://schemas.microsoft.com/office/powerpoint/2010/main" val="3391420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CH" dirty="0"/>
              <a:t>Überanstrengung (Mehraufwand, Fehler): Nacharbeit, Mehraufwand -&gt; </a:t>
            </a:r>
            <a:r>
              <a:rPr lang="de-CH" sz="1200" i="1" dirty="0">
                <a:solidFill>
                  <a:srgbClr val="5B6B79"/>
                </a:solidFill>
              </a:rPr>
              <a:t>Standardisierte Regeln und systemgestützte Prüflogiken reduzieren manuellen Zusatzaufwand und Nacharbeit.</a:t>
            </a:r>
          </a:p>
          <a:p>
            <a:endParaRPr lang="de-CH" dirty="0"/>
          </a:p>
          <a:p>
            <a:pPr marL="0" marR="0" lvl="0" indent="0" algn="l" defTabSz="914400" rtl="0" eaLnBrk="1" fontAlgn="auto" latinLnBrk="0" hangingPunct="1">
              <a:lnSpc>
                <a:spcPct val="100000"/>
              </a:lnSpc>
              <a:spcBef>
                <a:spcPts val="0"/>
              </a:spcBef>
              <a:spcAft>
                <a:spcPts val="0"/>
              </a:spcAft>
              <a:buClrTx/>
              <a:buSzTx/>
              <a:buFontTx/>
              <a:buNone/>
              <a:tabLst/>
              <a:defRPr/>
            </a:pPr>
            <a:r>
              <a:rPr lang="de-CH" dirty="0"/>
              <a:t>Bewegung (Transport, Lange Wege): Zwischen mehrere Systeme, manuelle Datenübertragung -&gt; </a:t>
            </a:r>
            <a:r>
              <a:rPr lang="de-CH" sz="1200" i="1" dirty="0">
                <a:solidFill>
                  <a:srgbClr val="5B6B79"/>
                </a:solidFill>
              </a:rPr>
              <a:t>Eine konsistente Datenbasis und integrierte Prozessführung reduzieren Medienbrüche und manuelle Übertragungen.</a:t>
            </a:r>
          </a:p>
          <a:p>
            <a:endParaRPr lang="de-CH" dirty="0"/>
          </a:p>
          <a:p>
            <a:pPr marL="0" marR="0" lvl="0" indent="0" algn="l" defTabSz="914400" rtl="0" eaLnBrk="1" fontAlgn="auto" latinLnBrk="0" hangingPunct="1">
              <a:lnSpc>
                <a:spcPct val="100000"/>
              </a:lnSpc>
              <a:spcBef>
                <a:spcPts val="0"/>
              </a:spcBef>
              <a:spcAft>
                <a:spcPts val="0"/>
              </a:spcAft>
              <a:buClrTx/>
              <a:buSzTx/>
              <a:buFontTx/>
              <a:buNone/>
              <a:tabLst/>
              <a:defRPr/>
            </a:pPr>
            <a:r>
              <a:rPr lang="de-CH" dirty="0"/>
              <a:t>Halten (WIP/Wartezeit): Fälle bleiben pendent, oder Bearbeitung verzögert sich (Auf Austrittsschein warten oder betreffend Rückzahlungspflicht warten auf Rückmeldung von HR  -&gt; </a:t>
            </a:r>
            <a:r>
              <a:rPr lang="de-CH" sz="1200" i="1" dirty="0">
                <a:solidFill>
                  <a:srgbClr val="5B6B79"/>
                </a:solidFill>
              </a:rPr>
              <a:t>Transparente Statusinfos, klare Zuständigkeiten und frühe Übergaben reduzieren Pendenzen und Verzögerungen.</a:t>
            </a:r>
          </a:p>
          <a:p>
            <a:endParaRPr lang="de-CH" dirty="0"/>
          </a:p>
        </p:txBody>
      </p:sp>
      <p:sp>
        <p:nvSpPr>
          <p:cNvPr id="4" name="Foliennummernplatzhalter 3"/>
          <p:cNvSpPr>
            <a:spLocks noGrp="1"/>
          </p:cNvSpPr>
          <p:nvPr>
            <p:ph type="sldNum" sz="quarter" idx="5"/>
          </p:nvPr>
        </p:nvSpPr>
        <p:spPr/>
        <p:txBody>
          <a:bodyPr/>
          <a:lstStyle/>
          <a:p>
            <a:fld id="{1B085661-3870-4692-BE49-B1BAFBD411E0}" type="slidenum">
              <a:rPr lang="de-CH" smtClean="0"/>
              <a:t>23</a:t>
            </a:fld>
            <a:endParaRPr lang="de-CH"/>
          </a:p>
        </p:txBody>
      </p:sp>
    </p:spTree>
    <p:extLst>
      <p:ext uri="{BB962C8B-B14F-4D97-AF65-F5344CB8AC3E}">
        <p14:creationId xmlns:p14="http://schemas.microsoft.com/office/powerpoint/2010/main" val="12401622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CH" sz="1200" b="1" dirty="0">
                <a:solidFill>
                  <a:srgbClr val="FFFFFF"/>
                </a:solidFill>
              </a:rPr>
              <a:t>Die Ursache-Wirkungsanalyse bestätigt: </a:t>
            </a:r>
            <a:r>
              <a:rPr lang="de-CH" sz="1200" dirty="0">
                <a:solidFill>
                  <a:srgbClr val="EEF2F6"/>
                </a:solidFill>
              </a:rPr>
              <a:t>Die Pain Points haben überwiegend strukturelle Ursachen – die vier Handlungsfelder adressieren diese und bilden die fachliche Grundlage für SOLL-Konzept und Anforderungskatalog.</a:t>
            </a:r>
          </a:p>
          <a:p>
            <a:endParaRPr lang="de-CH" dirty="0"/>
          </a:p>
        </p:txBody>
      </p:sp>
      <p:sp>
        <p:nvSpPr>
          <p:cNvPr id="4" name="Foliennummernplatzhalter 3"/>
          <p:cNvSpPr>
            <a:spLocks noGrp="1"/>
          </p:cNvSpPr>
          <p:nvPr>
            <p:ph type="sldNum" sz="quarter" idx="5"/>
          </p:nvPr>
        </p:nvSpPr>
        <p:spPr/>
        <p:txBody>
          <a:bodyPr/>
          <a:lstStyle/>
          <a:p>
            <a:fld id="{1B085661-3870-4692-BE49-B1BAFBD411E0}" type="slidenum">
              <a:rPr lang="de-CH" smtClean="0"/>
              <a:t>24</a:t>
            </a:fld>
            <a:endParaRPr lang="de-CH"/>
          </a:p>
        </p:txBody>
      </p:sp>
    </p:spTree>
    <p:extLst>
      <p:ext uri="{BB962C8B-B14F-4D97-AF65-F5344CB8AC3E}">
        <p14:creationId xmlns:p14="http://schemas.microsoft.com/office/powerpoint/2010/main" val="41724370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sz="1200" dirty="0">
                <a:solidFill>
                  <a:srgbClr val="1A2A38"/>
                </a:solidFill>
              </a:rPr>
              <a:t>Keine zusätzliche eigenständige Ursachenklasse – die 5-Why-Analyse bestätigt und präzisiert die Ursachenstruktur der Ursache-Wirkungsanalyse. Eine Anwendung auf alle Pain Points entfällt, da die Ursachen bereits ausreichend verdichtet sind.</a:t>
            </a:r>
            <a:endParaRPr lang="de-CH" dirty="0"/>
          </a:p>
        </p:txBody>
      </p:sp>
      <p:sp>
        <p:nvSpPr>
          <p:cNvPr id="4" name="Foliennummernplatzhalter 3"/>
          <p:cNvSpPr>
            <a:spLocks noGrp="1"/>
          </p:cNvSpPr>
          <p:nvPr>
            <p:ph type="sldNum" sz="quarter" idx="5"/>
          </p:nvPr>
        </p:nvSpPr>
        <p:spPr/>
        <p:txBody>
          <a:bodyPr/>
          <a:lstStyle/>
          <a:p>
            <a:fld id="{1B085661-3870-4692-BE49-B1BAFBD411E0}" type="slidenum">
              <a:rPr lang="de-CH" smtClean="0"/>
              <a:t>25</a:t>
            </a:fld>
            <a:endParaRPr lang="de-CH"/>
          </a:p>
        </p:txBody>
      </p:sp>
    </p:spTree>
    <p:extLst>
      <p:ext uri="{BB962C8B-B14F-4D97-AF65-F5344CB8AC3E}">
        <p14:creationId xmlns:p14="http://schemas.microsoft.com/office/powerpoint/2010/main" val="33911468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Damit ist die Grundlage für den nächsten Schritt geschaffen: Die bestätigten Handlungsfelder werden nun im SOLL-Workshop in ein Grobkonzept und anschliessend in Anforderungen überführt.</a:t>
            </a:r>
          </a:p>
        </p:txBody>
      </p:sp>
      <p:sp>
        <p:nvSpPr>
          <p:cNvPr id="4" name="Foliennummernplatzhalter 3"/>
          <p:cNvSpPr>
            <a:spLocks noGrp="1"/>
          </p:cNvSpPr>
          <p:nvPr>
            <p:ph type="sldNum" sz="quarter" idx="5"/>
          </p:nvPr>
        </p:nvSpPr>
        <p:spPr/>
        <p:txBody>
          <a:bodyPr/>
          <a:lstStyle/>
          <a:p>
            <a:fld id="{1B085661-3870-4692-BE49-B1BAFBD411E0}" type="slidenum">
              <a:rPr lang="de-CH" smtClean="0"/>
              <a:t>28</a:t>
            </a:fld>
            <a:endParaRPr lang="de-CH"/>
          </a:p>
        </p:txBody>
      </p:sp>
    </p:spTree>
    <p:extLst>
      <p:ext uri="{BB962C8B-B14F-4D97-AF65-F5344CB8AC3E}">
        <p14:creationId xmlns:p14="http://schemas.microsoft.com/office/powerpoint/2010/main" val="35245463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Die zentrale Aussage der Zwischenpräsentation ist: Die Arbeit steht nicht mehr bei einer reinen Bestandsaufnahme. Die IST-Prozesse wurden erhoben, validiert und analysiert. Damit liegt eine belastbare Grundlage vor, um im nächsten Schritt das SOLL-Konzept und den Anforderungskatalog abzuleiten.</a:t>
            </a:r>
          </a:p>
        </p:txBody>
      </p:sp>
      <p:sp>
        <p:nvSpPr>
          <p:cNvPr id="4" name="Foliennummernplatzhalter 3"/>
          <p:cNvSpPr>
            <a:spLocks noGrp="1"/>
          </p:cNvSpPr>
          <p:nvPr>
            <p:ph type="sldNum" sz="quarter" idx="5"/>
          </p:nvPr>
        </p:nvSpPr>
        <p:spPr/>
        <p:txBody>
          <a:bodyPr/>
          <a:lstStyle/>
          <a:p>
            <a:fld id="{1B085661-3870-4692-BE49-B1BAFBD411E0}" type="slidenum">
              <a:rPr lang="de-CH" smtClean="0"/>
              <a:t>29</a:t>
            </a:fld>
            <a:endParaRPr lang="de-CH"/>
          </a:p>
        </p:txBody>
      </p:sp>
    </p:spTree>
    <p:extLst>
      <p:ext uri="{BB962C8B-B14F-4D97-AF65-F5344CB8AC3E}">
        <p14:creationId xmlns:p14="http://schemas.microsoft.com/office/powerpoint/2010/main" val="40810629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33433-EFC7-E240-2674-1DD1613EFD6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7CDF1AB-B30B-7919-8765-345A874C63F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D34C200-CFB1-2174-B188-3D8352CD7D6D}"/>
              </a:ext>
            </a:extLst>
          </p:cNvPr>
          <p:cNvSpPr>
            <a:spLocks noGrp="1"/>
          </p:cNvSpPr>
          <p:nvPr>
            <p:ph type="body" idx="1"/>
          </p:nvPr>
        </p:nvSpPr>
        <p:spPr/>
        <p:txBody>
          <a:bodyPr/>
          <a:lstStyle/>
          <a:p>
            <a:r>
              <a:rPr lang="de-CH" dirty="0"/>
              <a:t>Option A: Die zentrale Aussage der Zwischenpräsentation ist: Die Arbeit steht nicht mehr bei einer reinen Bestandsaufnahme. Die IST-Prozesse wurden erhoben, validiert und analysiert. Damit liegt eine belastbare Grundlage vor, um im nächsten Schritt das SOLL-Konzept und den Anforderungskatalog abzuleiten.</a:t>
            </a:r>
          </a:p>
          <a:p>
            <a:endParaRPr lang="de-CH" dirty="0"/>
          </a:p>
          <a:p>
            <a:r>
              <a:rPr lang="de-CH" dirty="0"/>
              <a:t>Option B: Damit ist der wichtigste Zwischenstand zusammengefasst: Die IST-Seite ist nicht nur erhoben, sondern mit den Fachbereichen validiert und analysiert. Die vier Handlungsfelder geben nun die Richtung für den SOLL-Workshop und das SOLL-Konzept vor.</a:t>
            </a:r>
          </a:p>
          <a:p>
            <a:endParaRPr lang="de-CH" dirty="0"/>
          </a:p>
          <a:p>
            <a:r>
              <a:rPr lang="de-CH" dirty="0"/>
              <a:t>Option C: Damit greift der Zwischenstand direkt die Forschungsfrage auf. Die Handlungsfelder zeigen, wo das SOLL-Konzept ansetzen muss, damit Medienbrüche reduziert, manuelle Aufwände verringert und die Prozessabwicklung transparenter wird.</a:t>
            </a:r>
          </a:p>
        </p:txBody>
      </p:sp>
      <p:sp>
        <p:nvSpPr>
          <p:cNvPr id="4" name="Foliennummernplatzhalter 3">
            <a:extLst>
              <a:ext uri="{FF2B5EF4-FFF2-40B4-BE49-F238E27FC236}">
                <a16:creationId xmlns:a16="http://schemas.microsoft.com/office/drawing/2014/main" id="{28EB877B-CF4E-199C-2623-7418F9F1D5E6}"/>
              </a:ext>
            </a:extLst>
          </p:cNvPr>
          <p:cNvSpPr>
            <a:spLocks noGrp="1"/>
          </p:cNvSpPr>
          <p:nvPr>
            <p:ph type="sldNum" sz="quarter" idx="5"/>
          </p:nvPr>
        </p:nvSpPr>
        <p:spPr/>
        <p:txBody>
          <a:bodyPr/>
          <a:lstStyle/>
          <a:p>
            <a:fld id="{1B085661-3870-4692-BE49-B1BAFBD411E0}" type="slidenum">
              <a:rPr lang="de-CH" smtClean="0"/>
              <a:t>30</a:t>
            </a:fld>
            <a:endParaRPr lang="de-CH"/>
          </a:p>
        </p:txBody>
      </p:sp>
    </p:spTree>
    <p:extLst>
      <p:ext uri="{BB962C8B-B14F-4D97-AF65-F5344CB8AC3E}">
        <p14:creationId xmlns:p14="http://schemas.microsoft.com/office/powerpoint/2010/main" val="1279996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CH" sz="1200" dirty="0">
                <a:solidFill>
                  <a:srgbClr val="FFFFFF"/>
                </a:solidFill>
                <a:latin typeface="Calibri"/>
              </a:rPr>
              <a:t>Ist die Storyline der Zwischenpräsentation nachvollziehbar und überzeugend?</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CH" sz="1200" dirty="0">
              <a:solidFill>
                <a:srgbClr val="FFFFFF"/>
              </a:solidFill>
              <a:latin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CH" sz="1200" dirty="0">
                <a:solidFill>
                  <a:srgbClr val="FFFFFF"/>
                </a:solidFill>
                <a:latin typeface="Calibri"/>
              </a:rPr>
              <a:t>Mögliche Anregungen für die Diskussion: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CH" sz="1200" dirty="0">
              <a:solidFill>
                <a:srgbClr val="FFFFFF"/>
              </a:solidFill>
              <a:latin typeface="Calibri"/>
            </a:endParaRPr>
          </a:p>
          <a:p>
            <a:pPr marL="228600" indent="-228600">
              <a:buAutoNum type="arabicPeriod"/>
            </a:pPr>
            <a:r>
              <a:rPr lang="de-CH" b="1" dirty="0"/>
              <a:t>Priorisierung für den SOLL-Workshop</a:t>
            </a:r>
          </a:p>
          <a:p>
            <a:pPr marL="0" indent="0">
              <a:buNone/>
            </a:pPr>
            <a:r>
              <a:rPr lang="de-CH" dirty="0"/>
              <a:t>Welche Handlungsfelder sollten im SOLL-Workshop aus eurer Sicht zuerst vertieft werden, damit das SOLL-Konzept den grössten Nutzen bringt?</a:t>
            </a:r>
          </a:p>
          <a:p>
            <a:pPr marL="228600" indent="-228600">
              <a:buAutoNum type="arabicPeriod"/>
            </a:pPr>
            <a:endParaRPr lang="de-CH" dirty="0"/>
          </a:p>
          <a:p>
            <a:r>
              <a:rPr lang="de-CH" b="1" dirty="0"/>
              <a:t>2. Fokus der SOLL-Konzeption</a:t>
            </a:r>
          </a:p>
          <a:p>
            <a:r>
              <a:rPr lang="de-CH" dirty="0"/>
              <a:t>Wo seht ihr den grössten Hebel: bei der Prozesssteuerung, bei der Datenqualität, bei der Standardisierung oder bei der systemgestützten Ausführung?</a:t>
            </a:r>
          </a:p>
          <a:p>
            <a:r>
              <a:rPr lang="de-CH" dirty="0"/>
              <a:t>Sind die vier Handlungsfelder aus eurer Sicht der richtige Fokus für den nächsten Schritt?</a:t>
            </a:r>
          </a:p>
          <a:p>
            <a:endParaRPr lang="de-CH" dirty="0"/>
          </a:p>
          <a:p>
            <a:r>
              <a:rPr lang="de-CH" b="1" dirty="0"/>
              <a:t>3. IST-Erhebung</a:t>
            </a:r>
          </a:p>
          <a:p>
            <a:r>
              <a:rPr lang="de-CH" dirty="0"/>
              <a:t>Gibt es aus Ihrer Sicht Aspekte des IST-Prozesses, die in der Analyse nicht ausreichend berücksichtigt wurden?</a:t>
            </a:r>
          </a:p>
          <a:p>
            <a:endParaRPr lang="de-CH" dirty="0"/>
          </a:p>
        </p:txBody>
      </p:sp>
      <p:sp>
        <p:nvSpPr>
          <p:cNvPr id="4" name="Foliennummernplatzhalter 3"/>
          <p:cNvSpPr>
            <a:spLocks noGrp="1"/>
          </p:cNvSpPr>
          <p:nvPr>
            <p:ph type="sldNum" sz="quarter" idx="5"/>
          </p:nvPr>
        </p:nvSpPr>
        <p:spPr/>
        <p:txBody>
          <a:bodyPr/>
          <a:lstStyle/>
          <a:p>
            <a:fld id="{1B085661-3870-4692-BE49-B1BAFBD411E0}" type="slidenum">
              <a:rPr lang="de-CH" smtClean="0"/>
              <a:t>33</a:t>
            </a:fld>
            <a:endParaRPr lang="de-CH"/>
          </a:p>
        </p:txBody>
      </p:sp>
    </p:spTree>
    <p:extLst>
      <p:ext uri="{BB962C8B-B14F-4D97-AF65-F5344CB8AC3E}">
        <p14:creationId xmlns:p14="http://schemas.microsoft.com/office/powerpoint/2010/main" val="37845090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381C7E1-2A61-01AD-3DCF-24F411574782}"/>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de-CH"/>
          </a:p>
        </p:txBody>
      </p:sp>
      <p:sp>
        <p:nvSpPr>
          <p:cNvPr id="3" name="Untertitel 2">
            <a:extLst>
              <a:ext uri="{FF2B5EF4-FFF2-40B4-BE49-F238E27FC236}">
                <a16:creationId xmlns:a16="http://schemas.microsoft.com/office/drawing/2014/main" id="{F3EF98CF-6496-B7C9-C056-01ACAF8D4C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CH"/>
          </a:p>
        </p:txBody>
      </p:sp>
      <p:sp>
        <p:nvSpPr>
          <p:cNvPr id="4" name="Datumsplatzhalter 3">
            <a:extLst>
              <a:ext uri="{FF2B5EF4-FFF2-40B4-BE49-F238E27FC236}">
                <a16:creationId xmlns:a16="http://schemas.microsoft.com/office/drawing/2014/main" id="{FEB1E17D-973C-05D9-2A4D-763253888546}"/>
              </a:ext>
            </a:extLst>
          </p:cNvPr>
          <p:cNvSpPr>
            <a:spLocks noGrp="1"/>
          </p:cNvSpPr>
          <p:nvPr>
            <p:ph type="dt" sz="half" idx="10"/>
          </p:nvPr>
        </p:nvSpPr>
        <p:spPr/>
        <p:txBody>
          <a:bodyPr/>
          <a:lstStyle/>
          <a:p>
            <a:r>
              <a:rPr lang="de-CH"/>
              <a:t>11.06.2026</a:t>
            </a:r>
          </a:p>
        </p:txBody>
      </p:sp>
      <p:sp>
        <p:nvSpPr>
          <p:cNvPr id="5" name="Fußzeilenplatzhalter 4">
            <a:extLst>
              <a:ext uri="{FF2B5EF4-FFF2-40B4-BE49-F238E27FC236}">
                <a16:creationId xmlns:a16="http://schemas.microsoft.com/office/drawing/2014/main" id="{6FF68495-180B-2A2B-6549-F30A69684C27}"/>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F2A34EB6-9F1D-F9D6-4174-A7B28DB144B3}"/>
              </a:ext>
            </a:extLst>
          </p:cNvPr>
          <p:cNvSpPr>
            <a:spLocks noGrp="1"/>
          </p:cNvSpPr>
          <p:nvPr>
            <p:ph type="sldNum" sz="quarter" idx="12"/>
          </p:nvPr>
        </p:nvSpPr>
        <p:spPr/>
        <p:txBody>
          <a:bodyPr/>
          <a:lstStyle/>
          <a:p>
            <a:fld id="{2AAFDC3C-A9F8-4ABD-8D8D-8DC3321B02DC}" type="slidenum">
              <a:rPr lang="de-CH" smtClean="0"/>
              <a:t>‹Nr.›</a:t>
            </a:fld>
            <a:endParaRPr lang="de-CH"/>
          </a:p>
        </p:txBody>
      </p:sp>
    </p:spTree>
    <p:extLst>
      <p:ext uri="{BB962C8B-B14F-4D97-AF65-F5344CB8AC3E}">
        <p14:creationId xmlns:p14="http://schemas.microsoft.com/office/powerpoint/2010/main" val="1016629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32E20B-5060-93FC-27AF-77E05FF438E4}"/>
              </a:ext>
            </a:extLst>
          </p:cNvPr>
          <p:cNvSpPr>
            <a:spLocks noGrp="1"/>
          </p:cNvSpPr>
          <p:nvPr>
            <p:ph type="title"/>
          </p:nvPr>
        </p:nvSpPr>
        <p:spPr/>
        <p:txBody>
          <a:bodyPr/>
          <a:lstStyle/>
          <a:p>
            <a:r>
              <a:rPr lang="de-DE"/>
              <a:t>Mastertitelformat bearbeiten</a:t>
            </a:r>
            <a:endParaRPr lang="de-CH"/>
          </a:p>
        </p:txBody>
      </p:sp>
      <p:sp>
        <p:nvSpPr>
          <p:cNvPr id="3" name="Inhaltsplatzhalter 2">
            <a:extLst>
              <a:ext uri="{FF2B5EF4-FFF2-40B4-BE49-F238E27FC236}">
                <a16:creationId xmlns:a16="http://schemas.microsoft.com/office/drawing/2014/main" id="{1F3BB8FC-233F-8E15-CC62-218E45901805}"/>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139BBC8C-B423-AA03-CDEE-A03D81772BC7}"/>
              </a:ext>
            </a:extLst>
          </p:cNvPr>
          <p:cNvSpPr>
            <a:spLocks noGrp="1"/>
          </p:cNvSpPr>
          <p:nvPr>
            <p:ph type="dt" sz="half" idx="10"/>
          </p:nvPr>
        </p:nvSpPr>
        <p:spPr/>
        <p:txBody>
          <a:bodyPr/>
          <a:lstStyle/>
          <a:p>
            <a:r>
              <a:rPr lang="de-CH"/>
              <a:t>11.06.2026</a:t>
            </a:r>
          </a:p>
        </p:txBody>
      </p:sp>
      <p:sp>
        <p:nvSpPr>
          <p:cNvPr id="5" name="Fußzeilenplatzhalter 4">
            <a:extLst>
              <a:ext uri="{FF2B5EF4-FFF2-40B4-BE49-F238E27FC236}">
                <a16:creationId xmlns:a16="http://schemas.microsoft.com/office/drawing/2014/main" id="{67F05661-4620-3559-A52C-3F92CA8EE7C5}"/>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BE3A0707-9530-FFC9-09B1-7E350CE7E9C7}"/>
              </a:ext>
            </a:extLst>
          </p:cNvPr>
          <p:cNvSpPr>
            <a:spLocks noGrp="1"/>
          </p:cNvSpPr>
          <p:nvPr>
            <p:ph type="sldNum" sz="quarter" idx="12"/>
          </p:nvPr>
        </p:nvSpPr>
        <p:spPr/>
        <p:txBody>
          <a:bodyPr/>
          <a:lstStyle/>
          <a:p>
            <a:fld id="{2AAFDC3C-A9F8-4ABD-8D8D-8DC3321B02DC}" type="slidenum">
              <a:rPr lang="de-CH" smtClean="0"/>
              <a:t>‹Nr.›</a:t>
            </a:fld>
            <a:endParaRPr lang="de-CH"/>
          </a:p>
        </p:txBody>
      </p:sp>
    </p:spTree>
    <p:extLst>
      <p:ext uri="{BB962C8B-B14F-4D97-AF65-F5344CB8AC3E}">
        <p14:creationId xmlns:p14="http://schemas.microsoft.com/office/powerpoint/2010/main" val="497355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97E99F-549D-F044-922C-E77A316D92A3}"/>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de-CH"/>
          </a:p>
        </p:txBody>
      </p:sp>
      <p:sp>
        <p:nvSpPr>
          <p:cNvPr id="3" name="Textplatzhalter 2">
            <a:extLst>
              <a:ext uri="{FF2B5EF4-FFF2-40B4-BE49-F238E27FC236}">
                <a16:creationId xmlns:a16="http://schemas.microsoft.com/office/drawing/2014/main" id="{7ACBECCF-9228-CC18-2BB7-702C1801813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0782157A-6519-25A0-D0E5-91C140E0F01C}"/>
              </a:ext>
            </a:extLst>
          </p:cNvPr>
          <p:cNvSpPr>
            <a:spLocks noGrp="1"/>
          </p:cNvSpPr>
          <p:nvPr>
            <p:ph type="dt" sz="half" idx="10"/>
          </p:nvPr>
        </p:nvSpPr>
        <p:spPr/>
        <p:txBody>
          <a:bodyPr/>
          <a:lstStyle/>
          <a:p>
            <a:r>
              <a:rPr lang="de-CH"/>
              <a:t>11.06.2026</a:t>
            </a:r>
          </a:p>
        </p:txBody>
      </p:sp>
      <p:sp>
        <p:nvSpPr>
          <p:cNvPr id="5" name="Fußzeilenplatzhalter 4">
            <a:extLst>
              <a:ext uri="{FF2B5EF4-FFF2-40B4-BE49-F238E27FC236}">
                <a16:creationId xmlns:a16="http://schemas.microsoft.com/office/drawing/2014/main" id="{1A1D8478-09F5-FC3D-3B07-CC7F2E30FB27}"/>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EABD08B9-CBCE-FBBA-07EC-0E9261C1BFFC}"/>
              </a:ext>
            </a:extLst>
          </p:cNvPr>
          <p:cNvSpPr>
            <a:spLocks noGrp="1"/>
          </p:cNvSpPr>
          <p:nvPr>
            <p:ph type="sldNum" sz="quarter" idx="12"/>
          </p:nvPr>
        </p:nvSpPr>
        <p:spPr/>
        <p:txBody>
          <a:bodyPr/>
          <a:lstStyle/>
          <a:p>
            <a:fld id="{2AAFDC3C-A9F8-4ABD-8D8D-8DC3321B02DC}" type="slidenum">
              <a:rPr lang="de-CH" smtClean="0"/>
              <a:t>‹Nr.›</a:t>
            </a:fld>
            <a:endParaRPr lang="de-CH"/>
          </a:p>
        </p:txBody>
      </p:sp>
    </p:spTree>
    <p:extLst>
      <p:ext uri="{BB962C8B-B14F-4D97-AF65-F5344CB8AC3E}">
        <p14:creationId xmlns:p14="http://schemas.microsoft.com/office/powerpoint/2010/main" val="1981955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213C6F1-0207-50D7-3E15-DF73C006F5D5}"/>
              </a:ext>
            </a:extLst>
          </p:cNvPr>
          <p:cNvSpPr>
            <a:spLocks noGrp="1"/>
          </p:cNvSpPr>
          <p:nvPr>
            <p:ph type="title"/>
          </p:nvPr>
        </p:nvSpPr>
        <p:spPr/>
        <p:txBody>
          <a:bodyPr/>
          <a:lstStyle/>
          <a:p>
            <a:r>
              <a:rPr lang="de-DE"/>
              <a:t>Mastertitelformat bearbeiten</a:t>
            </a:r>
            <a:endParaRPr lang="de-CH"/>
          </a:p>
        </p:txBody>
      </p:sp>
      <p:sp>
        <p:nvSpPr>
          <p:cNvPr id="3" name="Inhaltsplatzhalter 2">
            <a:extLst>
              <a:ext uri="{FF2B5EF4-FFF2-40B4-BE49-F238E27FC236}">
                <a16:creationId xmlns:a16="http://schemas.microsoft.com/office/drawing/2014/main" id="{7BD7600F-5D4E-4487-4FF7-9C87EC9ED966}"/>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Inhaltsplatzhalter 3">
            <a:extLst>
              <a:ext uri="{FF2B5EF4-FFF2-40B4-BE49-F238E27FC236}">
                <a16:creationId xmlns:a16="http://schemas.microsoft.com/office/drawing/2014/main" id="{41FE3AAC-240E-1154-BFAE-6A713AD7E867}"/>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Datumsplatzhalter 4">
            <a:extLst>
              <a:ext uri="{FF2B5EF4-FFF2-40B4-BE49-F238E27FC236}">
                <a16:creationId xmlns:a16="http://schemas.microsoft.com/office/drawing/2014/main" id="{B2960B8A-B896-006F-018D-E5306E425F65}"/>
              </a:ext>
            </a:extLst>
          </p:cNvPr>
          <p:cNvSpPr>
            <a:spLocks noGrp="1"/>
          </p:cNvSpPr>
          <p:nvPr>
            <p:ph type="dt" sz="half" idx="10"/>
          </p:nvPr>
        </p:nvSpPr>
        <p:spPr/>
        <p:txBody>
          <a:bodyPr/>
          <a:lstStyle/>
          <a:p>
            <a:r>
              <a:rPr lang="de-CH"/>
              <a:t>11.06.2026</a:t>
            </a:r>
          </a:p>
        </p:txBody>
      </p:sp>
      <p:sp>
        <p:nvSpPr>
          <p:cNvPr id="6" name="Fußzeilenplatzhalter 5">
            <a:extLst>
              <a:ext uri="{FF2B5EF4-FFF2-40B4-BE49-F238E27FC236}">
                <a16:creationId xmlns:a16="http://schemas.microsoft.com/office/drawing/2014/main" id="{915CFD15-B0F6-BC44-B628-BB09B6D17C8A}"/>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A79CE067-8A69-1344-87DF-08E3886DC893}"/>
              </a:ext>
            </a:extLst>
          </p:cNvPr>
          <p:cNvSpPr>
            <a:spLocks noGrp="1"/>
          </p:cNvSpPr>
          <p:nvPr>
            <p:ph type="sldNum" sz="quarter" idx="12"/>
          </p:nvPr>
        </p:nvSpPr>
        <p:spPr/>
        <p:txBody>
          <a:bodyPr/>
          <a:lstStyle/>
          <a:p>
            <a:fld id="{2AAFDC3C-A9F8-4ABD-8D8D-8DC3321B02DC}" type="slidenum">
              <a:rPr lang="de-CH" smtClean="0"/>
              <a:t>‹Nr.›</a:t>
            </a:fld>
            <a:endParaRPr lang="de-CH"/>
          </a:p>
        </p:txBody>
      </p:sp>
    </p:spTree>
    <p:extLst>
      <p:ext uri="{BB962C8B-B14F-4D97-AF65-F5344CB8AC3E}">
        <p14:creationId xmlns:p14="http://schemas.microsoft.com/office/powerpoint/2010/main" val="1686984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E1708F2-8570-7BD9-782F-D7C681247A9B}"/>
              </a:ext>
            </a:extLst>
          </p:cNvPr>
          <p:cNvSpPr>
            <a:spLocks noGrp="1"/>
          </p:cNvSpPr>
          <p:nvPr>
            <p:ph type="title"/>
          </p:nvPr>
        </p:nvSpPr>
        <p:spPr>
          <a:xfrm>
            <a:off x="839788" y="365125"/>
            <a:ext cx="10515600" cy="1325563"/>
          </a:xfrm>
        </p:spPr>
        <p:txBody>
          <a:bodyPr/>
          <a:lstStyle/>
          <a:p>
            <a:r>
              <a:rPr lang="de-DE"/>
              <a:t>Mastertitelformat bearbeiten</a:t>
            </a:r>
            <a:endParaRPr lang="de-CH"/>
          </a:p>
        </p:txBody>
      </p:sp>
      <p:sp>
        <p:nvSpPr>
          <p:cNvPr id="3" name="Textplatzhalter 2">
            <a:extLst>
              <a:ext uri="{FF2B5EF4-FFF2-40B4-BE49-F238E27FC236}">
                <a16:creationId xmlns:a16="http://schemas.microsoft.com/office/drawing/2014/main" id="{9A3805AF-C250-149B-29D0-CDBD859585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9A914C70-D2A8-4F51-52EA-FC4A1FADF144}"/>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Textplatzhalter 4">
            <a:extLst>
              <a:ext uri="{FF2B5EF4-FFF2-40B4-BE49-F238E27FC236}">
                <a16:creationId xmlns:a16="http://schemas.microsoft.com/office/drawing/2014/main" id="{D7E92A4F-2324-8730-DB37-390021C3F7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4C5C59C5-DEA0-3C3F-F61E-B6B7CB418547}"/>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7" name="Datumsplatzhalter 6">
            <a:extLst>
              <a:ext uri="{FF2B5EF4-FFF2-40B4-BE49-F238E27FC236}">
                <a16:creationId xmlns:a16="http://schemas.microsoft.com/office/drawing/2014/main" id="{5043761D-8CCA-8E83-A996-D79804E7A0A8}"/>
              </a:ext>
            </a:extLst>
          </p:cNvPr>
          <p:cNvSpPr>
            <a:spLocks noGrp="1"/>
          </p:cNvSpPr>
          <p:nvPr>
            <p:ph type="dt" sz="half" idx="10"/>
          </p:nvPr>
        </p:nvSpPr>
        <p:spPr/>
        <p:txBody>
          <a:bodyPr/>
          <a:lstStyle/>
          <a:p>
            <a:r>
              <a:rPr lang="de-CH"/>
              <a:t>11.06.2026</a:t>
            </a:r>
          </a:p>
        </p:txBody>
      </p:sp>
      <p:sp>
        <p:nvSpPr>
          <p:cNvPr id="8" name="Fußzeilenplatzhalter 7">
            <a:extLst>
              <a:ext uri="{FF2B5EF4-FFF2-40B4-BE49-F238E27FC236}">
                <a16:creationId xmlns:a16="http://schemas.microsoft.com/office/drawing/2014/main" id="{DAF9A2F2-A3B8-19AF-303D-80651A8F5476}"/>
              </a:ext>
            </a:extLst>
          </p:cNvPr>
          <p:cNvSpPr>
            <a:spLocks noGrp="1"/>
          </p:cNvSpPr>
          <p:nvPr>
            <p:ph type="ftr" sz="quarter" idx="11"/>
          </p:nvPr>
        </p:nvSpPr>
        <p:spPr/>
        <p:txBody>
          <a:bodyPr/>
          <a:lstStyle/>
          <a:p>
            <a:endParaRPr lang="de-CH"/>
          </a:p>
        </p:txBody>
      </p:sp>
      <p:sp>
        <p:nvSpPr>
          <p:cNvPr id="9" name="Foliennummernplatzhalter 8">
            <a:extLst>
              <a:ext uri="{FF2B5EF4-FFF2-40B4-BE49-F238E27FC236}">
                <a16:creationId xmlns:a16="http://schemas.microsoft.com/office/drawing/2014/main" id="{327FF8B1-6251-DF3D-9880-D55A9304E611}"/>
              </a:ext>
            </a:extLst>
          </p:cNvPr>
          <p:cNvSpPr>
            <a:spLocks noGrp="1"/>
          </p:cNvSpPr>
          <p:nvPr>
            <p:ph type="sldNum" sz="quarter" idx="12"/>
          </p:nvPr>
        </p:nvSpPr>
        <p:spPr/>
        <p:txBody>
          <a:bodyPr/>
          <a:lstStyle/>
          <a:p>
            <a:fld id="{2AAFDC3C-A9F8-4ABD-8D8D-8DC3321B02DC}" type="slidenum">
              <a:rPr lang="de-CH" smtClean="0"/>
              <a:t>‹Nr.›</a:t>
            </a:fld>
            <a:endParaRPr lang="de-CH"/>
          </a:p>
        </p:txBody>
      </p:sp>
    </p:spTree>
    <p:extLst>
      <p:ext uri="{BB962C8B-B14F-4D97-AF65-F5344CB8AC3E}">
        <p14:creationId xmlns:p14="http://schemas.microsoft.com/office/powerpoint/2010/main" val="2307266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87A554-A6BF-C343-38AE-72701BA22C1E}"/>
              </a:ext>
            </a:extLst>
          </p:cNvPr>
          <p:cNvSpPr>
            <a:spLocks noGrp="1"/>
          </p:cNvSpPr>
          <p:nvPr>
            <p:ph type="title"/>
          </p:nvPr>
        </p:nvSpPr>
        <p:spPr/>
        <p:txBody>
          <a:bodyPr/>
          <a:lstStyle/>
          <a:p>
            <a:r>
              <a:rPr lang="de-DE"/>
              <a:t>Mastertitelformat bearbeiten</a:t>
            </a:r>
            <a:endParaRPr lang="de-CH"/>
          </a:p>
        </p:txBody>
      </p:sp>
      <p:sp>
        <p:nvSpPr>
          <p:cNvPr id="3" name="Datumsplatzhalter 2">
            <a:extLst>
              <a:ext uri="{FF2B5EF4-FFF2-40B4-BE49-F238E27FC236}">
                <a16:creationId xmlns:a16="http://schemas.microsoft.com/office/drawing/2014/main" id="{80FCC704-9DC3-80FD-F076-1585A54155EC}"/>
              </a:ext>
            </a:extLst>
          </p:cNvPr>
          <p:cNvSpPr>
            <a:spLocks noGrp="1"/>
          </p:cNvSpPr>
          <p:nvPr>
            <p:ph type="dt" sz="half" idx="10"/>
          </p:nvPr>
        </p:nvSpPr>
        <p:spPr/>
        <p:txBody>
          <a:bodyPr/>
          <a:lstStyle/>
          <a:p>
            <a:r>
              <a:rPr lang="de-CH"/>
              <a:t>11.06.2026</a:t>
            </a:r>
          </a:p>
        </p:txBody>
      </p:sp>
      <p:sp>
        <p:nvSpPr>
          <p:cNvPr id="4" name="Fußzeilenplatzhalter 3">
            <a:extLst>
              <a:ext uri="{FF2B5EF4-FFF2-40B4-BE49-F238E27FC236}">
                <a16:creationId xmlns:a16="http://schemas.microsoft.com/office/drawing/2014/main" id="{8579DF76-E045-9495-1438-A266B7DD61F8}"/>
              </a:ext>
            </a:extLst>
          </p:cNvPr>
          <p:cNvSpPr>
            <a:spLocks noGrp="1"/>
          </p:cNvSpPr>
          <p:nvPr>
            <p:ph type="ftr" sz="quarter" idx="11"/>
          </p:nvPr>
        </p:nvSpPr>
        <p:spPr/>
        <p:txBody>
          <a:bodyPr/>
          <a:lstStyle/>
          <a:p>
            <a:endParaRPr lang="de-CH"/>
          </a:p>
        </p:txBody>
      </p:sp>
      <p:sp>
        <p:nvSpPr>
          <p:cNvPr id="5" name="Foliennummernplatzhalter 4">
            <a:extLst>
              <a:ext uri="{FF2B5EF4-FFF2-40B4-BE49-F238E27FC236}">
                <a16:creationId xmlns:a16="http://schemas.microsoft.com/office/drawing/2014/main" id="{2C02DE1A-9472-C350-5BCC-47FD7F13513A}"/>
              </a:ext>
            </a:extLst>
          </p:cNvPr>
          <p:cNvSpPr>
            <a:spLocks noGrp="1"/>
          </p:cNvSpPr>
          <p:nvPr>
            <p:ph type="sldNum" sz="quarter" idx="12"/>
          </p:nvPr>
        </p:nvSpPr>
        <p:spPr/>
        <p:txBody>
          <a:bodyPr/>
          <a:lstStyle/>
          <a:p>
            <a:fld id="{2AAFDC3C-A9F8-4ABD-8D8D-8DC3321B02DC}" type="slidenum">
              <a:rPr lang="de-CH" smtClean="0"/>
              <a:t>‹Nr.›</a:t>
            </a:fld>
            <a:endParaRPr lang="de-CH"/>
          </a:p>
        </p:txBody>
      </p:sp>
    </p:spTree>
    <p:extLst>
      <p:ext uri="{BB962C8B-B14F-4D97-AF65-F5344CB8AC3E}">
        <p14:creationId xmlns:p14="http://schemas.microsoft.com/office/powerpoint/2010/main" val="379473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03F82711-FBCF-8954-DE71-75645B914A8C}"/>
              </a:ext>
            </a:extLst>
          </p:cNvPr>
          <p:cNvSpPr>
            <a:spLocks noGrp="1"/>
          </p:cNvSpPr>
          <p:nvPr>
            <p:ph type="dt" sz="half" idx="10"/>
          </p:nvPr>
        </p:nvSpPr>
        <p:spPr/>
        <p:txBody>
          <a:bodyPr/>
          <a:lstStyle/>
          <a:p>
            <a:r>
              <a:rPr lang="de-CH"/>
              <a:t>11.06.2026</a:t>
            </a:r>
          </a:p>
        </p:txBody>
      </p:sp>
      <p:sp>
        <p:nvSpPr>
          <p:cNvPr id="3" name="Fußzeilenplatzhalter 2">
            <a:extLst>
              <a:ext uri="{FF2B5EF4-FFF2-40B4-BE49-F238E27FC236}">
                <a16:creationId xmlns:a16="http://schemas.microsoft.com/office/drawing/2014/main" id="{38BCBEBE-C406-A241-0F1D-D0600C63D038}"/>
              </a:ext>
            </a:extLst>
          </p:cNvPr>
          <p:cNvSpPr>
            <a:spLocks noGrp="1"/>
          </p:cNvSpPr>
          <p:nvPr>
            <p:ph type="ftr" sz="quarter" idx="11"/>
          </p:nvPr>
        </p:nvSpPr>
        <p:spPr/>
        <p:txBody>
          <a:bodyPr/>
          <a:lstStyle/>
          <a:p>
            <a:endParaRPr lang="de-CH"/>
          </a:p>
        </p:txBody>
      </p:sp>
      <p:sp>
        <p:nvSpPr>
          <p:cNvPr id="4" name="Foliennummernplatzhalter 3">
            <a:extLst>
              <a:ext uri="{FF2B5EF4-FFF2-40B4-BE49-F238E27FC236}">
                <a16:creationId xmlns:a16="http://schemas.microsoft.com/office/drawing/2014/main" id="{84BE8984-3079-8284-9221-9BC36DA9DE3E}"/>
              </a:ext>
            </a:extLst>
          </p:cNvPr>
          <p:cNvSpPr>
            <a:spLocks noGrp="1"/>
          </p:cNvSpPr>
          <p:nvPr>
            <p:ph type="sldNum" sz="quarter" idx="12"/>
          </p:nvPr>
        </p:nvSpPr>
        <p:spPr/>
        <p:txBody>
          <a:bodyPr/>
          <a:lstStyle/>
          <a:p>
            <a:fld id="{2AAFDC3C-A9F8-4ABD-8D8D-8DC3321B02DC}" type="slidenum">
              <a:rPr lang="de-CH" smtClean="0"/>
              <a:t>‹Nr.›</a:t>
            </a:fld>
            <a:endParaRPr lang="de-CH"/>
          </a:p>
        </p:txBody>
      </p:sp>
    </p:spTree>
    <p:extLst>
      <p:ext uri="{BB962C8B-B14F-4D97-AF65-F5344CB8AC3E}">
        <p14:creationId xmlns:p14="http://schemas.microsoft.com/office/powerpoint/2010/main" val="1257988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5F9E87-24D4-4BC1-3A10-1A4708B4C4FF}"/>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CH"/>
          </a:p>
        </p:txBody>
      </p:sp>
      <p:sp>
        <p:nvSpPr>
          <p:cNvPr id="3" name="Inhaltsplatzhalter 2">
            <a:extLst>
              <a:ext uri="{FF2B5EF4-FFF2-40B4-BE49-F238E27FC236}">
                <a16:creationId xmlns:a16="http://schemas.microsoft.com/office/drawing/2014/main" id="{E659584C-7C8F-B4C4-D5BC-048FD6D7FC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Textplatzhalter 3">
            <a:extLst>
              <a:ext uri="{FF2B5EF4-FFF2-40B4-BE49-F238E27FC236}">
                <a16:creationId xmlns:a16="http://schemas.microsoft.com/office/drawing/2014/main" id="{C3C9AB03-FFFA-3B53-6EEE-7CB124FEEE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65F3A159-D922-0889-0DA7-05289261DBDE}"/>
              </a:ext>
            </a:extLst>
          </p:cNvPr>
          <p:cNvSpPr>
            <a:spLocks noGrp="1"/>
          </p:cNvSpPr>
          <p:nvPr>
            <p:ph type="dt" sz="half" idx="10"/>
          </p:nvPr>
        </p:nvSpPr>
        <p:spPr/>
        <p:txBody>
          <a:bodyPr/>
          <a:lstStyle/>
          <a:p>
            <a:r>
              <a:rPr lang="de-CH"/>
              <a:t>11.06.2026</a:t>
            </a:r>
          </a:p>
        </p:txBody>
      </p:sp>
      <p:sp>
        <p:nvSpPr>
          <p:cNvPr id="6" name="Fußzeilenplatzhalter 5">
            <a:extLst>
              <a:ext uri="{FF2B5EF4-FFF2-40B4-BE49-F238E27FC236}">
                <a16:creationId xmlns:a16="http://schemas.microsoft.com/office/drawing/2014/main" id="{76F1C9DB-C333-9A95-0F1B-04E73A767B37}"/>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312EEAF2-4282-67DD-38DB-BC6BBE2DB23F}"/>
              </a:ext>
            </a:extLst>
          </p:cNvPr>
          <p:cNvSpPr>
            <a:spLocks noGrp="1"/>
          </p:cNvSpPr>
          <p:nvPr>
            <p:ph type="sldNum" sz="quarter" idx="12"/>
          </p:nvPr>
        </p:nvSpPr>
        <p:spPr/>
        <p:txBody>
          <a:bodyPr/>
          <a:lstStyle/>
          <a:p>
            <a:fld id="{2AAFDC3C-A9F8-4ABD-8D8D-8DC3321B02DC}" type="slidenum">
              <a:rPr lang="de-CH" smtClean="0"/>
              <a:t>‹Nr.›</a:t>
            </a:fld>
            <a:endParaRPr lang="de-CH"/>
          </a:p>
        </p:txBody>
      </p:sp>
    </p:spTree>
    <p:extLst>
      <p:ext uri="{BB962C8B-B14F-4D97-AF65-F5344CB8AC3E}">
        <p14:creationId xmlns:p14="http://schemas.microsoft.com/office/powerpoint/2010/main" val="2780806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B1248B-E96E-5625-08EB-2845D07F435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CH"/>
          </a:p>
        </p:txBody>
      </p:sp>
      <p:sp>
        <p:nvSpPr>
          <p:cNvPr id="3" name="Bildplatzhalter 2">
            <a:extLst>
              <a:ext uri="{FF2B5EF4-FFF2-40B4-BE49-F238E27FC236}">
                <a16:creationId xmlns:a16="http://schemas.microsoft.com/office/drawing/2014/main" id="{5816083C-AE6D-36BA-E5FF-D6FDEF2AF8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platzhalter 3">
            <a:extLst>
              <a:ext uri="{FF2B5EF4-FFF2-40B4-BE49-F238E27FC236}">
                <a16:creationId xmlns:a16="http://schemas.microsoft.com/office/drawing/2014/main" id="{DBB56A5C-F9F2-35C7-8DCF-B8834238AA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819A0FE-979A-8F98-2341-218F8F7AB9FC}"/>
              </a:ext>
            </a:extLst>
          </p:cNvPr>
          <p:cNvSpPr>
            <a:spLocks noGrp="1"/>
          </p:cNvSpPr>
          <p:nvPr>
            <p:ph type="dt" sz="half" idx="10"/>
          </p:nvPr>
        </p:nvSpPr>
        <p:spPr/>
        <p:txBody>
          <a:bodyPr/>
          <a:lstStyle/>
          <a:p>
            <a:r>
              <a:rPr lang="de-CH"/>
              <a:t>11.06.2026</a:t>
            </a:r>
          </a:p>
        </p:txBody>
      </p:sp>
      <p:sp>
        <p:nvSpPr>
          <p:cNvPr id="6" name="Fußzeilenplatzhalter 5">
            <a:extLst>
              <a:ext uri="{FF2B5EF4-FFF2-40B4-BE49-F238E27FC236}">
                <a16:creationId xmlns:a16="http://schemas.microsoft.com/office/drawing/2014/main" id="{0F9AA395-070E-9F3B-DDD5-FA7CF4019A41}"/>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E7E8CBB2-EDA1-E8FC-FABD-A5810F7E4C90}"/>
              </a:ext>
            </a:extLst>
          </p:cNvPr>
          <p:cNvSpPr>
            <a:spLocks noGrp="1"/>
          </p:cNvSpPr>
          <p:nvPr>
            <p:ph type="sldNum" sz="quarter" idx="12"/>
          </p:nvPr>
        </p:nvSpPr>
        <p:spPr/>
        <p:txBody>
          <a:bodyPr/>
          <a:lstStyle/>
          <a:p>
            <a:fld id="{2AAFDC3C-A9F8-4ABD-8D8D-8DC3321B02DC}" type="slidenum">
              <a:rPr lang="de-CH" smtClean="0"/>
              <a:t>‹Nr.›</a:t>
            </a:fld>
            <a:endParaRPr lang="de-CH"/>
          </a:p>
        </p:txBody>
      </p:sp>
    </p:spTree>
    <p:extLst>
      <p:ext uri="{BB962C8B-B14F-4D97-AF65-F5344CB8AC3E}">
        <p14:creationId xmlns:p14="http://schemas.microsoft.com/office/powerpoint/2010/main" val="4280493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377D7F-3A40-3258-6029-E43C43A78FD7}"/>
              </a:ext>
            </a:extLst>
          </p:cNvPr>
          <p:cNvSpPr>
            <a:spLocks noGrp="1"/>
          </p:cNvSpPr>
          <p:nvPr>
            <p:ph type="title"/>
          </p:nvPr>
        </p:nvSpPr>
        <p:spPr/>
        <p:txBody>
          <a:bodyPr/>
          <a:lstStyle/>
          <a:p>
            <a:r>
              <a:rPr lang="de-DE"/>
              <a:t>Mastertitelformat bearbeiten</a:t>
            </a:r>
            <a:endParaRPr lang="de-CH"/>
          </a:p>
        </p:txBody>
      </p:sp>
      <p:sp>
        <p:nvSpPr>
          <p:cNvPr id="3" name="Vertikaler Textplatzhalter 2">
            <a:extLst>
              <a:ext uri="{FF2B5EF4-FFF2-40B4-BE49-F238E27FC236}">
                <a16:creationId xmlns:a16="http://schemas.microsoft.com/office/drawing/2014/main" id="{48F0FE18-80F7-D703-FEF8-01A5D4A709E2}"/>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B8D3BB54-574E-E6C6-81B3-84D181A68A25}"/>
              </a:ext>
            </a:extLst>
          </p:cNvPr>
          <p:cNvSpPr>
            <a:spLocks noGrp="1"/>
          </p:cNvSpPr>
          <p:nvPr>
            <p:ph type="dt" sz="half" idx="10"/>
          </p:nvPr>
        </p:nvSpPr>
        <p:spPr/>
        <p:txBody>
          <a:bodyPr/>
          <a:lstStyle/>
          <a:p>
            <a:r>
              <a:rPr lang="de-CH"/>
              <a:t>11.06.2026</a:t>
            </a:r>
          </a:p>
        </p:txBody>
      </p:sp>
      <p:sp>
        <p:nvSpPr>
          <p:cNvPr id="5" name="Fußzeilenplatzhalter 4">
            <a:extLst>
              <a:ext uri="{FF2B5EF4-FFF2-40B4-BE49-F238E27FC236}">
                <a16:creationId xmlns:a16="http://schemas.microsoft.com/office/drawing/2014/main" id="{522AE45F-FEC1-B0FB-CD26-0F7E5954DBB2}"/>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EA9B55DB-52DA-316F-5A11-E096F957C683}"/>
              </a:ext>
            </a:extLst>
          </p:cNvPr>
          <p:cNvSpPr>
            <a:spLocks noGrp="1"/>
          </p:cNvSpPr>
          <p:nvPr>
            <p:ph type="sldNum" sz="quarter" idx="12"/>
          </p:nvPr>
        </p:nvSpPr>
        <p:spPr/>
        <p:txBody>
          <a:bodyPr/>
          <a:lstStyle/>
          <a:p>
            <a:fld id="{2AAFDC3C-A9F8-4ABD-8D8D-8DC3321B02DC}" type="slidenum">
              <a:rPr lang="de-CH" smtClean="0"/>
              <a:t>‹Nr.›</a:t>
            </a:fld>
            <a:endParaRPr lang="de-CH"/>
          </a:p>
        </p:txBody>
      </p:sp>
    </p:spTree>
    <p:extLst>
      <p:ext uri="{BB962C8B-B14F-4D97-AF65-F5344CB8AC3E}">
        <p14:creationId xmlns:p14="http://schemas.microsoft.com/office/powerpoint/2010/main" val="4090395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2C4A621F-3E8B-DAEF-652F-1D3F7534B9F2}"/>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de-CH"/>
          </a:p>
        </p:txBody>
      </p:sp>
      <p:sp>
        <p:nvSpPr>
          <p:cNvPr id="3" name="Vertikaler Textplatzhalter 2">
            <a:extLst>
              <a:ext uri="{FF2B5EF4-FFF2-40B4-BE49-F238E27FC236}">
                <a16:creationId xmlns:a16="http://schemas.microsoft.com/office/drawing/2014/main" id="{0373BEFA-6110-A931-3E3A-51B442FE0D4B}"/>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6CDEEB13-E299-8E6D-8FE5-E682B543F4C5}"/>
              </a:ext>
            </a:extLst>
          </p:cNvPr>
          <p:cNvSpPr>
            <a:spLocks noGrp="1"/>
          </p:cNvSpPr>
          <p:nvPr>
            <p:ph type="dt" sz="half" idx="10"/>
          </p:nvPr>
        </p:nvSpPr>
        <p:spPr/>
        <p:txBody>
          <a:bodyPr/>
          <a:lstStyle/>
          <a:p>
            <a:r>
              <a:rPr lang="de-CH"/>
              <a:t>11.06.2026</a:t>
            </a:r>
          </a:p>
        </p:txBody>
      </p:sp>
      <p:sp>
        <p:nvSpPr>
          <p:cNvPr id="5" name="Fußzeilenplatzhalter 4">
            <a:extLst>
              <a:ext uri="{FF2B5EF4-FFF2-40B4-BE49-F238E27FC236}">
                <a16:creationId xmlns:a16="http://schemas.microsoft.com/office/drawing/2014/main" id="{4312D2EE-315E-A6FB-7A6A-432B1424CD70}"/>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1AA9333B-B93A-3AC7-3654-19BF42682577}"/>
              </a:ext>
            </a:extLst>
          </p:cNvPr>
          <p:cNvSpPr>
            <a:spLocks noGrp="1"/>
          </p:cNvSpPr>
          <p:nvPr>
            <p:ph type="sldNum" sz="quarter" idx="12"/>
          </p:nvPr>
        </p:nvSpPr>
        <p:spPr/>
        <p:txBody>
          <a:bodyPr/>
          <a:lstStyle/>
          <a:p>
            <a:fld id="{2AAFDC3C-A9F8-4ABD-8D8D-8DC3321B02DC}" type="slidenum">
              <a:rPr lang="de-CH" smtClean="0"/>
              <a:t>‹Nr.›</a:t>
            </a:fld>
            <a:endParaRPr lang="de-CH"/>
          </a:p>
        </p:txBody>
      </p:sp>
    </p:spTree>
    <p:extLst>
      <p:ext uri="{BB962C8B-B14F-4D97-AF65-F5344CB8AC3E}">
        <p14:creationId xmlns:p14="http://schemas.microsoft.com/office/powerpoint/2010/main" val="18874702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B2A19F-A16E-6D13-1CDE-0E796D179D2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de-CH"/>
          </a:p>
        </p:txBody>
      </p:sp>
      <p:sp>
        <p:nvSpPr>
          <p:cNvPr id="3" name="Untertitel 2">
            <a:extLst>
              <a:ext uri="{FF2B5EF4-FFF2-40B4-BE49-F238E27FC236}">
                <a16:creationId xmlns:a16="http://schemas.microsoft.com/office/drawing/2014/main" id="{19688B3D-A13D-DD6F-51B8-979C298B89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CH"/>
          </a:p>
        </p:txBody>
      </p:sp>
      <p:sp>
        <p:nvSpPr>
          <p:cNvPr id="4" name="Datumsplatzhalter 3">
            <a:extLst>
              <a:ext uri="{FF2B5EF4-FFF2-40B4-BE49-F238E27FC236}">
                <a16:creationId xmlns:a16="http://schemas.microsoft.com/office/drawing/2014/main" id="{EC239FF7-CED7-06D6-268F-91EC895069C4}"/>
              </a:ext>
            </a:extLst>
          </p:cNvPr>
          <p:cNvSpPr>
            <a:spLocks noGrp="1"/>
          </p:cNvSpPr>
          <p:nvPr>
            <p:ph type="dt" sz="half" idx="10"/>
          </p:nvPr>
        </p:nvSpPr>
        <p:spPr/>
        <p:txBody>
          <a:bodyPr/>
          <a:lstStyle/>
          <a:p>
            <a:fld id="{FB336BD3-DA63-4EC2-8829-93E8A2DDC42B}" type="datetimeFigureOut">
              <a:rPr lang="de-CH" smtClean="0"/>
              <a:t>13.06.2026</a:t>
            </a:fld>
            <a:endParaRPr lang="de-CH"/>
          </a:p>
        </p:txBody>
      </p:sp>
      <p:sp>
        <p:nvSpPr>
          <p:cNvPr id="5" name="Fußzeilenplatzhalter 4">
            <a:extLst>
              <a:ext uri="{FF2B5EF4-FFF2-40B4-BE49-F238E27FC236}">
                <a16:creationId xmlns:a16="http://schemas.microsoft.com/office/drawing/2014/main" id="{407B7A8A-341F-C1C7-B52D-D4C1B23726DE}"/>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1456613E-40FC-D353-5C22-D06EFF88E48B}"/>
              </a:ext>
            </a:extLst>
          </p:cNvPr>
          <p:cNvSpPr>
            <a:spLocks noGrp="1"/>
          </p:cNvSpPr>
          <p:nvPr>
            <p:ph type="sldNum" sz="quarter" idx="12"/>
          </p:nvPr>
        </p:nvSpPr>
        <p:spPr/>
        <p:txBody>
          <a:bodyPr/>
          <a:lstStyle/>
          <a:p>
            <a:fld id="{4C793CB5-A875-48FF-982F-3FCF19075D70}" type="slidenum">
              <a:rPr lang="de-CH" smtClean="0"/>
              <a:t>‹Nr.›</a:t>
            </a:fld>
            <a:endParaRPr lang="de-CH"/>
          </a:p>
        </p:txBody>
      </p:sp>
    </p:spTree>
    <p:extLst>
      <p:ext uri="{BB962C8B-B14F-4D97-AF65-F5344CB8AC3E}">
        <p14:creationId xmlns:p14="http://schemas.microsoft.com/office/powerpoint/2010/main" val="10069102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177C44-67E2-BDEB-B743-C08EC1E9C474}"/>
              </a:ext>
            </a:extLst>
          </p:cNvPr>
          <p:cNvSpPr>
            <a:spLocks noGrp="1"/>
          </p:cNvSpPr>
          <p:nvPr>
            <p:ph type="title"/>
          </p:nvPr>
        </p:nvSpPr>
        <p:spPr/>
        <p:txBody>
          <a:bodyPr/>
          <a:lstStyle/>
          <a:p>
            <a:r>
              <a:rPr lang="de-DE"/>
              <a:t>Mastertitelformat bearbeiten</a:t>
            </a:r>
            <a:endParaRPr lang="de-CH"/>
          </a:p>
        </p:txBody>
      </p:sp>
      <p:sp>
        <p:nvSpPr>
          <p:cNvPr id="3" name="Inhaltsplatzhalter 2">
            <a:extLst>
              <a:ext uri="{FF2B5EF4-FFF2-40B4-BE49-F238E27FC236}">
                <a16:creationId xmlns:a16="http://schemas.microsoft.com/office/drawing/2014/main" id="{961E876A-6561-2094-F631-36917EFA2F1B}"/>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EF4D005B-B639-1855-5E31-5373F739EFD1}"/>
              </a:ext>
            </a:extLst>
          </p:cNvPr>
          <p:cNvSpPr>
            <a:spLocks noGrp="1"/>
          </p:cNvSpPr>
          <p:nvPr>
            <p:ph type="dt" sz="half" idx="10"/>
          </p:nvPr>
        </p:nvSpPr>
        <p:spPr/>
        <p:txBody>
          <a:bodyPr/>
          <a:lstStyle/>
          <a:p>
            <a:fld id="{FB336BD3-DA63-4EC2-8829-93E8A2DDC42B}" type="datetimeFigureOut">
              <a:rPr lang="de-CH" smtClean="0"/>
              <a:t>13.06.2026</a:t>
            </a:fld>
            <a:endParaRPr lang="de-CH"/>
          </a:p>
        </p:txBody>
      </p:sp>
      <p:sp>
        <p:nvSpPr>
          <p:cNvPr id="5" name="Fußzeilenplatzhalter 4">
            <a:extLst>
              <a:ext uri="{FF2B5EF4-FFF2-40B4-BE49-F238E27FC236}">
                <a16:creationId xmlns:a16="http://schemas.microsoft.com/office/drawing/2014/main" id="{46F24F5F-2360-D79A-C9D3-9E87FE798792}"/>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0F70828B-DCCB-010A-5E43-EC700D1BD4E3}"/>
              </a:ext>
            </a:extLst>
          </p:cNvPr>
          <p:cNvSpPr>
            <a:spLocks noGrp="1"/>
          </p:cNvSpPr>
          <p:nvPr>
            <p:ph type="sldNum" sz="quarter" idx="12"/>
          </p:nvPr>
        </p:nvSpPr>
        <p:spPr/>
        <p:txBody>
          <a:bodyPr/>
          <a:lstStyle/>
          <a:p>
            <a:fld id="{4C793CB5-A875-48FF-982F-3FCF19075D70}" type="slidenum">
              <a:rPr lang="de-CH" smtClean="0"/>
              <a:t>‹Nr.›</a:t>
            </a:fld>
            <a:endParaRPr lang="de-CH"/>
          </a:p>
        </p:txBody>
      </p:sp>
    </p:spTree>
    <p:extLst>
      <p:ext uri="{BB962C8B-B14F-4D97-AF65-F5344CB8AC3E}">
        <p14:creationId xmlns:p14="http://schemas.microsoft.com/office/powerpoint/2010/main" val="10884598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bschnitts-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BC400E-666D-754F-CA83-AD72F45CE3C7}"/>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de-CH"/>
          </a:p>
        </p:txBody>
      </p:sp>
      <p:sp>
        <p:nvSpPr>
          <p:cNvPr id="3" name="Textplatzhalter 2">
            <a:extLst>
              <a:ext uri="{FF2B5EF4-FFF2-40B4-BE49-F238E27FC236}">
                <a16:creationId xmlns:a16="http://schemas.microsoft.com/office/drawing/2014/main" id="{BAE01C36-D754-AC8C-5007-EBA02032D2C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6201F73E-F3B9-FC69-EE1A-7D3DF82B382D}"/>
              </a:ext>
            </a:extLst>
          </p:cNvPr>
          <p:cNvSpPr>
            <a:spLocks noGrp="1"/>
          </p:cNvSpPr>
          <p:nvPr>
            <p:ph type="dt" sz="half" idx="10"/>
          </p:nvPr>
        </p:nvSpPr>
        <p:spPr/>
        <p:txBody>
          <a:bodyPr/>
          <a:lstStyle/>
          <a:p>
            <a:fld id="{FB336BD3-DA63-4EC2-8829-93E8A2DDC42B}" type="datetimeFigureOut">
              <a:rPr lang="de-CH" smtClean="0"/>
              <a:t>13.06.2026</a:t>
            </a:fld>
            <a:endParaRPr lang="de-CH"/>
          </a:p>
        </p:txBody>
      </p:sp>
      <p:sp>
        <p:nvSpPr>
          <p:cNvPr id="5" name="Fußzeilenplatzhalter 4">
            <a:extLst>
              <a:ext uri="{FF2B5EF4-FFF2-40B4-BE49-F238E27FC236}">
                <a16:creationId xmlns:a16="http://schemas.microsoft.com/office/drawing/2014/main" id="{EC13384D-B8F0-608A-DF3E-1400D60A1851}"/>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5C413508-BB1B-B887-B5BC-9FFFDB3D519F}"/>
              </a:ext>
            </a:extLst>
          </p:cNvPr>
          <p:cNvSpPr>
            <a:spLocks noGrp="1"/>
          </p:cNvSpPr>
          <p:nvPr>
            <p:ph type="sldNum" sz="quarter" idx="12"/>
          </p:nvPr>
        </p:nvSpPr>
        <p:spPr/>
        <p:txBody>
          <a:bodyPr/>
          <a:lstStyle/>
          <a:p>
            <a:fld id="{4C793CB5-A875-48FF-982F-3FCF19075D70}" type="slidenum">
              <a:rPr lang="de-CH" smtClean="0"/>
              <a:t>‹Nr.›</a:t>
            </a:fld>
            <a:endParaRPr lang="de-CH"/>
          </a:p>
        </p:txBody>
      </p:sp>
    </p:spTree>
    <p:extLst>
      <p:ext uri="{BB962C8B-B14F-4D97-AF65-F5344CB8AC3E}">
        <p14:creationId xmlns:p14="http://schemas.microsoft.com/office/powerpoint/2010/main" val="39272626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42D498-550A-AC9B-F6E9-335EDC74FBDD}"/>
              </a:ext>
            </a:extLst>
          </p:cNvPr>
          <p:cNvSpPr>
            <a:spLocks noGrp="1"/>
          </p:cNvSpPr>
          <p:nvPr>
            <p:ph type="title"/>
          </p:nvPr>
        </p:nvSpPr>
        <p:spPr/>
        <p:txBody>
          <a:bodyPr/>
          <a:lstStyle/>
          <a:p>
            <a:r>
              <a:rPr lang="de-DE"/>
              <a:t>Mastertitelformat bearbeiten</a:t>
            </a:r>
            <a:endParaRPr lang="de-CH"/>
          </a:p>
        </p:txBody>
      </p:sp>
      <p:sp>
        <p:nvSpPr>
          <p:cNvPr id="3" name="Inhaltsplatzhalter 2">
            <a:extLst>
              <a:ext uri="{FF2B5EF4-FFF2-40B4-BE49-F238E27FC236}">
                <a16:creationId xmlns:a16="http://schemas.microsoft.com/office/drawing/2014/main" id="{5E79934F-82B4-AE20-E639-A2D1337DF9D0}"/>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Inhaltsplatzhalter 3">
            <a:extLst>
              <a:ext uri="{FF2B5EF4-FFF2-40B4-BE49-F238E27FC236}">
                <a16:creationId xmlns:a16="http://schemas.microsoft.com/office/drawing/2014/main" id="{C279BF78-A003-219E-A4E7-9ABC2F831405}"/>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Datumsplatzhalter 4">
            <a:extLst>
              <a:ext uri="{FF2B5EF4-FFF2-40B4-BE49-F238E27FC236}">
                <a16:creationId xmlns:a16="http://schemas.microsoft.com/office/drawing/2014/main" id="{71D5FBF2-B53F-754F-6749-B0EDD9651317}"/>
              </a:ext>
            </a:extLst>
          </p:cNvPr>
          <p:cNvSpPr>
            <a:spLocks noGrp="1"/>
          </p:cNvSpPr>
          <p:nvPr>
            <p:ph type="dt" sz="half" idx="10"/>
          </p:nvPr>
        </p:nvSpPr>
        <p:spPr/>
        <p:txBody>
          <a:bodyPr/>
          <a:lstStyle/>
          <a:p>
            <a:fld id="{FB336BD3-DA63-4EC2-8829-93E8A2DDC42B}" type="datetimeFigureOut">
              <a:rPr lang="de-CH" smtClean="0"/>
              <a:t>13.06.2026</a:t>
            </a:fld>
            <a:endParaRPr lang="de-CH"/>
          </a:p>
        </p:txBody>
      </p:sp>
      <p:sp>
        <p:nvSpPr>
          <p:cNvPr id="6" name="Fußzeilenplatzhalter 5">
            <a:extLst>
              <a:ext uri="{FF2B5EF4-FFF2-40B4-BE49-F238E27FC236}">
                <a16:creationId xmlns:a16="http://schemas.microsoft.com/office/drawing/2014/main" id="{7C63F09C-A492-2A93-EBE3-B6C120BB2353}"/>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B91ACA30-9A7B-751A-254B-F7CE188C8D0B}"/>
              </a:ext>
            </a:extLst>
          </p:cNvPr>
          <p:cNvSpPr>
            <a:spLocks noGrp="1"/>
          </p:cNvSpPr>
          <p:nvPr>
            <p:ph type="sldNum" sz="quarter" idx="12"/>
          </p:nvPr>
        </p:nvSpPr>
        <p:spPr/>
        <p:txBody>
          <a:bodyPr/>
          <a:lstStyle/>
          <a:p>
            <a:fld id="{4C793CB5-A875-48FF-982F-3FCF19075D70}" type="slidenum">
              <a:rPr lang="de-CH" smtClean="0"/>
              <a:t>‹Nr.›</a:t>
            </a:fld>
            <a:endParaRPr lang="de-CH"/>
          </a:p>
        </p:txBody>
      </p:sp>
    </p:spTree>
    <p:extLst>
      <p:ext uri="{BB962C8B-B14F-4D97-AF65-F5344CB8AC3E}">
        <p14:creationId xmlns:p14="http://schemas.microsoft.com/office/powerpoint/2010/main" val="26705637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FA8C69-92E8-CABB-6394-52E681238E82}"/>
              </a:ext>
            </a:extLst>
          </p:cNvPr>
          <p:cNvSpPr>
            <a:spLocks noGrp="1"/>
          </p:cNvSpPr>
          <p:nvPr>
            <p:ph type="title"/>
          </p:nvPr>
        </p:nvSpPr>
        <p:spPr>
          <a:xfrm>
            <a:off x="839788" y="365125"/>
            <a:ext cx="10515600" cy="1325563"/>
          </a:xfrm>
        </p:spPr>
        <p:txBody>
          <a:bodyPr/>
          <a:lstStyle/>
          <a:p>
            <a:r>
              <a:rPr lang="de-DE"/>
              <a:t>Mastertitelformat bearbeiten</a:t>
            </a:r>
            <a:endParaRPr lang="de-CH"/>
          </a:p>
        </p:txBody>
      </p:sp>
      <p:sp>
        <p:nvSpPr>
          <p:cNvPr id="3" name="Textplatzhalter 2">
            <a:extLst>
              <a:ext uri="{FF2B5EF4-FFF2-40B4-BE49-F238E27FC236}">
                <a16:creationId xmlns:a16="http://schemas.microsoft.com/office/drawing/2014/main" id="{02F24B2A-A399-30F7-7A6B-0F4DBE5973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710422D6-BAB2-7E13-CB63-63B762A77E0A}"/>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Textplatzhalter 4">
            <a:extLst>
              <a:ext uri="{FF2B5EF4-FFF2-40B4-BE49-F238E27FC236}">
                <a16:creationId xmlns:a16="http://schemas.microsoft.com/office/drawing/2014/main" id="{0DDE68FC-A0D6-627D-95C0-A521E9EE54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9FC11204-82A2-901A-2E92-6AB1A70CB6E9}"/>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7" name="Datumsplatzhalter 6">
            <a:extLst>
              <a:ext uri="{FF2B5EF4-FFF2-40B4-BE49-F238E27FC236}">
                <a16:creationId xmlns:a16="http://schemas.microsoft.com/office/drawing/2014/main" id="{E69FC61F-D0D1-4AB0-4361-DC843DA416F1}"/>
              </a:ext>
            </a:extLst>
          </p:cNvPr>
          <p:cNvSpPr>
            <a:spLocks noGrp="1"/>
          </p:cNvSpPr>
          <p:nvPr>
            <p:ph type="dt" sz="half" idx="10"/>
          </p:nvPr>
        </p:nvSpPr>
        <p:spPr/>
        <p:txBody>
          <a:bodyPr/>
          <a:lstStyle/>
          <a:p>
            <a:fld id="{FB336BD3-DA63-4EC2-8829-93E8A2DDC42B}" type="datetimeFigureOut">
              <a:rPr lang="de-CH" smtClean="0"/>
              <a:t>13.06.2026</a:t>
            </a:fld>
            <a:endParaRPr lang="de-CH"/>
          </a:p>
        </p:txBody>
      </p:sp>
      <p:sp>
        <p:nvSpPr>
          <p:cNvPr id="8" name="Fußzeilenplatzhalter 7">
            <a:extLst>
              <a:ext uri="{FF2B5EF4-FFF2-40B4-BE49-F238E27FC236}">
                <a16:creationId xmlns:a16="http://schemas.microsoft.com/office/drawing/2014/main" id="{D520FC6D-2211-480D-BC76-9E2DD026D2BA}"/>
              </a:ext>
            </a:extLst>
          </p:cNvPr>
          <p:cNvSpPr>
            <a:spLocks noGrp="1"/>
          </p:cNvSpPr>
          <p:nvPr>
            <p:ph type="ftr" sz="quarter" idx="11"/>
          </p:nvPr>
        </p:nvSpPr>
        <p:spPr/>
        <p:txBody>
          <a:bodyPr/>
          <a:lstStyle/>
          <a:p>
            <a:endParaRPr lang="de-CH"/>
          </a:p>
        </p:txBody>
      </p:sp>
      <p:sp>
        <p:nvSpPr>
          <p:cNvPr id="9" name="Foliennummernplatzhalter 8">
            <a:extLst>
              <a:ext uri="{FF2B5EF4-FFF2-40B4-BE49-F238E27FC236}">
                <a16:creationId xmlns:a16="http://schemas.microsoft.com/office/drawing/2014/main" id="{0B8560F3-26FC-BB10-8F36-F02E70EE09F1}"/>
              </a:ext>
            </a:extLst>
          </p:cNvPr>
          <p:cNvSpPr>
            <a:spLocks noGrp="1"/>
          </p:cNvSpPr>
          <p:nvPr>
            <p:ph type="sldNum" sz="quarter" idx="12"/>
          </p:nvPr>
        </p:nvSpPr>
        <p:spPr/>
        <p:txBody>
          <a:bodyPr/>
          <a:lstStyle/>
          <a:p>
            <a:fld id="{4C793CB5-A875-48FF-982F-3FCF19075D70}" type="slidenum">
              <a:rPr lang="de-CH" smtClean="0"/>
              <a:t>‹Nr.›</a:t>
            </a:fld>
            <a:endParaRPr lang="de-CH"/>
          </a:p>
        </p:txBody>
      </p:sp>
    </p:spTree>
    <p:extLst>
      <p:ext uri="{BB962C8B-B14F-4D97-AF65-F5344CB8AC3E}">
        <p14:creationId xmlns:p14="http://schemas.microsoft.com/office/powerpoint/2010/main" val="29511149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AC7357-61D9-7C7C-DB03-5D257814EFEC}"/>
              </a:ext>
            </a:extLst>
          </p:cNvPr>
          <p:cNvSpPr>
            <a:spLocks noGrp="1"/>
          </p:cNvSpPr>
          <p:nvPr>
            <p:ph type="title"/>
          </p:nvPr>
        </p:nvSpPr>
        <p:spPr/>
        <p:txBody>
          <a:bodyPr/>
          <a:lstStyle/>
          <a:p>
            <a:r>
              <a:rPr lang="de-DE"/>
              <a:t>Mastertitelformat bearbeiten</a:t>
            </a:r>
            <a:endParaRPr lang="de-CH"/>
          </a:p>
        </p:txBody>
      </p:sp>
      <p:sp>
        <p:nvSpPr>
          <p:cNvPr id="3" name="Datumsplatzhalter 2">
            <a:extLst>
              <a:ext uri="{FF2B5EF4-FFF2-40B4-BE49-F238E27FC236}">
                <a16:creationId xmlns:a16="http://schemas.microsoft.com/office/drawing/2014/main" id="{2BCC87D1-A191-C29F-6E59-E06B132A9E7A}"/>
              </a:ext>
            </a:extLst>
          </p:cNvPr>
          <p:cNvSpPr>
            <a:spLocks noGrp="1"/>
          </p:cNvSpPr>
          <p:nvPr>
            <p:ph type="dt" sz="half" idx="10"/>
          </p:nvPr>
        </p:nvSpPr>
        <p:spPr/>
        <p:txBody>
          <a:bodyPr/>
          <a:lstStyle/>
          <a:p>
            <a:fld id="{FB336BD3-DA63-4EC2-8829-93E8A2DDC42B}" type="datetimeFigureOut">
              <a:rPr lang="de-CH" smtClean="0"/>
              <a:t>13.06.2026</a:t>
            </a:fld>
            <a:endParaRPr lang="de-CH"/>
          </a:p>
        </p:txBody>
      </p:sp>
      <p:sp>
        <p:nvSpPr>
          <p:cNvPr id="4" name="Fußzeilenplatzhalter 3">
            <a:extLst>
              <a:ext uri="{FF2B5EF4-FFF2-40B4-BE49-F238E27FC236}">
                <a16:creationId xmlns:a16="http://schemas.microsoft.com/office/drawing/2014/main" id="{A269F3E9-DD44-493F-0E43-C341EBBBBF23}"/>
              </a:ext>
            </a:extLst>
          </p:cNvPr>
          <p:cNvSpPr>
            <a:spLocks noGrp="1"/>
          </p:cNvSpPr>
          <p:nvPr>
            <p:ph type="ftr" sz="quarter" idx="11"/>
          </p:nvPr>
        </p:nvSpPr>
        <p:spPr/>
        <p:txBody>
          <a:bodyPr/>
          <a:lstStyle/>
          <a:p>
            <a:endParaRPr lang="de-CH"/>
          </a:p>
        </p:txBody>
      </p:sp>
      <p:sp>
        <p:nvSpPr>
          <p:cNvPr id="5" name="Foliennummernplatzhalter 4">
            <a:extLst>
              <a:ext uri="{FF2B5EF4-FFF2-40B4-BE49-F238E27FC236}">
                <a16:creationId xmlns:a16="http://schemas.microsoft.com/office/drawing/2014/main" id="{D423ECA9-3A32-18CA-71A4-E8E1A39D57BB}"/>
              </a:ext>
            </a:extLst>
          </p:cNvPr>
          <p:cNvSpPr>
            <a:spLocks noGrp="1"/>
          </p:cNvSpPr>
          <p:nvPr>
            <p:ph type="sldNum" sz="quarter" idx="12"/>
          </p:nvPr>
        </p:nvSpPr>
        <p:spPr/>
        <p:txBody>
          <a:bodyPr/>
          <a:lstStyle/>
          <a:p>
            <a:fld id="{4C793CB5-A875-48FF-982F-3FCF19075D70}" type="slidenum">
              <a:rPr lang="de-CH" smtClean="0"/>
              <a:t>‹Nr.›</a:t>
            </a:fld>
            <a:endParaRPr lang="de-CH"/>
          </a:p>
        </p:txBody>
      </p:sp>
    </p:spTree>
    <p:extLst>
      <p:ext uri="{BB962C8B-B14F-4D97-AF65-F5344CB8AC3E}">
        <p14:creationId xmlns:p14="http://schemas.microsoft.com/office/powerpoint/2010/main" val="25033501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0A77307-F8F8-C7B5-8516-88EB0F455835}"/>
              </a:ext>
            </a:extLst>
          </p:cNvPr>
          <p:cNvSpPr>
            <a:spLocks noGrp="1"/>
          </p:cNvSpPr>
          <p:nvPr>
            <p:ph type="dt" sz="half" idx="10"/>
          </p:nvPr>
        </p:nvSpPr>
        <p:spPr/>
        <p:txBody>
          <a:bodyPr/>
          <a:lstStyle/>
          <a:p>
            <a:fld id="{FB336BD3-DA63-4EC2-8829-93E8A2DDC42B}" type="datetimeFigureOut">
              <a:rPr lang="de-CH" smtClean="0"/>
              <a:t>13.06.2026</a:t>
            </a:fld>
            <a:endParaRPr lang="de-CH"/>
          </a:p>
        </p:txBody>
      </p:sp>
      <p:sp>
        <p:nvSpPr>
          <p:cNvPr id="3" name="Fußzeilenplatzhalter 2">
            <a:extLst>
              <a:ext uri="{FF2B5EF4-FFF2-40B4-BE49-F238E27FC236}">
                <a16:creationId xmlns:a16="http://schemas.microsoft.com/office/drawing/2014/main" id="{71E0157A-D790-6A12-08A4-76994E1215DF}"/>
              </a:ext>
            </a:extLst>
          </p:cNvPr>
          <p:cNvSpPr>
            <a:spLocks noGrp="1"/>
          </p:cNvSpPr>
          <p:nvPr>
            <p:ph type="ftr" sz="quarter" idx="11"/>
          </p:nvPr>
        </p:nvSpPr>
        <p:spPr/>
        <p:txBody>
          <a:bodyPr/>
          <a:lstStyle/>
          <a:p>
            <a:endParaRPr lang="de-CH"/>
          </a:p>
        </p:txBody>
      </p:sp>
      <p:sp>
        <p:nvSpPr>
          <p:cNvPr id="4" name="Foliennummernplatzhalter 3">
            <a:extLst>
              <a:ext uri="{FF2B5EF4-FFF2-40B4-BE49-F238E27FC236}">
                <a16:creationId xmlns:a16="http://schemas.microsoft.com/office/drawing/2014/main" id="{2A2DE190-7963-67F3-158F-835C113E7168}"/>
              </a:ext>
            </a:extLst>
          </p:cNvPr>
          <p:cNvSpPr>
            <a:spLocks noGrp="1"/>
          </p:cNvSpPr>
          <p:nvPr>
            <p:ph type="sldNum" sz="quarter" idx="12"/>
          </p:nvPr>
        </p:nvSpPr>
        <p:spPr/>
        <p:txBody>
          <a:bodyPr/>
          <a:lstStyle/>
          <a:p>
            <a:fld id="{4C793CB5-A875-48FF-982F-3FCF19075D70}" type="slidenum">
              <a:rPr lang="de-CH" smtClean="0"/>
              <a:t>‹Nr.›</a:t>
            </a:fld>
            <a:endParaRPr lang="de-CH"/>
          </a:p>
        </p:txBody>
      </p:sp>
    </p:spTree>
    <p:extLst>
      <p:ext uri="{BB962C8B-B14F-4D97-AF65-F5344CB8AC3E}">
        <p14:creationId xmlns:p14="http://schemas.microsoft.com/office/powerpoint/2010/main" val="34415883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C94A86-F272-E48C-E5FA-3BF3489C2500}"/>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CH"/>
          </a:p>
        </p:txBody>
      </p:sp>
      <p:sp>
        <p:nvSpPr>
          <p:cNvPr id="3" name="Inhaltsplatzhalter 2">
            <a:extLst>
              <a:ext uri="{FF2B5EF4-FFF2-40B4-BE49-F238E27FC236}">
                <a16:creationId xmlns:a16="http://schemas.microsoft.com/office/drawing/2014/main" id="{27F17D82-5B38-217E-0DE5-072DE1C53B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Textplatzhalter 3">
            <a:extLst>
              <a:ext uri="{FF2B5EF4-FFF2-40B4-BE49-F238E27FC236}">
                <a16:creationId xmlns:a16="http://schemas.microsoft.com/office/drawing/2014/main" id="{68B8845E-D1DE-F3AC-8C36-9F1F200D89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0CD821B-3DCA-663C-BC0F-18E6E7BEFE84}"/>
              </a:ext>
            </a:extLst>
          </p:cNvPr>
          <p:cNvSpPr>
            <a:spLocks noGrp="1"/>
          </p:cNvSpPr>
          <p:nvPr>
            <p:ph type="dt" sz="half" idx="10"/>
          </p:nvPr>
        </p:nvSpPr>
        <p:spPr/>
        <p:txBody>
          <a:bodyPr/>
          <a:lstStyle/>
          <a:p>
            <a:fld id="{FB336BD3-DA63-4EC2-8829-93E8A2DDC42B}" type="datetimeFigureOut">
              <a:rPr lang="de-CH" smtClean="0"/>
              <a:t>13.06.2026</a:t>
            </a:fld>
            <a:endParaRPr lang="de-CH"/>
          </a:p>
        </p:txBody>
      </p:sp>
      <p:sp>
        <p:nvSpPr>
          <p:cNvPr id="6" name="Fußzeilenplatzhalter 5">
            <a:extLst>
              <a:ext uri="{FF2B5EF4-FFF2-40B4-BE49-F238E27FC236}">
                <a16:creationId xmlns:a16="http://schemas.microsoft.com/office/drawing/2014/main" id="{D82D08C2-1688-E071-622C-3A5D2CA9989B}"/>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11198AB9-5278-DFFC-0333-EAE62932F958}"/>
              </a:ext>
            </a:extLst>
          </p:cNvPr>
          <p:cNvSpPr>
            <a:spLocks noGrp="1"/>
          </p:cNvSpPr>
          <p:nvPr>
            <p:ph type="sldNum" sz="quarter" idx="12"/>
          </p:nvPr>
        </p:nvSpPr>
        <p:spPr/>
        <p:txBody>
          <a:bodyPr/>
          <a:lstStyle/>
          <a:p>
            <a:fld id="{4C793CB5-A875-48FF-982F-3FCF19075D70}" type="slidenum">
              <a:rPr lang="de-CH" smtClean="0"/>
              <a:t>‹Nr.›</a:t>
            </a:fld>
            <a:endParaRPr lang="de-CH"/>
          </a:p>
        </p:txBody>
      </p:sp>
    </p:spTree>
    <p:extLst>
      <p:ext uri="{BB962C8B-B14F-4D97-AF65-F5344CB8AC3E}">
        <p14:creationId xmlns:p14="http://schemas.microsoft.com/office/powerpoint/2010/main" val="22306908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4861814-0CB8-09D2-15BB-82749214F15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CH"/>
          </a:p>
        </p:txBody>
      </p:sp>
      <p:sp>
        <p:nvSpPr>
          <p:cNvPr id="3" name="Bildplatzhalter 2">
            <a:extLst>
              <a:ext uri="{FF2B5EF4-FFF2-40B4-BE49-F238E27FC236}">
                <a16:creationId xmlns:a16="http://schemas.microsoft.com/office/drawing/2014/main" id="{13B6FEAE-7155-13EC-D28E-B82AFF1BC8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platzhalter 3">
            <a:extLst>
              <a:ext uri="{FF2B5EF4-FFF2-40B4-BE49-F238E27FC236}">
                <a16:creationId xmlns:a16="http://schemas.microsoft.com/office/drawing/2014/main" id="{357F4215-0085-1CD1-B96C-B07C6C0D5F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2F0A01EC-E617-25E1-72B2-EE31D68064A2}"/>
              </a:ext>
            </a:extLst>
          </p:cNvPr>
          <p:cNvSpPr>
            <a:spLocks noGrp="1"/>
          </p:cNvSpPr>
          <p:nvPr>
            <p:ph type="dt" sz="half" idx="10"/>
          </p:nvPr>
        </p:nvSpPr>
        <p:spPr/>
        <p:txBody>
          <a:bodyPr/>
          <a:lstStyle/>
          <a:p>
            <a:fld id="{FB336BD3-DA63-4EC2-8829-93E8A2DDC42B}" type="datetimeFigureOut">
              <a:rPr lang="de-CH" smtClean="0"/>
              <a:t>13.06.2026</a:t>
            </a:fld>
            <a:endParaRPr lang="de-CH"/>
          </a:p>
        </p:txBody>
      </p:sp>
      <p:sp>
        <p:nvSpPr>
          <p:cNvPr id="6" name="Fußzeilenplatzhalter 5">
            <a:extLst>
              <a:ext uri="{FF2B5EF4-FFF2-40B4-BE49-F238E27FC236}">
                <a16:creationId xmlns:a16="http://schemas.microsoft.com/office/drawing/2014/main" id="{0494078A-B9AA-077D-7A8E-D78E1527CBB8}"/>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E465A954-6CC5-0AB3-1268-EEBC39717A69}"/>
              </a:ext>
            </a:extLst>
          </p:cNvPr>
          <p:cNvSpPr>
            <a:spLocks noGrp="1"/>
          </p:cNvSpPr>
          <p:nvPr>
            <p:ph type="sldNum" sz="quarter" idx="12"/>
          </p:nvPr>
        </p:nvSpPr>
        <p:spPr/>
        <p:txBody>
          <a:bodyPr/>
          <a:lstStyle/>
          <a:p>
            <a:fld id="{4C793CB5-A875-48FF-982F-3FCF19075D70}" type="slidenum">
              <a:rPr lang="de-CH" smtClean="0"/>
              <a:t>‹Nr.›</a:t>
            </a:fld>
            <a:endParaRPr lang="de-CH"/>
          </a:p>
        </p:txBody>
      </p:sp>
    </p:spTree>
    <p:extLst>
      <p:ext uri="{BB962C8B-B14F-4D97-AF65-F5344CB8AC3E}">
        <p14:creationId xmlns:p14="http://schemas.microsoft.com/office/powerpoint/2010/main" val="36397833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D9E6C8E-1995-0525-D33A-1EDA9B1E2A59}"/>
              </a:ext>
            </a:extLst>
          </p:cNvPr>
          <p:cNvSpPr>
            <a:spLocks noGrp="1"/>
          </p:cNvSpPr>
          <p:nvPr>
            <p:ph type="title"/>
          </p:nvPr>
        </p:nvSpPr>
        <p:spPr/>
        <p:txBody>
          <a:bodyPr/>
          <a:lstStyle/>
          <a:p>
            <a:r>
              <a:rPr lang="de-DE"/>
              <a:t>Mastertitelformat bearbeiten</a:t>
            </a:r>
            <a:endParaRPr lang="de-CH"/>
          </a:p>
        </p:txBody>
      </p:sp>
      <p:sp>
        <p:nvSpPr>
          <p:cNvPr id="3" name="Vertikaler Textplatzhalter 2">
            <a:extLst>
              <a:ext uri="{FF2B5EF4-FFF2-40B4-BE49-F238E27FC236}">
                <a16:creationId xmlns:a16="http://schemas.microsoft.com/office/drawing/2014/main" id="{943F9F28-9A83-CBC8-6FDB-BF30216C5C83}"/>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644FF13A-227E-9E17-240B-752E880B6853}"/>
              </a:ext>
            </a:extLst>
          </p:cNvPr>
          <p:cNvSpPr>
            <a:spLocks noGrp="1"/>
          </p:cNvSpPr>
          <p:nvPr>
            <p:ph type="dt" sz="half" idx="10"/>
          </p:nvPr>
        </p:nvSpPr>
        <p:spPr/>
        <p:txBody>
          <a:bodyPr/>
          <a:lstStyle/>
          <a:p>
            <a:fld id="{FB336BD3-DA63-4EC2-8829-93E8A2DDC42B}" type="datetimeFigureOut">
              <a:rPr lang="de-CH" smtClean="0"/>
              <a:t>13.06.2026</a:t>
            </a:fld>
            <a:endParaRPr lang="de-CH"/>
          </a:p>
        </p:txBody>
      </p:sp>
      <p:sp>
        <p:nvSpPr>
          <p:cNvPr id="5" name="Fußzeilenplatzhalter 4">
            <a:extLst>
              <a:ext uri="{FF2B5EF4-FFF2-40B4-BE49-F238E27FC236}">
                <a16:creationId xmlns:a16="http://schemas.microsoft.com/office/drawing/2014/main" id="{A967D0EC-EBC3-F258-DDE6-E36AE18BD073}"/>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A5EF3DB0-5092-A4D1-8675-BB1C7CEB5F1B}"/>
              </a:ext>
            </a:extLst>
          </p:cNvPr>
          <p:cNvSpPr>
            <a:spLocks noGrp="1"/>
          </p:cNvSpPr>
          <p:nvPr>
            <p:ph type="sldNum" sz="quarter" idx="12"/>
          </p:nvPr>
        </p:nvSpPr>
        <p:spPr/>
        <p:txBody>
          <a:bodyPr/>
          <a:lstStyle/>
          <a:p>
            <a:fld id="{4C793CB5-A875-48FF-982F-3FCF19075D70}" type="slidenum">
              <a:rPr lang="de-CH" smtClean="0"/>
              <a:t>‹Nr.›</a:t>
            </a:fld>
            <a:endParaRPr lang="de-CH"/>
          </a:p>
        </p:txBody>
      </p:sp>
    </p:spTree>
    <p:extLst>
      <p:ext uri="{BB962C8B-B14F-4D97-AF65-F5344CB8AC3E}">
        <p14:creationId xmlns:p14="http://schemas.microsoft.com/office/powerpoint/2010/main" val="4992700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AD9A6F48-8C05-60AD-D166-DCEF33095BED}"/>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de-CH"/>
          </a:p>
        </p:txBody>
      </p:sp>
      <p:sp>
        <p:nvSpPr>
          <p:cNvPr id="3" name="Vertikaler Textplatzhalter 2">
            <a:extLst>
              <a:ext uri="{FF2B5EF4-FFF2-40B4-BE49-F238E27FC236}">
                <a16:creationId xmlns:a16="http://schemas.microsoft.com/office/drawing/2014/main" id="{617DC23B-C958-C5D1-59B6-69A1576CDB91}"/>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5FDAACF5-7123-5510-B650-8000C8192F51}"/>
              </a:ext>
            </a:extLst>
          </p:cNvPr>
          <p:cNvSpPr>
            <a:spLocks noGrp="1"/>
          </p:cNvSpPr>
          <p:nvPr>
            <p:ph type="dt" sz="half" idx="10"/>
          </p:nvPr>
        </p:nvSpPr>
        <p:spPr/>
        <p:txBody>
          <a:bodyPr/>
          <a:lstStyle/>
          <a:p>
            <a:fld id="{FB336BD3-DA63-4EC2-8829-93E8A2DDC42B}" type="datetimeFigureOut">
              <a:rPr lang="de-CH" smtClean="0"/>
              <a:t>13.06.2026</a:t>
            </a:fld>
            <a:endParaRPr lang="de-CH"/>
          </a:p>
        </p:txBody>
      </p:sp>
      <p:sp>
        <p:nvSpPr>
          <p:cNvPr id="5" name="Fußzeilenplatzhalter 4">
            <a:extLst>
              <a:ext uri="{FF2B5EF4-FFF2-40B4-BE49-F238E27FC236}">
                <a16:creationId xmlns:a16="http://schemas.microsoft.com/office/drawing/2014/main" id="{007BD390-971C-0780-A62E-389CF63D5A51}"/>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14A0416F-D063-1355-0168-EEF23916ABE0}"/>
              </a:ext>
            </a:extLst>
          </p:cNvPr>
          <p:cNvSpPr>
            <a:spLocks noGrp="1"/>
          </p:cNvSpPr>
          <p:nvPr>
            <p:ph type="sldNum" sz="quarter" idx="12"/>
          </p:nvPr>
        </p:nvSpPr>
        <p:spPr/>
        <p:txBody>
          <a:bodyPr/>
          <a:lstStyle/>
          <a:p>
            <a:fld id="{4C793CB5-A875-48FF-982F-3FCF19075D70}" type="slidenum">
              <a:rPr lang="de-CH" smtClean="0"/>
              <a:t>‹Nr.›</a:t>
            </a:fld>
            <a:endParaRPr lang="de-CH"/>
          </a:p>
        </p:txBody>
      </p:sp>
    </p:spTree>
    <p:extLst>
      <p:ext uri="{BB962C8B-B14F-4D97-AF65-F5344CB8AC3E}">
        <p14:creationId xmlns:p14="http://schemas.microsoft.com/office/powerpoint/2010/main" val="2649032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D7E34BC6-6A20-7F07-25B6-F488FE48D9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de-CH"/>
          </a:p>
        </p:txBody>
      </p:sp>
      <p:sp>
        <p:nvSpPr>
          <p:cNvPr id="3" name="Textplatzhalter 2">
            <a:extLst>
              <a:ext uri="{FF2B5EF4-FFF2-40B4-BE49-F238E27FC236}">
                <a16:creationId xmlns:a16="http://schemas.microsoft.com/office/drawing/2014/main" id="{32BD42C3-8675-BB8C-4CA4-31A9CA0221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1AA8FCCF-00F4-65CD-0699-5991ABA144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de-CH"/>
              <a:t>11.06.2026</a:t>
            </a:r>
          </a:p>
        </p:txBody>
      </p:sp>
      <p:sp>
        <p:nvSpPr>
          <p:cNvPr id="5" name="Fußzeilenplatzhalter 4">
            <a:extLst>
              <a:ext uri="{FF2B5EF4-FFF2-40B4-BE49-F238E27FC236}">
                <a16:creationId xmlns:a16="http://schemas.microsoft.com/office/drawing/2014/main" id="{F5D2D72E-A404-D420-739B-6809289F85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CH"/>
          </a:p>
        </p:txBody>
      </p:sp>
      <p:sp>
        <p:nvSpPr>
          <p:cNvPr id="6" name="Foliennummernplatzhalter 5">
            <a:extLst>
              <a:ext uri="{FF2B5EF4-FFF2-40B4-BE49-F238E27FC236}">
                <a16:creationId xmlns:a16="http://schemas.microsoft.com/office/drawing/2014/main" id="{C9E29483-EDDE-0A16-8D2A-07D91AEF4C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AFDC3C-A9F8-4ABD-8D8D-8DC3321B02DC}" type="slidenum">
              <a:rPr lang="de-CH" smtClean="0"/>
              <a:t>‹Nr.›</a:t>
            </a:fld>
            <a:endParaRPr lang="de-CH"/>
          </a:p>
        </p:txBody>
      </p:sp>
      <p:sp>
        <p:nvSpPr>
          <p:cNvPr id="900" name="AccentBar"/>
          <p:cNvSpPr/>
          <p:nvPr/>
        </p:nvSpPr>
        <p:spPr>
          <a:xfrm>
            <a:off x="0" y="0"/>
            <a:ext cx="45720" cy="6858000"/>
          </a:xfrm>
          <a:prstGeom prst="rect">
            <a:avLst/>
          </a:prstGeom>
          <a:solidFill>
            <a:srgbClr val="1B3A5C"/>
          </a:solidFill>
        </p:spPr>
        <p:txBody>
          <a:bodyPr/>
          <a:lstStyle/>
          <a:p>
            <a:endParaRPr/>
          </a:p>
        </p:txBody>
      </p:sp>
    </p:spTree>
    <p:extLst>
      <p:ext uri="{BB962C8B-B14F-4D97-AF65-F5344CB8AC3E}">
        <p14:creationId xmlns:p14="http://schemas.microsoft.com/office/powerpoint/2010/main" val="15687533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914400" rtl="0" eaLnBrk="1" latinLnBrk="0" hangingPunct="1">
        <a:lnSpc>
          <a:spcPct val="90000"/>
        </a:lnSpc>
        <a:spcBef>
          <a:spcPct val="0"/>
        </a:spcBef>
        <a:buNone/>
        <a:defRPr sz="4400" kern="1200">
          <a:solidFill>
            <a:srgbClr val="1B3A5C"/>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A2A38"/>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1CB9369-3B41-3E45-985E-DC209EA17C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de-CH"/>
          </a:p>
        </p:txBody>
      </p:sp>
      <p:sp>
        <p:nvSpPr>
          <p:cNvPr id="3" name="Textplatzhalter 2">
            <a:extLst>
              <a:ext uri="{FF2B5EF4-FFF2-40B4-BE49-F238E27FC236}">
                <a16:creationId xmlns:a16="http://schemas.microsoft.com/office/drawing/2014/main" id="{2F91A1D2-C09D-8214-EECC-0AE11C4592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0607B58A-70A4-338E-97E5-C435DDD46C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B336BD3-DA63-4EC2-8829-93E8A2DDC42B}" type="datetimeFigureOut">
              <a:rPr lang="de-CH" smtClean="0"/>
              <a:t>13.06.2026</a:t>
            </a:fld>
            <a:endParaRPr lang="de-CH"/>
          </a:p>
        </p:txBody>
      </p:sp>
      <p:sp>
        <p:nvSpPr>
          <p:cNvPr id="5" name="Fußzeilenplatzhalter 4">
            <a:extLst>
              <a:ext uri="{FF2B5EF4-FFF2-40B4-BE49-F238E27FC236}">
                <a16:creationId xmlns:a16="http://schemas.microsoft.com/office/drawing/2014/main" id="{AFEC65A6-D425-4313-16DA-ABB53D3358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CH"/>
          </a:p>
        </p:txBody>
      </p:sp>
      <p:sp>
        <p:nvSpPr>
          <p:cNvPr id="6" name="Foliennummernplatzhalter 5">
            <a:extLst>
              <a:ext uri="{FF2B5EF4-FFF2-40B4-BE49-F238E27FC236}">
                <a16:creationId xmlns:a16="http://schemas.microsoft.com/office/drawing/2014/main" id="{DB4DF701-BC9F-B58F-A7BE-5FB334E30D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793CB5-A875-48FF-982F-3FCF19075D70}" type="slidenum">
              <a:rPr lang="de-CH" smtClean="0"/>
              <a:t>‹Nr.›</a:t>
            </a:fld>
            <a:endParaRPr lang="de-CH"/>
          </a:p>
        </p:txBody>
      </p:sp>
    </p:spTree>
    <p:extLst>
      <p:ext uri="{BB962C8B-B14F-4D97-AF65-F5344CB8AC3E}">
        <p14:creationId xmlns:p14="http://schemas.microsoft.com/office/powerpoint/2010/main" val="36704164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Band">
            <a:extLst>
              <a:ext uri="{FF2B5EF4-FFF2-40B4-BE49-F238E27FC236}">
                <a16:creationId xmlns:a16="http://schemas.microsoft.com/office/drawing/2014/main" id="{9A08E6AD-A75C-4899-A49A-5AC22B089C78}"/>
              </a:ext>
            </a:extLst>
          </p:cNvPr>
          <p:cNvSpPr/>
          <p:nvPr/>
        </p:nvSpPr>
        <p:spPr>
          <a:xfrm>
            <a:off x="0" y="5969000"/>
            <a:ext cx="12192000" cy="889000"/>
          </a:xfrm>
          <a:prstGeom prst="rect">
            <a:avLst/>
          </a:prstGeom>
          <a:solidFill>
            <a:srgbClr val="1B3A5C"/>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CH"/>
          </a:p>
        </p:txBody>
      </p:sp>
      <p:sp>
        <p:nvSpPr>
          <p:cNvPr id="2" name="Titel 1">
            <a:extLst>
              <a:ext uri="{FF2B5EF4-FFF2-40B4-BE49-F238E27FC236}">
                <a16:creationId xmlns:a16="http://schemas.microsoft.com/office/drawing/2014/main" id="{8B65F4CA-23DA-4379-72E7-2A7EF5F28E86}"/>
              </a:ext>
            </a:extLst>
          </p:cNvPr>
          <p:cNvSpPr>
            <a:spLocks noGrp="1"/>
          </p:cNvSpPr>
          <p:nvPr>
            <p:ph type="ctrTitle"/>
          </p:nvPr>
        </p:nvSpPr>
        <p:spPr>
          <a:xfrm>
            <a:off x="1143000" y="2222500"/>
            <a:ext cx="9906000" cy="1397000"/>
          </a:xfrm>
        </p:spPr>
        <p:txBody>
          <a:bodyPr/>
          <a:lstStyle/>
          <a:p>
            <a:pPr algn="l"/>
            <a:r>
              <a:rPr lang="de-CH" sz="4000" b="1" dirty="0">
                <a:solidFill>
                  <a:srgbClr val="1B3A5C"/>
                </a:solidFill>
              </a:rPr>
              <a:t>Digitalisierung Austrittsprozess USB</a:t>
            </a:r>
          </a:p>
        </p:txBody>
      </p:sp>
      <p:sp>
        <p:nvSpPr>
          <p:cNvPr id="3" name="Untertitel 2">
            <a:extLst>
              <a:ext uri="{FF2B5EF4-FFF2-40B4-BE49-F238E27FC236}">
                <a16:creationId xmlns:a16="http://schemas.microsoft.com/office/drawing/2014/main" id="{03A6CAA7-D90A-F306-4042-A03F48A0E8AB}"/>
              </a:ext>
            </a:extLst>
          </p:cNvPr>
          <p:cNvSpPr>
            <a:spLocks noGrp="1"/>
          </p:cNvSpPr>
          <p:nvPr>
            <p:ph type="subTitle" idx="1"/>
          </p:nvPr>
        </p:nvSpPr>
        <p:spPr>
          <a:xfrm>
            <a:off x="1143000" y="3810000"/>
            <a:ext cx="9906000" cy="1397000"/>
          </a:xfrm>
        </p:spPr>
        <p:txBody>
          <a:bodyPr/>
          <a:lstStyle/>
          <a:p>
            <a:pPr algn="l"/>
            <a:r>
              <a:rPr lang="de-CH" sz="2000" b="1" dirty="0">
                <a:solidFill>
                  <a:srgbClr val="2E6CA4"/>
                </a:solidFill>
              </a:rPr>
              <a:t>Zwischenpräsentation</a:t>
            </a:r>
          </a:p>
          <a:p>
            <a:pPr algn="l"/>
            <a:r>
              <a:rPr lang="de-CH" sz="1600" dirty="0"/>
              <a:t>Von der Projektinitialisierung über die IST-Validierung zur Analysegrundlage für das SOLL-Konzept</a:t>
            </a:r>
            <a:endParaRPr lang="de-CH" sz="1600" dirty="0">
              <a:solidFill>
                <a:srgbClr val="5B6B79"/>
              </a:solidFill>
            </a:endParaRPr>
          </a:p>
        </p:txBody>
      </p:sp>
      <p:sp>
        <p:nvSpPr>
          <p:cNvPr id="4" name="Rechteck 3">
            <a:extLst>
              <a:ext uri="{FF2B5EF4-FFF2-40B4-BE49-F238E27FC236}">
                <a16:creationId xmlns:a16="http://schemas.microsoft.com/office/drawing/2014/main" id="{A793ED06-9023-45FF-B92A-54BAD9E4AC14}"/>
              </a:ext>
            </a:extLst>
          </p:cNvPr>
          <p:cNvSpPr/>
          <p:nvPr/>
        </p:nvSpPr>
        <p:spPr>
          <a:xfrm>
            <a:off x="1168400" y="3683000"/>
            <a:ext cx="1524000" cy="50800"/>
          </a:xfrm>
          <a:prstGeom prst="rect">
            <a:avLst/>
          </a:prstGeom>
          <a:solidFill>
            <a:srgbClr val="C889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de-CH"/>
          </a:p>
        </p:txBody>
      </p:sp>
      <p:sp>
        <p:nvSpPr>
          <p:cNvPr id="6" name="Textfeld 5">
            <a:extLst>
              <a:ext uri="{FF2B5EF4-FFF2-40B4-BE49-F238E27FC236}">
                <a16:creationId xmlns:a16="http://schemas.microsoft.com/office/drawing/2014/main" id="{71CAA061-4205-4439-BAA6-867AE2C04615}"/>
              </a:ext>
            </a:extLst>
          </p:cNvPr>
          <p:cNvSpPr txBox="1"/>
          <p:nvPr/>
        </p:nvSpPr>
        <p:spPr>
          <a:xfrm>
            <a:off x="1143000" y="6037590"/>
            <a:ext cx="5969000" cy="523220"/>
          </a:xfrm>
          <a:prstGeom prst="rect">
            <a:avLst/>
          </a:prstGeom>
          <a:noFill/>
          <a:ln>
            <a:noFill/>
          </a:ln>
        </p:spPr>
        <p:txBody>
          <a:bodyPr vertOverflow="overflow" vert="horz" wrap="square" rtlCol="0" anchor="ctr" anchorCtr="0">
            <a:spAutoFit/>
          </a:bodyPr>
          <a:lstStyle/>
          <a:p>
            <a:pPr algn="l"/>
            <a:r>
              <a:rPr lang="de-DE" sz="1400" dirty="0">
                <a:solidFill>
                  <a:srgbClr val="FFFFFF"/>
                </a:solidFill>
                <a:latin typeface="Calibri"/>
                <a:ea typeface="Calibri"/>
                <a:cs typeface="Calibri"/>
              </a:rPr>
              <a:t>Kapischan Sriganthan</a:t>
            </a:r>
          </a:p>
          <a:p>
            <a:pPr algn="l"/>
            <a:r>
              <a:rPr lang="de-DE" sz="1400" dirty="0">
                <a:solidFill>
                  <a:srgbClr val="FFFFFF"/>
                </a:solidFill>
                <a:latin typeface="Calibri"/>
                <a:ea typeface="Calibri"/>
                <a:cs typeface="Calibri"/>
              </a:rPr>
              <a:t>Bachelor Thesis </a:t>
            </a:r>
            <a:r>
              <a:rPr lang="de-DE" sz="1400" dirty="0" err="1">
                <a:solidFill>
                  <a:srgbClr val="FFFFFF"/>
                </a:solidFill>
                <a:latin typeface="Calibri"/>
                <a:ea typeface="Calibri"/>
                <a:cs typeface="Calibri"/>
              </a:rPr>
              <a:t>BSc</a:t>
            </a:r>
            <a:r>
              <a:rPr lang="de-DE" sz="1400" dirty="0">
                <a:solidFill>
                  <a:srgbClr val="FFFFFF"/>
                </a:solidFill>
                <a:latin typeface="Calibri"/>
                <a:ea typeface="Calibri"/>
                <a:cs typeface="Calibri"/>
              </a:rPr>
              <a:t> Wirtschaftsinformatik  ·  FHNW Olten</a:t>
            </a:r>
            <a:endParaRPr lang="de-CH" sz="1400" dirty="0">
              <a:solidFill>
                <a:srgbClr val="FFFFFF"/>
              </a:solidFill>
              <a:latin typeface="Calibri"/>
              <a:ea typeface="Calibri"/>
              <a:cs typeface="Calibri"/>
            </a:endParaRPr>
          </a:p>
        </p:txBody>
      </p:sp>
      <p:sp>
        <p:nvSpPr>
          <p:cNvPr id="7" name="Textfeld 6">
            <a:extLst>
              <a:ext uri="{FF2B5EF4-FFF2-40B4-BE49-F238E27FC236}">
                <a16:creationId xmlns:a16="http://schemas.microsoft.com/office/drawing/2014/main" id="{5780ACF5-6102-4ADD-B386-E746CC95E647}"/>
              </a:ext>
            </a:extLst>
          </p:cNvPr>
          <p:cNvSpPr txBox="1"/>
          <p:nvPr/>
        </p:nvSpPr>
        <p:spPr>
          <a:xfrm>
            <a:off x="8128000" y="6146800"/>
            <a:ext cx="2921000" cy="304800"/>
          </a:xfrm>
          <a:prstGeom prst="rect">
            <a:avLst/>
          </a:prstGeom>
          <a:noFill/>
          <a:ln>
            <a:noFill/>
          </a:ln>
        </p:spPr>
        <p:txBody>
          <a:bodyPr vertOverflow="overflow" vert="horz" wrap="square" rtlCol="0" anchor="ctr" anchorCtr="0">
            <a:spAutoFit/>
          </a:bodyPr>
          <a:lstStyle/>
          <a:p>
            <a:pPr algn="l"/>
            <a:r>
              <a:rPr lang="de-CH" sz="1400">
                <a:solidFill>
                  <a:srgbClr val="C8DCEC"/>
                </a:solidFill>
                <a:latin typeface="Calibri"/>
                <a:ea typeface="Calibri"/>
                <a:cs typeface="Calibri"/>
              </a:rPr>
              <a:t>Universitätsspital Basel  ·  11.06.2026</a:t>
            </a:r>
          </a:p>
        </p:txBody>
      </p:sp>
      <p:sp>
        <p:nvSpPr>
          <p:cNvPr id="8" name="Textfeld 7">
            <a:extLst>
              <a:ext uri="{FF2B5EF4-FFF2-40B4-BE49-F238E27FC236}">
                <a16:creationId xmlns:a16="http://schemas.microsoft.com/office/drawing/2014/main" id="{5FEE0E9E-77FE-4BC1-81BE-C17C3ABE3127}"/>
              </a:ext>
            </a:extLst>
          </p:cNvPr>
          <p:cNvSpPr txBox="1"/>
          <p:nvPr/>
        </p:nvSpPr>
        <p:spPr>
          <a:xfrm>
            <a:off x="1168400" y="1778000"/>
            <a:ext cx="8890000" cy="304800"/>
          </a:xfrm>
          <a:prstGeom prst="rect">
            <a:avLst/>
          </a:prstGeom>
          <a:noFill/>
          <a:ln>
            <a:noFill/>
          </a:ln>
        </p:spPr>
        <p:txBody>
          <a:bodyPr vertOverflow="overflow" vert="horz" wrap="square" rtlCol="0" anchor="t">
            <a:spAutoFit/>
          </a:bodyPr>
          <a:lstStyle/>
          <a:p>
            <a:pPr algn="l"/>
            <a:r>
              <a:rPr lang="de-CH" sz="1400" b="1">
                <a:solidFill>
                  <a:srgbClr val="2E6CA4"/>
                </a:solidFill>
                <a:latin typeface="Calibri"/>
                <a:ea typeface="Calibri"/>
                <a:cs typeface="Calibri"/>
              </a:rPr>
              <a:t>UNIVERSITÄTSSPITAL BASEL  |  DIREKTION PERSONAL</a:t>
            </a:r>
          </a:p>
        </p:txBody>
      </p:sp>
      <p:sp>
        <p:nvSpPr>
          <p:cNvPr id="9" name="Foliennummernplatzhalter 8">
            <a:extLst>
              <a:ext uri="{FF2B5EF4-FFF2-40B4-BE49-F238E27FC236}">
                <a16:creationId xmlns:a16="http://schemas.microsoft.com/office/drawing/2014/main" id="{3E0A1031-7ED5-EE9C-5B52-98AD69E5CD0C}"/>
              </a:ext>
            </a:extLst>
          </p:cNvPr>
          <p:cNvSpPr>
            <a:spLocks noGrp="1"/>
          </p:cNvSpPr>
          <p:nvPr>
            <p:ph type="sldNum" sz="quarter" idx="12"/>
          </p:nvPr>
        </p:nvSpPr>
        <p:spPr/>
        <p:txBody>
          <a:bodyPr/>
          <a:lstStyle/>
          <a:p>
            <a:fld id="{2AAFDC3C-A9F8-4ABD-8D8D-8DC3321B02DC}" type="slidenum">
              <a:rPr lang="de-CH" smtClean="0"/>
              <a:t>1</a:t>
            </a:fld>
            <a:endParaRPr lang="de-CH"/>
          </a:p>
        </p:txBody>
      </p:sp>
    </p:spTree>
    <p:extLst>
      <p:ext uri="{BB962C8B-B14F-4D97-AF65-F5344CB8AC3E}">
        <p14:creationId xmlns:p14="http://schemas.microsoft.com/office/powerpoint/2010/main" val="1196484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8D01A-1164-AAFC-04C9-D059A1E84CD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2425448-B793-3A6E-F78A-6393105BA422}"/>
              </a:ext>
            </a:extLst>
          </p:cNvPr>
          <p:cNvSpPr>
            <a:spLocks noGrp="1"/>
          </p:cNvSpPr>
          <p:nvPr>
            <p:ph type="title"/>
          </p:nvPr>
        </p:nvSpPr>
        <p:spPr/>
        <p:txBody>
          <a:bodyPr/>
          <a:lstStyle/>
          <a:p>
            <a:pPr algn="l"/>
            <a:r>
              <a:rPr lang="de-CH" sz="2800" b="1">
                <a:solidFill>
                  <a:srgbClr val="1B3A5C"/>
                </a:solidFill>
              </a:rPr>
              <a:t>Projektstand und Vorgehen</a:t>
            </a:r>
          </a:p>
        </p:txBody>
      </p:sp>
      <p:sp>
        <p:nvSpPr>
          <p:cNvPr id="50" name="kicker">
            <a:extLst>
              <a:ext uri="{FF2B5EF4-FFF2-40B4-BE49-F238E27FC236}">
                <a16:creationId xmlns:a16="http://schemas.microsoft.com/office/drawing/2014/main" id="{4DCA0E08-9960-521C-0A3F-D747C91F889E}"/>
              </a:ext>
            </a:extLst>
          </p:cNvPr>
          <p:cNvSpPr/>
          <p:nvPr/>
        </p:nvSpPr>
        <p:spPr>
          <a:xfrm>
            <a:off x="838200" y="1574800"/>
            <a:ext cx="9906000" cy="279400"/>
          </a:xfrm>
          <a:prstGeom prst="rect">
            <a:avLst/>
          </a:prstGeom>
          <a:noFill/>
        </p:spPr>
        <p:txBody>
          <a:bodyPr lIns="0" tIns="0" rIns="0" bIns="0"/>
          <a:lstStyle/>
          <a:p>
            <a:r>
              <a:rPr lang="de-DE" sz="1400" b="1" dirty="0">
                <a:solidFill>
                  <a:srgbClr val="2E6CA4"/>
                </a:solidFill>
              </a:rPr>
              <a:t>Projektphasen, erreichter Stand und nächste Schritte</a:t>
            </a:r>
            <a:endParaRPr lang="de-CH" sz="1400" b="1" dirty="0">
              <a:solidFill>
                <a:srgbClr val="2E6CA4"/>
              </a:solidFill>
            </a:endParaRPr>
          </a:p>
        </p:txBody>
      </p:sp>
      <p:sp>
        <p:nvSpPr>
          <p:cNvPr id="51" name="track">
            <a:extLst>
              <a:ext uri="{FF2B5EF4-FFF2-40B4-BE49-F238E27FC236}">
                <a16:creationId xmlns:a16="http://schemas.microsoft.com/office/drawing/2014/main" id="{219681CD-BD54-1C06-1E6A-D653F404D462}"/>
              </a:ext>
            </a:extLst>
          </p:cNvPr>
          <p:cNvSpPr/>
          <p:nvPr/>
        </p:nvSpPr>
        <p:spPr>
          <a:xfrm>
            <a:off x="1651000" y="2692401"/>
            <a:ext cx="8890000" cy="50800"/>
          </a:xfrm>
          <a:prstGeom prst="rect">
            <a:avLst/>
          </a:prstGeom>
          <a:solidFill>
            <a:srgbClr val="C9D6E2"/>
          </a:solidFill>
          <a:ln>
            <a:noFill/>
          </a:ln>
        </p:spPr>
        <p:txBody>
          <a:bodyPr/>
          <a:lstStyle/>
          <a:p>
            <a:endParaRPr/>
          </a:p>
        </p:txBody>
      </p:sp>
      <p:sp>
        <p:nvSpPr>
          <p:cNvPr id="53" name="c0">
            <a:extLst>
              <a:ext uri="{FF2B5EF4-FFF2-40B4-BE49-F238E27FC236}">
                <a16:creationId xmlns:a16="http://schemas.microsoft.com/office/drawing/2014/main" id="{2986FDC9-FB98-AD28-1B86-87B54530214B}"/>
              </a:ext>
            </a:extLst>
          </p:cNvPr>
          <p:cNvSpPr/>
          <p:nvPr/>
        </p:nvSpPr>
        <p:spPr>
          <a:xfrm>
            <a:off x="838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a:solidFill>
                  <a:srgbClr val="1B3A5C"/>
                </a:solidFill>
              </a:rPr>
              <a:t>Kick-off</a:t>
            </a:r>
          </a:p>
          <a:p>
            <a:pPr algn="ctr">
              <a:spcBef>
                <a:spcPts val="400"/>
              </a:spcBef>
            </a:pPr>
            <a:r>
              <a:rPr lang="de-CH" sz="1100">
                <a:solidFill>
                  <a:srgbClr val="5B6B79"/>
                </a:solidFill>
              </a:rPr>
              <a:t>Auftrag und Rahmen geklärt</a:t>
            </a:r>
          </a:p>
        </p:txBody>
      </p:sp>
      <p:sp>
        <p:nvSpPr>
          <p:cNvPr id="55" name="c1">
            <a:extLst>
              <a:ext uri="{FF2B5EF4-FFF2-40B4-BE49-F238E27FC236}">
                <a16:creationId xmlns:a16="http://schemas.microsoft.com/office/drawing/2014/main" id="{13E48202-9927-154B-9441-7FC0E3BF9191}"/>
              </a:ext>
            </a:extLst>
          </p:cNvPr>
          <p:cNvSpPr/>
          <p:nvPr/>
        </p:nvSpPr>
        <p:spPr>
          <a:xfrm>
            <a:off x="2616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dirty="0">
                <a:solidFill>
                  <a:srgbClr val="1B3A5C"/>
                </a:solidFill>
              </a:rPr>
              <a:t>Literatur und Disposition</a:t>
            </a:r>
          </a:p>
          <a:p>
            <a:pPr algn="ctr">
              <a:spcBef>
                <a:spcPts val="400"/>
              </a:spcBef>
            </a:pPr>
            <a:r>
              <a:rPr lang="de-CH" sz="1100" dirty="0">
                <a:solidFill>
                  <a:srgbClr val="5B6B79"/>
                </a:solidFill>
              </a:rPr>
              <a:t>Theoretische und methodische Grundlagen</a:t>
            </a:r>
          </a:p>
        </p:txBody>
      </p:sp>
      <p:sp>
        <p:nvSpPr>
          <p:cNvPr id="57" name="c2">
            <a:extLst>
              <a:ext uri="{FF2B5EF4-FFF2-40B4-BE49-F238E27FC236}">
                <a16:creationId xmlns:a16="http://schemas.microsoft.com/office/drawing/2014/main" id="{F5A6ED9E-AA9A-E822-4D9D-DCFDE0DFCF39}"/>
              </a:ext>
            </a:extLst>
          </p:cNvPr>
          <p:cNvSpPr/>
          <p:nvPr/>
        </p:nvSpPr>
        <p:spPr>
          <a:xfrm>
            <a:off x="4394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dirty="0">
                <a:solidFill>
                  <a:srgbClr val="1B3A5C"/>
                </a:solidFill>
              </a:rPr>
              <a:t>IST-Erhebung</a:t>
            </a:r>
          </a:p>
          <a:p>
            <a:pPr algn="ctr">
              <a:spcBef>
                <a:spcPts val="400"/>
              </a:spcBef>
            </a:pPr>
            <a:r>
              <a:rPr lang="de-CH" sz="1100" dirty="0">
                <a:solidFill>
                  <a:srgbClr val="5B6B79"/>
                </a:solidFill>
              </a:rPr>
              <a:t>Dokumentenanalyse, Interviews, IST-Modellierung und Validierungsworkshop</a:t>
            </a:r>
          </a:p>
        </p:txBody>
      </p:sp>
      <p:sp>
        <p:nvSpPr>
          <p:cNvPr id="59" name="c3">
            <a:extLst>
              <a:ext uri="{FF2B5EF4-FFF2-40B4-BE49-F238E27FC236}">
                <a16:creationId xmlns:a16="http://schemas.microsoft.com/office/drawing/2014/main" id="{1B8053DE-520F-63BB-7C0E-3C35E49302C7}"/>
              </a:ext>
            </a:extLst>
          </p:cNvPr>
          <p:cNvSpPr/>
          <p:nvPr/>
        </p:nvSpPr>
        <p:spPr>
          <a:xfrm>
            <a:off x="6172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dirty="0">
                <a:solidFill>
                  <a:srgbClr val="1B3A5C"/>
                </a:solidFill>
              </a:rPr>
              <a:t>IST-Analyse</a:t>
            </a:r>
          </a:p>
          <a:p>
            <a:pPr algn="ctr">
              <a:spcBef>
                <a:spcPts val="400"/>
              </a:spcBef>
            </a:pPr>
            <a:r>
              <a:rPr lang="de-CH" sz="1100" dirty="0" err="1">
                <a:solidFill>
                  <a:srgbClr val="5B6B79"/>
                </a:solidFill>
              </a:rPr>
              <a:t>Issue</a:t>
            </a:r>
            <a:r>
              <a:rPr lang="de-CH" sz="1100" dirty="0">
                <a:solidFill>
                  <a:srgbClr val="5B6B79"/>
                </a:solidFill>
              </a:rPr>
              <a:t> Register, Value-</a:t>
            </a:r>
            <a:r>
              <a:rPr lang="de-CH" sz="1100" dirty="0" err="1">
                <a:solidFill>
                  <a:srgbClr val="5B6B79"/>
                </a:solidFill>
              </a:rPr>
              <a:t>Added</a:t>
            </a:r>
            <a:r>
              <a:rPr lang="de-CH" sz="1100" dirty="0">
                <a:solidFill>
                  <a:srgbClr val="5B6B79"/>
                </a:solidFill>
              </a:rPr>
              <a:t>-Analyse, </a:t>
            </a:r>
            <a:r>
              <a:rPr lang="de-CH" sz="1100" dirty="0" err="1">
                <a:solidFill>
                  <a:srgbClr val="5B6B79"/>
                </a:solidFill>
              </a:rPr>
              <a:t>Muda</a:t>
            </a:r>
            <a:r>
              <a:rPr lang="de-CH" sz="1100" dirty="0">
                <a:solidFill>
                  <a:srgbClr val="5B6B79"/>
                </a:solidFill>
              </a:rPr>
              <a:t>-</a:t>
            </a:r>
            <a:r>
              <a:rPr lang="de-CH" sz="1100" dirty="0" err="1">
                <a:solidFill>
                  <a:srgbClr val="5B6B79"/>
                </a:solidFill>
              </a:rPr>
              <a:t>Waste</a:t>
            </a:r>
            <a:r>
              <a:rPr lang="de-CH" sz="1100" dirty="0">
                <a:solidFill>
                  <a:srgbClr val="5B6B79"/>
                </a:solidFill>
              </a:rPr>
              <a:t>-Analyse und Ursachenanalyse </a:t>
            </a:r>
          </a:p>
        </p:txBody>
      </p:sp>
      <p:sp>
        <p:nvSpPr>
          <p:cNvPr id="60" name="b4">
            <a:extLst>
              <a:ext uri="{FF2B5EF4-FFF2-40B4-BE49-F238E27FC236}">
                <a16:creationId xmlns:a16="http://schemas.microsoft.com/office/drawing/2014/main" id="{A0F1FF5E-AD4E-7F7E-A0D0-35C3410E26C2}"/>
              </a:ext>
            </a:extLst>
          </p:cNvPr>
          <p:cNvSpPr/>
          <p:nvPr/>
        </p:nvSpPr>
        <p:spPr>
          <a:xfrm>
            <a:off x="8610600" y="2565401"/>
            <a:ext cx="304800" cy="304800"/>
          </a:xfrm>
          <a:prstGeom prst="ellipse">
            <a:avLst/>
          </a:prstGeom>
          <a:solidFill>
            <a:srgbClr val="C8893A"/>
          </a:solidFill>
          <a:ln w="19050">
            <a:solidFill>
              <a:srgbClr val="C8893A"/>
            </a:solidFill>
          </a:ln>
        </p:spPr>
        <p:txBody>
          <a:bodyPr lIns="0" tIns="0" rIns="0" bIns="0" anchor="ctr"/>
          <a:lstStyle/>
          <a:p>
            <a:pPr algn="ctr"/>
            <a:r>
              <a:rPr lang="de-CH" sz="1300" b="1" dirty="0">
                <a:solidFill>
                  <a:srgbClr val="FFFFFF"/>
                </a:solidFill>
              </a:rPr>
              <a:t>5</a:t>
            </a:r>
          </a:p>
        </p:txBody>
      </p:sp>
      <p:sp>
        <p:nvSpPr>
          <p:cNvPr id="61" name="c4">
            <a:extLst>
              <a:ext uri="{FF2B5EF4-FFF2-40B4-BE49-F238E27FC236}">
                <a16:creationId xmlns:a16="http://schemas.microsoft.com/office/drawing/2014/main" id="{4338802B-5282-87E0-58D6-374119BBBCD0}"/>
              </a:ext>
            </a:extLst>
          </p:cNvPr>
          <p:cNvSpPr/>
          <p:nvPr/>
        </p:nvSpPr>
        <p:spPr>
          <a:xfrm>
            <a:off x="7950200" y="3098801"/>
            <a:ext cx="1625600" cy="1905000"/>
          </a:xfrm>
          <a:prstGeom prst="roundRect">
            <a:avLst>
              <a:gd name="adj" fmla="val 6000"/>
            </a:avLst>
          </a:prstGeom>
          <a:solidFill>
            <a:srgbClr val="FBF1E4"/>
          </a:solidFill>
          <a:ln w="25400">
            <a:solidFill>
              <a:srgbClr val="C8893A"/>
            </a:solidFill>
          </a:ln>
        </p:spPr>
        <p:txBody>
          <a:bodyPr lIns="101600" tIns="127000" rIns="101600" bIns="101600" anchor="t">
            <a:normAutofit/>
          </a:bodyPr>
          <a:lstStyle/>
          <a:p>
            <a:pPr algn="ctr"/>
            <a:r>
              <a:rPr lang="de-CH" sz="1300" b="1" dirty="0">
                <a:solidFill>
                  <a:srgbClr val="1B3A5C"/>
                </a:solidFill>
              </a:rPr>
              <a:t>SOLL-Konzept</a:t>
            </a:r>
          </a:p>
          <a:p>
            <a:pPr algn="ctr">
              <a:spcBef>
                <a:spcPts val="400"/>
              </a:spcBef>
            </a:pPr>
            <a:r>
              <a:rPr lang="de-CH" sz="1100" dirty="0">
                <a:solidFill>
                  <a:srgbClr val="5B6B79"/>
                </a:solidFill>
              </a:rPr>
              <a:t>Ziel-Konzept im SOLL-Workshop entwickeln und Anforderungen erheben</a:t>
            </a:r>
          </a:p>
        </p:txBody>
      </p:sp>
      <p:sp>
        <p:nvSpPr>
          <p:cNvPr id="63" name="b5">
            <a:extLst>
              <a:ext uri="{FF2B5EF4-FFF2-40B4-BE49-F238E27FC236}">
                <a16:creationId xmlns:a16="http://schemas.microsoft.com/office/drawing/2014/main" id="{D8C7C75C-0A10-670F-87CE-E900B8C77E07}"/>
              </a:ext>
            </a:extLst>
          </p:cNvPr>
          <p:cNvSpPr/>
          <p:nvPr/>
        </p:nvSpPr>
        <p:spPr>
          <a:xfrm>
            <a:off x="10388600" y="2565401"/>
            <a:ext cx="304800" cy="304800"/>
          </a:xfrm>
          <a:prstGeom prst="ellipse">
            <a:avLst/>
          </a:prstGeom>
          <a:solidFill>
            <a:srgbClr val="1B3A5C"/>
          </a:solidFill>
          <a:ln w="19050">
            <a:solidFill>
              <a:srgbClr val="7FA8C9"/>
            </a:solidFill>
          </a:ln>
        </p:spPr>
        <p:txBody>
          <a:bodyPr lIns="0" tIns="0" rIns="0" bIns="0" anchor="ctr"/>
          <a:lstStyle/>
          <a:p>
            <a:pPr algn="ctr"/>
            <a:r>
              <a:rPr lang="de-CH" sz="1300" b="1" dirty="0">
                <a:solidFill>
                  <a:srgbClr val="FFFFFF"/>
                </a:solidFill>
              </a:rPr>
              <a:t>6</a:t>
            </a:r>
          </a:p>
        </p:txBody>
      </p:sp>
      <p:sp>
        <p:nvSpPr>
          <p:cNvPr id="64" name="c5">
            <a:extLst>
              <a:ext uri="{FF2B5EF4-FFF2-40B4-BE49-F238E27FC236}">
                <a16:creationId xmlns:a16="http://schemas.microsoft.com/office/drawing/2014/main" id="{E6893EBD-B9EF-328A-11F2-F7517B030581}"/>
              </a:ext>
            </a:extLst>
          </p:cNvPr>
          <p:cNvSpPr/>
          <p:nvPr/>
        </p:nvSpPr>
        <p:spPr>
          <a:xfrm>
            <a:off x="9728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Detailspezifikation und Abnahme</a:t>
            </a:r>
          </a:p>
          <a:p>
            <a:pPr algn="ctr">
              <a:spcBef>
                <a:spcPts val="400"/>
              </a:spcBef>
            </a:pPr>
            <a:r>
              <a:rPr lang="de-CH" sz="1100" dirty="0">
                <a:solidFill>
                  <a:srgbClr val="5B6B79"/>
                </a:solidFill>
              </a:rPr>
              <a:t>Anforderungskatalog inkl. User Stories und Use Cases, Projektabnahme</a:t>
            </a:r>
          </a:p>
        </p:txBody>
      </p:sp>
      <p:sp>
        <p:nvSpPr>
          <p:cNvPr id="3" name="b0">
            <a:extLst>
              <a:ext uri="{FF2B5EF4-FFF2-40B4-BE49-F238E27FC236}">
                <a16:creationId xmlns:a16="http://schemas.microsoft.com/office/drawing/2014/main" id="{E32651A7-5E05-6A3B-EB99-128761625EB1}"/>
              </a:ext>
            </a:extLst>
          </p:cNvPr>
          <p:cNvSpPr/>
          <p:nvPr/>
        </p:nvSpPr>
        <p:spPr>
          <a:xfrm>
            <a:off x="8610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5</a:t>
            </a:r>
          </a:p>
        </p:txBody>
      </p:sp>
      <p:sp>
        <p:nvSpPr>
          <p:cNvPr id="4" name="b0">
            <a:extLst>
              <a:ext uri="{FF2B5EF4-FFF2-40B4-BE49-F238E27FC236}">
                <a16:creationId xmlns:a16="http://schemas.microsoft.com/office/drawing/2014/main" id="{C5C53785-A391-45B4-6014-8E9A1FE897B1}"/>
              </a:ext>
            </a:extLst>
          </p:cNvPr>
          <p:cNvSpPr/>
          <p:nvPr/>
        </p:nvSpPr>
        <p:spPr>
          <a:xfrm>
            <a:off x="1346200" y="2565401"/>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5" name="Grafik 4" descr="Häkchen mit einfarbiger Füllung">
            <a:extLst>
              <a:ext uri="{FF2B5EF4-FFF2-40B4-BE49-F238E27FC236}">
                <a16:creationId xmlns:a16="http://schemas.microsoft.com/office/drawing/2014/main" id="{BC7CE126-A39F-2133-3B71-951B1818E3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0650" y="2609851"/>
            <a:ext cx="215900" cy="215900"/>
          </a:xfrm>
          <a:prstGeom prst="rect">
            <a:avLst/>
          </a:prstGeom>
        </p:spPr>
      </p:pic>
      <p:sp>
        <p:nvSpPr>
          <p:cNvPr id="6" name="b0">
            <a:extLst>
              <a:ext uri="{FF2B5EF4-FFF2-40B4-BE49-F238E27FC236}">
                <a16:creationId xmlns:a16="http://schemas.microsoft.com/office/drawing/2014/main" id="{3F0F4137-CCDD-6557-8C03-1A8F4626AEFC}"/>
              </a:ext>
            </a:extLst>
          </p:cNvPr>
          <p:cNvSpPr/>
          <p:nvPr/>
        </p:nvSpPr>
        <p:spPr>
          <a:xfrm>
            <a:off x="3200400" y="2580988"/>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7" name="Grafik 6" descr="Häkchen mit einfarbiger Füllung">
            <a:extLst>
              <a:ext uri="{FF2B5EF4-FFF2-40B4-BE49-F238E27FC236}">
                <a16:creationId xmlns:a16="http://schemas.microsoft.com/office/drawing/2014/main" id="{2AAFBAC7-A09D-7CEB-41C7-1C552F2E76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44850" y="2625438"/>
            <a:ext cx="215900" cy="215900"/>
          </a:xfrm>
          <a:prstGeom prst="rect">
            <a:avLst/>
          </a:prstGeom>
        </p:spPr>
      </p:pic>
      <p:sp>
        <p:nvSpPr>
          <p:cNvPr id="8" name="b0">
            <a:extLst>
              <a:ext uri="{FF2B5EF4-FFF2-40B4-BE49-F238E27FC236}">
                <a16:creationId xmlns:a16="http://schemas.microsoft.com/office/drawing/2014/main" id="{347497F1-63D6-12AA-7FDF-967BF0BED3E5}"/>
              </a:ext>
            </a:extLst>
          </p:cNvPr>
          <p:cNvSpPr/>
          <p:nvPr/>
        </p:nvSpPr>
        <p:spPr>
          <a:xfrm>
            <a:off x="5016500" y="2580988"/>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9" name="Grafik 8" descr="Häkchen mit einfarbiger Füllung">
            <a:extLst>
              <a:ext uri="{FF2B5EF4-FFF2-40B4-BE49-F238E27FC236}">
                <a16:creationId xmlns:a16="http://schemas.microsoft.com/office/drawing/2014/main" id="{0CD45B20-D5F2-15EC-8C35-FF1B994CE9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60950" y="2625438"/>
            <a:ext cx="215900" cy="215900"/>
          </a:xfrm>
          <a:prstGeom prst="rect">
            <a:avLst/>
          </a:prstGeom>
        </p:spPr>
      </p:pic>
      <p:sp>
        <p:nvSpPr>
          <p:cNvPr id="10" name="b0">
            <a:extLst>
              <a:ext uri="{FF2B5EF4-FFF2-40B4-BE49-F238E27FC236}">
                <a16:creationId xmlns:a16="http://schemas.microsoft.com/office/drawing/2014/main" id="{E02B7305-F74A-D0F0-A35B-8A2CA2E30136}"/>
              </a:ext>
            </a:extLst>
          </p:cNvPr>
          <p:cNvSpPr/>
          <p:nvPr/>
        </p:nvSpPr>
        <p:spPr>
          <a:xfrm>
            <a:off x="6826252" y="2559630"/>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11" name="Grafik 10" descr="Häkchen mit einfarbiger Füllung">
            <a:extLst>
              <a:ext uri="{FF2B5EF4-FFF2-40B4-BE49-F238E27FC236}">
                <a16:creationId xmlns:a16="http://schemas.microsoft.com/office/drawing/2014/main" id="{B8551DFD-7B26-69F1-7CED-9E52F4AFF0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70702" y="2604080"/>
            <a:ext cx="215900" cy="215900"/>
          </a:xfrm>
          <a:prstGeom prst="rect">
            <a:avLst/>
          </a:prstGeom>
        </p:spPr>
      </p:pic>
      <p:sp>
        <p:nvSpPr>
          <p:cNvPr id="90" name="here_pill">
            <a:extLst>
              <a:ext uri="{FF2B5EF4-FFF2-40B4-BE49-F238E27FC236}">
                <a16:creationId xmlns:a16="http://schemas.microsoft.com/office/drawing/2014/main" id="{4735BE60-ECF6-0589-0B8F-C230F2338782}"/>
              </a:ext>
            </a:extLst>
          </p:cNvPr>
          <p:cNvSpPr/>
          <p:nvPr/>
        </p:nvSpPr>
        <p:spPr>
          <a:xfrm>
            <a:off x="7797800" y="2032000"/>
            <a:ext cx="1930400" cy="355600"/>
          </a:xfrm>
          <a:prstGeom prst="roundRect">
            <a:avLst>
              <a:gd name="adj" fmla="val 50000"/>
            </a:avLst>
          </a:prstGeom>
          <a:solidFill>
            <a:srgbClr val="C8893A"/>
          </a:solidFill>
          <a:ln>
            <a:noFill/>
          </a:ln>
        </p:spPr>
        <p:txBody>
          <a:bodyPr lIns="76200" tIns="0" rIns="76200" bIns="0" anchor="ctr"/>
          <a:lstStyle/>
          <a:p>
            <a:pPr algn="ctr"/>
            <a:r>
              <a:rPr lang="de-CH" sz="1100" b="1" dirty="0">
                <a:solidFill>
                  <a:srgbClr val="FFFFFF"/>
                </a:solidFill>
              </a:rPr>
              <a:t>WIR SIND HIER</a:t>
            </a:r>
          </a:p>
        </p:txBody>
      </p:sp>
      <p:sp>
        <p:nvSpPr>
          <p:cNvPr id="91" name="here_arrow">
            <a:extLst>
              <a:ext uri="{FF2B5EF4-FFF2-40B4-BE49-F238E27FC236}">
                <a16:creationId xmlns:a16="http://schemas.microsoft.com/office/drawing/2014/main" id="{9DD66222-384E-4177-63C7-DC03967BAF9F}"/>
              </a:ext>
            </a:extLst>
          </p:cNvPr>
          <p:cNvSpPr/>
          <p:nvPr/>
        </p:nvSpPr>
        <p:spPr>
          <a:xfrm>
            <a:off x="8737600" y="2387600"/>
            <a:ext cx="50800" cy="152400"/>
          </a:xfrm>
          <a:prstGeom prst="rect">
            <a:avLst/>
          </a:prstGeom>
          <a:solidFill>
            <a:srgbClr val="C8893A"/>
          </a:solidFill>
          <a:ln>
            <a:noFill/>
          </a:ln>
        </p:spPr>
        <p:txBody>
          <a:bodyPr/>
          <a:lstStyle/>
          <a:p>
            <a:endParaRPr/>
          </a:p>
        </p:txBody>
      </p:sp>
      <p:sp>
        <p:nvSpPr>
          <p:cNvPr id="12" name="Foliennummernplatzhalter 11">
            <a:extLst>
              <a:ext uri="{FF2B5EF4-FFF2-40B4-BE49-F238E27FC236}">
                <a16:creationId xmlns:a16="http://schemas.microsoft.com/office/drawing/2014/main" id="{C0D6BA0C-9C5A-2DF8-5E31-FACAD148F206}"/>
              </a:ext>
            </a:extLst>
          </p:cNvPr>
          <p:cNvSpPr>
            <a:spLocks noGrp="1"/>
          </p:cNvSpPr>
          <p:nvPr>
            <p:ph type="sldNum" sz="quarter" idx="12"/>
          </p:nvPr>
        </p:nvSpPr>
        <p:spPr/>
        <p:txBody>
          <a:bodyPr/>
          <a:lstStyle/>
          <a:p>
            <a:fld id="{2AAFDC3C-A9F8-4ABD-8D8D-8DC3321B02DC}" type="slidenum">
              <a:rPr lang="de-CH" smtClean="0"/>
              <a:t>2</a:t>
            </a:fld>
            <a:endParaRPr lang="de-CH"/>
          </a:p>
        </p:txBody>
      </p:sp>
      <p:sp>
        <p:nvSpPr>
          <p:cNvPr id="13" name="Datumsplatzhalter 12">
            <a:extLst>
              <a:ext uri="{FF2B5EF4-FFF2-40B4-BE49-F238E27FC236}">
                <a16:creationId xmlns:a16="http://schemas.microsoft.com/office/drawing/2014/main" id="{58B45A0C-B5B0-6F0B-FEA3-3D0C098EDDA3}"/>
              </a:ext>
            </a:extLst>
          </p:cNvPr>
          <p:cNvSpPr>
            <a:spLocks noGrp="1"/>
          </p:cNvSpPr>
          <p:nvPr>
            <p:ph type="dt" sz="half" idx="10"/>
          </p:nvPr>
        </p:nvSpPr>
        <p:spPr/>
        <p:txBody>
          <a:bodyPr/>
          <a:lstStyle/>
          <a:p>
            <a:r>
              <a:rPr lang="de-CH"/>
              <a:t>11.06.2026</a:t>
            </a:r>
          </a:p>
        </p:txBody>
      </p:sp>
    </p:spTree>
    <p:extLst>
      <p:ext uri="{BB962C8B-B14F-4D97-AF65-F5344CB8AC3E}">
        <p14:creationId xmlns:p14="http://schemas.microsoft.com/office/powerpoint/2010/main" val="2589977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55145-4235-29A7-453D-C32587BAB02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959CC4D-4BE9-19C6-6256-8B619EB8E93C}"/>
              </a:ext>
            </a:extLst>
          </p:cNvPr>
          <p:cNvSpPr>
            <a:spLocks noGrp="1"/>
          </p:cNvSpPr>
          <p:nvPr>
            <p:ph type="title"/>
          </p:nvPr>
        </p:nvSpPr>
        <p:spPr/>
        <p:txBody>
          <a:bodyPr/>
          <a:lstStyle/>
          <a:p>
            <a:pPr algn="l"/>
            <a:r>
              <a:rPr lang="de-CH" sz="2800" b="1" dirty="0">
                <a:solidFill>
                  <a:srgbClr val="1B3A5C"/>
                </a:solidFill>
              </a:rPr>
              <a:t>Projektstand und Vorgehen</a:t>
            </a:r>
          </a:p>
        </p:txBody>
      </p:sp>
      <p:sp>
        <p:nvSpPr>
          <p:cNvPr id="50" name="kicker">
            <a:extLst>
              <a:ext uri="{FF2B5EF4-FFF2-40B4-BE49-F238E27FC236}">
                <a16:creationId xmlns:a16="http://schemas.microsoft.com/office/drawing/2014/main" id="{E833A608-AC46-8443-D792-DDA91137F0F0}"/>
              </a:ext>
            </a:extLst>
          </p:cNvPr>
          <p:cNvSpPr/>
          <p:nvPr/>
        </p:nvSpPr>
        <p:spPr>
          <a:xfrm>
            <a:off x="838200" y="1574800"/>
            <a:ext cx="9906000" cy="279400"/>
          </a:xfrm>
          <a:prstGeom prst="rect">
            <a:avLst/>
          </a:prstGeom>
          <a:noFill/>
        </p:spPr>
        <p:txBody>
          <a:bodyPr lIns="0" tIns="0" rIns="0" bIns="0"/>
          <a:lstStyle/>
          <a:p>
            <a:r>
              <a:rPr lang="de-DE" sz="1400" b="1" dirty="0">
                <a:solidFill>
                  <a:srgbClr val="2E6CA4"/>
                </a:solidFill>
              </a:rPr>
              <a:t>Phase 1 · Auftrag, Ausgangslage und Rahmenbedingungen</a:t>
            </a:r>
            <a:endParaRPr lang="de-CH" sz="1400" b="1" dirty="0">
              <a:solidFill>
                <a:srgbClr val="2E6CA4"/>
              </a:solidFill>
            </a:endParaRPr>
          </a:p>
        </p:txBody>
      </p:sp>
      <p:sp>
        <p:nvSpPr>
          <p:cNvPr id="51" name="track">
            <a:extLst>
              <a:ext uri="{FF2B5EF4-FFF2-40B4-BE49-F238E27FC236}">
                <a16:creationId xmlns:a16="http://schemas.microsoft.com/office/drawing/2014/main" id="{AE388E5F-A1C8-4CF7-2A5D-382AC7E07AA9}"/>
              </a:ext>
            </a:extLst>
          </p:cNvPr>
          <p:cNvSpPr/>
          <p:nvPr/>
        </p:nvSpPr>
        <p:spPr>
          <a:xfrm>
            <a:off x="1651000" y="2692401"/>
            <a:ext cx="8890000" cy="50800"/>
          </a:xfrm>
          <a:prstGeom prst="rect">
            <a:avLst/>
          </a:prstGeom>
          <a:solidFill>
            <a:srgbClr val="C9D6E2"/>
          </a:solidFill>
          <a:ln>
            <a:noFill/>
          </a:ln>
        </p:spPr>
        <p:txBody>
          <a:bodyPr/>
          <a:lstStyle/>
          <a:p>
            <a:endParaRPr/>
          </a:p>
        </p:txBody>
      </p:sp>
      <p:sp>
        <p:nvSpPr>
          <p:cNvPr id="52" name="b0">
            <a:extLst>
              <a:ext uri="{FF2B5EF4-FFF2-40B4-BE49-F238E27FC236}">
                <a16:creationId xmlns:a16="http://schemas.microsoft.com/office/drawing/2014/main" id="{1D8F10B5-A41D-5C9C-EA30-D27926E6257F}"/>
              </a:ext>
            </a:extLst>
          </p:cNvPr>
          <p:cNvSpPr/>
          <p:nvPr/>
        </p:nvSpPr>
        <p:spPr>
          <a:xfrm>
            <a:off x="1498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1</a:t>
            </a:r>
          </a:p>
        </p:txBody>
      </p:sp>
      <p:sp>
        <p:nvSpPr>
          <p:cNvPr id="53" name="c0">
            <a:extLst>
              <a:ext uri="{FF2B5EF4-FFF2-40B4-BE49-F238E27FC236}">
                <a16:creationId xmlns:a16="http://schemas.microsoft.com/office/drawing/2014/main" id="{32A1258C-AA1C-2A97-0941-E622BABC0559}"/>
              </a:ext>
            </a:extLst>
          </p:cNvPr>
          <p:cNvSpPr/>
          <p:nvPr/>
        </p:nvSpPr>
        <p:spPr>
          <a:xfrm>
            <a:off x="838200" y="3098801"/>
            <a:ext cx="1625600" cy="1905000"/>
          </a:xfrm>
          <a:prstGeom prst="roundRect">
            <a:avLst>
              <a:gd name="adj" fmla="val 6000"/>
            </a:avLst>
          </a:prstGeom>
          <a:solidFill>
            <a:schemeClr val="accent1">
              <a:lumMod val="20000"/>
              <a:lumOff val="80000"/>
            </a:schemeClr>
          </a:solidFill>
          <a:ln w="12700">
            <a:solidFill>
              <a:srgbClr val="C9D6E2"/>
            </a:solidFill>
          </a:ln>
        </p:spPr>
        <p:txBody>
          <a:bodyPr lIns="101600" tIns="127000" rIns="101600" bIns="101600" anchor="t">
            <a:normAutofit/>
          </a:bodyPr>
          <a:lstStyle/>
          <a:p>
            <a:pPr algn="ctr"/>
            <a:r>
              <a:rPr lang="de-CH" sz="1300" b="1" dirty="0">
                <a:solidFill>
                  <a:srgbClr val="1B3A5C"/>
                </a:solidFill>
              </a:rPr>
              <a:t>Kick-off</a:t>
            </a:r>
          </a:p>
          <a:p>
            <a:pPr algn="ctr">
              <a:spcBef>
                <a:spcPts val="400"/>
              </a:spcBef>
            </a:pPr>
            <a:r>
              <a:rPr lang="de-CH" sz="1100" dirty="0">
                <a:solidFill>
                  <a:srgbClr val="5B6B79"/>
                </a:solidFill>
              </a:rPr>
              <a:t>Auftrag und Rahmen geklärt</a:t>
            </a:r>
          </a:p>
        </p:txBody>
      </p:sp>
      <p:sp>
        <p:nvSpPr>
          <p:cNvPr id="54" name="b1">
            <a:extLst>
              <a:ext uri="{FF2B5EF4-FFF2-40B4-BE49-F238E27FC236}">
                <a16:creationId xmlns:a16="http://schemas.microsoft.com/office/drawing/2014/main" id="{928F55A7-9C8A-9DDF-244F-042707463F67}"/>
              </a:ext>
            </a:extLst>
          </p:cNvPr>
          <p:cNvSpPr/>
          <p:nvPr/>
        </p:nvSpPr>
        <p:spPr>
          <a:xfrm>
            <a:off x="3276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2</a:t>
            </a:r>
          </a:p>
        </p:txBody>
      </p:sp>
      <p:sp>
        <p:nvSpPr>
          <p:cNvPr id="55" name="c1">
            <a:extLst>
              <a:ext uri="{FF2B5EF4-FFF2-40B4-BE49-F238E27FC236}">
                <a16:creationId xmlns:a16="http://schemas.microsoft.com/office/drawing/2014/main" id="{41724C6C-8649-B7F2-C56B-412C3D5FF1CD}"/>
              </a:ext>
            </a:extLst>
          </p:cNvPr>
          <p:cNvSpPr/>
          <p:nvPr/>
        </p:nvSpPr>
        <p:spPr>
          <a:xfrm>
            <a:off x="2616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Literatur und Disposition</a:t>
            </a:r>
          </a:p>
          <a:p>
            <a:pPr algn="ctr">
              <a:spcBef>
                <a:spcPts val="400"/>
              </a:spcBef>
            </a:pPr>
            <a:r>
              <a:rPr lang="de-CH" sz="1100" dirty="0">
                <a:solidFill>
                  <a:srgbClr val="5B6B79"/>
                </a:solidFill>
              </a:rPr>
              <a:t>Theoretische und methodische Grundlagen</a:t>
            </a:r>
          </a:p>
        </p:txBody>
      </p:sp>
      <p:sp>
        <p:nvSpPr>
          <p:cNvPr id="56" name="b2">
            <a:extLst>
              <a:ext uri="{FF2B5EF4-FFF2-40B4-BE49-F238E27FC236}">
                <a16:creationId xmlns:a16="http://schemas.microsoft.com/office/drawing/2014/main" id="{B807E920-069D-2BAA-6E26-ED0576054C7E}"/>
              </a:ext>
            </a:extLst>
          </p:cNvPr>
          <p:cNvSpPr/>
          <p:nvPr/>
        </p:nvSpPr>
        <p:spPr>
          <a:xfrm>
            <a:off x="5054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3</a:t>
            </a:r>
          </a:p>
        </p:txBody>
      </p:sp>
      <p:sp>
        <p:nvSpPr>
          <p:cNvPr id="57" name="c2">
            <a:extLst>
              <a:ext uri="{FF2B5EF4-FFF2-40B4-BE49-F238E27FC236}">
                <a16:creationId xmlns:a16="http://schemas.microsoft.com/office/drawing/2014/main" id="{49F00627-1D11-9EC6-4402-FB96D38B400F}"/>
              </a:ext>
            </a:extLst>
          </p:cNvPr>
          <p:cNvSpPr/>
          <p:nvPr/>
        </p:nvSpPr>
        <p:spPr>
          <a:xfrm>
            <a:off x="4394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IST-Erhebung</a:t>
            </a:r>
          </a:p>
          <a:p>
            <a:pPr algn="ctr">
              <a:spcBef>
                <a:spcPts val="400"/>
              </a:spcBef>
            </a:pPr>
            <a:r>
              <a:rPr lang="de-CH" sz="1100" dirty="0">
                <a:solidFill>
                  <a:srgbClr val="5B6B79"/>
                </a:solidFill>
              </a:rPr>
              <a:t>Dokumentenanalyse, Interviews, IST-Modellierung und Validierungsworkshop</a:t>
            </a:r>
          </a:p>
        </p:txBody>
      </p:sp>
      <p:sp>
        <p:nvSpPr>
          <p:cNvPr id="58" name="b3">
            <a:extLst>
              <a:ext uri="{FF2B5EF4-FFF2-40B4-BE49-F238E27FC236}">
                <a16:creationId xmlns:a16="http://schemas.microsoft.com/office/drawing/2014/main" id="{405B9715-77A9-EC8A-7A58-72F3D6AD9C41}"/>
              </a:ext>
            </a:extLst>
          </p:cNvPr>
          <p:cNvSpPr/>
          <p:nvPr/>
        </p:nvSpPr>
        <p:spPr>
          <a:xfrm>
            <a:off x="6832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4</a:t>
            </a:r>
          </a:p>
        </p:txBody>
      </p:sp>
      <p:sp>
        <p:nvSpPr>
          <p:cNvPr id="59" name="c3">
            <a:extLst>
              <a:ext uri="{FF2B5EF4-FFF2-40B4-BE49-F238E27FC236}">
                <a16:creationId xmlns:a16="http://schemas.microsoft.com/office/drawing/2014/main" id="{2D1E7BC2-79A6-7221-AF2C-D52314378370}"/>
              </a:ext>
            </a:extLst>
          </p:cNvPr>
          <p:cNvSpPr/>
          <p:nvPr/>
        </p:nvSpPr>
        <p:spPr>
          <a:xfrm>
            <a:off x="6172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IST-Analyse</a:t>
            </a:r>
          </a:p>
          <a:p>
            <a:pPr algn="ctr">
              <a:spcBef>
                <a:spcPts val="400"/>
              </a:spcBef>
            </a:pPr>
            <a:r>
              <a:rPr lang="de-CH" sz="1100" dirty="0" err="1">
                <a:solidFill>
                  <a:srgbClr val="5B6B79"/>
                </a:solidFill>
              </a:rPr>
              <a:t>Issue</a:t>
            </a:r>
            <a:r>
              <a:rPr lang="de-CH" sz="1100" dirty="0">
                <a:solidFill>
                  <a:srgbClr val="5B6B79"/>
                </a:solidFill>
              </a:rPr>
              <a:t> Register, Value-</a:t>
            </a:r>
            <a:r>
              <a:rPr lang="de-CH" sz="1100" dirty="0" err="1">
                <a:solidFill>
                  <a:srgbClr val="5B6B79"/>
                </a:solidFill>
              </a:rPr>
              <a:t>Added</a:t>
            </a:r>
            <a:r>
              <a:rPr lang="de-CH" sz="1100" dirty="0">
                <a:solidFill>
                  <a:srgbClr val="5B6B79"/>
                </a:solidFill>
              </a:rPr>
              <a:t>-Analyse, </a:t>
            </a:r>
            <a:r>
              <a:rPr lang="de-CH" sz="1100" dirty="0" err="1">
                <a:solidFill>
                  <a:srgbClr val="5B6B79"/>
                </a:solidFill>
              </a:rPr>
              <a:t>Muda</a:t>
            </a:r>
            <a:r>
              <a:rPr lang="de-CH" sz="1100" dirty="0">
                <a:solidFill>
                  <a:srgbClr val="5B6B79"/>
                </a:solidFill>
              </a:rPr>
              <a:t>-</a:t>
            </a:r>
            <a:r>
              <a:rPr lang="de-CH" sz="1100" dirty="0" err="1">
                <a:solidFill>
                  <a:srgbClr val="5B6B79"/>
                </a:solidFill>
              </a:rPr>
              <a:t>Waste</a:t>
            </a:r>
            <a:r>
              <a:rPr lang="de-CH" sz="1100" dirty="0">
                <a:solidFill>
                  <a:srgbClr val="5B6B79"/>
                </a:solidFill>
              </a:rPr>
              <a:t>-Analyse und Ursachenanalyse </a:t>
            </a:r>
          </a:p>
        </p:txBody>
      </p:sp>
      <p:sp>
        <p:nvSpPr>
          <p:cNvPr id="60" name="b4">
            <a:extLst>
              <a:ext uri="{FF2B5EF4-FFF2-40B4-BE49-F238E27FC236}">
                <a16:creationId xmlns:a16="http://schemas.microsoft.com/office/drawing/2014/main" id="{06D9BF30-B083-5974-D1E1-88677320D6AB}"/>
              </a:ext>
            </a:extLst>
          </p:cNvPr>
          <p:cNvSpPr/>
          <p:nvPr/>
        </p:nvSpPr>
        <p:spPr>
          <a:xfrm>
            <a:off x="8610600" y="2565401"/>
            <a:ext cx="304800" cy="304800"/>
          </a:xfrm>
          <a:prstGeom prst="ellipse">
            <a:avLst/>
          </a:prstGeom>
          <a:solidFill>
            <a:srgbClr val="C8893A"/>
          </a:solidFill>
          <a:ln w="19050">
            <a:solidFill>
              <a:srgbClr val="C8893A"/>
            </a:solidFill>
          </a:ln>
        </p:spPr>
        <p:txBody>
          <a:bodyPr lIns="0" tIns="0" rIns="0" bIns="0" anchor="ctr"/>
          <a:lstStyle/>
          <a:p>
            <a:pPr algn="ctr"/>
            <a:r>
              <a:rPr lang="de-CH" sz="1300" b="1" dirty="0">
                <a:solidFill>
                  <a:srgbClr val="FFFFFF"/>
                </a:solidFill>
              </a:rPr>
              <a:t>5</a:t>
            </a:r>
          </a:p>
        </p:txBody>
      </p:sp>
      <p:sp>
        <p:nvSpPr>
          <p:cNvPr id="61" name="c4">
            <a:extLst>
              <a:ext uri="{FF2B5EF4-FFF2-40B4-BE49-F238E27FC236}">
                <a16:creationId xmlns:a16="http://schemas.microsoft.com/office/drawing/2014/main" id="{CB216B03-F2A0-0B5F-76E4-4630FCA1990B}"/>
              </a:ext>
            </a:extLst>
          </p:cNvPr>
          <p:cNvSpPr/>
          <p:nvPr/>
        </p:nvSpPr>
        <p:spPr>
          <a:xfrm>
            <a:off x="7950200" y="3098801"/>
            <a:ext cx="1625600" cy="1905000"/>
          </a:xfrm>
          <a:prstGeom prst="roundRect">
            <a:avLst>
              <a:gd name="adj" fmla="val 6000"/>
            </a:avLst>
          </a:prstGeom>
          <a:solidFill>
            <a:schemeClr val="bg1"/>
          </a:solidFill>
          <a:ln w="22225">
            <a:solidFill>
              <a:schemeClr val="bg2"/>
            </a:solidFill>
          </a:ln>
        </p:spPr>
        <p:txBody>
          <a:bodyPr lIns="101600" tIns="127000" rIns="101600" bIns="101600" anchor="t">
            <a:normAutofit/>
          </a:bodyPr>
          <a:lstStyle/>
          <a:p>
            <a:pPr algn="ctr"/>
            <a:r>
              <a:rPr lang="de-CH" sz="1300" b="1" dirty="0">
                <a:solidFill>
                  <a:srgbClr val="1B3A5C"/>
                </a:solidFill>
              </a:rPr>
              <a:t>SOLL-Konzept</a:t>
            </a:r>
          </a:p>
          <a:p>
            <a:pPr algn="ctr">
              <a:spcBef>
                <a:spcPts val="400"/>
              </a:spcBef>
            </a:pPr>
            <a:r>
              <a:rPr lang="de-CH" sz="1100" dirty="0">
                <a:solidFill>
                  <a:srgbClr val="5B6B79"/>
                </a:solidFill>
              </a:rPr>
              <a:t>Ziel-Konzept im SOLL-Workshop entwickeln und Anforderungen erheben</a:t>
            </a:r>
          </a:p>
        </p:txBody>
      </p:sp>
      <p:sp>
        <p:nvSpPr>
          <p:cNvPr id="63" name="b5">
            <a:extLst>
              <a:ext uri="{FF2B5EF4-FFF2-40B4-BE49-F238E27FC236}">
                <a16:creationId xmlns:a16="http://schemas.microsoft.com/office/drawing/2014/main" id="{E2014849-8367-2594-435D-54142C289999}"/>
              </a:ext>
            </a:extLst>
          </p:cNvPr>
          <p:cNvSpPr/>
          <p:nvPr/>
        </p:nvSpPr>
        <p:spPr>
          <a:xfrm>
            <a:off x="10388600" y="2565401"/>
            <a:ext cx="304800" cy="304800"/>
          </a:xfrm>
          <a:prstGeom prst="ellipse">
            <a:avLst/>
          </a:prstGeom>
          <a:solidFill>
            <a:srgbClr val="1B3A5C"/>
          </a:solidFill>
          <a:ln w="19050">
            <a:solidFill>
              <a:srgbClr val="7FA8C9"/>
            </a:solidFill>
          </a:ln>
        </p:spPr>
        <p:txBody>
          <a:bodyPr lIns="0" tIns="0" rIns="0" bIns="0" anchor="ctr"/>
          <a:lstStyle/>
          <a:p>
            <a:pPr algn="ctr"/>
            <a:r>
              <a:rPr lang="de-CH" sz="1300" b="1" dirty="0">
                <a:solidFill>
                  <a:srgbClr val="FFFFFF"/>
                </a:solidFill>
              </a:rPr>
              <a:t>6</a:t>
            </a:r>
          </a:p>
        </p:txBody>
      </p:sp>
      <p:sp>
        <p:nvSpPr>
          <p:cNvPr id="64" name="c5">
            <a:extLst>
              <a:ext uri="{FF2B5EF4-FFF2-40B4-BE49-F238E27FC236}">
                <a16:creationId xmlns:a16="http://schemas.microsoft.com/office/drawing/2014/main" id="{810FCC58-76EF-19A4-AA16-FEC6122DC717}"/>
              </a:ext>
            </a:extLst>
          </p:cNvPr>
          <p:cNvSpPr/>
          <p:nvPr/>
        </p:nvSpPr>
        <p:spPr>
          <a:xfrm>
            <a:off x="9728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Detailspezifikation und Abnahme</a:t>
            </a:r>
          </a:p>
          <a:p>
            <a:pPr algn="ctr">
              <a:spcBef>
                <a:spcPts val="400"/>
              </a:spcBef>
            </a:pPr>
            <a:r>
              <a:rPr lang="de-CH" sz="1100" dirty="0">
                <a:solidFill>
                  <a:srgbClr val="5B6B79"/>
                </a:solidFill>
              </a:rPr>
              <a:t>Anforderungskatalog inkl. User Stories und Use Cases, Projektabnahme</a:t>
            </a:r>
          </a:p>
        </p:txBody>
      </p:sp>
      <p:sp>
        <p:nvSpPr>
          <p:cNvPr id="3" name="b0">
            <a:extLst>
              <a:ext uri="{FF2B5EF4-FFF2-40B4-BE49-F238E27FC236}">
                <a16:creationId xmlns:a16="http://schemas.microsoft.com/office/drawing/2014/main" id="{A20331B8-D544-F152-9837-83BD6A9E459A}"/>
              </a:ext>
            </a:extLst>
          </p:cNvPr>
          <p:cNvSpPr/>
          <p:nvPr/>
        </p:nvSpPr>
        <p:spPr>
          <a:xfrm>
            <a:off x="8610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5</a:t>
            </a:r>
          </a:p>
        </p:txBody>
      </p:sp>
      <p:sp>
        <p:nvSpPr>
          <p:cNvPr id="4" name="Foliennummernplatzhalter 3">
            <a:extLst>
              <a:ext uri="{FF2B5EF4-FFF2-40B4-BE49-F238E27FC236}">
                <a16:creationId xmlns:a16="http://schemas.microsoft.com/office/drawing/2014/main" id="{813FACF6-E9AC-5128-6EEB-576FA80BCDCB}"/>
              </a:ext>
            </a:extLst>
          </p:cNvPr>
          <p:cNvSpPr>
            <a:spLocks noGrp="1"/>
          </p:cNvSpPr>
          <p:nvPr>
            <p:ph type="sldNum" sz="quarter" idx="12"/>
          </p:nvPr>
        </p:nvSpPr>
        <p:spPr/>
        <p:txBody>
          <a:bodyPr/>
          <a:lstStyle/>
          <a:p>
            <a:fld id="{2AAFDC3C-A9F8-4ABD-8D8D-8DC3321B02DC}" type="slidenum">
              <a:rPr lang="de-CH" smtClean="0"/>
              <a:t>3</a:t>
            </a:fld>
            <a:endParaRPr lang="de-CH"/>
          </a:p>
        </p:txBody>
      </p:sp>
      <p:sp>
        <p:nvSpPr>
          <p:cNvPr id="5" name="Datumsplatzhalter 4">
            <a:extLst>
              <a:ext uri="{FF2B5EF4-FFF2-40B4-BE49-F238E27FC236}">
                <a16:creationId xmlns:a16="http://schemas.microsoft.com/office/drawing/2014/main" id="{8B24F02E-1BCC-850A-0BEA-E14185378276}"/>
              </a:ext>
            </a:extLst>
          </p:cNvPr>
          <p:cNvSpPr>
            <a:spLocks noGrp="1"/>
          </p:cNvSpPr>
          <p:nvPr>
            <p:ph type="dt" sz="half" idx="10"/>
          </p:nvPr>
        </p:nvSpPr>
        <p:spPr/>
        <p:txBody>
          <a:bodyPr/>
          <a:lstStyle/>
          <a:p>
            <a:r>
              <a:rPr lang="de-CH"/>
              <a:t>11.06.2026</a:t>
            </a:r>
          </a:p>
        </p:txBody>
      </p:sp>
    </p:spTree>
    <p:extLst>
      <p:ext uri="{BB962C8B-B14F-4D97-AF65-F5344CB8AC3E}">
        <p14:creationId xmlns:p14="http://schemas.microsoft.com/office/powerpoint/2010/main" val="41903194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35F1E40-4179-3E00-8A9C-B822AA845B90}"/>
              </a:ext>
            </a:extLst>
          </p:cNvPr>
          <p:cNvSpPr>
            <a:spLocks noGrp="1"/>
          </p:cNvSpPr>
          <p:nvPr>
            <p:ph type="title"/>
          </p:nvPr>
        </p:nvSpPr>
        <p:spPr/>
        <p:txBody>
          <a:bodyPr/>
          <a:lstStyle/>
          <a:p>
            <a:pPr algn="l"/>
            <a:r>
              <a:rPr lang="de-CH" sz="2800" b="1" dirty="0">
                <a:solidFill>
                  <a:srgbClr val="1B3A5C"/>
                </a:solidFill>
              </a:rPr>
              <a:t>Ausgangslage und Relevanz</a:t>
            </a:r>
          </a:p>
        </p:txBody>
      </p:sp>
      <p:sp>
        <p:nvSpPr>
          <p:cNvPr id="50" name="kicker"/>
          <p:cNvSpPr/>
          <p:nvPr/>
        </p:nvSpPr>
        <p:spPr>
          <a:xfrm>
            <a:off x="838200" y="1574800"/>
            <a:ext cx="9906000" cy="279400"/>
          </a:xfrm>
          <a:prstGeom prst="rect">
            <a:avLst/>
          </a:prstGeom>
          <a:noFill/>
        </p:spPr>
        <p:txBody>
          <a:bodyPr lIns="0" tIns="0" rIns="0" bIns="0"/>
          <a:lstStyle/>
          <a:p>
            <a:r>
              <a:rPr lang="de-CH" sz="1400" b="1" dirty="0">
                <a:solidFill>
                  <a:srgbClr val="2E6CA4"/>
                </a:solidFill>
              </a:rPr>
              <a:t>Digitalisierung der «HR Services»</a:t>
            </a:r>
          </a:p>
        </p:txBody>
      </p:sp>
      <p:sp>
        <p:nvSpPr>
          <p:cNvPr id="51" name="card0"/>
          <p:cNvSpPr/>
          <p:nvPr/>
        </p:nvSpPr>
        <p:spPr>
          <a:xfrm>
            <a:off x="838200" y="2159000"/>
            <a:ext cx="1960880" cy="2540000"/>
          </a:xfrm>
          <a:prstGeom prst="roundRect">
            <a:avLst>
              <a:gd name="adj" fmla="val 6000"/>
            </a:avLst>
          </a:prstGeom>
          <a:solidFill>
            <a:srgbClr val="FFFFFF"/>
          </a:solidFill>
          <a:ln w="12700">
            <a:solidFill>
              <a:srgbClr val="C9D6E2"/>
            </a:solidFill>
          </a:ln>
        </p:spPr>
        <p:txBody>
          <a:bodyPr lIns="127000" tIns="736600" rIns="127000" bIns="127000" anchor="t"/>
          <a:lstStyle/>
          <a:p>
            <a:pPr algn="ctr"/>
            <a:r>
              <a:rPr lang="de-CH" sz="1500" b="1">
                <a:solidFill>
                  <a:srgbClr val="1B3A5C"/>
                </a:solidFill>
              </a:rPr>
              <a:t>HR-Reorganisation</a:t>
            </a:r>
          </a:p>
          <a:p>
            <a:pPr algn="ctr">
              <a:spcBef>
                <a:spcPts val="600"/>
              </a:spcBef>
            </a:pPr>
            <a:r>
              <a:rPr lang="de-CH" sz="1100">
                <a:solidFill>
                  <a:srgbClr val="5B6B79"/>
                </a:solidFill>
              </a:rPr>
              <a:t>Neuausrichtung der HR-Organisation als Auslöser</a:t>
            </a:r>
          </a:p>
        </p:txBody>
      </p:sp>
      <p:sp>
        <p:nvSpPr>
          <p:cNvPr id="52" name="num0"/>
          <p:cNvSpPr/>
          <p:nvPr/>
        </p:nvSpPr>
        <p:spPr>
          <a:xfrm>
            <a:off x="1602740" y="2336800"/>
            <a:ext cx="431800" cy="431800"/>
          </a:xfrm>
          <a:prstGeom prst="ellipse">
            <a:avLst/>
          </a:prstGeom>
          <a:solidFill>
            <a:srgbClr val="2E6CA4"/>
          </a:solidFill>
          <a:ln>
            <a:noFill/>
          </a:ln>
        </p:spPr>
        <p:txBody>
          <a:bodyPr lIns="0" tIns="0" rIns="0" bIns="0" anchor="ctr"/>
          <a:lstStyle/>
          <a:p>
            <a:pPr algn="ctr"/>
            <a:r>
              <a:rPr lang="de-CH" sz="1400" b="1">
                <a:solidFill>
                  <a:srgbClr val="FFFFFF"/>
                </a:solidFill>
              </a:rPr>
              <a:t>1</a:t>
            </a:r>
          </a:p>
        </p:txBody>
      </p:sp>
      <p:sp>
        <p:nvSpPr>
          <p:cNvPr id="53" name="arr0"/>
          <p:cNvSpPr/>
          <p:nvPr/>
        </p:nvSpPr>
        <p:spPr>
          <a:xfrm>
            <a:off x="2748280" y="3314700"/>
            <a:ext cx="279400" cy="228600"/>
          </a:xfrm>
          <a:prstGeom prst="rightArrow">
            <a:avLst/>
          </a:prstGeom>
          <a:solidFill>
            <a:srgbClr val="7FA8C9"/>
          </a:solidFill>
          <a:ln>
            <a:noFill/>
          </a:ln>
        </p:spPr>
        <p:txBody>
          <a:bodyPr/>
          <a:lstStyle/>
          <a:p>
            <a:endParaRPr/>
          </a:p>
        </p:txBody>
      </p:sp>
      <p:sp>
        <p:nvSpPr>
          <p:cNvPr id="54" name="card1"/>
          <p:cNvSpPr/>
          <p:nvPr/>
        </p:nvSpPr>
        <p:spPr>
          <a:xfrm>
            <a:off x="2976880" y="2159000"/>
            <a:ext cx="1960880" cy="2540000"/>
          </a:xfrm>
          <a:prstGeom prst="roundRect">
            <a:avLst>
              <a:gd name="adj" fmla="val 6000"/>
            </a:avLst>
          </a:prstGeom>
          <a:solidFill>
            <a:srgbClr val="FFFFFF"/>
          </a:solidFill>
          <a:ln w="12700">
            <a:solidFill>
              <a:srgbClr val="C9D6E2"/>
            </a:solidFill>
          </a:ln>
        </p:spPr>
        <p:txBody>
          <a:bodyPr lIns="127000" tIns="736600" rIns="127000" bIns="127000" anchor="t"/>
          <a:lstStyle/>
          <a:p>
            <a:pPr algn="ctr"/>
            <a:r>
              <a:rPr lang="de-CH" sz="1500" b="1" dirty="0">
                <a:solidFill>
                  <a:srgbClr val="1B3A5C"/>
                </a:solidFill>
              </a:rPr>
              <a:t>Optimierung der Kundenzugänge</a:t>
            </a:r>
          </a:p>
          <a:p>
            <a:pPr algn="ctr">
              <a:spcBef>
                <a:spcPts val="600"/>
              </a:spcBef>
            </a:pPr>
            <a:r>
              <a:rPr lang="de-CH" sz="1100" dirty="0">
                <a:solidFill>
                  <a:srgbClr val="5B6B79"/>
                </a:solidFill>
              </a:rPr>
              <a:t>Digitales HR-Portal</a:t>
            </a:r>
          </a:p>
          <a:p>
            <a:pPr algn="ctr">
              <a:spcBef>
                <a:spcPts val="600"/>
              </a:spcBef>
            </a:pPr>
            <a:r>
              <a:rPr lang="de-CH" sz="1100" dirty="0">
                <a:solidFill>
                  <a:srgbClr val="5B6B79"/>
                </a:solidFill>
              </a:rPr>
              <a:t>HR Service Point</a:t>
            </a:r>
          </a:p>
          <a:p>
            <a:pPr algn="ctr">
              <a:spcBef>
                <a:spcPts val="600"/>
              </a:spcBef>
            </a:pPr>
            <a:r>
              <a:rPr lang="de-CH" sz="1100" dirty="0">
                <a:solidFill>
                  <a:srgbClr val="5B6B79"/>
                </a:solidFill>
              </a:rPr>
              <a:t>First-Level Support</a:t>
            </a:r>
          </a:p>
        </p:txBody>
      </p:sp>
      <p:sp>
        <p:nvSpPr>
          <p:cNvPr id="55" name="num1"/>
          <p:cNvSpPr/>
          <p:nvPr/>
        </p:nvSpPr>
        <p:spPr>
          <a:xfrm>
            <a:off x="3741420" y="2336800"/>
            <a:ext cx="431800" cy="431800"/>
          </a:xfrm>
          <a:prstGeom prst="ellipse">
            <a:avLst/>
          </a:prstGeom>
          <a:solidFill>
            <a:srgbClr val="2E6CA4"/>
          </a:solidFill>
          <a:ln>
            <a:noFill/>
          </a:ln>
        </p:spPr>
        <p:txBody>
          <a:bodyPr lIns="0" tIns="0" rIns="0" bIns="0" anchor="ctr"/>
          <a:lstStyle/>
          <a:p>
            <a:pPr algn="ctr"/>
            <a:r>
              <a:rPr lang="de-CH" sz="1400" b="1">
                <a:solidFill>
                  <a:srgbClr val="FFFFFF"/>
                </a:solidFill>
              </a:rPr>
              <a:t>2</a:t>
            </a:r>
          </a:p>
        </p:txBody>
      </p:sp>
      <p:sp>
        <p:nvSpPr>
          <p:cNvPr id="56" name="arr1"/>
          <p:cNvSpPr/>
          <p:nvPr/>
        </p:nvSpPr>
        <p:spPr>
          <a:xfrm>
            <a:off x="4886960" y="3314700"/>
            <a:ext cx="279400" cy="228600"/>
          </a:xfrm>
          <a:prstGeom prst="rightArrow">
            <a:avLst/>
          </a:prstGeom>
          <a:solidFill>
            <a:srgbClr val="7FA8C9"/>
          </a:solidFill>
          <a:ln>
            <a:noFill/>
          </a:ln>
        </p:spPr>
        <p:txBody>
          <a:bodyPr/>
          <a:lstStyle/>
          <a:p>
            <a:endParaRPr/>
          </a:p>
        </p:txBody>
      </p:sp>
      <p:sp>
        <p:nvSpPr>
          <p:cNvPr id="57" name="card2"/>
          <p:cNvSpPr/>
          <p:nvPr/>
        </p:nvSpPr>
        <p:spPr>
          <a:xfrm>
            <a:off x="5115560" y="2159000"/>
            <a:ext cx="1960880" cy="2540000"/>
          </a:xfrm>
          <a:prstGeom prst="roundRect">
            <a:avLst>
              <a:gd name="adj" fmla="val 6000"/>
            </a:avLst>
          </a:prstGeom>
          <a:solidFill>
            <a:srgbClr val="FFFFFF"/>
          </a:solidFill>
          <a:ln w="12700">
            <a:solidFill>
              <a:srgbClr val="C9D6E2"/>
            </a:solidFill>
          </a:ln>
        </p:spPr>
        <p:txBody>
          <a:bodyPr lIns="127000" tIns="736600" rIns="127000" bIns="127000" anchor="t"/>
          <a:lstStyle/>
          <a:p>
            <a:pPr algn="ctr"/>
            <a:r>
              <a:rPr lang="de-CH" sz="1500" b="1" dirty="0">
                <a:solidFill>
                  <a:srgbClr val="1B3A5C"/>
                </a:solidFill>
              </a:rPr>
              <a:t>Jira Service Management</a:t>
            </a:r>
          </a:p>
          <a:p>
            <a:pPr algn="ctr">
              <a:spcBef>
                <a:spcPts val="600"/>
              </a:spcBef>
            </a:pPr>
            <a:r>
              <a:rPr lang="de-CH" sz="1100" dirty="0">
                <a:solidFill>
                  <a:srgbClr val="5B6B79"/>
                </a:solidFill>
              </a:rPr>
              <a:t>Ticketing-System als technische Grundlage</a:t>
            </a:r>
          </a:p>
        </p:txBody>
      </p:sp>
      <p:sp>
        <p:nvSpPr>
          <p:cNvPr id="58" name="num2"/>
          <p:cNvSpPr/>
          <p:nvPr/>
        </p:nvSpPr>
        <p:spPr>
          <a:xfrm>
            <a:off x="5880100" y="2336800"/>
            <a:ext cx="431800" cy="431800"/>
          </a:xfrm>
          <a:prstGeom prst="ellipse">
            <a:avLst/>
          </a:prstGeom>
          <a:solidFill>
            <a:srgbClr val="2E6CA4"/>
          </a:solidFill>
          <a:ln>
            <a:noFill/>
          </a:ln>
        </p:spPr>
        <p:txBody>
          <a:bodyPr lIns="0" tIns="0" rIns="0" bIns="0" anchor="ctr"/>
          <a:lstStyle/>
          <a:p>
            <a:pPr algn="ctr"/>
            <a:r>
              <a:rPr lang="de-CH" sz="1400" b="1">
                <a:solidFill>
                  <a:srgbClr val="FFFFFF"/>
                </a:solidFill>
              </a:rPr>
              <a:t>3</a:t>
            </a:r>
          </a:p>
        </p:txBody>
      </p:sp>
      <p:sp>
        <p:nvSpPr>
          <p:cNvPr id="59" name="arr2"/>
          <p:cNvSpPr/>
          <p:nvPr/>
        </p:nvSpPr>
        <p:spPr>
          <a:xfrm>
            <a:off x="7025640" y="3314700"/>
            <a:ext cx="279400" cy="228600"/>
          </a:xfrm>
          <a:prstGeom prst="rightArrow">
            <a:avLst/>
          </a:prstGeom>
          <a:solidFill>
            <a:srgbClr val="7FA8C9"/>
          </a:solidFill>
          <a:ln>
            <a:noFill/>
          </a:ln>
        </p:spPr>
        <p:txBody>
          <a:bodyPr/>
          <a:lstStyle/>
          <a:p>
            <a:endParaRPr/>
          </a:p>
        </p:txBody>
      </p:sp>
      <p:sp>
        <p:nvSpPr>
          <p:cNvPr id="60" name="card3"/>
          <p:cNvSpPr/>
          <p:nvPr/>
        </p:nvSpPr>
        <p:spPr>
          <a:xfrm>
            <a:off x="7254240" y="2159000"/>
            <a:ext cx="1960880" cy="2540000"/>
          </a:xfrm>
          <a:prstGeom prst="roundRect">
            <a:avLst>
              <a:gd name="adj" fmla="val 6000"/>
            </a:avLst>
          </a:prstGeom>
          <a:solidFill>
            <a:srgbClr val="FFFFFF"/>
          </a:solidFill>
          <a:ln w="12700">
            <a:solidFill>
              <a:srgbClr val="C9D6E2"/>
            </a:solidFill>
          </a:ln>
        </p:spPr>
        <p:txBody>
          <a:bodyPr lIns="127000" tIns="736600" rIns="127000" bIns="127000" anchor="t"/>
          <a:lstStyle/>
          <a:p>
            <a:pPr algn="ctr"/>
            <a:r>
              <a:rPr lang="de-CH" sz="1500" b="1" dirty="0">
                <a:solidFill>
                  <a:srgbClr val="1B3A5C"/>
                </a:solidFill>
              </a:rPr>
              <a:t>Prozess-digitalisierung</a:t>
            </a:r>
          </a:p>
          <a:p>
            <a:pPr algn="ctr">
              <a:spcBef>
                <a:spcPts val="600"/>
              </a:spcBef>
            </a:pPr>
            <a:r>
              <a:rPr lang="de-CH" sz="1100" dirty="0">
                <a:solidFill>
                  <a:srgbClr val="5B6B79"/>
                </a:solidFill>
              </a:rPr>
              <a:t>Überführung von HR-Prozessen in Jira Service Management</a:t>
            </a:r>
          </a:p>
        </p:txBody>
      </p:sp>
      <p:sp>
        <p:nvSpPr>
          <p:cNvPr id="61" name="num3"/>
          <p:cNvSpPr/>
          <p:nvPr/>
        </p:nvSpPr>
        <p:spPr>
          <a:xfrm>
            <a:off x="8018780" y="2336800"/>
            <a:ext cx="431800" cy="431800"/>
          </a:xfrm>
          <a:prstGeom prst="ellipse">
            <a:avLst/>
          </a:prstGeom>
          <a:solidFill>
            <a:srgbClr val="2E6CA4"/>
          </a:solidFill>
          <a:ln>
            <a:noFill/>
          </a:ln>
        </p:spPr>
        <p:txBody>
          <a:bodyPr lIns="0" tIns="0" rIns="0" bIns="0" anchor="ctr"/>
          <a:lstStyle/>
          <a:p>
            <a:pPr algn="ctr"/>
            <a:r>
              <a:rPr lang="de-CH" sz="1400" b="1">
                <a:solidFill>
                  <a:srgbClr val="FFFFFF"/>
                </a:solidFill>
              </a:rPr>
              <a:t>4</a:t>
            </a:r>
          </a:p>
        </p:txBody>
      </p:sp>
      <p:sp>
        <p:nvSpPr>
          <p:cNvPr id="62" name="arr3"/>
          <p:cNvSpPr/>
          <p:nvPr/>
        </p:nvSpPr>
        <p:spPr>
          <a:xfrm>
            <a:off x="9164320" y="3314700"/>
            <a:ext cx="279400" cy="228600"/>
          </a:xfrm>
          <a:prstGeom prst="rightArrow">
            <a:avLst/>
          </a:prstGeom>
          <a:solidFill>
            <a:srgbClr val="7FA8C9"/>
          </a:solidFill>
          <a:ln>
            <a:noFill/>
          </a:ln>
        </p:spPr>
        <p:txBody>
          <a:bodyPr/>
          <a:lstStyle/>
          <a:p>
            <a:endParaRPr/>
          </a:p>
        </p:txBody>
      </p:sp>
      <p:sp>
        <p:nvSpPr>
          <p:cNvPr id="63" name="card4"/>
          <p:cNvSpPr/>
          <p:nvPr/>
        </p:nvSpPr>
        <p:spPr>
          <a:xfrm>
            <a:off x="9392920" y="2159000"/>
            <a:ext cx="1960880" cy="2540000"/>
          </a:xfrm>
          <a:prstGeom prst="roundRect">
            <a:avLst>
              <a:gd name="adj" fmla="val 6000"/>
            </a:avLst>
          </a:prstGeom>
          <a:solidFill>
            <a:srgbClr val="1B3A5C"/>
          </a:solidFill>
          <a:ln w="28575">
            <a:solidFill>
              <a:srgbClr val="C8893A"/>
            </a:solidFill>
          </a:ln>
        </p:spPr>
        <p:txBody>
          <a:bodyPr lIns="127000" tIns="736600" rIns="127000" bIns="127000" anchor="t"/>
          <a:lstStyle/>
          <a:p>
            <a:pPr algn="ctr"/>
            <a:r>
              <a:rPr lang="de-CH" sz="1500" b="1">
                <a:solidFill>
                  <a:srgbClr val="FFFFFF"/>
                </a:solidFill>
              </a:rPr>
              <a:t>Austrittsprozess</a:t>
            </a:r>
          </a:p>
          <a:p>
            <a:pPr algn="ctr">
              <a:spcBef>
                <a:spcPts val="600"/>
              </a:spcBef>
            </a:pPr>
            <a:r>
              <a:rPr lang="de-CH" sz="1100">
                <a:solidFill>
                  <a:srgbClr val="C8DCEC"/>
                </a:solidFill>
              </a:rPr>
              <a:t>Untersuchungs-gegenstand dieser Arbeit</a:t>
            </a:r>
          </a:p>
        </p:txBody>
      </p:sp>
      <p:sp>
        <p:nvSpPr>
          <p:cNvPr id="64" name="num4"/>
          <p:cNvSpPr/>
          <p:nvPr/>
        </p:nvSpPr>
        <p:spPr>
          <a:xfrm>
            <a:off x="10157460" y="2336800"/>
            <a:ext cx="431800" cy="431800"/>
          </a:xfrm>
          <a:prstGeom prst="ellipse">
            <a:avLst/>
          </a:prstGeom>
          <a:solidFill>
            <a:srgbClr val="C8893A"/>
          </a:solidFill>
          <a:ln>
            <a:noFill/>
          </a:ln>
        </p:spPr>
        <p:txBody>
          <a:bodyPr lIns="0" tIns="0" rIns="0" bIns="0" anchor="ctr"/>
          <a:lstStyle/>
          <a:p>
            <a:pPr algn="ctr"/>
            <a:r>
              <a:rPr lang="de-CH" sz="1400" b="1">
                <a:solidFill>
                  <a:srgbClr val="FFFFFF"/>
                </a:solidFill>
              </a:rPr>
              <a:t>5</a:t>
            </a:r>
          </a:p>
        </p:txBody>
      </p:sp>
      <p:sp>
        <p:nvSpPr>
          <p:cNvPr id="65" name="kern"/>
          <p:cNvSpPr/>
          <p:nvPr/>
        </p:nvSpPr>
        <p:spPr>
          <a:xfrm>
            <a:off x="838200" y="5397500"/>
            <a:ext cx="10515600" cy="889000"/>
          </a:xfrm>
          <a:prstGeom prst="rect">
            <a:avLst/>
          </a:prstGeom>
          <a:solidFill>
            <a:srgbClr val="EEF2F6"/>
          </a:solidFill>
          <a:ln>
            <a:noFill/>
          </a:ln>
        </p:spPr>
        <p:txBody>
          <a:bodyPr lIns="203200" tIns="127000" rIns="203200" bIns="127000" anchor="ctr"/>
          <a:lstStyle/>
          <a:p>
            <a:r>
              <a:rPr lang="de-CH" sz="1600" dirty="0"/>
              <a:t>Jira Service Management schafft die technische Grundlage, ersetzt jedoch keine fachliche Standardisierung der Prozesse.</a:t>
            </a:r>
            <a:endParaRPr lang="de-CH" sz="1600" dirty="0">
              <a:solidFill>
                <a:srgbClr val="1A2A38"/>
              </a:solidFill>
            </a:endParaRPr>
          </a:p>
        </p:txBody>
      </p:sp>
      <p:sp>
        <p:nvSpPr>
          <p:cNvPr id="66" name="kernbar"/>
          <p:cNvSpPr/>
          <p:nvPr/>
        </p:nvSpPr>
        <p:spPr>
          <a:xfrm>
            <a:off x="838200" y="5397500"/>
            <a:ext cx="63500" cy="889000"/>
          </a:xfrm>
          <a:prstGeom prst="rect">
            <a:avLst/>
          </a:prstGeom>
          <a:solidFill>
            <a:srgbClr val="C8893A"/>
          </a:solidFill>
          <a:ln>
            <a:noFill/>
          </a:ln>
        </p:spPr>
        <p:txBody>
          <a:bodyPr/>
          <a:lstStyle/>
          <a:p>
            <a:endParaRPr/>
          </a:p>
        </p:txBody>
      </p:sp>
      <p:sp>
        <p:nvSpPr>
          <p:cNvPr id="3" name="Foliennummernplatzhalter 2">
            <a:extLst>
              <a:ext uri="{FF2B5EF4-FFF2-40B4-BE49-F238E27FC236}">
                <a16:creationId xmlns:a16="http://schemas.microsoft.com/office/drawing/2014/main" id="{F20F02FE-C62E-3607-935B-72A7DAD435C5}"/>
              </a:ext>
            </a:extLst>
          </p:cNvPr>
          <p:cNvSpPr>
            <a:spLocks noGrp="1"/>
          </p:cNvSpPr>
          <p:nvPr>
            <p:ph type="sldNum" sz="quarter" idx="12"/>
          </p:nvPr>
        </p:nvSpPr>
        <p:spPr/>
        <p:txBody>
          <a:bodyPr/>
          <a:lstStyle/>
          <a:p>
            <a:fld id="{2AAFDC3C-A9F8-4ABD-8D8D-8DC3321B02DC}" type="slidenum">
              <a:rPr lang="de-CH" smtClean="0"/>
              <a:t>4</a:t>
            </a:fld>
            <a:endParaRPr lang="de-CH"/>
          </a:p>
        </p:txBody>
      </p:sp>
      <p:sp>
        <p:nvSpPr>
          <p:cNvPr id="4" name="Datumsplatzhalter 3">
            <a:extLst>
              <a:ext uri="{FF2B5EF4-FFF2-40B4-BE49-F238E27FC236}">
                <a16:creationId xmlns:a16="http://schemas.microsoft.com/office/drawing/2014/main" id="{99673A35-83AA-0B12-7AEB-FC9B68B249D4}"/>
              </a:ext>
            </a:extLst>
          </p:cNvPr>
          <p:cNvSpPr>
            <a:spLocks noGrp="1"/>
          </p:cNvSpPr>
          <p:nvPr>
            <p:ph type="dt" sz="half" idx="10"/>
          </p:nvPr>
        </p:nvSpPr>
        <p:spPr/>
        <p:txBody>
          <a:bodyPr/>
          <a:lstStyle/>
          <a:p>
            <a:r>
              <a:rPr lang="de-CH"/>
              <a:t>11.06.2026</a:t>
            </a:r>
          </a:p>
        </p:txBody>
      </p:sp>
    </p:spTree>
    <p:extLst>
      <p:ext uri="{BB962C8B-B14F-4D97-AF65-F5344CB8AC3E}">
        <p14:creationId xmlns:p14="http://schemas.microsoft.com/office/powerpoint/2010/main" val="4068705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A5AA57-0B13-8D3E-106E-2733D30985BA}"/>
              </a:ext>
            </a:extLst>
          </p:cNvPr>
          <p:cNvSpPr>
            <a:spLocks noGrp="1"/>
          </p:cNvSpPr>
          <p:nvPr>
            <p:ph type="title"/>
          </p:nvPr>
        </p:nvSpPr>
        <p:spPr/>
        <p:txBody>
          <a:bodyPr/>
          <a:lstStyle/>
          <a:p>
            <a:pPr algn="l"/>
            <a:r>
              <a:rPr lang="de-CH" sz="2800" b="1" dirty="0"/>
              <a:t>Z</a:t>
            </a:r>
            <a:r>
              <a:rPr lang="de-CH" sz="2800" b="1" dirty="0">
                <a:solidFill>
                  <a:srgbClr val="1B3A5C"/>
                </a:solidFill>
              </a:rPr>
              <a:t>ielsetzung und Abgrenzung der Arbeit</a:t>
            </a:r>
          </a:p>
        </p:txBody>
      </p:sp>
      <p:sp>
        <p:nvSpPr>
          <p:cNvPr id="51" name="goal"/>
          <p:cNvSpPr/>
          <p:nvPr/>
        </p:nvSpPr>
        <p:spPr>
          <a:xfrm>
            <a:off x="838200" y="1454944"/>
            <a:ext cx="10515600" cy="819944"/>
          </a:xfrm>
          <a:prstGeom prst="roundRect">
            <a:avLst>
              <a:gd name="adj" fmla="val 8000"/>
            </a:avLst>
          </a:prstGeom>
          <a:solidFill>
            <a:srgbClr val="1B3A5C"/>
          </a:solidFill>
          <a:ln>
            <a:noFill/>
          </a:ln>
        </p:spPr>
        <p:txBody>
          <a:bodyPr lIns="254000" tIns="127000" rIns="254000" bIns="127000" anchor="ctr"/>
          <a:lstStyle/>
          <a:p>
            <a:r>
              <a:rPr lang="de-CH" sz="1600" b="1" dirty="0">
                <a:solidFill>
                  <a:srgbClr val="FFFFFF"/>
                </a:solidFill>
              </a:rPr>
              <a:t>Die Entwicklung eines standardisierten, digitalisierungsfähigen SOLL-Austrittsprozessmodells inkl. Anforderungskatalog für die spätere Abbildung im Ticketing-System.</a:t>
            </a:r>
          </a:p>
        </p:txBody>
      </p:sp>
      <p:sp>
        <p:nvSpPr>
          <p:cNvPr id="52" name="panel"/>
          <p:cNvSpPr/>
          <p:nvPr/>
        </p:nvSpPr>
        <p:spPr>
          <a:xfrm>
            <a:off x="838200" y="2690814"/>
            <a:ext cx="5156200" cy="1892299"/>
          </a:xfrm>
          <a:prstGeom prst="roundRect">
            <a:avLst>
              <a:gd name="adj" fmla="val 4000"/>
            </a:avLst>
          </a:prstGeom>
          <a:solidFill>
            <a:srgbClr val="FFFFFF"/>
          </a:solidFill>
          <a:ln w="12700">
            <a:solidFill>
              <a:srgbClr val="C9D6E2"/>
            </a:solidFill>
          </a:ln>
        </p:spPr>
        <p:txBody>
          <a:bodyPr/>
          <a:lstStyle/>
          <a:p>
            <a:endParaRPr/>
          </a:p>
        </p:txBody>
      </p:sp>
      <p:sp>
        <p:nvSpPr>
          <p:cNvPr id="53" name="ph"/>
          <p:cNvSpPr/>
          <p:nvPr/>
        </p:nvSpPr>
        <p:spPr>
          <a:xfrm>
            <a:off x="838200" y="2690814"/>
            <a:ext cx="5156200" cy="431800"/>
          </a:xfrm>
          <a:prstGeom prst="round2SameRect">
            <a:avLst>
              <a:gd name="adj1" fmla="val 18000"/>
              <a:gd name="adj2" fmla="val 0"/>
            </a:avLst>
          </a:prstGeom>
          <a:solidFill>
            <a:srgbClr val="2E6CA4"/>
          </a:solidFill>
          <a:ln>
            <a:noFill/>
          </a:ln>
        </p:spPr>
        <p:txBody>
          <a:bodyPr lIns="177800" tIns="50800" rIns="127000" bIns="50800" anchor="ctr"/>
          <a:lstStyle/>
          <a:p>
            <a:r>
              <a:rPr lang="de-CH" sz="1500" b="1" dirty="0">
                <a:solidFill>
                  <a:srgbClr val="FFFFFF"/>
                </a:solidFill>
              </a:rPr>
              <a:t>In Scope</a:t>
            </a:r>
          </a:p>
        </p:txBody>
      </p:sp>
      <p:sp>
        <p:nvSpPr>
          <p:cNvPr id="54" name="pl"/>
          <p:cNvSpPr/>
          <p:nvPr/>
        </p:nvSpPr>
        <p:spPr>
          <a:xfrm>
            <a:off x="1016000" y="3244923"/>
            <a:ext cx="4800600" cy="1651000"/>
          </a:xfrm>
          <a:prstGeom prst="rect">
            <a:avLst/>
          </a:prstGeom>
          <a:noFill/>
        </p:spPr>
        <p:txBody>
          <a:bodyPr lIns="0" tIns="0" rIns="0" bIns="0" anchor="t">
            <a:normAutofit/>
          </a:bodyPr>
          <a:lstStyle/>
          <a:p>
            <a:pPr marL="203200" indent="-203200">
              <a:spcBef>
                <a:spcPts val="500"/>
              </a:spcBef>
              <a:buFont typeface="Arial"/>
              <a:buChar char="•"/>
            </a:pPr>
            <a:r>
              <a:rPr lang="de-CH" sz="1300" dirty="0">
                <a:solidFill>
                  <a:srgbClr val="1A2A38"/>
                </a:solidFill>
              </a:rPr>
              <a:t>IST-Erhebung</a:t>
            </a:r>
          </a:p>
          <a:p>
            <a:pPr marL="203200" indent="-203200">
              <a:spcBef>
                <a:spcPts val="500"/>
              </a:spcBef>
              <a:buFont typeface="Arial"/>
              <a:buChar char="•"/>
            </a:pPr>
            <a:r>
              <a:rPr lang="de-CH" sz="1300" dirty="0">
                <a:solidFill>
                  <a:srgbClr val="1A2A38"/>
                </a:solidFill>
              </a:rPr>
              <a:t>IST-Modellierung</a:t>
            </a:r>
          </a:p>
          <a:p>
            <a:pPr marL="203200" indent="-203200">
              <a:spcBef>
                <a:spcPts val="500"/>
              </a:spcBef>
              <a:buFont typeface="Arial"/>
              <a:buChar char="•"/>
            </a:pPr>
            <a:r>
              <a:rPr lang="de-CH" sz="1300" dirty="0">
                <a:solidFill>
                  <a:srgbClr val="1A2A38"/>
                </a:solidFill>
              </a:rPr>
              <a:t>IST-Analyse einschliesslich Pain-Point-Analyse</a:t>
            </a:r>
          </a:p>
          <a:p>
            <a:pPr marL="203200" indent="-203200">
              <a:spcBef>
                <a:spcPts val="500"/>
              </a:spcBef>
              <a:buFont typeface="Arial"/>
              <a:buChar char="•"/>
            </a:pPr>
            <a:r>
              <a:rPr lang="de-CH" sz="1300" dirty="0">
                <a:solidFill>
                  <a:srgbClr val="1A2A38"/>
                </a:solidFill>
              </a:rPr>
              <a:t>SOLL-Konzept</a:t>
            </a:r>
          </a:p>
          <a:p>
            <a:pPr marL="203200" indent="-203200">
              <a:spcBef>
                <a:spcPts val="500"/>
              </a:spcBef>
              <a:buFont typeface="Arial"/>
              <a:buChar char="•"/>
            </a:pPr>
            <a:r>
              <a:rPr lang="de-CH" sz="1300" dirty="0">
                <a:solidFill>
                  <a:srgbClr val="1A2A38"/>
                </a:solidFill>
              </a:rPr>
              <a:t>Anforderungskatalog inkl. User Stories und Use Cases</a:t>
            </a:r>
          </a:p>
        </p:txBody>
      </p:sp>
      <p:sp>
        <p:nvSpPr>
          <p:cNvPr id="55" name="panel"/>
          <p:cNvSpPr/>
          <p:nvPr/>
        </p:nvSpPr>
        <p:spPr>
          <a:xfrm>
            <a:off x="6197600" y="2690814"/>
            <a:ext cx="5156200" cy="1892299"/>
          </a:xfrm>
          <a:prstGeom prst="roundRect">
            <a:avLst>
              <a:gd name="adj" fmla="val 4000"/>
            </a:avLst>
          </a:prstGeom>
          <a:solidFill>
            <a:srgbClr val="FFFFFF"/>
          </a:solidFill>
          <a:ln w="12700">
            <a:solidFill>
              <a:srgbClr val="C9D6E2"/>
            </a:solidFill>
          </a:ln>
        </p:spPr>
        <p:txBody>
          <a:bodyPr/>
          <a:lstStyle/>
          <a:p>
            <a:endParaRPr/>
          </a:p>
        </p:txBody>
      </p:sp>
      <p:sp>
        <p:nvSpPr>
          <p:cNvPr id="56" name="ph"/>
          <p:cNvSpPr/>
          <p:nvPr/>
        </p:nvSpPr>
        <p:spPr>
          <a:xfrm>
            <a:off x="6197600" y="2690814"/>
            <a:ext cx="5156200" cy="431800"/>
          </a:xfrm>
          <a:prstGeom prst="round2SameRect">
            <a:avLst>
              <a:gd name="adj1" fmla="val 18000"/>
              <a:gd name="adj2" fmla="val 0"/>
            </a:avLst>
          </a:prstGeom>
          <a:solidFill>
            <a:srgbClr val="5B6B79"/>
          </a:solidFill>
          <a:ln>
            <a:noFill/>
          </a:ln>
        </p:spPr>
        <p:txBody>
          <a:bodyPr lIns="177800" tIns="50800" rIns="127000" bIns="50800" anchor="ctr"/>
          <a:lstStyle/>
          <a:p>
            <a:r>
              <a:rPr lang="de-CH" sz="1500" b="1">
                <a:solidFill>
                  <a:srgbClr val="FFFFFF"/>
                </a:solidFill>
              </a:rPr>
              <a:t>Out of Scope</a:t>
            </a:r>
          </a:p>
        </p:txBody>
      </p:sp>
      <p:sp>
        <p:nvSpPr>
          <p:cNvPr id="57" name="pl"/>
          <p:cNvSpPr/>
          <p:nvPr/>
        </p:nvSpPr>
        <p:spPr>
          <a:xfrm>
            <a:off x="6375400" y="3244923"/>
            <a:ext cx="4800600" cy="1651000"/>
          </a:xfrm>
          <a:prstGeom prst="rect">
            <a:avLst/>
          </a:prstGeom>
          <a:noFill/>
        </p:spPr>
        <p:txBody>
          <a:bodyPr lIns="0" tIns="0" rIns="0" bIns="0" anchor="t">
            <a:normAutofit/>
          </a:bodyPr>
          <a:lstStyle/>
          <a:p>
            <a:pPr marL="203200" indent="-203200">
              <a:spcBef>
                <a:spcPts val="500"/>
              </a:spcBef>
              <a:buFont typeface="Arial"/>
              <a:buChar char="•"/>
            </a:pPr>
            <a:r>
              <a:rPr lang="de-CH" sz="1300" dirty="0">
                <a:solidFill>
                  <a:srgbClr val="1A2A38"/>
                </a:solidFill>
              </a:rPr>
              <a:t>Technische Spezifikation</a:t>
            </a:r>
          </a:p>
          <a:p>
            <a:pPr marL="203200" indent="-203200">
              <a:spcBef>
                <a:spcPts val="500"/>
              </a:spcBef>
              <a:buFont typeface="Arial"/>
              <a:buChar char="•"/>
            </a:pPr>
            <a:r>
              <a:rPr lang="de-CH" sz="1300" dirty="0">
                <a:solidFill>
                  <a:srgbClr val="1A2A38"/>
                </a:solidFill>
              </a:rPr>
              <a:t>Technische Implementierung</a:t>
            </a:r>
          </a:p>
          <a:p>
            <a:pPr marL="203200" indent="-203200">
              <a:spcBef>
                <a:spcPts val="500"/>
              </a:spcBef>
              <a:buFont typeface="Arial"/>
              <a:buChar char="•"/>
            </a:pPr>
            <a:r>
              <a:rPr lang="de-CH" sz="1300" dirty="0">
                <a:solidFill>
                  <a:srgbClr val="1A2A38"/>
                </a:solidFill>
              </a:rPr>
              <a:t>Technische Systemkonfiguration</a:t>
            </a:r>
          </a:p>
        </p:txBody>
      </p:sp>
      <p:sp>
        <p:nvSpPr>
          <p:cNvPr id="80" name="pzstrip"/>
          <p:cNvSpPr/>
          <p:nvPr/>
        </p:nvSpPr>
        <p:spPr>
          <a:xfrm>
            <a:off x="939800" y="5029128"/>
            <a:ext cx="10515600" cy="1463747"/>
          </a:xfrm>
          <a:prstGeom prst="rect">
            <a:avLst/>
          </a:prstGeom>
          <a:solidFill>
            <a:schemeClr val="accent5">
              <a:lumMod val="20000"/>
              <a:lumOff val="80000"/>
            </a:schemeClr>
          </a:solidFill>
          <a:ln>
            <a:noFill/>
          </a:ln>
        </p:spPr>
        <p:txBody>
          <a:bodyPr/>
          <a:lstStyle/>
          <a:p>
            <a:r>
              <a:rPr lang="de-CH" b="1" dirty="0"/>
              <a:t>Projektziele</a:t>
            </a:r>
          </a:p>
          <a:p>
            <a:endParaRPr dirty="0"/>
          </a:p>
        </p:txBody>
      </p:sp>
      <p:sp>
        <p:nvSpPr>
          <p:cNvPr id="81" name="pzbar"/>
          <p:cNvSpPr/>
          <p:nvPr/>
        </p:nvSpPr>
        <p:spPr>
          <a:xfrm>
            <a:off x="838200" y="5029128"/>
            <a:ext cx="63500" cy="1463747"/>
          </a:xfrm>
          <a:prstGeom prst="rect">
            <a:avLst/>
          </a:prstGeom>
          <a:solidFill>
            <a:srgbClr val="C8893A"/>
          </a:solidFill>
          <a:ln>
            <a:noFill/>
          </a:ln>
        </p:spPr>
        <p:txBody>
          <a:bodyPr/>
          <a:lstStyle/>
          <a:p>
            <a:endParaRPr/>
          </a:p>
        </p:txBody>
      </p:sp>
      <p:sp>
        <p:nvSpPr>
          <p:cNvPr id="82" name="pztxt"/>
          <p:cNvSpPr/>
          <p:nvPr/>
        </p:nvSpPr>
        <p:spPr>
          <a:xfrm>
            <a:off x="1041400" y="5029128"/>
            <a:ext cx="10312400" cy="1463747"/>
          </a:xfrm>
          <a:prstGeom prst="rect">
            <a:avLst/>
          </a:prstGeom>
          <a:noFill/>
        </p:spPr>
        <p:txBody>
          <a:bodyPr lIns="101600" tIns="76200" rIns="152400" bIns="76200" anchor="ctr">
            <a:normAutofit/>
          </a:bodyPr>
          <a:lstStyle/>
          <a:p>
            <a:endParaRPr lang="de-CH" sz="1400" dirty="0">
              <a:solidFill>
                <a:srgbClr val="1A2A38"/>
              </a:solidFill>
            </a:endParaRPr>
          </a:p>
        </p:txBody>
      </p:sp>
      <p:graphicFrame>
        <p:nvGraphicFramePr>
          <p:cNvPr id="4" name="Tabelle 3">
            <a:extLst>
              <a:ext uri="{FF2B5EF4-FFF2-40B4-BE49-F238E27FC236}">
                <a16:creationId xmlns:a16="http://schemas.microsoft.com/office/drawing/2014/main" id="{432072F4-CA47-54EA-6459-70B16AB603B6}"/>
              </a:ext>
            </a:extLst>
          </p:cNvPr>
          <p:cNvGraphicFramePr>
            <a:graphicFrameLocks noGrp="1"/>
          </p:cNvGraphicFramePr>
          <p:nvPr>
            <p:extLst>
              <p:ext uri="{D42A27DB-BD31-4B8C-83A1-F6EECF244321}">
                <p14:modId xmlns:p14="http://schemas.microsoft.com/office/powerpoint/2010/main" val="766757214"/>
              </p:ext>
            </p:extLst>
          </p:nvPr>
        </p:nvGraphicFramePr>
        <p:xfrm>
          <a:off x="1041400" y="5514744"/>
          <a:ext cx="10008756" cy="741680"/>
        </p:xfrm>
        <a:graphic>
          <a:graphicData uri="http://schemas.openxmlformats.org/drawingml/2006/table">
            <a:tbl>
              <a:tblPr firstRow="1" bandRow="1">
                <a:tableStyleId>{22838BEF-8BB2-4498-84A7-C5851F593DF1}</a:tableStyleId>
              </a:tblPr>
              <a:tblGrid>
                <a:gridCol w="4701615">
                  <a:extLst>
                    <a:ext uri="{9D8B030D-6E8A-4147-A177-3AD203B41FA5}">
                      <a16:colId xmlns:a16="http://schemas.microsoft.com/office/drawing/2014/main" val="1724382065"/>
                    </a:ext>
                  </a:extLst>
                </a:gridCol>
                <a:gridCol w="5307141">
                  <a:extLst>
                    <a:ext uri="{9D8B030D-6E8A-4147-A177-3AD203B41FA5}">
                      <a16:colId xmlns:a16="http://schemas.microsoft.com/office/drawing/2014/main" val="1003399644"/>
                    </a:ext>
                  </a:extLst>
                </a:gridCol>
              </a:tblGrid>
              <a:tr h="370840">
                <a:tc>
                  <a:txBody>
                    <a:bodyPr/>
                    <a:lstStyle/>
                    <a:p>
                      <a:pPr marL="0" algn="l" defTabSz="914400" rtl="0" eaLnBrk="1" latinLnBrk="0" hangingPunct="1"/>
                      <a:r>
                        <a:rPr lang="de-CH" sz="1400" b="1" kern="1200" dirty="0">
                          <a:solidFill>
                            <a:schemeClr val="tx1"/>
                          </a:solidFill>
                        </a:rPr>
                        <a:t>P1</a:t>
                      </a:r>
                      <a:r>
                        <a:rPr lang="de-CH" sz="1400" b="0" kern="1200" dirty="0">
                          <a:solidFill>
                            <a:schemeClr val="tx1"/>
                          </a:solidFill>
                        </a:rPr>
                        <a:t> Medienbrüche reduzieren</a:t>
                      </a:r>
                      <a:endParaRPr lang="de-CH" sz="1400" b="0" kern="1200" dirty="0">
                        <a:solidFill>
                          <a:schemeClr val="tx1"/>
                        </a:solidFill>
                        <a:latin typeface="+mn-lt"/>
                        <a:ea typeface="+mn-ea"/>
                        <a:cs typeface="+mn-cs"/>
                      </a:endParaRPr>
                    </a:p>
                  </a:txBody>
                  <a:tcPr/>
                </a:tc>
                <a:tc>
                  <a:txBody>
                    <a:bodyPr/>
                    <a:lstStyle/>
                    <a:p>
                      <a:pPr marL="0" algn="l" defTabSz="914400" rtl="0" eaLnBrk="1" latinLnBrk="0" hangingPunct="1"/>
                      <a:r>
                        <a:rPr lang="de-CH" sz="1400" b="1" kern="1200" dirty="0">
                          <a:solidFill>
                            <a:schemeClr val="tx1"/>
                          </a:solidFill>
                        </a:rPr>
                        <a:t>P2</a:t>
                      </a:r>
                      <a:r>
                        <a:rPr lang="de-CH" sz="1400" b="0" kern="1200" dirty="0">
                          <a:solidFill>
                            <a:schemeClr val="tx1"/>
                          </a:solidFill>
                        </a:rPr>
                        <a:t> Manuelle, nicht-wertschöpfende Schritte minimieren</a:t>
                      </a:r>
                      <a:endParaRPr lang="de-CH" sz="1400" b="0" kern="1200" dirty="0">
                        <a:solidFill>
                          <a:schemeClr val="tx1"/>
                        </a:solidFill>
                        <a:latin typeface="+mn-lt"/>
                        <a:ea typeface="+mn-ea"/>
                        <a:cs typeface="+mn-cs"/>
                      </a:endParaRPr>
                    </a:p>
                  </a:txBody>
                  <a:tcPr/>
                </a:tc>
                <a:extLst>
                  <a:ext uri="{0D108BD9-81ED-4DB2-BD59-A6C34878D82A}">
                    <a16:rowId xmlns:a16="http://schemas.microsoft.com/office/drawing/2014/main" val="3380509111"/>
                  </a:ext>
                </a:extLst>
              </a:tr>
              <a:tr h="370840">
                <a:tc>
                  <a:txBody>
                    <a:bodyPr/>
                    <a:lstStyle/>
                    <a:p>
                      <a:pPr marL="0" algn="l" defTabSz="914400" rtl="0" eaLnBrk="1" latinLnBrk="0" hangingPunct="1"/>
                      <a:r>
                        <a:rPr lang="de-CH" sz="1400" b="1" kern="1200" dirty="0">
                          <a:solidFill>
                            <a:schemeClr val="tx1"/>
                          </a:solidFill>
                        </a:rPr>
                        <a:t>P3</a:t>
                      </a:r>
                      <a:r>
                        <a:rPr lang="de-CH" sz="1400" kern="1200" dirty="0">
                          <a:solidFill>
                            <a:schemeClr val="tx1"/>
                          </a:solidFill>
                        </a:rPr>
                        <a:t> Rollen und Verantwortlichkeiten definieren</a:t>
                      </a:r>
                      <a:endParaRPr lang="de-CH" sz="1400" kern="1200" dirty="0">
                        <a:solidFill>
                          <a:schemeClr val="tx1"/>
                        </a:solidFill>
                        <a:latin typeface="+mn-lt"/>
                        <a:ea typeface="+mn-ea"/>
                        <a:cs typeface="+mn-cs"/>
                      </a:endParaRPr>
                    </a:p>
                  </a:txBody>
                  <a:tcPr/>
                </a:tc>
                <a:tc>
                  <a:txBody>
                    <a:bodyPr/>
                    <a:lstStyle/>
                    <a:p>
                      <a:pPr marL="0" algn="l" defTabSz="914400" rtl="0" eaLnBrk="1" latinLnBrk="0" hangingPunct="1"/>
                      <a:r>
                        <a:rPr lang="de-CH" sz="1400" b="1" kern="1200" dirty="0">
                          <a:solidFill>
                            <a:schemeClr val="tx1"/>
                          </a:solidFill>
                        </a:rPr>
                        <a:t>P4</a:t>
                      </a:r>
                      <a:r>
                        <a:rPr lang="de-CH" sz="1400" kern="1200" dirty="0">
                          <a:solidFill>
                            <a:schemeClr val="tx1"/>
                          </a:solidFill>
                        </a:rPr>
                        <a:t> Prozessabläufe standardisieren</a:t>
                      </a:r>
                      <a:endParaRPr lang="de-CH" sz="1400" kern="1200" dirty="0">
                        <a:solidFill>
                          <a:schemeClr val="tx1"/>
                        </a:solidFill>
                        <a:latin typeface="+mn-lt"/>
                        <a:ea typeface="+mn-ea"/>
                        <a:cs typeface="+mn-cs"/>
                      </a:endParaRPr>
                    </a:p>
                  </a:txBody>
                  <a:tcPr/>
                </a:tc>
                <a:extLst>
                  <a:ext uri="{0D108BD9-81ED-4DB2-BD59-A6C34878D82A}">
                    <a16:rowId xmlns:a16="http://schemas.microsoft.com/office/drawing/2014/main" val="174642658"/>
                  </a:ext>
                </a:extLst>
              </a:tr>
            </a:tbl>
          </a:graphicData>
        </a:graphic>
      </p:graphicFrame>
      <p:sp>
        <p:nvSpPr>
          <p:cNvPr id="3" name="Foliennummernplatzhalter 2">
            <a:extLst>
              <a:ext uri="{FF2B5EF4-FFF2-40B4-BE49-F238E27FC236}">
                <a16:creationId xmlns:a16="http://schemas.microsoft.com/office/drawing/2014/main" id="{AEC8D575-6B7E-2368-DBA6-9C19EAC9B1AD}"/>
              </a:ext>
            </a:extLst>
          </p:cNvPr>
          <p:cNvSpPr>
            <a:spLocks noGrp="1"/>
          </p:cNvSpPr>
          <p:nvPr>
            <p:ph type="sldNum" sz="quarter" idx="12"/>
          </p:nvPr>
        </p:nvSpPr>
        <p:spPr/>
        <p:txBody>
          <a:bodyPr/>
          <a:lstStyle/>
          <a:p>
            <a:fld id="{2AAFDC3C-A9F8-4ABD-8D8D-8DC3321B02DC}" type="slidenum">
              <a:rPr lang="de-CH" smtClean="0"/>
              <a:t>5</a:t>
            </a:fld>
            <a:endParaRPr lang="de-CH"/>
          </a:p>
        </p:txBody>
      </p:sp>
    </p:spTree>
    <p:extLst>
      <p:ext uri="{BB962C8B-B14F-4D97-AF65-F5344CB8AC3E}">
        <p14:creationId xmlns:p14="http://schemas.microsoft.com/office/powerpoint/2010/main" val="2508925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AF660-9CEA-1E70-FD26-5AE292EBC75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C70FA6E-AC3E-3686-B011-2F5348D307F7}"/>
              </a:ext>
            </a:extLst>
          </p:cNvPr>
          <p:cNvSpPr>
            <a:spLocks noGrp="1"/>
          </p:cNvSpPr>
          <p:nvPr>
            <p:ph type="title"/>
          </p:nvPr>
        </p:nvSpPr>
        <p:spPr/>
        <p:txBody>
          <a:bodyPr/>
          <a:lstStyle/>
          <a:p>
            <a:pPr algn="l"/>
            <a:r>
              <a:rPr lang="de-CH" sz="2800" b="1" dirty="0"/>
              <a:t>Z</a:t>
            </a:r>
            <a:r>
              <a:rPr lang="de-CH" sz="2800" b="1" dirty="0">
                <a:solidFill>
                  <a:srgbClr val="1B3A5C"/>
                </a:solidFill>
              </a:rPr>
              <a:t>ielsetzung und Abgrenzung der Arbeit</a:t>
            </a:r>
          </a:p>
        </p:txBody>
      </p:sp>
      <p:sp>
        <p:nvSpPr>
          <p:cNvPr id="51" name="goal">
            <a:extLst>
              <a:ext uri="{FF2B5EF4-FFF2-40B4-BE49-F238E27FC236}">
                <a16:creationId xmlns:a16="http://schemas.microsoft.com/office/drawing/2014/main" id="{95F6BC0B-22C9-4292-57CB-DDF0D53C284B}"/>
              </a:ext>
            </a:extLst>
          </p:cNvPr>
          <p:cNvSpPr/>
          <p:nvPr/>
        </p:nvSpPr>
        <p:spPr>
          <a:xfrm>
            <a:off x="838200" y="1828872"/>
            <a:ext cx="10515600" cy="2493818"/>
          </a:xfrm>
          <a:prstGeom prst="roundRect">
            <a:avLst>
              <a:gd name="adj" fmla="val 8000"/>
            </a:avLst>
          </a:prstGeom>
          <a:solidFill>
            <a:srgbClr val="1B3A5C"/>
          </a:solidFill>
          <a:ln>
            <a:noFill/>
          </a:ln>
        </p:spPr>
        <p:txBody>
          <a:bodyPr lIns="254000" tIns="127000" rIns="254000" bIns="127000" anchor="ctr"/>
          <a:lstStyle/>
          <a:p>
            <a:r>
              <a:rPr lang="de-DE" sz="2400" b="1" dirty="0">
                <a:solidFill>
                  <a:srgbClr val="E39803"/>
                </a:solidFill>
              </a:rPr>
              <a:t>Forschungsfrage</a:t>
            </a:r>
            <a:endParaRPr lang="de-DE" sz="2400" b="1" dirty="0">
              <a:solidFill>
                <a:srgbClr val="FFFFFF"/>
              </a:solidFill>
            </a:endParaRPr>
          </a:p>
          <a:p>
            <a:pPr>
              <a:lnSpc>
                <a:spcPct val="150000"/>
              </a:lnSpc>
            </a:pPr>
            <a:r>
              <a:rPr lang="de-DE" sz="2000" dirty="0">
                <a:solidFill>
                  <a:srgbClr val="FFFFFF"/>
                </a:solidFill>
              </a:rPr>
              <a:t>Wie muss ein </a:t>
            </a:r>
            <a:r>
              <a:rPr lang="de-DE" sz="2000" u="sng" dirty="0">
                <a:solidFill>
                  <a:srgbClr val="FFFFFF"/>
                </a:solidFill>
              </a:rPr>
              <a:t>systemgestütztes SOLL-Konzept </a:t>
            </a:r>
            <a:r>
              <a:rPr lang="de-DE" sz="2000" dirty="0">
                <a:solidFill>
                  <a:srgbClr val="FFFFFF"/>
                </a:solidFill>
              </a:rPr>
              <a:t>für den Austrittsprozess des Universitätsspitals Basel gestaltet sein, </a:t>
            </a:r>
            <a:r>
              <a:rPr lang="de-DE" sz="2000" u="sng" dirty="0">
                <a:solidFill>
                  <a:srgbClr val="FFFFFF"/>
                </a:solidFill>
              </a:rPr>
              <a:t>um Medienbrüche zu reduzieren</a:t>
            </a:r>
            <a:r>
              <a:rPr lang="de-DE" sz="2000" dirty="0">
                <a:solidFill>
                  <a:srgbClr val="FFFFFF"/>
                </a:solidFill>
              </a:rPr>
              <a:t>, </a:t>
            </a:r>
            <a:r>
              <a:rPr lang="de-DE" sz="2000" u="sng" dirty="0">
                <a:solidFill>
                  <a:srgbClr val="FFFFFF"/>
                </a:solidFill>
              </a:rPr>
              <a:t>manuelle Aufwände zu minimieren </a:t>
            </a:r>
            <a:r>
              <a:rPr lang="de-DE" sz="2000" dirty="0">
                <a:solidFill>
                  <a:srgbClr val="FFFFFF"/>
                </a:solidFill>
              </a:rPr>
              <a:t>und eine </a:t>
            </a:r>
            <a:r>
              <a:rPr lang="de-DE" sz="2000" u="sng" dirty="0">
                <a:solidFill>
                  <a:srgbClr val="FFFFFF"/>
                </a:solidFill>
              </a:rPr>
              <a:t>transparente sowie nachvollziehbare Prozessabwicklung </a:t>
            </a:r>
            <a:r>
              <a:rPr lang="de-DE" sz="2000" dirty="0">
                <a:solidFill>
                  <a:srgbClr val="FFFFFF"/>
                </a:solidFill>
              </a:rPr>
              <a:t>zu ermöglichen?</a:t>
            </a:r>
            <a:endParaRPr lang="de-CH" sz="2000" dirty="0">
              <a:solidFill>
                <a:srgbClr val="FFFFFF"/>
              </a:solidFill>
            </a:endParaRPr>
          </a:p>
        </p:txBody>
      </p:sp>
      <p:sp>
        <p:nvSpPr>
          <p:cNvPr id="82" name="pztxt">
            <a:extLst>
              <a:ext uri="{FF2B5EF4-FFF2-40B4-BE49-F238E27FC236}">
                <a16:creationId xmlns:a16="http://schemas.microsoft.com/office/drawing/2014/main" id="{8FCDFD01-E1A2-19D6-61F0-C2E86B93D8A7}"/>
              </a:ext>
            </a:extLst>
          </p:cNvPr>
          <p:cNvSpPr/>
          <p:nvPr/>
        </p:nvSpPr>
        <p:spPr>
          <a:xfrm>
            <a:off x="1041400" y="5029128"/>
            <a:ext cx="10312400" cy="1463747"/>
          </a:xfrm>
          <a:prstGeom prst="rect">
            <a:avLst/>
          </a:prstGeom>
          <a:noFill/>
        </p:spPr>
        <p:txBody>
          <a:bodyPr lIns="101600" tIns="76200" rIns="152400" bIns="76200" anchor="ctr">
            <a:normAutofit/>
          </a:bodyPr>
          <a:lstStyle/>
          <a:p>
            <a:endParaRPr lang="de-CH" sz="1400" dirty="0">
              <a:solidFill>
                <a:srgbClr val="1A2A38"/>
              </a:solidFill>
            </a:endParaRPr>
          </a:p>
        </p:txBody>
      </p:sp>
      <p:sp>
        <p:nvSpPr>
          <p:cNvPr id="3" name="Foliennummernplatzhalter 2">
            <a:extLst>
              <a:ext uri="{FF2B5EF4-FFF2-40B4-BE49-F238E27FC236}">
                <a16:creationId xmlns:a16="http://schemas.microsoft.com/office/drawing/2014/main" id="{A94A9086-9A54-9DB3-959B-7FAFDAF8EDBF}"/>
              </a:ext>
            </a:extLst>
          </p:cNvPr>
          <p:cNvSpPr>
            <a:spLocks noGrp="1"/>
          </p:cNvSpPr>
          <p:nvPr>
            <p:ph type="sldNum" sz="quarter" idx="12"/>
          </p:nvPr>
        </p:nvSpPr>
        <p:spPr/>
        <p:txBody>
          <a:bodyPr/>
          <a:lstStyle/>
          <a:p>
            <a:fld id="{2AAFDC3C-A9F8-4ABD-8D8D-8DC3321B02DC}" type="slidenum">
              <a:rPr lang="de-CH" smtClean="0"/>
              <a:t>6</a:t>
            </a:fld>
            <a:endParaRPr lang="de-CH"/>
          </a:p>
        </p:txBody>
      </p:sp>
      <p:sp>
        <p:nvSpPr>
          <p:cNvPr id="4" name="Datumsplatzhalter 3">
            <a:extLst>
              <a:ext uri="{FF2B5EF4-FFF2-40B4-BE49-F238E27FC236}">
                <a16:creationId xmlns:a16="http://schemas.microsoft.com/office/drawing/2014/main" id="{7EEFBDC8-09F8-6F69-D8F4-E9E2DC9B82AD}"/>
              </a:ext>
            </a:extLst>
          </p:cNvPr>
          <p:cNvSpPr>
            <a:spLocks noGrp="1"/>
          </p:cNvSpPr>
          <p:nvPr>
            <p:ph type="dt" sz="half" idx="10"/>
          </p:nvPr>
        </p:nvSpPr>
        <p:spPr/>
        <p:txBody>
          <a:bodyPr/>
          <a:lstStyle/>
          <a:p>
            <a:r>
              <a:rPr lang="de-CH"/>
              <a:t>11.06.2026</a:t>
            </a:r>
          </a:p>
        </p:txBody>
      </p:sp>
    </p:spTree>
    <p:extLst>
      <p:ext uri="{BB962C8B-B14F-4D97-AF65-F5344CB8AC3E}">
        <p14:creationId xmlns:p14="http://schemas.microsoft.com/office/powerpoint/2010/main" val="412914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5625A-2F9C-5FBF-5FD1-074AF3CC689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D5B78C9-804E-49D6-52B8-D1D970ABE5EE}"/>
              </a:ext>
            </a:extLst>
          </p:cNvPr>
          <p:cNvSpPr>
            <a:spLocks noGrp="1"/>
          </p:cNvSpPr>
          <p:nvPr>
            <p:ph type="title"/>
          </p:nvPr>
        </p:nvSpPr>
        <p:spPr/>
        <p:txBody>
          <a:bodyPr/>
          <a:lstStyle/>
          <a:p>
            <a:pPr algn="l"/>
            <a:r>
              <a:rPr lang="de-CH" sz="2800" b="1">
                <a:solidFill>
                  <a:srgbClr val="1B3A5C"/>
                </a:solidFill>
              </a:rPr>
              <a:t>Projektstand und Vorgehen</a:t>
            </a:r>
          </a:p>
        </p:txBody>
      </p:sp>
      <p:sp>
        <p:nvSpPr>
          <p:cNvPr id="50" name="kicker">
            <a:extLst>
              <a:ext uri="{FF2B5EF4-FFF2-40B4-BE49-F238E27FC236}">
                <a16:creationId xmlns:a16="http://schemas.microsoft.com/office/drawing/2014/main" id="{19C24910-6395-F25B-9CC9-1E62674A317B}"/>
              </a:ext>
            </a:extLst>
          </p:cNvPr>
          <p:cNvSpPr/>
          <p:nvPr/>
        </p:nvSpPr>
        <p:spPr>
          <a:xfrm>
            <a:off x="838200" y="1574800"/>
            <a:ext cx="9906000" cy="279400"/>
          </a:xfrm>
          <a:prstGeom prst="rect">
            <a:avLst/>
          </a:prstGeom>
          <a:noFill/>
        </p:spPr>
        <p:txBody>
          <a:bodyPr lIns="0" tIns="0" rIns="0" bIns="0"/>
          <a:lstStyle/>
          <a:p>
            <a:r>
              <a:rPr lang="de-DE" sz="1400" b="1" dirty="0">
                <a:solidFill>
                  <a:srgbClr val="2E6CA4"/>
                </a:solidFill>
              </a:rPr>
              <a:t>Phase 1 · Auftrag, Ausgangslage und Rahmenbedingungen</a:t>
            </a:r>
            <a:endParaRPr lang="de-CH" sz="1400" b="1" dirty="0">
              <a:solidFill>
                <a:srgbClr val="2E6CA4"/>
              </a:solidFill>
            </a:endParaRPr>
          </a:p>
        </p:txBody>
      </p:sp>
      <p:sp>
        <p:nvSpPr>
          <p:cNvPr id="51" name="track">
            <a:extLst>
              <a:ext uri="{FF2B5EF4-FFF2-40B4-BE49-F238E27FC236}">
                <a16:creationId xmlns:a16="http://schemas.microsoft.com/office/drawing/2014/main" id="{7A22C904-ABF1-D164-8982-E237BFFA90A4}"/>
              </a:ext>
            </a:extLst>
          </p:cNvPr>
          <p:cNvSpPr/>
          <p:nvPr/>
        </p:nvSpPr>
        <p:spPr>
          <a:xfrm>
            <a:off x="1651000" y="2692401"/>
            <a:ext cx="8890000" cy="50800"/>
          </a:xfrm>
          <a:prstGeom prst="rect">
            <a:avLst/>
          </a:prstGeom>
          <a:solidFill>
            <a:srgbClr val="C9D6E2"/>
          </a:solidFill>
          <a:ln>
            <a:noFill/>
          </a:ln>
        </p:spPr>
        <p:txBody>
          <a:bodyPr/>
          <a:lstStyle/>
          <a:p>
            <a:endParaRPr/>
          </a:p>
        </p:txBody>
      </p:sp>
      <p:sp>
        <p:nvSpPr>
          <p:cNvPr id="53" name="c0">
            <a:extLst>
              <a:ext uri="{FF2B5EF4-FFF2-40B4-BE49-F238E27FC236}">
                <a16:creationId xmlns:a16="http://schemas.microsoft.com/office/drawing/2014/main" id="{B377467C-59D5-9CDB-3E4A-116F41BA4BD9}"/>
              </a:ext>
            </a:extLst>
          </p:cNvPr>
          <p:cNvSpPr/>
          <p:nvPr/>
        </p:nvSpPr>
        <p:spPr>
          <a:xfrm>
            <a:off x="838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a:solidFill>
                  <a:srgbClr val="1B3A5C"/>
                </a:solidFill>
              </a:rPr>
              <a:t>Kick-off</a:t>
            </a:r>
          </a:p>
          <a:p>
            <a:pPr algn="ctr">
              <a:spcBef>
                <a:spcPts val="400"/>
              </a:spcBef>
            </a:pPr>
            <a:r>
              <a:rPr lang="de-CH" sz="1100">
                <a:solidFill>
                  <a:srgbClr val="5B6B79"/>
                </a:solidFill>
              </a:rPr>
              <a:t>Auftrag und Rahmen geklärt</a:t>
            </a:r>
          </a:p>
        </p:txBody>
      </p:sp>
      <p:sp>
        <p:nvSpPr>
          <p:cNvPr id="54" name="b1">
            <a:extLst>
              <a:ext uri="{FF2B5EF4-FFF2-40B4-BE49-F238E27FC236}">
                <a16:creationId xmlns:a16="http://schemas.microsoft.com/office/drawing/2014/main" id="{D6148338-CD0F-F3E2-A833-C849B57785F2}"/>
              </a:ext>
            </a:extLst>
          </p:cNvPr>
          <p:cNvSpPr/>
          <p:nvPr/>
        </p:nvSpPr>
        <p:spPr>
          <a:xfrm>
            <a:off x="3276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2</a:t>
            </a:r>
          </a:p>
        </p:txBody>
      </p:sp>
      <p:sp>
        <p:nvSpPr>
          <p:cNvPr id="55" name="c1">
            <a:extLst>
              <a:ext uri="{FF2B5EF4-FFF2-40B4-BE49-F238E27FC236}">
                <a16:creationId xmlns:a16="http://schemas.microsoft.com/office/drawing/2014/main" id="{F8052D5C-3322-3F58-7AF8-E93AD3679369}"/>
              </a:ext>
            </a:extLst>
          </p:cNvPr>
          <p:cNvSpPr/>
          <p:nvPr/>
        </p:nvSpPr>
        <p:spPr>
          <a:xfrm>
            <a:off x="2616200" y="3098801"/>
            <a:ext cx="1625600" cy="1905000"/>
          </a:xfrm>
          <a:prstGeom prst="roundRect">
            <a:avLst>
              <a:gd name="adj" fmla="val 6000"/>
            </a:avLst>
          </a:prstGeom>
          <a:solidFill>
            <a:schemeClr val="bg1"/>
          </a:solidFill>
          <a:ln w="12700">
            <a:solidFill>
              <a:srgbClr val="C9D6E2"/>
            </a:solidFill>
          </a:ln>
        </p:spPr>
        <p:txBody>
          <a:bodyPr lIns="101600" tIns="127000" rIns="101600" bIns="101600" anchor="t">
            <a:normAutofit/>
          </a:bodyPr>
          <a:lstStyle/>
          <a:p>
            <a:pPr algn="ctr"/>
            <a:r>
              <a:rPr lang="de-CH" sz="1300" b="1" dirty="0">
                <a:solidFill>
                  <a:srgbClr val="1B3A5C"/>
                </a:solidFill>
              </a:rPr>
              <a:t>Literatur und Disposition</a:t>
            </a:r>
          </a:p>
          <a:p>
            <a:pPr algn="ctr">
              <a:spcBef>
                <a:spcPts val="400"/>
              </a:spcBef>
            </a:pPr>
            <a:r>
              <a:rPr lang="de-CH" sz="1100" dirty="0">
                <a:solidFill>
                  <a:srgbClr val="5B6B79"/>
                </a:solidFill>
              </a:rPr>
              <a:t>Theoretische und methodische Grundlagen</a:t>
            </a:r>
          </a:p>
        </p:txBody>
      </p:sp>
      <p:sp>
        <p:nvSpPr>
          <p:cNvPr id="56" name="b2">
            <a:extLst>
              <a:ext uri="{FF2B5EF4-FFF2-40B4-BE49-F238E27FC236}">
                <a16:creationId xmlns:a16="http://schemas.microsoft.com/office/drawing/2014/main" id="{EF0E9009-0271-E6FA-609E-8191428824E8}"/>
              </a:ext>
            </a:extLst>
          </p:cNvPr>
          <p:cNvSpPr/>
          <p:nvPr/>
        </p:nvSpPr>
        <p:spPr>
          <a:xfrm>
            <a:off x="5054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3</a:t>
            </a:r>
          </a:p>
        </p:txBody>
      </p:sp>
      <p:sp>
        <p:nvSpPr>
          <p:cNvPr id="57" name="c2">
            <a:extLst>
              <a:ext uri="{FF2B5EF4-FFF2-40B4-BE49-F238E27FC236}">
                <a16:creationId xmlns:a16="http://schemas.microsoft.com/office/drawing/2014/main" id="{FEA598BE-C5E0-EC9F-B58A-F71FEFA8DDCF}"/>
              </a:ext>
            </a:extLst>
          </p:cNvPr>
          <p:cNvSpPr/>
          <p:nvPr/>
        </p:nvSpPr>
        <p:spPr>
          <a:xfrm>
            <a:off x="4394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IST-Erhebung</a:t>
            </a:r>
          </a:p>
          <a:p>
            <a:pPr algn="ctr">
              <a:spcBef>
                <a:spcPts val="400"/>
              </a:spcBef>
            </a:pPr>
            <a:r>
              <a:rPr lang="de-CH" sz="1100" dirty="0">
                <a:solidFill>
                  <a:srgbClr val="5B6B79"/>
                </a:solidFill>
              </a:rPr>
              <a:t>Dokumentenanalyse, Interviews, IST-Modellierung und Validierungsworkshop</a:t>
            </a:r>
          </a:p>
        </p:txBody>
      </p:sp>
      <p:sp>
        <p:nvSpPr>
          <p:cNvPr id="58" name="b3">
            <a:extLst>
              <a:ext uri="{FF2B5EF4-FFF2-40B4-BE49-F238E27FC236}">
                <a16:creationId xmlns:a16="http://schemas.microsoft.com/office/drawing/2014/main" id="{D80E92F3-D0CB-2BF1-9BE1-546F1F20855B}"/>
              </a:ext>
            </a:extLst>
          </p:cNvPr>
          <p:cNvSpPr/>
          <p:nvPr/>
        </p:nvSpPr>
        <p:spPr>
          <a:xfrm>
            <a:off x="6832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4</a:t>
            </a:r>
          </a:p>
        </p:txBody>
      </p:sp>
      <p:sp>
        <p:nvSpPr>
          <p:cNvPr id="59" name="c3">
            <a:extLst>
              <a:ext uri="{FF2B5EF4-FFF2-40B4-BE49-F238E27FC236}">
                <a16:creationId xmlns:a16="http://schemas.microsoft.com/office/drawing/2014/main" id="{FA4C15C6-744A-51FD-9D2C-CDAB9DF3F950}"/>
              </a:ext>
            </a:extLst>
          </p:cNvPr>
          <p:cNvSpPr/>
          <p:nvPr/>
        </p:nvSpPr>
        <p:spPr>
          <a:xfrm>
            <a:off x="6172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IST-Analyse</a:t>
            </a:r>
          </a:p>
          <a:p>
            <a:pPr algn="ctr">
              <a:spcBef>
                <a:spcPts val="400"/>
              </a:spcBef>
            </a:pPr>
            <a:r>
              <a:rPr lang="de-CH" sz="1100" dirty="0" err="1">
                <a:solidFill>
                  <a:srgbClr val="5B6B79"/>
                </a:solidFill>
              </a:rPr>
              <a:t>Issue</a:t>
            </a:r>
            <a:r>
              <a:rPr lang="de-CH" sz="1100" dirty="0">
                <a:solidFill>
                  <a:srgbClr val="5B6B79"/>
                </a:solidFill>
              </a:rPr>
              <a:t> Register, Value-</a:t>
            </a:r>
            <a:r>
              <a:rPr lang="de-CH" sz="1100" dirty="0" err="1">
                <a:solidFill>
                  <a:srgbClr val="5B6B79"/>
                </a:solidFill>
              </a:rPr>
              <a:t>Added</a:t>
            </a:r>
            <a:r>
              <a:rPr lang="de-CH" sz="1100" dirty="0">
                <a:solidFill>
                  <a:srgbClr val="5B6B79"/>
                </a:solidFill>
              </a:rPr>
              <a:t>-Analyse, </a:t>
            </a:r>
            <a:r>
              <a:rPr lang="de-CH" sz="1100" dirty="0" err="1">
                <a:solidFill>
                  <a:srgbClr val="5B6B79"/>
                </a:solidFill>
              </a:rPr>
              <a:t>Muda</a:t>
            </a:r>
            <a:r>
              <a:rPr lang="de-CH" sz="1100" dirty="0">
                <a:solidFill>
                  <a:srgbClr val="5B6B79"/>
                </a:solidFill>
              </a:rPr>
              <a:t>-</a:t>
            </a:r>
            <a:r>
              <a:rPr lang="de-CH" sz="1100" dirty="0" err="1">
                <a:solidFill>
                  <a:srgbClr val="5B6B79"/>
                </a:solidFill>
              </a:rPr>
              <a:t>Waste</a:t>
            </a:r>
            <a:r>
              <a:rPr lang="de-CH" sz="1100" dirty="0">
                <a:solidFill>
                  <a:srgbClr val="5B6B79"/>
                </a:solidFill>
              </a:rPr>
              <a:t>-Analyse und Ursachenanalyse </a:t>
            </a:r>
          </a:p>
        </p:txBody>
      </p:sp>
      <p:sp>
        <p:nvSpPr>
          <p:cNvPr id="60" name="b4">
            <a:extLst>
              <a:ext uri="{FF2B5EF4-FFF2-40B4-BE49-F238E27FC236}">
                <a16:creationId xmlns:a16="http://schemas.microsoft.com/office/drawing/2014/main" id="{86D438EF-58E6-6C03-9D40-E17B5FF5232B}"/>
              </a:ext>
            </a:extLst>
          </p:cNvPr>
          <p:cNvSpPr/>
          <p:nvPr/>
        </p:nvSpPr>
        <p:spPr>
          <a:xfrm>
            <a:off x="8610600" y="2565401"/>
            <a:ext cx="304800" cy="304800"/>
          </a:xfrm>
          <a:prstGeom prst="ellipse">
            <a:avLst/>
          </a:prstGeom>
          <a:solidFill>
            <a:srgbClr val="C8893A"/>
          </a:solidFill>
          <a:ln w="19050">
            <a:solidFill>
              <a:srgbClr val="C8893A"/>
            </a:solidFill>
          </a:ln>
        </p:spPr>
        <p:txBody>
          <a:bodyPr lIns="0" tIns="0" rIns="0" bIns="0" anchor="ctr"/>
          <a:lstStyle/>
          <a:p>
            <a:pPr algn="ctr"/>
            <a:r>
              <a:rPr lang="de-CH" sz="1300" b="1" dirty="0">
                <a:solidFill>
                  <a:srgbClr val="FFFFFF"/>
                </a:solidFill>
              </a:rPr>
              <a:t>5</a:t>
            </a:r>
          </a:p>
        </p:txBody>
      </p:sp>
      <p:sp>
        <p:nvSpPr>
          <p:cNvPr id="61" name="c4">
            <a:extLst>
              <a:ext uri="{FF2B5EF4-FFF2-40B4-BE49-F238E27FC236}">
                <a16:creationId xmlns:a16="http://schemas.microsoft.com/office/drawing/2014/main" id="{FAE51BFB-B049-1805-DBD1-976FD58D831D}"/>
              </a:ext>
            </a:extLst>
          </p:cNvPr>
          <p:cNvSpPr/>
          <p:nvPr/>
        </p:nvSpPr>
        <p:spPr>
          <a:xfrm>
            <a:off x="7950200" y="3098801"/>
            <a:ext cx="1625600" cy="1905000"/>
          </a:xfrm>
          <a:prstGeom prst="roundRect">
            <a:avLst>
              <a:gd name="adj" fmla="val 6000"/>
            </a:avLst>
          </a:prstGeom>
          <a:solidFill>
            <a:schemeClr val="bg1"/>
          </a:solidFill>
          <a:ln w="22225">
            <a:solidFill>
              <a:schemeClr val="bg2"/>
            </a:solidFill>
          </a:ln>
        </p:spPr>
        <p:txBody>
          <a:bodyPr lIns="101600" tIns="127000" rIns="101600" bIns="101600" anchor="t">
            <a:normAutofit/>
          </a:bodyPr>
          <a:lstStyle/>
          <a:p>
            <a:pPr algn="ctr"/>
            <a:r>
              <a:rPr lang="de-CH" sz="1300" b="1" dirty="0">
                <a:solidFill>
                  <a:srgbClr val="1B3A5C"/>
                </a:solidFill>
              </a:rPr>
              <a:t>SOLL-Konzept</a:t>
            </a:r>
          </a:p>
          <a:p>
            <a:pPr algn="ctr">
              <a:spcBef>
                <a:spcPts val="400"/>
              </a:spcBef>
            </a:pPr>
            <a:r>
              <a:rPr lang="de-CH" sz="1100" dirty="0">
                <a:solidFill>
                  <a:srgbClr val="5B6B79"/>
                </a:solidFill>
              </a:rPr>
              <a:t>Ziel-Konzept im SOLL-Workshop entwickeln und Anforderungen erheben</a:t>
            </a:r>
          </a:p>
        </p:txBody>
      </p:sp>
      <p:sp>
        <p:nvSpPr>
          <p:cNvPr id="63" name="b5">
            <a:extLst>
              <a:ext uri="{FF2B5EF4-FFF2-40B4-BE49-F238E27FC236}">
                <a16:creationId xmlns:a16="http://schemas.microsoft.com/office/drawing/2014/main" id="{11127525-EA58-E798-BC39-A2EE23BE8785}"/>
              </a:ext>
            </a:extLst>
          </p:cNvPr>
          <p:cNvSpPr/>
          <p:nvPr/>
        </p:nvSpPr>
        <p:spPr>
          <a:xfrm>
            <a:off x="10388600" y="2565401"/>
            <a:ext cx="304800" cy="304800"/>
          </a:xfrm>
          <a:prstGeom prst="ellipse">
            <a:avLst/>
          </a:prstGeom>
          <a:solidFill>
            <a:srgbClr val="1B3A5C"/>
          </a:solidFill>
          <a:ln w="19050">
            <a:solidFill>
              <a:srgbClr val="7FA8C9"/>
            </a:solidFill>
          </a:ln>
        </p:spPr>
        <p:txBody>
          <a:bodyPr lIns="0" tIns="0" rIns="0" bIns="0" anchor="ctr"/>
          <a:lstStyle/>
          <a:p>
            <a:pPr algn="ctr"/>
            <a:r>
              <a:rPr lang="de-CH" sz="1300" b="1" dirty="0">
                <a:solidFill>
                  <a:srgbClr val="FFFFFF"/>
                </a:solidFill>
              </a:rPr>
              <a:t>6</a:t>
            </a:r>
          </a:p>
        </p:txBody>
      </p:sp>
      <p:sp>
        <p:nvSpPr>
          <p:cNvPr id="64" name="c5">
            <a:extLst>
              <a:ext uri="{FF2B5EF4-FFF2-40B4-BE49-F238E27FC236}">
                <a16:creationId xmlns:a16="http://schemas.microsoft.com/office/drawing/2014/main" id="{B951C8B4-4323-6056-2E66-4B5764B64AB8}"/>
              </a:ext>
            </a:extLst>
          </p:cNvPr>
          <p:cNvSpPr/>
          <p:nvPr/>
        </p:nvSpPr>
        <p:spPr>
          <a:xfrm>
            <a:off x="9728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Detailspezifikation und Abnahme</a:t>
            </a:r>
          </a:p>
          <a:p>
            <a:pPr algn="ctr">
              <a:spcBef>
                <a:spcPts val="400"/>
              </a:spcBef>
            </a:pPr>
            <a:r>
              <a:rPr lang="de-CH" sz="1100" dirty="0">
                <a:solidFill>
                  <a:srgbClr val="5B6B79"/>
                </a:solidFill>
              </a:rPr>
              <a:t>Anforderungskatalog inkl. User Stories und Use Cases, Projektabnahme</a:t>
            </a:r>
          </a:p>
          <a:p>
            <a:pPr algn="ctr">
              <a:spcBef>
                <a:spcPts val="400"/>
              </a:spcBef>
            </a:pPr>
            <a:endParaRPr lang="de-CH" sz="1100" dirty="0">
              <a:solidFill>
                <a:srgbClr val="5B6B79"/>
              </a:solidFill>
            </a:endParaRPr>
          </a:p>
        </p:txBody>
      </p:sp>
      <p:sp>
        <p:nvSpPr>
          <p:cNvPr id="3" name="b0">
            <a:extLst>
              <a:ext uri="{FF2B5EF4-FFF2-40B4-BE49-F238E27FC236}">
                <a16:creationId xmlns:a16="http://schemas.microsoft.com/office/drawing/2014/main" id="{60474819-BC3C-6831-DC44-9BF31F251C44}"/>
              </a:ext>
            </a:extLst>
          </p:cNvPr>
          <p:cNvSpPr/>
          <p:nvPr/>
        </p:nvSpPr>
        <p:spPr>
          <a:xfrm>
            <a:off x="8610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5</a:t>
            </a:r>
          </a:p>
        </p:txBody>
      </p:sp>
      <p:sp>
        <p:nvSpPr>
          <p:cNvPr id="4" name="b0">
            <a:extLst>
              <a:ext uri="{FF2B5EF4-FFF2-40B4-BE49-F238E27FC236}">
                <a16:creationId xmlns:a16="http://schemas.microsoft.com/office/drawing/2014/main" id="{5BB031E0-5FED-B212-0BAC-C91CED19A48A}"/>
              </a:ext>
            </a:extLst>
          </p:cNvPr>
          <p:cNvSpPr/>
          <p:nvPr/>
        </p:nvSpPr>
        <p:spPr>
          <a:xfrm>
            <a:off x="1346200" y="2565401"/>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5" name="Grafik 4" descr="Häkchen mit einfarbiger Füllung">
            <a:extLst>
              <a:ext uri="{FF2B5EF4-FFF2-40B4-BE49-F238E27FC236}">
                <a16:creationId xmlns:a16="http://schemas.microsoft.com/office/drawing/2014/main" id="{3E04C475-65B2-E2C8-21E5-38757BB0368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90650" y="2609851"/>
            <a:ext cx="215900" cy="215900"/>
          </a:xfrm>
          <a:prstGeom prst="rect">
            <a:avLst/>
          </a:prstGeom>
        </p:spPr>
      </p:pic>
      <p:sp>
        <p:nvSpPr>
          <p:cNvPr id="6" name="Foliennummernplatzhalter 5">
            <a:extLst>
              <a:ext uri="{FF2B5EF4-FFF2-40B4-BE49-F238E27FC236}">
                <a16:creationId xmlns:a16="http://schemas.microsoft.com/office/drawing/2014/main" id="{3B777865-10EE-E20F-484F-6C83E45DDA52}"/>
              </a:ext>
            </a:extLst>
          </p:cNvPr>
          <p:cNvSpPr>
            <a:spLocks noGrp="1"/>
          </p:cNvSpPr>
          <p:nvPr>
            <p:ph type="sldNum" sz="quarter" idx="12"/>
          </p:nvPr>
        </p:nvSpPr>
        <p:spPr/>
        <p:txBody>
          <a:bodyPr/>
          <a:lstStyle/>
          <a:p>
            <a:fld id="{2AAFDC3C-A9F8-4ABD-8D8D-8DC3321B02DC}" type="slidenum">
              <a:rPr lang="de-CH" smtClean="0"/>
              <a:t>7</a:t>
            </a:fld>
            <a:endParaRPr lang="de-CH"/>
          </a:p>
        </p:txBody>
      </p:sp>
      <p:sp>
        <p:nvSpPr>
          <p:cNvPr id="7" name="Datumsplatzhalter 6">
            <a:extLst>
              <a:ext uri="{FF2B5EF4-FFF2-40B4-BE49-F238E27FC236}">
                <a16:creationId xmlns:a16="http://schemas.microsoft.com/office/drawing/2014/main" id="{BE6AC5D6-3116-2FCF-C543-CAC4C7BE797F}"/>
              </a:ext>
            </a:extLst>
          </p:cNvPr>
          <p:cNvSpPr>
            <a:spLocks noGrp="1"/>
          </p:cNvSpPr>
          <p:nvPr>
            <p:ph type="dt" sz="half" idx="10"/>
          </p:nvPr>
        </p:nvSpPr>
        <p:spPr/>
        <p:txBody>
          <a:bodyPr/>
          <a:lstStyle/>
          <a:p>
            <a:r>
              <a:rPr lang="de-CH"/>
              <a:t>11.06.2026</a:t>
            </a:r>
          </a:p>
        </p:txBody>
      </p:sp>
    </p:spTree>
    <p:extLst>
      <p:ext uri="{BB962C8B-B14F-4D97-AF65-F5344CB8AC3E}">
        <p14:creationId xmlns:p14="http://schemas.microsoft.com/office/powerpoint/2010/main" val="2521932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748C8-5A3A-D660-B48D-A66203CBE4F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FD6E1E1-187B-6EE0-DD1F-4CA84E1F1520}"/>
              </a:ext>
            </a:extLst>
          </p:cNvPr>
          <p:cNvSpPr>
            <a:spLocks noGrp="1"/>
          </p:cNvSpPr>
          <p:nvPr>
            <p:ph type="title"/>
          </p:nvPr>
        </p:nvSpPr>
        <p:spPr/>
        <p:txBody>
          <a:bodyPr/>
          <a:lstStyle/>
          <a:p>
            <a:pPr algn="l"/>
            <a:r>
              <a:rPr lang="de-CH" sz="2800" b="1">
                <a:solidFill>
                  <a:srgbClr val="1B3A5C"/>
                </a:solidFill>
              </a:rPr>
              <a:t>Projektstand und Vorgehen</a:t>
            </a:r>
          </a:p>
        </p:txBody>
      </p:sp>
      <p:sp>
        <p:nvSpPr>
          <p:cNvPr id="50" name="kicker">
            <a:extLst>
              <a:ext uri="{FF2B5EF4-FFF2-40B4-BE49-F238E27FC236}">
                <a16:creationId xmlns:a16="http://schemas.microsoft.com/office/drawing/2014/main" id="{D6F107E3-15A8-95B1-EE72-530EB23A46D0}"/>
              </a:ext>
            </a:extLst>
          </p:cNvPr>
          <p:cNvSpPr/>
          <p:nvPr/>
        </p:nvSpPr>
        <p:spPr>
          <a:xfrm>
            <a:off x="838200" y="1574800"/>
            <a:ext cx="9906000" cy="279400"/>
          </a:xfrm>
          <a:prstGeom prst="rect">
            <a:avLst/>
          </a:prstGeom>
          <a:noFill/>
        </p:spPr>
        <p:txBody>
          <a:bodyPr lIns="0" tIns="0" rIns="0" bIns="0"/>
          <a:lstStyle/>
          <a:p>
            <a:r>
              <a:rPr lang="de-DE" sz="1400" b="1" dirty="0">
                <a:solidFill>
                  <a:srgbClr val="2E6CA4"/>
                </a:solidFill>
              </a:rPr>
              <a:t>Phase 1 · Theoretische Basis und methodischer Bezugsrahmen</a:t>
            </a:r>
          </a:p>
          <a:p>
            <a:endParaRPr lang="de-CH" sz="1400" b="1" dirty="0">
              <a:solidFill>
                <a:srgbClr val="2E6CA4"/>
              </a:solidFill>
            </a:endParaRPr>
          </a:p>
        </p:txBody>
      </p:sp>
      <p:sp>
        <p:nvSpPr>
          <p:cNvPr id="51" name="track">
            <a:extLst>
              <a:ext uri="{FF2B5EF4-FFF2-40B4-BE49-F238E27FC236}">
                <a16:creationId xmlns:a16="http://schemas.microsoft.com/office/drawing/2014/main" id="{94AFBA37-32E1-BF73-60CE-4A88C88733F9}"/>
              </a:ext>
            </a:extLst>
          </p:cNvPr>
          <p:cNvSpPr/>
          <p:nvPr/>
        </p:nvSpPr>
        <p:spPr>
          <a:xfrm>
            <a:off x="1651000" y="2692401"/>
            <a:ext cx="8890000" cy="50800"/>
          </a:xfrm>
          <a:prstGeom prst="rect">
            <a:avLst/>
          </a:prstGeom>
          <a:solidFill>
            <a:srgbClr val="C9D6E2"/>
          </a:solidFill>
          <a:ln>
            <a:noFill/>
          </a:ln>
        </p:spPr>
        <p:txBody>
          <a:bodyPr/>
          <a:lstStyle/>
          <a:p>
            <a:endParaRPr/>
          </a:p>
        </p:txBody>
      </p:sp>
      <p:sp>
        <p:nvSpPr>
          <p:cNvPr id="53" name="c0">
            <a:extLst>
              <a:ext uri="{FF2B5EF4-FFF2-40B4-BE49-F238E27FC236}">
                <a16:creationId xmlns:a16="http://schemas.microsoft.com/office/drawing/2014/main" id="{26E9AB04-7753-2B77-C98F-EDE3446EFB36}"/>
              </a:ext>
            </a:extLst>
          </p:cNvPr>
          <p:cNvSpPr/>
          <p:nvPr/>
        </p:nvSpPr>
        <p:spPr>
          <a:xfrm>
            <a:off x="838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a:solidFill>
                  <a:srgbClr val="1B3A5C"/>
                </a:solidFill>
              </a:rPr>
              <a:t>Kick-off</a:t>
            </a:r>
          </a:p>
          <a:p>
            <a:pPr algn="ctr">
              <a:spcBef>
                <a:spcPts val="400"/>
              </a:spcBef>
            </a:pPr>
            <a:r>
              <a:rPr lang="de-CH" sz="1100">
                <a:solidFill>
                  <a:srgbClr val="5B6B79"/>
                </a:solidFill>
              </a:rPr>
              <a:t>Auftrag und Rahmen geklärt</a:t>
            </a:r>
          </a:p>
        </p:txBody>
      </p:sp>
      <p:sp>
        <p:nvSpPr>
          <p:cNvPr id="54" name="b1">
            <a:extLst>
              <a:ext uri="{FF2B5EF4-FFF2-40B4-BE49-F238E27FC236}">
                <a16:creationId xmlns:a16="http://schemas.microsoft.com/office/drawing/2014/main" id="{0460AA2B-0936-8ED9-AD8F-9D6F11F44DD1}"/>
              </a:ext>
            </a:extLst>
          </p:cNvPr>
          <p:cNvSpPr/>
          <p:nvPr/>
        </p:nvSpPr>
        <p:spPr>
          <a:xfrm>
            <a:off x="3276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2</a:t>
            </a:r>
          </a:p>
        </p:txBody>
      </p:sp>
      <p:sp>
        <p:nvSpPr>
          <p:cNvPr id="55" name="c1">
            <a:extLst>
              <a:ext uri="{FF2B5EF4-FFF2-40B4-BE49-F238E27FC236}">
                <a16:creationId xmlns:a16="http://schemas.microsoft.com/office/drawing/2014/main" id="{7FCCE3C1-0C33-2400-D760-E59798C1AC03}"/>
              </a:ext>
            </a:extLst>
          </p:cNvPr>
          <p:cNvSpPr/>
          <p:nvPr/>
        </p:nvSpPr>
        <p:spPr>
          <a:xfrm>
            <a:off x="2616200" y="3098801"/>
            <a:ext cx="1625600" cy="1905000"/>
          </a:xfrm>
          <a:prstGeom prst="roundRect">
            <a:avLst>
              <a:gd name="adj" fmla="val 6000"/>
            </a:avLst>
          </a:prstGeom>
          <a:solidFill>
            <a:schemeClr val="accent1">
              <a:lumMod val="20000"/>
              <a:lumOff val="80000"/>
            </a:schemeClr>
          </a:solidFill>
          <a:ln w="12700">
            <a:solidFill>
              <a:srgbClr val="C9D6E2"/>
            </a:solidFill>
          </a:ln>
        </p:spPr>
        <p:txBody>
          <a:bodyPr lIns="101600" tIns="127000" rIns="101600" bIns="101600" anchor="t">
            <a:normAutofit/>
          </a:bodyPr>
          <a:lstStyle/>
          <a:p>
            <a:pPr algn="ctr"/>
            <a:r>
              <a:rPr lang="de-CH" sz="1300" b="1" dirty="0">
                <a:solidFill>
                  <a:srgbClr val="1B3A5C"/>
                </a:solidFill>
              </a:rPr>
              <a:t>Literatur und Disposition</a:t>
            </a:r>
          </a:p>
          <a:p>
            <a:pPr algn="ctr">
              <a:spcBef>
                <a:spcPts val="400"/>
              </a:spcBef>
            </a:pPr>
            <a:r>
              <a:rPr lang="de-CH" sz="1100" dirty="0">
                <a:solidFill>
                  <a:srgbClr val="5B6B79"/>
                </a:solidFill>
              </a:rPr>
              <a:t>Theoretische und methodische Grundlagen</a:t>
            </a:r>
          </a:p>
        </p:txBody>
      </p:sp>
      <p:sp>
        <p:nvSpPr>
          <p:cNvPr id="56" name="b2">
            <a:extLst>
              <a:ext uri="{FF2B5EF4-FFF2-40B4-BE49-F238E27FC236}">
                <a16:creationId xmlns:a16="http://schemas.microsoft.com/office/drawing/2014/main" id="{A0C05814-6486-66E6-4FA8-2A29A3E65AAC}"/>
              </a:ext>
            </a:extLst>
          </p:cNvPr>
          <p:cNvSpPr/>
          <p:nvPr/>
        </p:nvSpPr>
        <p:spPr>
          <a:xfrm>
            <a:off x="5054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3</a:t>
            </a:r>
          </a:p>
        </p:txBody>
      </p:sp>
      <p:sp>
        <p:nvSpPr>
          <p:cNvPr id="57" name="c2">
            <a:extLst>
              <a:ext uri="{FF2B5EF4-FFF2-40B4-BE49-F238E27FC236}">
                <a16:creationId xmlns:a16="http://schemas.microsoft.com/office/drawing/2014/main" id="{DB482758-E8C5-BE4F-812F-6BEA630D3E85}"/>
              </a:ext>
            </a:extLst>
          </p:cNvPr>
          <p:cNvSpPr/>
          <p:nvPr/>
        </p:nvSpPr>
        <p:spPr>
          <a:xfrm>
            <a:off x="4394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IST-Erhebung</a:t>
            </a:r>
          </a:p>
          <a:p>
            <a:pPr algn="ctr">
              <a:spcBef>
                <a:spcPts val="400"/>
              </a:spcBef>
            </a:pPr>
            <a:r>
              <a:rPr lang="de-CH" sz="1100" dirty="0">
                <a:solidFill>
                  <a:srgbClr val="5B6B79"/>
                </a:solidFill>
              </a:rPr>
              <a:t>Dokumentenanalyse, Interviews, IST-Modellierung und Validierungsworkshop</a:t>
            </a:r>
          </a:p>
        </p:txBody>
      </p:sp>
      <p:sp>
        <p:nvSpPr>
          <p:cNvPr id="58" name="b3">
            <a:extLst>
              <a:ext uri="{FF2B5EF4-FFF2-40B4-BE49-F238E27FC236}">
                <a16:creationId xmlns:a16="http://schemas.microsoft.com/office/drawing/2014/main" id="{6C6084B1-769A-DC26-B614-A4A114057F27}"/>
              </a:ext>
            </a:extLst>
          </p:cNvPr>
          <p:cNvSpPr/>
          <p:nvPr/>
        </p:nvSpPr>
        <p:spPr>
          <a:xfrm>
            <a:off x="6832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4</a:t>
            </a:r>
          </a:p>
        </p:txBody>
      </p:sp>
      <p:sp>
        <p:nvSpPr>
          <p:cNvPr id="59" name="c3">
            <a:extLst>
              <a:ext uri="{FF2B5EF4-FFF2-40B4-BE49-F238E27FC236}">
                <a16:creationId xmlns:a16="http://schemas.microsoft.com/office/drawing/2014/main" id="{A79BBD42-7414-D561-FBF6-71E47B3F7DB9}"/>
              </a:ext>
            </a:extLst>
          </p:cNvPr>
          <p:cNvSpPr/>
          <p:nvPr/>
        </p:nvSpPr>
        <p:spPr>
          <a:xfrm>
            <a:off x="6172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IST-Analyse</a:t>
            </a:r>
          </a:p>
          <a:p>
            <a:pPr algn="ctr">
              <a:spcBef>
                <a:spcPts val="400"/>
              </a:spcBef>
            </a:pPr>
            <a:r>
              <a:rPr lang="de-CH" sz="1100" dirty="0" err="1">
                <a:solidFill>
                  <a:srgbClr val="5B6B79"/>
                </a:solidFill>
              </a:rPr>
              <a:t>Issue</a:t>
            </a:r>
            <a:r>
              <a:rPr lang="de-CH" sz="1100" dirty="0">
                <a:solidFill>
                  <a:srgbClr val="5B6B79"/>
                </a:solidFill>
              </a:rPr>
              <a:t> Register, Value-</a:t>
            </a:r>
            <a:r>
              <a:rPr lang="de-CH" sz="1100" dirty="0" err="1">
                <a:solidFill>
                  <a:srgbClr val="5B6B79"/>
                </a:solidFill>
              </a:rPr>
              <a:t>Added</a:t>
            </a:r>
            <a:r>
              <a:rPr lang="de-CH" sz="1100" dirty="0">
                <a:solidFill>
                  <a:srgbClr val="5B6B79"/>
                </a:solidFill>
              </a:rPr>
              <a:t>-Analyse, </a:t>
            </a:r>
            <a:r>
              <a:rPr lang="de-CH" sz="1100" dirty="0" err="1">
                <a:solidFill>
                  <a:srgbClr val="5B6B79"/>
                </a:solidFill>
              </a:rPr>
              <a:t>Muda</a:t>
            </a:r>
            <a:r>
              <a:rPr lang="de-CH" sz="1100" dirty="0">
                <a:solidFill>
                  <a:srgbClr val="5B6B79"/>
                </a:solidFill>
              </a:rPr>
              <a:t>-</a:t>
            </a:r>
            <a:r>
              <a:rPr lang="de-CH" sz="1100" dirty="0" err="1">
                <a:solidFill>
                  <a:srgbClr val="5B6B79"/>
                </a:solidFill>
              </a:rPr>
              <a:t>Waste</a:t>
            </a:r>
            <a:r>
              <a:rPr lang="de-CH" sz="1100" dirty="0">
                <a:solidFill>
                  <a:srgbClr val="5B6B79"/>
                </a:solidFill>
              </a:rPr>
              <a:t>-Analyse und Ursachenanalyse </a:t>
            </a:r>
          </a:p>
        </p:txBody>
      </p:sp>
      <p:sp>
        <p:nvSpPr>
          <p:cNvPr id="60" name="b4">
            <a:extLst>
              <a:ext uri="{FF2B5EF4-FFF2-40B4-BE49-F238E27FC236}">
                <a16:creationId xmlns:a16="http://schemas.microsoft.com/office/drawing/2014/main" id="{E333DD33-FE5D-C13B-8BE5-E367E98AA35E}"/>
              </a:ext>
            </a:extLst>
          </p:cNvPr>
          <p:cNvSpPr/>
          <p:nvPr/>
        </p:nvSpPr>
        <p:spPr>
          <a:xfrm>
            <a:off x="8610600" y="2565401"/>
            <a:ext cx="304800" cy="304800"/>
          </a:xfrm>
          <a:prstGeom prst="ellipse">
            <a:avLst/>
          </a:prstGeom>
          <a:solidFill>
            <a:srgbClr val="C8893A"/>
          </a:solidFill>
          <a:ln w="19050">
            <a:solidFill>
              <a:srgbClr val="C8893A"/>
            </a:solidFill>
          </a:ln>
        </p:spPr>
        <p:txBody>
          <a:bodyPr lIns="0" tIns="0" rIns="0" bIns="0" anchor="ctr"/>
          <a:lstStyle/>
          <a:p>
            <a:pPr algn="ctr"/>
            <a:r>
              <a:rPr lang="de-CH" sz="1300" b="1" dirty="0">
                <a:solidFill>
                  <a:srgbClr val="FFFFFF"/>
                </a:solidFill>
              </a:rPr>
              <a:t>5</a:t>
            </a:r>
          </a:p>
        </p:txBody>
      </p:sp>
      <p:sp>
        <p:nvSpPr>
          <p:cNvPr id="61" name="c4">
            <a:extLst>
              <a:ext uri="{FF2B5EF4-FFF2-40B4-BE49-F238E27FC236}">
                <a16:creationId xmlns:a16="http://schemas.microsoft.com/office/drawing/2014/main" id="{F46845BB-A818-EF3E-7DA9-80B5C7734B3A}"/>
              </a:ext>
            </a:extLst>
          </p:cNvPr>
          <p:cNvSpPr/>
          <p:nvPr/>
        </p:nvSpPr>
        <p:spPr>
          <a:xfrm>
            <a:off x="7950200" y="3098801"/>
            <a:ext cx="1625600" cy="1905000"/>
          </a:xfrm>
          <a:prstGeom prst="roundRect">
            <a:avLst>
              <a:gd name="adj" fmla="val 6000"/>
            </a:avLst>
          </a:prstGeom>
          <a:solidFill>
            <a:schemeClr val="bg1"/>
          </a:solidFill>
          <a:ln w="22225">
            <a:solidFill>
              <a:schemeClr val="bg2"/>
            </a:solidFill>
          </a:ln>
        </p:spPr>
        <p:txBody>
          <a:bodyPr lIns="101600" tIns="127000" rIns="101600" bIns="101600" anchor="t">
            <a:normAutofit/>
          </a:bodyPr>
          <a:lstStyle/>
          <a:p>
            <a:pPr algn="ctr"/>
            <a:r>
              <a:rPr lang="de-CH" sz="1300" b="1" dirty="0">
                <a:solidFill>
                  <a:srgbClr val="1B3A5C"/>
                </a:solidFill>
              </a:rPr>
              <a:t>SOLL-Konzept</a:t>
            </a:r>
          </a:p>
          <a:p>
            <a:pPr algn="ctr">
              <a:spcBef>
                <a:spcPts val="400"/>
              </a:spcBef>
            </a:pPr>
            <a:r>
              <a:rPr lang="de-CH" sz="1100" dirty="0">
                <a:solidFill>
                  <a:srgbClr val="5B6B79"/>
                </a:solidFill>
              </a:rPr>
              <a:t>Ziel-Konzept im SOLL-Workshop entwickeln und Anforderungen erheben</a:t>
            </a:r>
          </a:p>
        </p:txBody>
      </p:sp>
      <p:sp>
        <p:nvSpPr>
          <p:cNvPr id="63" name="b5">
            <a:extLst>
              <a:ext uri="{FF2B5EF4-FFF2-40B4-BE49-F238E27FC236}">
                <a16:creationId xmlns:a16="http://schemas.microsoft.com/office/drawing/2014/main" id="{67B917AD-C4EA-6B63-E69C-E63DBD7C61A9}"/>
              </a:ext>
            </a:extLst>
          </p:cNvPr>
          <p:cNvSpPr/>
          <p:nvPr/>
        </p:nvSpPr>
        <p:spPr>
          <a:xfrm>
            <a:off x="10388600" y="2565401"/>
            <a:ext cx="304800" cy="304800"/>
          </a:xfrm>
          <a:prstGeom prst="ellipse">
            <a:avLst/>
          </a:prstGeom>
          <a:solidFill>
            <a:srgbClr val="1B3A5C"/>
          </a:solidFill>
          <a:ln w="19050">
            <a:solidFill>
              <a:srgbClr val="7FA8C9"/>
            </a:solidFill>
          </a:ln>
        </p:spPr>
        <p:txBody>
          <a:bodyPr lIns="0" tIns="0" rIns="0" bIns="0" anchor="ctr"/>
          <a:lstStyle/>
          <a:p>
            <a:pPr algn="ctr"/>
            <a:r>
              <a:rPr lang="de-CH" sz="1300" b="1" dirty="0">
                <a:solidFill>
                  <a:srgbClr val="FFFFFF"/>
                </a:solidFill>
              </a:rPr>
              <a:t>6</a:t>
            </a:r>
          </a:p>
        </p:txBody>
      </p:sp>
      <p:sp>
        <p:nvSpPr>
          <p:cNvPr id="64" name="c5">
            <a:extLst>
              <a:ext uri="{FF2B5EF4-FFF2-40B4-BE49-F238E27FC236}">
                <a16:creationId xmlns:a16="http://schemas.microsoft.com/office/drawing/2014/main" id="{2AD285F5-2DB6-C5EE-C813-F42234B6A840}"/>
              </a:ext>
            </a:extLst>
          </p:cNvPr>
          <p:cNvSpPr/>
          <p:nvPr/>
        </p:nvSpPr>
        <p:spPr>
          <a:xfrm>
            <a:off x="9728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Detailspezifikation und Abnahme</a:t>
            </a:r>
          </a:p>
          <a:p>
            <a:pPr algn="ctr">
              <a:spcBef>
                <a:spcPts val="400"/>
              </a:spcBef>
            </a:pPr>
            <a:r>
              <a:rPr lang="de-CH" sz="1100" dirty="0">
                <a:solidFill>
                  <a:srgbClr val="5B6B79"/>
                </a:solidFill>
              </a:rPr>
              <a:t>Anforderungskatalog inkl. User Stories und Use Cases, Projektabnahme</a:t>
            </a:r>
          </a:p>
          <a:p>
            <a:pPr algn="ctr">
              <a:spcBef>
                <a:spcPts val="400"/>
              </a:spcBef>
            </a:pPr>
            <a:endParaRPr lang="de-CH" sz="1100" dirty="0">
              <a:solidFill>
                <a:srgbClr val="5B6B79"/>
              </a:solidFill>
            </a:endParaRPr>
          </a:p>
        </p:txBody>
      </p:sp>
      <p:sp>
        <p:nvSpPr>
          <p:cNvPr id="3" name="b0">
            <a:extLst>
              <a:ext uri="{FF2B5EF4-FFF2-40B4-BE49-F238E27FC236}">
                <a16:creationId xmlns:a16="http://schemas.microsoft.com/office/drawing/2014/main" id="{B01921C0-2ED7-055A-9276-8EAA88A9D4D8}"/>
              </a:ext>
            </a:extLst>
          </p:cNvPr>
          <p:cNvSpPr/>
          <p:nvPr/>
        </p:nvSpPr>
        <p:spPr>
          <a:xfrm>
            <a:off x="8610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5</a:t>
            </a:r>
          </a:p>
        </p:txBody>
      </p:sp>
      <p:sp>
        <p:nvSpPr>
          <p:cNvPr id="4" name="b0">
            <a:extLst>
              <a:ext uri="{FF2B5EF4-FFF2-40B4-BE49-F238E27FC236}">
                <a16:creationId xmlns:a16="http://schemas.microsoft.com/office/drawing/2014/main" id="{0588B923-1139-9B31-2441-ABD5DFAA27F5}"/>
              </a:ext>
            </a:extLst>
          </p:cNvPr>
          <p:cNvSpPr/>
          <p:nvPr/>
        </p:nvSpPr>
        <p:spPr>
          <a:xfrm>
            <a:off x="1346200" y="2565401"/>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5" name="Grafik 4" descr="Häkchen mit einfarbiger Füllung">
            <a:extLst>
              <a:ext uri="{FF2B5EF4-FFF2-40B4-BE49-F238E27FC236}">
                <a16:creationId xmlns:a16="http://schemas.microsoft.com/office/drawing/2014/main" id="{FC37FEAB-A823-5B90-E9C1-06A5715F829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90650" y="2609851"/>
            <a:ext cx="215900" cy="215900"/>
          </a:xfrm>
          <a:prstGeom prst="rect">
            <a:avLst/>
          </a:prstGeom>
        </p:spPr>
      </p:pic>
      <p:sp>
        <p:nvSpPr>
          <p:cNvPr id="6" name="Foliennummernplatzhalter 5">
            <a:extLst>
              <a:ext uri="{FF2B5EF4-FFF2-40B4-BE49-F238E27FC236}">
                <a16:creationId xmlns:a16="http://schemas.microsoft.com/office/drawing/2014/main" id="{D3323188-6796-10A5-094F-C4A707B07B43}"/>
              </a:ext>
            </a:extLst>
          </p:cNvPr>
          <p:cNvSpPr>
            <a:spLocks noGrp="1"/>
          </p:cNvSpPr>
          <p:nvPr>
            <p:ph type="sldNum" sz="quarter" idx="12"/>
          </p:nvPr>
        </p:nvSpPr>
        <p:spPr/>
        <p:txBody>
          <a:bodyPr/>
          <a:lstStyle/>
          <a:p>
            <a:fld id="{2AAFDC3C-A9F8-4ABD-8D8D-8DC3321B02DC}" type="slidenum">
              <a:rPr lang="de-CH" smtClean="0"/>
              <a:t>8</a:t>
            </a:fld>
            <a:endParaRPr lang="de-CH"/>
          </a:p>
        </p:txBody>
      </p:sp>
      <p:sp>
        <p:nvSpPr>
          <p:cNvPr id="7" name="Datumsplatzhalter 6">
            <a:extLst>
              <a:ext uri="{FF2B5EF4-FFF2-40B4-BE49-F238E27FC236}">
                <a16:creationId xmlns:a16="http://schemas.microsoft.com/office/drawing/2014/main" id="{E1E7E31F-9369-5A58-456E-F57A5BD013ED}"/>
              </a:ext>
            </a:extLst>
          </p:cNvPr>
          <p:cNvSpPr>
            <a:spLocks noGrp="1"/>
          </p:cNvSpPr>
          <p:nvPr>
            <p:ph type="dt" sz="half" idx="10"/>
          </p:nvPr>
        </p:nvSpPr>
        <p:spPr/>
        <p:txBody>
          <a:bodyPr/>
          <a:lstStyle/>
          <a:p>
            <a:r>
              <a:rPr lang="de-CH"/>
              <a:t>11.06.2026</a:t>
            </a:r>
          </a:p>
        </p:txBody>
      </p:sp>
    </p:spTree>
    <p:extLst>
      <p:ext uri="{BB962C8B-B14F-4D97-AF65-F5344CB8AC3E}">
        <p14:creationId xmlns:p14="http://schemas.microsoft.com/office/powerpoint/2010/main" val="3808735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A494F9-62F3-610B-9DCF-89C565F4FAFD}"/>
              </a:ext>
            </a:extLst>
          </p:cNvPr>
          <p:cNvSpPr>
            <a:spLocks noGrp="1"/>
          </p:cNvSpPr>
          <p:nvPr>
            <p:ph type="title"/>
          </p:nvPr>
        </p:nvSpPr>
        <p:spPr/>
        <p:txBody>
          <a:bodyPr/>
          <a:lstStyle/>
          <a:p>
            <a:pPr algn="l"/>
            <a:r>
              <a:rPr lang="de-CH" sz="2800" b="1" dirty="0">
                <a:solidFill>
                  <a:srgbClr val="1B3A5C"/>
                </a:solidFill>
              </a:rPr>
              <a:t>Forschungslogik und methodischer Rahmen</a:t>
            </a:r>
          </a:p>
        </p:txBody>
      </p:sp>
      <p:sp>
        <p:nvSpPr>
          <p:cNvPr id="50" name="kick"/>
          <p:cNvSpPr/>
          <p:nvPr/>
        </p:nvSpPr>
        <p:spPr>
          <a:xfrm>
            <a:off x="838200" y="1447800"/>
            <a:ext cx="10955482" cy="279400"/>
          </a:xfrm>
          <a:prstGeom prst="rect">
            <a:avLst/>
          </a:prstGeom>
          <a:noFill/>
        </p:spPr>
        <p:txBody>
          <a:bodyPr lIns="0" tIns="0" rIns="0" bIns="0"/>
          <a:lstStyle/>
          <a:p>
            <a:r>
              <a:rPr lang="de-CH" sz="1400" b="1" dirty="0">
                <a:solidFill>
                  <a:srgbClr val="2E6CA4"/>
                </a:solidFill>
              </a:rPr>
              <a:t>DSRM ALS FORSCHUNGSRAHMEN  ·  BPM-LIFECYCLE ALS VORGEHENSMODELL  ·  REQUIREMENTS ENGINEERING ZUR ANFORDERUNGSABLEITUNG</a:t>
            </a:r>
          </a:p>
        </p:txBody>
      </p:sp>
      <p:sp>
        <p:nvSpPr>
          <p:cNvPr id="51" name="frame"/>
          <p:cNvSpPr/>
          <p:nvPr/>
        </p:nvSpPr>
        <p:spPr>
          <a:xfrm>
            <a:off x="838200" y="1893888"/>
            <a:ext cx="10515600" cy="2438400"/>
          </a:xfrm>
          <a:prstGeom prst="roundRect">
            <a:avLst>
              <a:gd name="adj" fmla="val 3000"/>
            </a:avLst>
          </a:prstGeom>
          <a:solidFill>
            <a:srgbClr val="EEF2F6"/>
          </a:solidFill>
          <a:ln w="19050">
            <a:solidFill>
              <a:srgbClr val="1B3A5C"/>
            </a:solidFill>
          </a:ln>
        </p:spPr>
        <p:txBody>
          <a:bodyPr/>
          <a:lstStyle/>
          <a:p>
            <a:endParaRPr dirty="0"/>
          </a:p>
        </p:txBody>
      </p:sp>
      <p:sp>
        <p:nvSpPr>
          <p:cNvPr id="52" name="dsrmlabel"/>
          <p:cNvSpPr/>
          <p:nvPr/>
        </p:nvSpPr>
        <p:spPr>
          <a:xfrm>
            <a:off x="939800" y="1944688"/>
            <a:ext cx="2199408" cy="254000"/>
          </a:xfrm>
          <a:prstGeom prst="rect">
            <a:avLst/>
          </a:prstGeom>
          <a:noFill/>
        </p:spPr>
        <p:txBody>
          <a:bodyPr lIns="0" tIns="0" rIns="0" bIns="0" anchor="ctr"/>
          <a:lstStyle/>
          <a:p>
            <a:r>
              <a:rPr lang="de-CH" sz="1300" b="1" dirty="0">
                <a:solidFill>
                  <a:srgbClr val="1B3A5C"/>
                </a:solidFill>
              </a:rPr>
              <a:t>DSRM nach Peffers et al. (2007)   </a:t>
            </a:r>
          </a:p>
        </p:txBody>
      </p:sp>
      <p:sp>
        <p:nvSpPr>
          <p:cNvPr id="53" name="ph0"/>
          <p:cNvSpPr/>
          <p:nvPr/>
        </p:nvSpPr>
        <p:spPr>
          <a:xfrm>
            <a:off x="989445" y="2446915"/>
            <a:ext cx="1625600" cy="1397000"/>
          </a:xfrm>
          <a:prstGeom prst="roundRect">
            <a:avLst>
              <a:gd name="adj" fmla="val 4000"/>
            </a:avLst>
          </a:prstGeom>
          <a:solidFill>
            <a:schemeClr val="accent1"/>
          </a:solidFill>
          <a:ln w="12700">
            <a:solidFill>
              <a:srgbClr val="4A90C2"/>
            </a:solidFill>
          </a:ln>
        </p:spPr>
        <p:txBody>
          <a:bodyPr lIns="76200" tIns="76200" rIns="76200" bIns="76200" anchor="ctr">
            <a:normAutofit/>
          </a:bodyPr>
          <a:lstStyle/>
          <a:p>
            <a:pPr algn="ctr"/>
            <a:r>
              <a:rPr lang="de-CH" sz="1800" b="1" dirty="0">
                <a:solidFill>
                  <a:schemeClr val="bg1"/>
                </a:solidFill>
              </a:rPr>
              <a:t>1</a:t>
            </a:r>
          </a:p>
          <a:p>
            <a:pPr algn="ctr">
              <a:spcBef>
                <a:spcPts val="200"/>
              </a:spcBef>
            </a:pPr>
            <a:r>
              <a:rPr lang="de-CH" sz="1200" b="1" dirty="0">
                <a:solidFill>
                  <a:schemeClr val="bg1"/>
                </a:solidFill>
              </a:rPr>
              <a:t>Problemidentifikation</a:t>
            </a:r>
          </a:p>
        </p:txBody>
      </p:sp>
      <p:sp>
        <p:nvSpPr>
          <p:cNvPr id="55" name="ph1"/>
          <p:cNvSpPr/>
          <p:nvPr/>
        </p:nvSpPr>
        <p:spPr>
          <a:xfrm>
            <a:off x="2679122" y="2446915"/>
            <a:ext cx="1625600" cy="1397000"/>
          </a:xfrm>
          <a:prstGeom prst="roundRect">
            <a:avLst>
              <a:gd name="adj" fmla="val 4000"/>
            </a:avLst>
          </a:prstGeom>
          <a:solidFill>
            <a:schemeClr val="accent1"/>
          </a:solidFill>
          <a:ln w="12700">
            <a:solidFill>
              <a:srgbClr val="4A90C2"/>
            </a:solidFill>
          </a:ln>
        </p:spPr>
        <p:txBody>
          <a:bodyPr lIns="76200" tIns="76200" rIns="76200" bIns="76200" anchor="ctr">
            <a:normAutofit/>
          </a:bodyPr>
          <a:lstStyle/>
          <a:p>
            <a:pPr algn="ctr"/>
            <a:r>
              <a:rPr lang="de-CH" sz="1800" b="1" dirty="0">
                <a:solidFill>
                  <a:schemeClr val="bg1"/>
                </a:solidFill>
              </a:rPr>
              <a:t>2</a:t>
            </a:r>
          </a:p>
          <a:p>
            <a:pPr algn="ctr">
              <a:spcBef>
                <a:spcPts val="200"/>
              </a:spcBef>
            </a:pPr>
            <a:r>
              <a:rPr lang="de-CH" sz="1200" b="1" dirty="0">
                <a:solidFill>
                  <a:schemeClr val="bg1"/>
                </a:solidFill>
              </a:rPr>
              <a:t>Ziele definieren</a:t>
            </a:r>
          </a:p>
        </p:txBody>
      </p:sp>
      <p:sp>
        <p:nvSpPr>
          <p:cNvPr id="57" name="ph2"/>
          <p:cNvSpPr/>
          <p:nvPr/>
        </p:nvSpPr>
        <p:spPr>
          <a:xfrm>
            <a:off x="4389005" y="2439988"/>
            <a:ext cx="1625600" cy="1397000"/>
          </a:xfrm>
          <a:prstGeom prst="roundRect">
            <a:avLst>
              <a:gd name="adj" fmla="val 4000"/>
            </a:avLst>
          </a:prstGeom>
          <a:solidFill>
            <a:schemeClr val="accent5"/>
          </a:solidFill>
          <a:ln w="12700">
            <a:solidFill>
              <a:srgbClr val="1B3A5C"/>
            </a:solidFill>
          </a:ln>
        </p:spPr>
        <p:txBody>
          <a:bodyPr lIns="76200" tIns="76200" rIns="76200" bIns="76200" anchor="ctr">
            <a:normAutofit/>
          </a:bodyPr>
          <a:lstStyle/>
          <a:p>
            <a:pPr algn="ctr"/>
            <a:r>
              <a:rPr lang="de-CH" sz="1800" b="1" dirty="0">
                <a:solidFill>
                  <a:srgbClr val="FFFFFF"/>
                </a:solidFill>
              </a:rPr>
              <a:t>3</a:t>
            </a:r>
          </a:p>
          <a:p>
            <a:pPr algn="ctr">
              <a:spcBef>
                <a:spcPts val="200"/>
              </a:spcBef>
            </a:pPr>
            <a:r>
              <a:rPr lang="de-CH" sz="1200" b="1" dirty="0">
                <a:solidFill>
                  <a:srgbClr val="FFFFFF"/>
                </a:solidFill>
              </a:rPr>
              <a:t>Design &amp; Entwicklung</a:t>
            </a:r>
          </a:p>
        </p:txBody>
      </p:sp>
      <p:sp>
        <p:nvSpPr>
          <p:cNvPr id="59" name="ph3"/>
          <p:cNvSpPr/>
          <p:nvPr/>
        </p:nvSpPr>
        <p:spPr>
          <a:xfrm>
            <a:off x="6118802" y="2446915"/>
            <a:ext cx="1625600" cy="1397000"/>
          </a:xfrm>
          <a:prstGeom prst="roundRect">
            <a:avLst>
              <a:gd name="adj" fmla="val 4000"/>
            </a:avLst>
          </a:prstGeom>
          <a:solidFill>
            <a:schemeClr val="bg2">
              <a:lumMod val="50000"/>
            </a:schemeClr>
          </a:solidFill>
          <a:ln w="12700">
            <a:solidFill>
              <a:srgbClr val="1B3A5C"/>
            </a:solidFill>
          </a:ln>
        </p:spPr>
        <p:txBody>
          <a:bodyPr lIns="76200" tIns="76200" rIns="76200" bIns="76200" anchor="ctr">
            <a:normAutofit/>
          </a:bodyPr>
          <a:lstStyle/>
          <a:p>
            <a:pPr algn="ctr"/>
            <a:r>
              <a:rPr lang="de-CH" sz="1800" b="1" dirty="0">
                <a:solidFill>
                  <a:srgbClr val="FFFFFF"/>
                </a:solidFill>
              </a:rPr>
              <a:t>4</a:t>
            </a:r>
          </a:p>
          <a:p>
            <a:pPr algn="ctr">
              <a:spcBef>
                <a:spcPts val="200"/>
              </a:spcBef>
            </a:pPr>
            <a:r>
              <a:rPr lang="de-CH" sz="1200" b="1" dirty="0">
                <a:solidFill>
                  <a:srgbClr val="FFFFFF"/>
                </a:solidFill>
              </a:rPr>
              <a:t>Demonstration</a:t>
            </a:r>
          </a:p>
        </p:txBody>
      </p:sp>
      <p:sp>
        <p:nvSpPr>
          <p:cNvPr id="62" name="arr4"/>
          <p:cNvSpPr/>
          <p:nvPr/>
        </p:nvSpPr>
        <p:spPr>
          <a:xfrm>
            <a:off x="9410700" y="2770188"/>
            <a:ext cx="50800" cy="152400"/>
          </a:xfrm>
          <a:prstGeom prst="rightArrow">
            <a:avLst>
              <a:gd name="adj1" fmla="val 50000"/>
              <a:gd name="adj2" fmla="val 65000"/>
            </a:avLst>
          </a:prstGeom>
          <a:solidFill>
            <a:srgbClr val="7FA8C9"/>
          </a:solidFill>
          <a:ln>
            <a:noFill/>
          </a:ln>
        </p:spPr>
        <p:txBody>
          <a:bodyPr/>
          <a:lstStyle/>
          <a:p>
            <a:endParaRPr/>
          </a:p>
        </p:txBody>
      </p:sp>
      <p:sp>
        <p:nvSpPr>
          <p:cNvPr id="63" name="ph5"/>
          <p:cNvSpPr/>
          <p:nvPr/>
        </p:nvSpPr>
        <p:spPr>
          <a:xfrm>
            <a:off x="9600622" y="2439988"/>
            <a:ext cx="1625600" cy="1397000"/>
          </a:xfrm>
          <a:prstGeom prst="roundRect">
            <a:avLst>
              <a:gd name="adj" fmla="val 4000"/>
            </a:avLst>
          </a:prstGeom>
          <a:solidFill>
            <a:srgbClr val="FFFFFF"/>
          </a:solidFill>
          <a:ln w="28575">
            <a:solidFill>
              <a:srgbClr val="4A90C2"/>
            </a:solidFill>
            <a:prstDash val="dash"/>
          </a:ln>
        </p:spPr>
        <p:txBody>
          <a:bodyPr lIns="76200" tIns="76200" rIns="76200" bIns="76200" anchor="ctr">
            <a:normAutofit/>
          </a:bodyPr>
          <a:lstStyle/>
          <a:p>
            <a:pPr algn="ctr"/>
            <a:r>
              <a:rPr lang="de-CH" sz="1800" b="1" dirty="0">
                <a:solidFill>
                  <a:srgbClr val="1B3A5C"/>
                </a:solidFill>
              </a:rPr>
              <a:t>6</a:t>
            </a:r>
          </a:p>
          <a:p>
            <a:pPr algn="ctr">
              <a:spcBef>
                <a:spcPts val="200"/>
              </a:spcBef>
            </a:pPr>
            <a:r>
              <a:rPr lang="de-CH" sz="1200" b="1" dirty="0">
                <a:solidFill>
                  <a:srgbClr val="1B3A5C"/>
                </a:solidFill>
              </a:rPr>
              <a:t>Kommunikation</a:t>
            </a:r>
          </a:p>
        </p:txBody>
      </p:sp>
      <p:sp>
        <p:nvSpPr>
          <p:cNvPr id="64" name="focuslbl"/>
          <p:cNvSpPr/>
          <p:nvPr/>
        </p:nvSpPr>
        <p:spPr>
          <a:xfrm>
            <a:off x="4389005" y="3938588"/>
            <a:ext cx="1637145" cy="279400"/>
          </a:xfrm>
          <a:prstGeom prst="rect">
            <a:avLst/>
          </a:prstGeom>
          <a:noFill/>
        </p:spPr>
        <p:txBody>
          <a:bodyPr lIns="0" tIns="0" rIns="0" bIns="0" anchor="ctr"/>
          <a:lstStyle/>
          <a:p>
            <a:pPr algn="ctr"/>
            <a:r>
              <a:rPr lang="de-CH" sz="1100" i="1" dirty="0">
                <a:solidFill>
                  <a:srgbClr val="2E6CA4"/>
                </a:solidFill>
              </a:rPr>
              <a:t>Nächster Fokus: SOLL-Workshop</a:t>
            </a:r>
          </a:p>
        </p:txBody>
      </p:sp>
      <p:sp>
        <p:nvSpPr>
          <p:cNvPr id="65" name="bpm"/>
          <p:cNvSpPr/>
          <p:nvPr/>
        </p:nvSpPr>
        <p:spPr>
          <a:xfrm>
            <a:off x="838200" y="4622800"/>
            <a:ext cx="5003800" cy="1320800"/>
          </a:xfrm>
          <a:prstGeom prst="roundRect">
            <a:avLst>
              <a:gd name="adj" fmla="val 5000"/>
            </a:avLst>
          </a:prstGeom>
          <a:solidFill>
            <a:srgbClr val="FFFFFF"/>
          </a:solidFill>
          <a:ln w="19050">
            <a:solidFill>
              <a:srgbClr val="2E6CA4"/>
            </a:solidFill>
          </a:ln>
        </p:spPr>
        <p:txBody>
          <a:bodyPr/>
          <a:lstStyle/>
          <a:p>
            <a:endParaRPr/>
          </a:p>
        </p:txBody>
      </p:sp>
      <p:sp>
        <p:nvSpPr>
          <p:cNvPr id="66" name="bpmh"/>
          <p:cNvSpPr/>
          <p:nvPr/>
        </p:nvSpPr>
        <p:spPr>
          <a:xfrm>
            <a:off x="838200" y="4622800"/>
            <a:ext cx="5003800" cy="406400"/>
          </a:xfrm>
          <a:prstGeom prst="round2SameRect">
            <a:avLst>
              <a:gd name="adj1" fmla="val 18000"/>
              <a:gd name="adj2" fmla="val 0"/>
            </a:avLst>
          </a:prstGeom>
          <a:solidFill>
            <a:srgbClr val="2E6CA4"/>
          </a:solidFill>
          <a:ln>
            <a:noFill/>
          </a:ln>
        </p:spPr>
        <p:txBody>
          <a:bodyPr lIns="177800" tIns="0" rIns="127000" bIns="0" anchor="ctr"/>
          <a:lstStyle/>
          <a:p>
            <a:r>
              <a:rPr lang="de-CH" sz="1500" b="1" dirty="0">
                <a:solidFill>
                  <a:srgbClr val="FFFFFF"/>
                </a:solidFill>
              </a:rPr>
              <a:t>BPM-Lifecycle nach Dumas et al. (2021)  </a:t>
            </a:r>
          </a:p>
        </p:txBody>
      </p:sp>
      <p:sp>
        <p:nvSpPr>
          <p:cNvPr id="67" name="bpmt"/>
          <p:cNvSpPr/>
          <p:nvPr/>
        </p:nvSpPr>
        <p:spPr>
          <a:xfrm>
            <a:off x="990600" y="5105400"/>
            <a:ext cx="4699000" cy="762000"/>
          </a:xfrm>
          <a:prstGeom prst="rect">
            <a:avLst/>
          </a:prstGeom>
          <a:noFill/>
        </p:spPr>
        <p:txBody>
          <a:bodyPr lIns="0" tIns="0" rIns="0" bIns="0" anchor="ctr">
            <a:normAutofit/>
          </a:bodyPr>
          <a:lstStyle/>
          <a:p>
            <a:pPr algn="ctr"/>
            <a:r>
              <a:rPr lang="de-CH" sz="1400" b="1" dirty="0">
                <a:solidFill>
                  <a:srgbClr val="1A2A38"/>
                </a:solidFill>
              </a:rPr>
              <a:t>Prozesserhebung → Prozessanalyse → Prozessdesign</a:t>
            </a:r>
          </a:p>
          <a:p>
            <a:pPr algn="ctr">
              <a:spcBef>
                <a:spcPts val="300"/>
              </a:spcBef>
            </a:pPr>
            <a:r>
              <a:rPr lang="de-DE" sz="1300" dirty="0">
                <a:solidFill>
                  <a:srgbClr val="5B6B79"/>
                </a:solidFill>
              </a:rPr>
              <a:t>IST-Erhebung → IST-Analyse → SOLL-Konzept</a:t>
            </a:r>
            <a:endParaRPr lang="de-CH" sz="1300" dirty="0">
              <a:solidFill>
                <a:srgbClr val="5B6B79"/>
              </a:solidFill>
            </a:endParaRPr>
          </a:p>
        </p:txBody>
      </p:sp>
      <p:sp>
        <p:nvSpPr>
          <p:cNvPr id="68" name="plus"/>
          <p:cNvSpPr/>
          <p:nvPr/>
        </p:nvSpPr>
        <p:spPr>
          <a:xfrm>
            <a:off x="5918200" y="5105400"/>
            <a:ext cx="355600" cy="406400"/>
          </a:xfrm>
          <a:prstGeom prst="mathPlus">
            <a:avLst/>
          </a:prstGeom>
          <a:solidFill>
            <a:srgbClr val="2E6CA4"/>
          </a:solidFill>
          <a:ln>
            <a:noFill/>
          </a:ln>
        </p:spPr>
        <p:txBody>
          <a:bodyPr/>
          <a:lstStyle>
            <a:defPPr>
              <a:defRPr>
                <a:solidFill>
                  <a:srgbClr val="FFFFFF"/>
                </a:solidFill>
              </a:defRPr>
            </a:defPPr>
          </a:lstStyle>
          <a:p>
            <a:endParaRPr/>
          </a:p>
        </p:txBody>
      </p:sp>
      <p:sp>
        <p:nvSpPr>
          <p:cNvPr id="69" name="re"/>
          <p:cNvSpPr/>
          <p:nvPr/>
        </p:nvSpPr>
        <p:spPr>
          <a:xfrm>
            <a:off x="6350000" y="4622800"/>
            <a:ext cx="5003800" cy="1320800"/>
          </a:xfrm>
          <a:prstGeom prst="roundRect">
            <a:avLst>
              <a:gd name="adj" fmla="val 5000"/>
            </a:avLst>
          </a:prstGeom>
          <a:solidFill>
            <a:srgbClr val="FFFFFF"/>
          </a:solidFill>
          <a:ln w="19050">
            <a:solidFill>
              <a:srgbClr val="4A90C2"/>
            </a:solidFill>
          </a:ln>
        </p:spPr>
        <p:txBody>
          <a:bodyPr/>
          <a:lstStyle/>
          <a:p>
            <a:endParaRPr/>
          </a:p>
        </p:txBody>
      </p:sp>
      <p:sp>
        <p:nvSpPr>
          <p:cNvPr id="70" name="reh"/>
          <p:cNvSpPr/>
          <p:nvPr/>
        </p:nvSpPr>
        <p:spPr>
          <a:xfrm>
            <a:off x="6350000" y="4622800"/>
            <a:ext cx="5003800" cy="406400"/>
          </a:xfrm>
          <a:prstGeom prst="round2SameRect">
            <a:avLst>
              <a:gd name="adj1" fmla="val 18000"/>
              <a:gd name="adj2" fmla="val 0"/>
            </a:avLst>
          </a:prstGeom>
          <a:solidFill>
            <a:srgbClr val="4A90C2"/>
          </a:solidFill>
          <a:ln>
            <a:noFill/>
          </a:ln>
        </p:spPr>
        <p:txBody>
          <a:bodyPr lIns="177800" tIns="0" rIns="127000" bIns="0" anchor="ctr"/>
          <a:lstStyle>
            <a:defPPr>
              <a:defRPr>
                <a:solidFill>
                  <a:srgbClr val="FFFFFF"/>
                </a:solidFill>
              </a:defRPr>
            </a:defPPr>
          </a:lstStyle>
          <a:p>
            <a:r>
              <a:rPr lang="de-CH" sz="1500" b="1">
                <a:solidFill>
                  <a:srgbClr val="FFFFFF"/>
                </a:solidFill>
              </a:rPr>
              <a:t>Requirements Engineering</a:t>
            </a:r>
          </a:p>
        </p:txBody>
      </p:sp>
      <p:sp>
        <p:nvSpPr>
          <p:cNvPr id="71" name="ret"/>
          <p:cNvSpPr/>
          <p:nvPr/>
        </p:nvSpPr>
        <p:spPr>
          <a:xfrm>
            <a:off x="6426200" y="5105400"/>
            <a:ext cx="4851400" cy="762000"/>
          </a:xfrm>
          <a:prstGeom prst="rect">
            <a:avLst/>
          </a:prstGeom>
          <a:noFill/>
        </p:spPr>
        <p:txBody>
          <a:bodyPr lIns="0" tIns="0" rIns="0" bIns="0" anchor="ctr">
            <a:normAutofit/>
          </a:bodyPr>
          <a:lstStyle/>
          <a:p>
            <a:pPr algn="ctr"/>
            <a:r>
              <a:rPr lang="de-CH" sz="1400" b="1" dirty="0">
                <a:solidFill>
                  <a:srgbClr val="1A2A38"/>
                </a:solidFill>
              </a:rPr>
              <a:t>Stakeholder-Analyse → Anforderungsanalyse → Anforderungskatalog</a:t>
            </a:r>
          </a:p>
          <a:p>
            <a:pPr algn="ctr">
              <a:spcBef>
                <a:spcPts val="300"/>
              </a:spcBef>
            </a:pPr>
            <a:r>
              <a:rPr lang="de-DE" sz="1300" dirty="0">
                <a:solidFill>
                  <a:srgbClr val="5B6B79"/>
                </a:solidFill>
              </a:rPr>
              <a:t>Grundlage für Anforderungskatalog, User Stories und Use Cases</a:t>
            </a:r>
            <a:endParaRPr lang="de-CH" sz="1300" dirty="0">
              <a:solidFill>
                <a:srgbClr val="5B6B79"/>
              </a:solidFill>
            </a:endParaRPr>
          </a:p>
        </p:txBody>
      </p:sp>
      <p:sp>
        <p:nvSpPr>
          <p:cNvPr id="61" name="ph4"/>
          <p:cNvSpPr>
            <a:spLocks noGrp="1"/>
          </p:cNvSpPr>
          <p:nvPr/>
        </p:nvSpPr>
        <p:spPr>
          <a:xfrm>
            <a:off x="7847444" y="2439988"/>
            <a:ext cx="1625600" cy="1397000"/>
          </a:xfrm>
          <a:prstGeom prst="roundRect">
            <a:avLst>
              <a:gd name="adj" fmla="val 6000"/>
            </a:avLst>
          </a:prstGeom>
          <a:solidFill>
            <a:schemeClr val="bg2">
              <a:lumMod val="50000"/>
            </a:schemeClr>
          </a:solidFill>
          <a:ln>
            <a:noFill/>
          </a:ln>
        </p:spPr>
        <p:txBody>
          <a:bodyPr lIns="101600" tIns="101600" rIns="101600" bIns="101600" anchor="ctr"/>
          <a:lstStyle>
            <a:defPPr>
              <a:defRPr lang="de-CH">
                <a:solidFill>
                  <a:srgbClr val="FFFFFF"/>
                </a:solidFill>
              </a:defRPr>
            </a:defPPr>
            <a:lvl1pPr>
              <a:defRPr lang="de-CH">
                <a:solidFill>
                  <a:srgbClr val="FFFFFF"/>
                </a:solidFill>
              </a:defRPr>
            </a:lvl1pPr>
          </a:lstStyle>
          <a:p>
            <a:pPr algn="ctr">
              <a:spcBef>
                <a:spcPts val="0"/>
              </a:spcBef>
            </a:pPr>
            <a:r>
              <a:rPr lang="de-CH" sz="2000" b="1" dirty="0">
                <a:solidFill>
                  <a:srgbClr val="FFFFFF"/>
                </a:solidFill>
                <a:latin typeface="Calibri"/>
              </a:rPr>
              <a:t>5</a:t>
            </a:r>
          </a:p>
          <a:p>
            <a:pPr algn="ctr">
              <a:spcBef>
                <a:spcPts val="200"/>
              </a:spcBef>
            </a:pPr>
            <a:r>
              <a:rPr lang="de-CH" sz="1200" b="1" dirty="0">
                <a:solidFill>
                  <a:srgbClr val="FFFFFF"/>
                </a:solidFill>
                <a:latin typeface="Calibri"/>
              </a:rPr>
              <a:t>Evaluation</a:t>
            </a:r>
            <a:endParaRPr lang="de-CH" sz="1400" b="1" dirty="0">
              <a:solidFill>
                <a:srgbClr val="FFFFFF"/>
              </a:solidFill>
              <a:latin typeface="Calibri"/>
            </a:endParaRPr>
          </a:p>
        </p:txBody>
      </p:sp>
      <p:sp>
        <p:nvSpPr>
          <p:cNvPr id="3" name="focuslbl">
            <a:extLst>
              <a:ext uri="{FF2B5EF4-FFF2-40B4-BE49-F238E27FC236}">
                <a16:creationId xmlns:a16="http://schemas.microsoft.com/office/drawing/2014/main" id="{2DAB9CF5-3E78-CC49-32AE-CA8BD728E4B5}"/>
              </a:ext>
            </a:extLst>
          </p:cNvPr>
          <p:cNvSpPr/>
          <p:nvPr/>
        </p:nvSpPr>
        <p:spPr>
          <a:xfrm>
            <a:off x="9396991" y="3942628"/>
            <a:ext cx="1993900" cy="279400"/>
          </a:xfrm>
          <a:prstGeom prst="rect">
            <a:avLst/>
          </a:prstGeom>
          <a:noFill/>
        </p:spPr>
        <p:txBody>
          <a:bodyPr lIns="0" tIns="0" rIns="0" bIns="0" anchor="ctr"/>
          <a:lstStyle/>
          <a:p>
            <a:pPr algn="ctr"/>
            <a:r>
              <a:rPr lang="de-CH" sz="1100" i="1" dirty="0">
                <a:solidFill>
                  <a:srgbClr val="2E6CA4"/>
                </a:solidFill>
              </a:rPr>
              <a:t>Laufend</a:t>
            </a:r>
          </a:p>
        </p:txBody>
      </p:sp>
      <p:sp>
        <p:nvSpPr>
          <p:cNvPr id="4" name="focuslbl">
            <a:extLst>
              <a:ext uri="{FF2B5EF4-FFF2-40B4-BE49-F238E27FC236}">
                <a16:creationId xmlns:a16="http://schemas.microsoft.com/office/drawing/2014/main" id="{979E2F5B-81F5-3BA3-6476-C6CC1760E4CF}"/>
              </a:ext>
            </a:extLst>
          </p:cNvPr>
          <p:cNvSpPr/>
          <p:nvPr/>
        </p:nvSpPr>
        <p:spPr>
          <a:xfrm>
            <a:off x="6113029" y="3932815"/>
            <a:ext cx="1637145" cy="279400"/>
          </a:xfrm>
          <a:prstGeom prst="rect">
            <a:avLst/>
          </a:prstGeom>
          <a:noFill/>
        </p:spPr>
        <p:txBody>
          <a:bodyPr lIns="0" tIns="0" rIns="0" bIns="0" anchor="ctr"/>
          <a:lstStyle/>
          <a:p>
            <a:pPr algn="ctr"/>
            <a:r>
              <a:rPr lang="de-CH" sz="1100" i="1" dirty="0">
                <a:solidFill>
                  <a:schemeClr val="accent2"/>
                </a:solidFill>
              </a:rPr>
              <a:t>Anwendung auf</a:t>
            </a:r>
          </a:p>
          <a:p>
            <a:pPr algn="ctr"/>
            <a:r>
              <a:rPr lang="de-CH" sz="1100" i="1" dirty="0">
                <a:solidFill>
                  <a:schemeClr val="accent2"/>
                </a:solidFill>
              </a:rPr>
              <a:t>SOLL-Prozessfragmente</a:t>
            </a:r>
          </a:p>
        </p:txBody>
      </p:sp>
      <p:sp>
        <p:nvSpPr>
          <p:cNvPr id="5" name="focuslbl">
            <a:extLst>
              <a:ext uri="{FF2B5EF4-FFF2-40B4-BE49-F238E27FC236}">
                <a16:creationId xmlns:a16="http://schemas.microsoft.com/office/drawing/2014/main" id="{BD895D45-9813-5B13-A91E-18A5B6BA5B7D}"/>
              </a:ext>
            </a:extLst>
          </p:cNvPr>
          <p:cNvSpPr/>
          <p:nvPr/>
        </p:nvSpPr>
        <p:spPr>
          <a:xfrm>
            <a:off x="7824355" y="3942628"/>
            <a:ext cx="1637145" cy="279400"/>
          </a:xfrm>
          <a:prstGeom prst="rect">
            <a:avLst/>
          </a:prstGeom>
          <a:noFill/>
        </p:spPr>
        <p:txBody>
          <a:bodyPr lIns="0" tIns="0" rIns="0" bIns="0" anchor="ctr"/>
          <a:lstStyle/>
          <a:p>
            <a:pPr algn="ctr"/>
            <a:r>
              <a:rPr lang="de-CH" sz="1100" i="1" dirty="0">
                <a:solidFill>
                  <a:srgbClr val="2E6CA4"/>
                </a:solidFill>
              </a:rPr>
              <a:t>Stakeholder-Validierung</a:t>
            </a:r>
          </a:p>
        </p:txBody>
      </p:sp>
      <p:sp>
        <p:nvSpPr>
          <p:cNvPr id="6" name="focuslbl">
            <a:extLst>
              <a:ext uri="{FF2B5EF4-FFF2-40B4-BE49-F238E27FC236}">
                <a16:creationId xmlns:a16="http://schemas.microsoft.com/office/drawing/2014/main" id="{E1757542-9A3B-950B-23FE-D4E1F6684508}"/>
              </a:ext>
            </a:extLst>
          </p:cNvPr>
          <p:cNvSpPr/>
          <p:nvPr/>
        </p:nvSpPr>
        <p:spPr>
          <a:xfrm>
            <a:off x="953655" y="3932815"/>
            <a:ext cx="1637145" cy="279400"/>
          </a:xfrm>
          <a:prstGeom prst="rect">
            <a:avLst/>
          </a:prstGeom>
          <a:noFill/>
        </p:spPr>
        <p:txBody>
          <a:bodyPr lIns="0" tIns="0" rIns="0" bIns="0" anchor="ctr"/>
          <a:lstStyle/>
          <a:p>
            <a:pPr algn="ctr"/>
            <a:r>
              <a:rPr lang="de-CH" sz="1100" i="1" dirty="0">
                <a:solidFill>
                  <a:srgbClr val="2E6CA4"/>
                </a:solidFill>
              </a:rPr>
              <a:t>Abgeschlossen</a:t>
            </a:r>
          </a:p>
        </p:txBody>
      </p:sp>
      <p:sp>
        <p:nvSpPr>
          <p:cNvPr id="7" name="focuslbl">
            <a:extLst>
              <a:ext uri="{FF2B5EF4-FFF2-40B4-BE49-F238E27FC236}">
                <a16:creationId xmlns:a16="http://schemas.microsoft.com/office/drawing/2014/main" id="{62C2188D-9778-9786-8D6C-7D5B226D2051}"/>
              </a:ext>
            </a:extLst>
          </p:cNvPr>
          <p:cNvSpPr/>
          <p:nvPr/>
        </p:nvSpPr>
        <p:spPr>
          <a:xfrm>
            <a:off x="2628900" y="3939164"/>
            <a:ext cx="1637145" cy="279400"/>
          </a:xfrm>
          <a:prstGeom prst="rect">
            <a:avLst/>
          </a:prstGeom>
          <a:noFill/>
        </p:spPr>
        <p:txBody>
          <a:bodyPr lIns="0" tIns="0" rIns="0" bIns="0" anchor="ctr"/>
          <a:lstStyle/>
          <a:p>
            <a:pPr algn="ctr"/>
            <a:r>
              <a:rPr lang="de-CH" sz="1100" i="1" dirty="0">
                <a:solidFill>
                  <a:srgbClr val="2E6CA4"/>
                </a:solidFill>
              </a:rPr>
              <a:t>Abgeschlossen</a:t>
            </a:r>
          </a:p>
        </p:txBody>
      </p:sp>
      <p:sp>
        <p:nvSpPr>
          <p:cNvPr id="8" name="Foliennummernplatzhalter 7">
            <a:extLst>
              <a:ext uri="{FF2B5EF4-FFF2-40B4-BE49-F238E27FC236}">
                <a16:creationId xmlns:a16="http://schemas.microsoft.com/office/drawing/2014/main" id="{368129BA-CA37-C372-EAD1-ED64045A041D}"/>
              </a:ext>
            </a:extLst>
          </p:cNvPr>
          <p:cNvSpPr>
            <a:spLocks noGrp="1"/>
          </p:cNvSpPr>
          <p:nvPr>
            <p:ph type="sldNum" sz="quarter" idx="12"/>
          </p:nvPr>
        </p:nvSpPr>
        <p:spPr/>
        <p:txBody>
          <a:bodyPr/>
          <a:lstStyle/>
          <a:p>
            <a:fld id="{2AAFDC3C-A9F8-4ABD-8D8D-8DC3321B02DC}" type="slidenum">
              <a:rPr lang="de-CH" smtClean="0"/>
              <a:t>9</a:t>
            </a:fld>
            <a:endParaRPr lang="de-CH"/>
          </a:p>
        </p:txBody>
      </p:sp>
    </p:spTree>
    <p:extLst>
      <p:ext uri="{BB962C8B-B14F-4D97-AF65-F5344CB8AC3E}">
        <p14:creationId xmlns:p14="http://schemas.microsoft.com/office/powerpoint/2010/main" val="752599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8448-18B5-3D1B-4B1E-BA61F910067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E1D5BB0-5696-9B73-BC4F-66B45A8CD815}"/>
              </a:ext>
            </a:extLst>
          </p:cNvPr>
          <p:cNvSpPr>
            <a:spLocks noGrp="1"/>
          </p:cNvSpPr>
          <p:nvPr>
            <p:ph type="title"/>
          </p:nvPr>
        </p:nvSpPr>
        <p:spPr/>
        <p:txBody>
          <a:bodyPr/>
          <a:lstStyle/>
          <a:p>
            <a:pPr algn="l"/>
            <a:r>
              <a:rPr lang="de-CH" sz="2800" b="1">
                <a:solidFill>
                  <a:srgbClr val="1B3A5C"/>
                </a:solidFill>
              </a:rPr>
              <a:t>Projektstand und Vorgehen</a:t>
            </a:r>
          </a:p>
        </p:txBody>
      </p:sp>
      <p:sp>
        <p:nvSpPr>
          <p:cNvPr id="50" name="kicker">
            <a:extLst>
              <a:ext uri="{FF2B5EF4-FFF2-40B4-BE49-F238E27FC236}">
                <a16:creationId xmlns:a16="http://schemas.microsoft.com/office/drawing/2014/main" id="{D1FA17D4-6EE1-ADFF-F4BB-3B146983845A}"/>
              </a:ext>
            </a:extLst>
          </p:cNvPr>
          <p:cNvSpPr/>
          <p:nvPr/>
        </p:nvSpPr>
        <p:spPr>
          <a:xfrm>
            <a:off x="838200" y="1574800"/>
            <a:ext cx="9906000" cy="279400"/>
          </a:xfrm>
          <a:prstGeom prst="rect">
            <a:avLst/>
          </a:prstGeom>
          <a:noFill/>
        </p:spPr>
        <p:txBody>
          <a:bodyPr lIns="0" tIns="0" rIns="0" bIns="0"/>
          <a:lstStyle/>
          <a:p>
            <a:r>
              <a:rPr lang="de-DE" sz="1400" b="1" dirty="0">
                <a:solidFill>
                  <a:srgbClr val="2E6CA4"/>
                </a:solidFill>
              </a:rPr>
              <a:t>Phase 1 · Theoretische Basis und methodischer Bezugsrahmen</a:t>
            </a:r>
          </a:p>
        </p:txBody>
      </p:sp>
      <p:sp>
        <p:nvSpPr>
          <p:cNvPr id="51" name="track">
            <a:extLst>
              <a:ext uri="{FF2B5EF4-FFF2-40B4-BE49-F238E27FC236}">
                <a16:creationId xmlns:a16="http://schemas.microsoft.com/office/drawing/2014/main" id="{4F3FE0D4-61A1-F662-3633-26B626486C0D}"/>
              </a:ext>
            </a:extLst>
          </p:cNvPr>
          <p:cNvSpPr/>
          <p:nvPr/>
        </p:nvSpPr>
        <p:spPr>
          <a:xfrm>
            <a:off x="1651000" y="2692401"/>
            <a:ext cx="8890000" cy="50800"/>
          </a:xfrm>
          <a:prstGeom prst="rect">
            <a:avLst/>
          </a:prstGeom>
          <a:solidFill>
            <a:srgbClr val="C9D6E2"/>
          </a:solidFill>
          <a:ln>
            <a:noFill/>
          </a:ln>
        </p:spPr>
        <p:txBody>
          <a:bodyPr/>
          <a:lstStyle/>
          <a:p>
            <a:endParaRPr/>
          </a:p>
        </p:txBody>
      </p:sp>
      <p:sp>
        <p:nvSpPr>
          <p:cNvPr id="53" name="c0">
            <a:extLst>
              <a:ext uri="{FF2B5EF4-FFF2-40B4-BE49-F238E27FC236}">
                <a16:creationId xmlns:a16="http://schemas.microsoft.com/office/drawing/2014/main" id="{BE05F54D-5DEB-0A6C-FF5D-B54FB708A5AD}"/>
              </a:ext>
            </a:extLst>
          </p:cNvPr>
          <p:cNvSpPr/>
          <p:nvPr/>
        </p:nvSpPr>
        <p:spPr>
          <a:xfrm>
            <a:off x="838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a:solidFill>
                  <a:srgbClr val="1B3A5C"/>
                </a:solidFill>
              </a:rPr>
              <a:t>Kick-off</a:t>
            </a:r>
          </a:p>
          <a:p>
            <a:pPr algn="ctr">
              <a:spcBef>
                <a:spcPts val="400"/>
              </a:spcBef>
            </a:pPr>
            <a:r>
              <a:rPr lang="de-CH" sz="1100">
                <a:solidFill>
                  <a:srgbClr val="5B6B79"/>
                </a:solidFill>
              </a:rPr>
              <a:t>Auftrag und Rahmen geklärt</a:t>
            </a:r>
          </a:p>
        </p:txBody>
      </p:sp>
      <p:sp>
        <p:nvSpPr>
          <p:cNvPr id="55" name="c1">
            <a:extLst>
              <a:ext uri="{FF2B5EF4-FFF2-40B4-BE49-F238E27FC236}">
                <a16:creationId xmlns:a16="http://schemas.microsoft.com/office/drawing/2014/main" id="{0A4C9704-5BDC-55ED-1331-11FE784D1933}"/>
              </a:ext>
            </a:extLst>
          </p:cNvPr>
          <p:cNvSpPr/>
          <p:nvPr/>
        </p:nvSpPr>
        <p:spPr>
          <a:xfrm>
            <a:off x="2616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dirty="0">
                <a:solidFill>
                  <a:srgbClr val="1B3A5C"/>
                </a:solidFill>
              </a:rPr>
              <a:t>Literatur und Disposition</a:t>
            </a:r>
          </a:p>
          <a:p>
            <a:pPr algn="ctr">
              <a:spcBef>
                <a:spcPts val="400"/>
              </a:spcBef>
            </a:pPr>
            <a:r>
              <a:rPr lang="de-CH" sz="1100" dirty="0">
                <a:solidFill>
                  <a:srgbClr val="5B6B79"/>
                </a:solidFill>
              </a:rPr>
              <a:t>Theoretische und methodische Grundlagen</a:t>
            </a:r>
          </a:p>
        </p:txBody>
      </p:sp>
      <p:sp>
        <p:nvSpPr>
          <p:cNvPr id="56" name="b2">
            <a:extLst>
              <a:ext uri="{FF2B5EF4-FFF2-40B4-BE49-F238E27FC236}">
                <a16:creationId xmlns:a16="http://schemas.microsoft.com/office/drawing/2014/main" id="{7A50FE87-3279-110B-DF11-9AB5D868444C}"/>
              </a:ext>
            </a:extLst>
          </p:cNvPr>
          <p:cNvSpPr/>
          <p:nvPr/>
        </p:nvSpPr>
        <p:spPr>
          <a:xfrm>
            <a:off x="5054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3</a:t>
            </a:r>
          </a:p>
        </p:txBody>
      </p:sp>
      <p:sp>
        <p:nvSpPr>
          <p:cNvPr id="57" name="c2">
            <a:extLst>
              <a:ext uri="{FF2B5EF4-FFF2-40B4-BE49-F238E27FC236}">
                <a16:creationId xmlns:a16="http://schemas.microsoft.com/office/drawing/2014/main" id="{7594EC79-D613-961D-AF1F-0FEB06130FE2}"/>
              </a:ext>
            </a:extLst>
          </p:cNvPr>
          <p:cNvSpPr/>
          <p:nvPr/>
        </p:nvSpPr>
        <p:spPr>
          <a:xfrm>
            <a:off x="4394200" y="3098801"/>
            <a:ext cx="1625600" cy="1905000"/>
          </a:xfrm>
          <a:prstGeom prst="roundRect">
            <a:avLst>
              <a:gd name="adj" fmla="val 6000"/>
            </a:avLst>
          </a:prstGeom>
          <a:solidFill>
            <a:schemeClr val="bg1"/>
          </a:solidFill>
          <a:ln w="12700">
            <a:solidFill>
              <a:srgbClr val="C9D6E2"/>
            </a:solidFill>
          </a:ln>
        </p:spPr>
        <p:txBody>
          <a:bodyPr lIns="101600" tIns="127000" rIns="101600" bIns="101600" anchor="t">
            <a:normAutofit/>
          </a:bodyPr>
          <a:lstStyle/>
          <a:p>
            <a:pPr algn="ctr"/>
            <a:r>
              <a:rPr lang="de-CH" sz="1300" b="1" dirty="0">
                <a:solidFill>
                  <a:srgbClr val="1B3A5C"/>
                </a:solidFill>
              </a:rPr>
              <a:t>IST-Erhebung</a:t>
            </a:r>
          </a:p>
          <a:p>
            <a:pPr algn="ctr">
              <a:spcBef>
                <a:spcPts val="400"/>
              </a:spcBef>
            </a:pPr>
            <a:r>
              <a:rPr lang="de-CH" sz="1100" dirty="0">
                <a:solidFill>
                  <a:srgbClr val="5B6B79"/>
                </a:solidFill>
              </a:rPr>
              <a:t>Dokumentenanalyse, Interviews, IST-Modellierung und Validierungsworkshop</a:t>
            </a:r>
          </a:p>
        </p:txBody>
      </p:sp>
      <p:sp>
        <p:nvSpPr>
          <p:cNvPr id="58" name="b3">
            <a:extLst>
              <a:ext uri="{FF2B5EF4-FFF2-40B4-BE49-F238E27FC236}">
                <a16:creationId xmlns:a16="http://schemas.microsoft.com/office/drawing/2014/main" id="{2F412456-2134-EDE0-D7F3-EB91AF1716CE}"/>
              </a:ext>
            </a:extLst>
          </p:cNvPr>
          <p:cNvSpPr/>
          <p:nvPr/>
        </p:nvSpPr>
        <p:spPr>
          <a:xfrm>
            <a:off x="6832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4</a:t>
            </a:r>
          </a:p>
        </p:txBody>
      </p:sp>
      <p:sp>
        <p:nvSpPr>
          <p:cNvPr id="59" name="c3">
            <a:extLst>
              <a:ext uri="{FF2B5EF4-FFF2-40B4-BE49-F238E27FC236}">
                <a16:creationId xmlns:a16="http://schemas.microsoft.com/office/drawing/2014/main" id="{1418012D-00AE-EFE8-7DDF-236269ED8187}"/>
              </a:ext>
            </a:extLst>
          </p:cNvPr>
          <p:cNvSpPr/>
          <p:nvPr/>
        </p:nvSpPr>
        <p:spPr>
          <a:xfrm>
            <a:off x="6172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IST-Analyse</a:t>
            </a:r>
          </a:p>
          <a:p>
            <a:pPr algn="ctr">
              <a:spcBef>
                <a:spcPts val="400"/>
              </a:spcBef>
            </a:pPr>
            <a:r>
              <a:rPr lang="de-CH" sz="1100" dirty="0" err="1">
                <a:solidFill>
                  <a:srgbClr val="5B6B79"/>
                </a:solidFill>
              </a:rPr>
              <a:t>Issue</a:t>
            </a:r>
            <a:r>
              <a:rPr lang="de-CH" sz="1100" dirty="0">
                <a:solidFill>
                  <a:srgbClr val="5B6B79"/>
                </a:solidFill>
              </a:rPr>
              <a:t> Register, Value-</a:t>
            </a:r>
            <a:r>
              <a:rPr lang="de-CH" sz="1100" dirty="0" err="1">
                <a:solidFill>
                  <a:srgbClr val="5B6B79"/>
                </a:solidFill>
              </a:rPr>
              <a:t>Added</a:t>
            </a:r>
            <a:r>
              <a:rPr lang="de-CH" sz="1100" dirty="0">
                <a:solidFill>
                  <a:srgbClr val="5B6B79"/>
                </a:solidFill>
              </a:rPr>
              <a:t>-Analyse, </a:t>
            </a:r>
            <a:r>
              <a:rPr lang="de-CH" sz="1100" dirty="0" err="1">
                <a:solidFill>
                  <a:srgbClr val="5B6B79"/>
                </a:solidFill>
              </a:rPr>
              <a:t>Muda</a:t>
            </a:r>
            <a:r>
              <a:rPr lang="de-CH" sz="1100" dirty="0">
                <a:solidFill>
                  <a:srgbClr val="5B6B79"/>
                </a:solidFill>
              </a:rPr>
              <a:t>-</a:t>
            </a:r>
            <a:r>
              <a:rPr lang="de-CH" sz="1100" dirty="0" err="1">
                <a:solidFill>
                  <a:srgbClr val="5B6B79"/>
                </a:solidFill>
              </a:rPr>
              <a:t>Waste</a:t>
            </a:r>
            <a:r>
              <a:rPr lang="de-CH" sz="1100" dirty="0">
                <a:solidFill>
                  <a:srgbClr val="5B6B79"/>
                </a:solidFill>
              </a:rPr>
              <a:t>-Analyse und Ursachenanalyse </a:t>
            </a:r>
          </a:p>
        </p:txBody>
      </p:sp>
      <p:sp>
        <p:nvSpPr>
          <p:cNvPr id="60" name="b4">
            <a:extLst>
              <a:ext uri="{FF2B5EF4-FFF2-40B4-BE49-F238E27FC236}">
                <a16:creationId xmlns:a16="http://schemas.microsoft.com/office/drawing/2014/main" id="{DD5C5967-1DE0-A4D8-A0D9-3BEED5E17250}"/>
              </a:ext>
            </a:extLst>
          </p:cNvPr>
          <p:cNvSpPr/>
          <p:nvPr/>
        </p:nvSpPr>
        <p:spPr>
          <a:xfrm>
            <a:off x="8610600" y="2565401"/>
            <a:ext cx="304800" cy="304800"/>
          </a:xfrm>
          <a:prstGeom prst="ellipse">
            <a:avLst/>
          </a:prstGeom>
          <a:solidFill>
            <a:srgbClr val="C8893A"/>
          </a:solidFill>
          <a:ln w="19050">
            <a:solidFill>
              <a:srgbClr val="C8893A"/>
            </a:solidFill>
          </a:ln>
        </p:spPr>
        <p:txBody>
          <a:bodyPr lIns="0" tIns="0" rIns="0" bIns="0" anchor="ctr"/>
          <a:lstStyle/>
          <a:p>
            <a:pPr algn="ctr"/>
            <a:r>
              <a:rPr lang="de-CH" sz="1300" b="1" dirty="0">
                <a:solidFill>
                  <a:srgbClr val="FFFFFF"/>
                </a:solidFill>
              </a:rPr>
              <a:t>5</a:t>
            </a:r>
          </a:p>
        </p:txBody>
      </p:sp>
      <p:sp>
        <p:nvSpPr>
          <p:cNvPr id="61" name="c4">
            <a:extLst>
              <a:ext uri="{FF2B5EF4-FFF2-40B4-BE49-F238E27FC236}">
                <a16:creationId xmlns:a16="http://schemas.microsoft.com/office/drawing/2014/main" id="{78CF2064-F75E-FFAA-47E3-354D10A3EF71}"/>
              </a:ext>
            </a:extLst>
          </p:cNvPr>
          <p:cNvSpPr/>
          <p:nvPr/>
        </p:nvSpPr>
        <p:spPr>
          <a:xfrm>
            <a:off x="7950200" y="3098801"/>
            <a:ext cx="1625600" cy="1905000"/>
          </a:xfrm>
          <a:prstGeom prst="roundRect">
            <a:avLst>
              <a:gd name="adj" fmla="val 6000"/>
            </a:avLst>
          </a:prstGeom>
          <a:solidFill>
            <a:schemeClr val="bg1"/>
          </a:solidFill>
          <a:ln w="22225">
            <a:solidFill>
              <a:schemeClr val="bg2"/>
            </a:solidFill>
          </a:ln>
        </p:spPr>
        <p:txBody>
          <a:bodyPr lIns="101600" tIns="127000" rIns="101600" bIns="101600" anchor="t">
            <a:normAutofit/>
          </a:bodyPr>
          <a:lstStyle/>
          <a:p>
            <a:pPr algn="ctr"/>
            <a:r>
              <a:rPr lang="de-CH" sz="1300" b="1" dirty="0">
                <a:solidFill>
                  <a:srgbClr val="1B3A5C"/>
                </a:solidFill>
              </a:rPr>
              <a:t>SOLL-Konzept</a:t>
            </a:r>
          </a:p>
          <a:p>
            <a:pPr algn="ctr">
              <a:spcBef>
                <a:spcPts val="400"/>
              </a:spcBef>
            </a:pPr>
            <a:r>
              <a:rPr lang="de-CH" sz="1100" dirty="0">
                <a:solidFill>
                  <a:srgbClr val="5B6B79"/>
                </a:solidFill>
              </a:rPr>
              <a:t>Ziel-Konzept im SOLL-Workshop entwickeln und Anforderungen erheben</a:t>
            </a:r>
          </a:p>
        </p:txBody>
      </p:sp>
      <p:sp>
        <p:nvSpPr>
          <p:cNvPr id="63" name="b5">
            <a:extLst>
              <a:ext uri="{FF2B5EF4-FFF2-40B4-BE49-F238E27FC236}">
                <a16:creationId xmlns:a16="http://schemas.microsoft.com/office/drawing/2014/main" id="{B50C7E65-C53D-6CB9-D848-E6E655DFE819}"/>
              </a:ext>
            </a:extLst>
          </p:cNvPr>
          <p:cNvSpPr/>
          <p:nvPr/>
        </p:nvSpPr>
        <p:spPr>
          <a:xfrm>
            <a:off x="10388600" y="2565401"/>
            <a:ext cx="304800" cy="304800"/>
          </a:xfrm>
          <a:prstGeom prst="ellipse">
            <a:avLst/>
          </a:prstGeom>
          <a:solidFill>
            <a:srgbClr val="1B3A5C"/>
          </a:solidFill>
          <a:ln w="19050">
            <a:solidFill>
              <a:srgbClr val="7FA8C9"/>
            </a:solidFill>
          </a:ln>
        </p:spPr>
        <p:txBody>
          <a:bodyPr lIns="0" tIns="0" rIns="0" bIns="0" anchor="ctr"/>
          <a:lstStyle/>
          <a:p>
            <a:pPr algn="ctr"/>
            <a:r>
              <a:rPr lang="de-CH" sz="1300" b="1" dirty="0">
                <a:solidFill>
                  <a:srgbClr val="FFFFFF"/>
                </a:solidFill>
              </a:rPr>
              <a:t>6</a:t>
            </a:r>
          </a:p>
        </p:txBody>
      </p:sp>
      <p:sp>
        <p:nvSpPr>
          <p:cNvPr id="64" name="c5">
            <a:extLst>
              <a:ext uri="{FF2B5EF4-FFF2-40B4-BE49-F238E27FC236}">
                <a16:creationId xmlns:a16="http://schemas.microsoft.com/office/drawing/2014/main" id="{385762C5-A7C3-A26C-100A-C1F8A788B584}"/>
              </a:ext>
            </a:extLst>
          </p:cNvPr>
          <p:cNvSpPr/>
          <p:nvPr/>
        </p:nvSpPr>
        <p:spPr>
          <a:xfrm>
            <a:off x="9728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Detailspezifikation und Abnahme</a:t>
            </a:r>
          </a:p>
          <a:p>
            <a:pPr algn="ctr">
              <a:spcBef>
                <a:spcPts val="400"/>
              </a:spcBef>
            </a:pPr>
            <a:r>
              <a:rPr lang="de-CH" sz="1100" dirty="0">
                <a:solidFill>
                  <a:srgbClr val="5B6B79"/>
                </a:solidFill>
              </a:rPr>
              <a:t>Anforderungskatalog inkl. User Stories und Use Cases, Projektabnahme</a:t>
            </a:r>
          </a:p>
        </p:txBody>
      </p:sp>
      <p:sp>
        <p:nvSpPr>
          <p:cNvPr id="3" name="b0">
            <a:extLst>
              <a:ext uri="{FF2B5EF4-FFF2-40B4-BE49-F238E27FC236}">
                <a16:creationId xmlns:a16="http://schemas.microsoft.com/office/drawing/2014/main" id="{024E78C2-9703-5E69-C465-4F807CA69F94}"/>
              </a:ext>
            </a:extLst>
          </p:cNvPr>
          <p:cNvSpPr/>
          <p:nvPr/>
        </p:nvSpPr>
        <p:spPr>
          <a:xfrm>
            <a:off x="8610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5</a:t>
            </a:r>
          </a:p>
        </p:txBody>
      </p:sp>
      <p:sp>
        <p:nvSpPr>
          <p:cNvPr id="4" name="b0">
            <a:extLst>
              <a:ext uri="{FF2B5EF4-FFF2-40B4-BE49-F238E27FC236}">
                <a16:creationId xmlns:a16="http://schemas.microsoft.com/office/drawing/2014/main" id="{0CF3DE25-7A93-0B77-DF1F-2AC9B38CCD48}"/>
              </a:ext>
            </a:extLst>
          </p:cNvPr>
          <p:cNvSpPr/>
          <p:nvPr/>
        </p:nvSpPr>
        <p:spPr>
          <a:xfrm>
            <a:off x="1346200" y="2565401"/>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5" name="Grafik 4" descr="Häkchen mit einfarbiger Füllung">
            <a:extLst>
              <a:ext uri="{FF2B5EF4-FFF2-40B4-BE49-F238E27FC236}">
                <a16:creationId xmlns:a16="http://schemas.microsoft.com/office/drawing/2014/main" id="{22D28E55-8686-1DDF-B810-CEACEF8C095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90650" y="2609851"/>
            <a:ext cx="215900" cy="215900"/>
          </a:xfrm>
          <a:prstGeom prst="rect">
            <a:avLst/>
          </a:prstGeom>
        </p:spPr>
      </p:pic>
      <p:sp>
        <p:nvSpPr>
          <p:cNvPr id="6" name="b0">
            <a:extLst>
              <a:ext uri="{FF2B5EF4-FFF2-40B4-BE49-F238E27FC236}">
                <a16:creationId xmlns:a16="http://schemas.microsoft.com/office/drawing/2014/main" id="{F568832D-5607-CEC6-B6E5-B9AC313410D6}"/>
              </a:ext>
            </a:extLst>
          </p:cNvPr>
          <p:cNvSpPr/>
          <p:nvPr/>
        </p:nvSpPr>
        <p:spPr>
          <a:xfrm>
            <a:off x="3200400" y="2580988"/>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7" name="Grafik 6" descr="Häkchen mit einfarbiger Füllung">
            <a:extLst>
              <a:ext uri="{FF2B5EF4-FFF2-40B4-BE49-F238E27FC236}">
                <a16:creationId xmlns:a16="http://schemas.microsoft.com/office/drawing/2014/main" id="{76AC7FF8-440C-52E2-0540-504BD5A079B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244850" y="2625438"/>
            <a:ext cx="215900" cy="215900"/>
          </a:xfrm>
          <a:prstGeom prst="rect">
            <a:avLst/>
          </a:prstGeom>
        </p:spPr>
      </p:pic>
      <p:sp>
        <p:nvSpPr>
          <p:cNvPr id="8" name="Foliennummernplatzhalter 7">
            <a:extLst>
              <a:ext uri="{FF2B5EF4-FFF2-40B4-BE49-F238E27FC236}">
                <a16:creationId xmlns:a16="http://schemas.microsoft.com/office/drawing/2014/main" id="{B38D302F-73C3-2952-ACAF-7A1651E029FA}"/>
              </a:ext>
            </a:extLst>
          </p:cNvPr>
          <p:cNvSpPr>
            <a:spLocks noGrp="1"/>
          </p:cNvSpPr>
          <p:nvPr>
            <p:ph type="sldNum" sz="quarter" idx="12"/>
          </p:nvPr>
        </p:nvSpPr>
        <p:spPr/>
        <p:txBody>
          <a:bodyPr/>
          <a:lstStyle/>
          <a:p>
            <a:fld id="{2AAFDC3C-A9F8-4ABD-8D8D-8DC3321B02DC}" type="slidenum">
              <a:rPr lang="de-CH" smtClean="0"/>
              <a:t>10</a:t>
            </a:fld>
            <a:endParaRPr lang="de-CH"/>
          </a:p>
        </p:txBody>
      </p:sp>
      <p:sp>
        <p:nvSpPr>
          <p:cNvPr id="9" name="Datumsplatzhalter 8">
            <a:extLst>
              <a:ext uri="{FF2B5EF4-FFF2-40B4-BE49-F238E27FC236}">
                <a16:creationId xmlns:a16="http://schemas.microsoft.com/office/drawing/2014/main" id="{6FAAADF0-66F0-6536-70F6-B2EA687167BE}"/>
              </a:ext>
            </a:extLst>
          </p:cNvPr>
          <p:cNvSpPr>
            <a:spLocks noGrp="1"/>
          </p:cNvSpPr>
          <p:nvPr>
            <p:ph type="dt" sz="half" idx="10"/>
          </p:nvPr>
        </p:nvSpPr>
        <p:spPr/>
        <p:txBody>
          <a:bodyPr/>
          <a:lstStyle/>
          <a:p>
            <a:r>
              <a:rPr lang="de-CH"/>
              <a:t>11.06.2026</a:t>
            </a:r>
          </a:p>
        </p:txBody>
      </p:sp>
    </p:spTree>
    <p:extLst>
      <p:ext uri="{BB962C8B-B14F-4D97-AF65-F5344CB8AC3E}">
        <p14:creationId xmlns:p14="http://schemas.microsoft.com/office/powerpoint/2010/main" val="1294665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3B6D8-FC48-3C83-8795-91FDFF4312C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04DEEAE-5BF7-6B09-4847-8D54B088F8FF}"/>
              </a:ext>
            </a:extLst>
          </p:cNvPr>
          <p:cNvSpPr>
            <a:spLocks noGrp="1"/>
          </p:cNvSpPr>
          <p:nvPr>
            <p:ph type="title"/>
          </p:nvPr>
        </p:nvSpPr>
        <p:spPr/>
        <p:txBody>
          <a:bodyPr/>
          <a:lstStyle/>
          <a:p>
            <a:pPr algn="l"/>
            <a:r>
              <a:rPr lang="de-CH" sz="2800" b="1">
                <a:solidFill>
                  <a:srgbClr val="1B3A5C"/>
                </a:solidFill>
              </a:rPr>
              <a:t>Projektstand und Vorgehen</a:t>
            </a:r>
          </a:p>
        </p:txBody>
      </p:sp>
      <p:sp>
        <p:nvSpPr>
          <p:cNvPr id="50" name="kicker">
            <a:extLst>
              <a:ext uri="{FF2B5EF4-FFF2-40B4-BE49-F238E27FC236}">
                <a16:creationId xmlns:a16="http://schemas.microsoft.com/office/drawing/2014/main" id="{11CE7B9E-1B34-01C7-885F-3EABA4B302CC}"/>
              </a:ext>
            </a:extLst>
          </p:cNvPr>
          <p:cNvSpPr/>
          <p:nvPr/>
        </p:nvSpPr>
        <p:spPr>
          <a:xfrm>
            <a:off x="838200" y="1574800"/>
            <a:ext cx="9906000" cy="279400"/>
          </a:xfrm>
          <a:prstGeom prst="rect">
            <a:avLst/>
          </a:prstGeom>
          <a:noFill/>
        </p:spPr>
        <p:txBody>
          <a:bodyPr lIns="0" tIns="0" rIns="0" bIns="0"/>
          <a:lstStyle/>
          <a:p>
            <a:r>
              <a:rPr lang="de-DE" sz="1400" b="1" dirty="0">
                <a:solidFill>
                  <a:srgbClr val="2E6CA4"/>
                </a:solidFill>
              </a:rPr>
              <a:t>Phase 2 · Von den Datenquellen zum validierten IST-Konzept</a:t>
            </a:r>
          </a:p>
        </p:txBody>
      </p:sp>
      <p:sp>
        <p:nvSpPr>
          <p:cNvPr id="51" name="track">
            <a:extLst>
              <a:ext uri="{FF2B5EF4-FFF2-40B4-BE49-F238E27FC236}">
                <a16:creationId xmlns:a16="http://schemas.microsoft.com/office/drawing/2014/main" id="{ED5DE11B-04D3-4EE2-ADAC-D30CBEE66832}"/>
              </a:ext>
            </a:extLst>
          </p:cNvPr>
          <p:cNvSpPr/>
          <p:nvPr/>
        </p:nvSpPr>
        <p:spPr>
          <a:xfrm>
            <a:off x="1651000" y="2692401"/>
            <a:ext cx="8890000" cy="50800"/>
          </a:xfrm>
          <a:prstGeom prst="rect">
            <a:avLst/>
          </a:prstGeom>
          <a:solidFill>
            <a:srgbClr val="C9D6E2"/>
          </a:solidFill>
          <a:ln>
            <a:noFill/>
          </a:ln>
        </p:spPr>
        <p:txBody>
          <a:bodyPr/>
          <a:lstStyle/>
          <a:p>
            <a:endParaRPr/>
          </a:p>
        </p:txBody>
      </p:sp>
      <p:sp>
        <p:nvSpPr>
          <p:cNvPr id="53" name="c0">
            <a:extLst>
              <a:ext uri="{FF2B5EF4-FFF2-40B4-BE49-F238E27FC236}">
                <a16:creationId xmlns:a16="http://schemas.microsoft.com/office/drawing/2014/main" id="{B2EDC9E5-3B41-6F52-2FB8-93CA4E53DA21}"/>
              </a:ext>
            </a:extLst>
          </p:cNvPr>
          <p:cNvSpPr/>
          <p:nvPr/>
        </p:nvSpPr>
        <p:spPr>
          <a:xfrm>
            <a:off x="838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a:solidFill>
                  <a:srgbClr val="1B3A5C"/>
                </a:solidFill>
              </a:rPr>
              <a:t>Kick-off</a:t>
            </a:r>
          </a:p>
          <a:p>
            <a:pPr algn="ctr">
              <a:spcBef>
                <a:spcPts val="400"/>
              </a:spcBef>
            </a:pPr>
            <a:r>
              <a:rPr lang="de-CH" sz="1100">
                <a:solidFill>
                  <a:srgbClr val="5B6B79"/>
                </a:solidFill>
              </a:rPr>
              <a:t>Auftrag und Rahmen geklärt</a:t>
            </a:r>
          </a:p>
        </p:txBody>
      </p:sp>
      <p:sp>
        <p:nvSpPr>
          <p:cNvPr id="55" name="c1">
            <a:extLst>
              <a:ext uri="{FF2B5EF4-FFF2-40B4-BE49-F238E27FC236}">
                <a16:creationId xmlns:a16="http://schemas.microsoft.com/office/drawing/2014/main" id="{73861945-AA6C-E714-D757-5281E588A6A4}"/>
              </a:ext>
            </a:extLst>
          </p:cNvPr>
          <p:cNvSpPr/>
          <p:nvPr/>
        </p:nvSpPr>
        <p:spPr>
          <a:xfrm>
            <a:off x="2616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dirty="0">
                <a:solidFill>
                  <a:srgbClr val="1B3A5C"/>
                </a:solidFill>
              </a:rPr>
              <a:t>Literatur und Disposition</a:t>
            </a:r>
          </a:p>
          <a:p>
            <a:pPr algn="ctr">
              <a:spcBef>
                <a:spcPts val="400"/>
              </a:spcBef>
            </a:pPr>
            <a:r>
              <a:rPr lang="de-CH" sz="1100" dirty="0">
                <a:solidFill>
                  <a:srgbClr val="5B6B79"/>
                </a:solidFill>
              </a:rPr>
              <a:t>Theoretische und methodische Grundlagen</a:t>
            </a:r>
          </a:p>
        </p:txBody>
      </p:sp>
      <p:sp>
        <p:nvSpPr>
          <p:cNvPr id="56" name="b2">
            <a:extLst>
              <a:ext uri="{FF2B5EF4-FFF2-40B4-BE49-F238E27FC236}">
                <a16:creationId xmlns:a16="http://schemas.microsoft.com/office/drawing/2014/main" id="{2EE48562-5EA2-973C-DCFB-563DCA6FC96E}"/>
              </a:ext>
            </a:extLst>
          </p:cNvPr>
          <p:cNvSpPr/>
          <p:nvPr/>
        </p:nvSpPr>
        <p:spPr>
          <a:xfrm>
            <a:off x="5054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3</a:t>
            </a:r>
          </a:p>
        </p:txBody>
      </p:sp>
      <p:sp>
        <p:nvSpPr>
          <p:cNvPr id="57" name="c2">
            <a:extLst>
              <a:ext uri="{FF2B5EF4-FFF2-40B4-BE49-F238E27FC236}">
                <a16:creationId xmlns:a16="http://schemas.microsoft.com/office/drawing/2014/main" id="{7BA043D6-5ACE-2C1D-1C8C-7E115CF22107}"/>
              </a:ext>
            </a:extLst>
          </p:cNvPr>
          <p:cNvSpPr/>
          <p:nvPr/>
        </p:nvSpPr>
        <p:spPr>
          <a:xfrm>
            <a:off x="4394200" y="3098801"/>
            <a:ext cx="1625600" cy="1905000"/>
          </a:xfrm>
          <a:prstGeom prst="roundRect">
            <a:avLst>
              <a:gd name="adj" fmla="val 6000"/>
            </a:avLst>
          </a:prstGeom>
          <a:solidFill>
            <a:schemeClr val="accent1">
              <a:lumMod val="20000"/>
              <a:lumOff val="80000"/>
            </a:schemeClr>
          </a:solidFill>
          <a:ln w="12700">
            <a:solidFill>
              <a:srgbClr val="C9D6E2"/>
            </a:solidFill>
          </a:ln>
        </p:spPr>
        <p:txBody>
          <a:bodyPr lIns="101600" tIns="127000" rIns="101600" bIns="101600" anchor="t">
            <a:normAutofit/>
          </a:bodyPr>
          <a:lstStyle/>
          <a:p>
            <a:pPr algn="ctr"/>
            <a:r>
              <a:rPr lang="de-CH" sz="1300" b="1" dirty="0">
                <a:solidFill>
                  <a:srgbClr val="1B3A5C"/>
                </a:solidFill>
              </a:rPr>
              <a:t>IST-Erhebung</a:t>
            </a:r>
          </a:p>
          <a:p>
            <a:pPr algn="ctr">
              <a:spcBef>
                <a:spcPts val="400"/>
              </a:spcBef>
            </a:pPr>
            <a:r>
              <a:rPr lang="de-CH" sz="1100" dirty="0">
                <a:solidFill>
                  <a:srgbClr val="5B6B79"/>
                </a:solidFill>
              </a:rPr>
              <a:t>Dokumentenanalyse, Interviews, IST-Modellierung und Validierungsworkshop</a:t>
            </a:r>
          </a:p>
        </p:txBody>
      </p:sp>
      <p:sp>
        <p:nvSpPr>
          <p:cNvPr id="58" name="b3">
            <a:extLst>
              <a:ext uri="{FF2B5EF4-FFF2-40B4-BE49-F238E27FC236}">
                <a16:creationId xmlns:a16="http://schemas.microsoft.com/office/drawing/2014/main" id="{210D5321-32BE-24F7-A7BE-7FB995A47575}"/>
              </a:ext>
            </a:extLst>
          </p:cNvPr>
          <p:cNvSpPr/>
          <p:nvPr/>
        </p:nvSpPr>
        <p:spPr>
          <a:xfrm>
            <a:off x="6832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4</a:t>
            </a:r>
          </a:p>
        </p:txBody>
      </p:sp>
      <p:sp>
        <p:nvSpPr>
          <p:cNvPr id="59" name="c3">
            <a:extLst>
              <a:ext uri="{FF2B5EF4-FFF2-40B4-BE49-F238E27FC236}">
                <a16:creationId xmlns:a16="http://schemas.microsoft.com/office/drawing/2014/main" id="{291C3856-A70F-44DF-DAD3-408BAD2AAD4B}"/>
              </a:ext>
            </a:extLst>
          </p:cNvPr>
          <p:cNvSpPr/>
          <p:nvPr/>
        </p:nvSpPr>
        <p:spPr>
          <a:xfrm>
            <a:off x="6172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IST-Analyse</a:t>
            </a:r>
          </a:p>
          <a:p>
            <a:pPr algn="ctr">
              <a:spcBef>
                <a:spcPts val="400"/>
              </a:spcBef>
            </a:pPr>
            <a:r>
              <a:rPr lang="de-CH" sz="1100" dirty="0" err="1">
                <a:solidFill>
                  <a:srgbClr val="5B6B79"/>
                </a:solidFill>
              </a:rPr>
              <a:t>Issue</a:t>
            </a:r>
            <a:r>
              <a:rPr lang="de-CH" sz="1100" dirty="0">
                <a:solidFill>
                  <a:srgbClr val="5B6B79"/>
                </a:solidFill>
              </a:rPr>
              <a:t> Register, Value-</a:t>
            </a:r>
            <a:r>
              <a:rPr lang="de-CH" sz="1100" dirty="0" err="1">
                <a:solidFill>
                  <a:srgbClr val="5B6B79"/>
                </a:solidFill>
              </a:rPr>
              <a:t>Added</a:t>
            </a:r>
            <a:r>
              <a:rPr lang="de-CH" sz="1100" dirty="0">
                <a:solidFill>
                  <a:srgbClr val="5B6B79"/>
                </a:solidFill>
              </a:rPr>
              <a:t>-Analyse, </a:t>
            </a:r>
            <a:r>
              <a:rPr lang="de-CH" sz="1100" dirty="0" err="1">
                <a:solidFill>
                  <a:srgbClr val="5B6B79"/>
                </a:solidFill>
              </a:rPr>
              <a:t>Muda</a:t>
            </a:r>
            <a:r>
              <a:rPr lang="de-CH" sz="1100" dirty="0">
                <a:solidFill>
                  <a:srgbClr val="5B6B79"/>
                </a:solidFill>
              </a:rPr>
              <a:t>-</a:t>
            </a:r>
            <a:r>
              <a:rPr lang="de-CH" sz="1100" dirty="0" err="1">
                <a:solidFill>
                  <a:srgbClr val="5B6B79"/>
                </a:solidFill>
              </a:rPr>
              <a:t>Waste</a:t>
            </a:r>
            <a:r>
              <a:rPr lang="de-CH" sz="1100" dirty="0">
                <a:solidFill>
                  <a:srgbClr val="5B6B79"/>
                </a:solidFill>
              </a:rPr>
              <a:t>-Analyse und Ursachenanalyse </a:t>
            </a:r>
          </a:p>
        </p:txBody>
      </p:sp>
      <p:sp>
        <p:nvSpPr>
          <p:cNvPr id="60" name="b4">
            <a:extLst>
              <a:ext uri="{FF2B5EF4-FFF2-40B4-BE49-F238E27FC236}">
                <a16:creationId xmlns:a16="http://schemas.microsoft.com/office/drawing/2014/main" id="{54EADCD7-A525-51B6-19EC-8488B604EFBA}"/>
              </a:ext>
            </a:extLst>
          </p:cNvPr>
          <p:cNvSpPr/>
          <p:nvPr/>
        </p:nvSpPr>
        <p:spPr>
          <a:xfrm>
            <a:off x="8610600" y="2565401"/>
            <a:ext cx="304800" cy="304800"/>
          </a:xfrm>
          <a:prstGeom prst="ellipse">
            <a:avLst/>
          </a:prstGeom>
          <a:solidFill>
            <a:srgbClr val="C8893A"/>
          </a:solidFill>
          <a:ln w="19050">
            <a:solidFill>
              <a:srgbClr val="C8893A"/>
            </a:solidFill>
          </a:ln>
        </p:spPr>
        <p:txBody>
          <a:bodyPr lIns="0" tIns="0" rIns="0" bIns="0" anchor="ctr"/>
          <a:lstStyle/>
          <a:p>
            <a:pPr algn="ctr"/>
            <a:r>
              <a:rPr lang="de-CH" sz="1300" b="1" dirty="0">
                <a:solidFill>
                  <a:srgbClr val="FFFFFF"/>
                </a:solidFill>
              </a:rPr>
              <a:t>5</a:t>
            </a:r>
          </a:p>
        </p:txBody>
      </p:sp>
      <p:sp>
        <p:nvSpPr>
          <p:cNvPr id="61" name="c4">
            <a:extLst>
              <a:ext uri="{FF2B5EF4-FFF2-40B4-BE49-F238E27FC236}">
                <a16:creationId xmlns:a16="http://schemas.microsoft.com/office/drawing/2014/main" id="{1A729439-3000-C74F-1624-248C6A07E370}"/>
              </a:ext>
            </a:extLst>
          </p:cNvPr>
          <p:cNvSpPr/>
          <p:nvPr/>
        </p:nvSpPr>
        <p:spPr>
          <a:xfrm>
            <a:off x="7950200" y="3098801"/>
            <a:ext cx="1625600" cy="1905000"/>
          </a:xfrm>
          <a:prstGeom prst="roundRect">
            <a:avLst>
              <a:gd name="adj" fmla="val 6000"/>
            </a:avLst>
          </a:prstGeom>
          <a:solidFill>
            <a:schemeClr val="bg1"/>
          </a:solidFill>
          <a:ln w="22225">
            <a:solidFill>
              <a:schemeClr val="bg2"/>
            </a:solidFill>
          </a:ln>
        </p:spPr>
        <p:txBody>
          <a:bodyPr lIns="101600" tIns="127000" rIns="101600" bIns="101600" anchor="t">
            <a:normAutofit/>
          </a:bodyPr>
          <a:lstStyle/>
          <a:p>
            <a:pPr algn="ctr"/>
            <a:r>
              <a:rPr lang="de-CH" sz="1300" b="1" dirty="0">
                <a:solidFill>
                  <a:srgbClr val="1B3A5C"/>
                </a:solidFill>
              </a:rPr>
              <a:t>SOLL-Konzept</a:t>
            </a:r>
          </a:p>
          <a:p>
            <a:pPr algn="ctr">
              <a:spcBef>
                <a:spcPts val="400"/>
              </a:spcBef>
            </a:pPr>
            <a:r>
              <a:rPr lang="de-CH" sz="1100" dirty="0">
                <a:solidFill>
                  <a:srgbClr val="5B6B79"/>
                </a:solidFill>
              </a:rPr>
              <a:t>Ziel-Konzept im SOLL-Workshop entwickeln und Anforderungen erheben</a:t>
            </a:r>
          </a:p>
        </p:txBody>
      </p:sp>
      <p:sp>
        <p:nvSpPr>
          <p:cNvPr id="63" name="b5">
            <a:extLst>
              <a:ext uri="{FF2B5EF4-FFF2-40B4-BE49-F238E27FC236}">
                <a16:creationId xmlns:a16="http://schemas.microsoft.com/office/drawing/2014/main" id="{4B0C85C7-F7EC-B711-C2DC-0192DB6F4B3B}"/>
              </a:ext>
            </a:extLst>
          </p:cNvPr>
          <p:cNvSpPr/>
          <p:nvPr/>
        </p:nvSpPr>
        <p:spPr>
          <a:xfrm>
            <a:off x="10388600" y="2565401"/>
            <a:ext cx="304800" cy="304800"/>
          </a:xfrm>
          <a:prstGeom prst="ellipse">
            <a:avLst/>
          </a:prstGeom>
          <a:solidFill>
            <a:srgbClr val="1B3A5C"/>
          </a:solidFill>
          <a:ln w="19050">
            <a:solidFill>
              <a:srgbClr val="7FA8C9"/>
            </a:solidFill>
          </a:ln>
        </p:spPr>
        <p:txBody>
          <a:bodyPr lIns="0" tIns="0" rIns="0" bIns="0" anchor="ctr"/>
          <a:lstStyle/>
          <a:p>
            <a:pPr algn="ctr"/>
            <a:r>
              <a:rPr lang="de-CH" sz="1300" b="1" dirty="0">
                <a:solidFill>
                  <a:srgbClr val="FFFFFF"/>
                </a:solidFill>
              </a:rPr>
              <a:t>6</a:t>
            </a:r>
          </a:p>
        </p:txBody>
      </p:sp>
      <p:sp>
        <p:nvSpPr>
          <p:cNvPr id="64" name="c5">
            <a:extLst>
              <a:ext uri="{FF2B5EF4-FFF2-40B4-BE49-F238E27FC236}">
                <a16:creationId xmlns:a16="http://schemas.microsoft.com/office/drawing/2014/main" id="{99E7BB00-D508-EB12-5A69-9BB5286F7496}"/>
              </a:ext>
            </a:extLst>
          </p:cNvPr>
          <p:cNvSpPr/>
          <p:nvPr/>
        </p:nvSpPr>
        <p:spPr>
          <a:xfrm>
            <a:off x="9728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Detailspezifikation und Abnahme</a:t>
            </a:r>
          </a:p>
          <a:p>
            <a:pPr algn="ctr">
              <a:spcBef>
                <a:spcPts val="400"/>
              </a:spcBef>
            </a:pPr>
            <a:r>
              <a:rPr lang="de-CH" sz="1100" dirty="0">
                <a:solidFill>
                  <a:srgbClr val="5B6B79"/>
                </a:solidFill>
              </a:rPr>
              <a:t>Anforderungskatalog inkl. User Stories und Use Cases, Projektabnahme</a:t>
            </a:r>
          </a:p>
        </p:txBody>
      </p:sp>
      <p:sp>
        <p:nvSpPr>
          <p:cNvPr id="3" name="b0">
            <a:extLst>
              <a:ext uri="{FF2B5EF4-FFF2-40B4-BE49-F238E27FC236}">
                <a16:creationId xmlns:a16="http://schemas.microsoft.com/office/drawing/2014/main" id="{5526C4FB-A769-A698-EF3B-B41C9F54D6AE}"/>
              </a:ext>
            </a:extLst>
          </p:cNvPr>
          <p:cNvSpPr/>
          <p:nvPr/>
        </p:nvSpPr>
        <p:spPr>
          <a:xfrm>
            <a:off x="8610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5</a:t>
            </a:r>
          </a:p>
        </p:txBody>
      </p:sp>
      <p:sp>
        <p:nvSpPr>
          <p:cNvPr id="4" name="b0">
            <a:extLst>
              <a:ext uri="{FF2B5EF4-FFF2-40B4-BE49-F238E27FC236}">
                <a16:creationId xmlns:a16="http://schemas.microsoft.com/office/drawing/2014/main" id="{A1780297-2F74-D186-7BC8-55BBD1D35DFC}"/>
              </a:ext>
            </a:extLst>
          </p:cNvPr>
          <p:cNvSpPr/>
          <p:nvPr/>
        </p:nvSpPr>
        <p:spPr>
          <a:xfrm>
            <a:off x="1346200" y="2565401"/>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5" name="Grafik 4" descr="Häkchen mit einfarbiger Füllung">
            <a:extLst>
              <a:ext uri="{FF2B5EF4-FFF2-40B4-BE49-F238E27FC236}">
                <a16:creationId xmlns:a16="http://schemas.microsoft.com/office/drawing/2014/main" id="{EE39F9FF-D00D-2BE0-5DCA-F940E3BE45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0650" y="2609851"/>
            <a:ext cx="215900" cy="215900"/>
          </a:xfrm>
          <a:prstGeom prst="rect">
            <a:avLst/>
          </a:prstGeom>
        </p:spPr>
      </p:pic>
      <p:sp>
        <p:nvSpPr>
          <p:cNvPr id="6" name="b0">
            <a:extLst>
              <a:ext uri="{FF2B5EF4-FFF2-40B4-BE49-F238E27FC236}">
                <a16:creationId xmlns:a16="http://schemas.microsoft.com/office/drawing/2014/main" id="{74A560EA-59CE-926B-857C-3CACF352E40E}"/>
              </a:ext>
            </a:extLst>
          </p:cNvPr>
          <p:cNvSpPr/>
          <p:nvPr/>
        </p:nvSpPr>
        <p:spPr>
          <a:xfrm>
            <a:off x="3200400" y="2580988"/>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7" name="Grafik 6" descr="Häkchen mit einfarbiger Füllung">
            <a:extLst>
              <a:ext uri="{FF2B5EF4-FFF2-40B4-BE49-F238E27FC236}">
                <a16:creationId xmlns:a16="http://schemas.microsoft.com/office/drawing/2014/main" id="{471B4BAA-39D7-E22C-12BB-1750D2FF00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44850" y="2625438"/>
            <a:ext cx="215900" cy="215900"/>
          </a:xfrm>
          <a:prstGeom prst="rect">
            <a:avLst/>
          </a:prstGeom>
        </p:spPr>
      </p:pic>
      <p:sp>
        <p:nvSpPr>
          <p:cNvPr id="8" name="Foliennummernplatzhalter 7">
            <a:extLst>
              <a:ext uri="{FF2B5EF4-FFF2-40B4-BE49-F238E27FC236}">
                <a16:creationId xmlns:a16="http://schemas.microsoft.com/office/drawing/2014/main" id="{B27DACFA-114F-FAE8-BF6E-AD12C780DBB1}"/>
              </a:ext>
            </a:extLst>
          </p:cNvPr>
          <p:cNvSpPr>
            <a:spLocks noGrp="1"/>
          </p:cNvSpPr>
          <p:nvPr>
            <p:ph type="sldNum" sz="quarter" idx="12"/>
          </p:nvPr>
        </p:nvSpPr>
        <p:spPr/>
        <p:txBody>
          <a:bodyPr/>
          <a:lstStyle/>
          <a:p>
            <a:fld id="{2AAFDC3C-A9F8-4ABD-8D8D-8DC3321B02DC}" type="slidenum">
              <a:rPr lang="de-CH" smtClean="0"/>
              <a:t>11</a:t>
            </a:fld>
            <a:endParaRPr lang="de-CH"/>
          </a:p>
        </p:txBody>
      </p:sp>
      <p:sp>
        <p:nvSpPr>
          <p:cNvPr id="9" name="Datumsplatzhalter 8">
            <a:extLst>
              <a:ext uri="{FF2B5EF4-FFF2-40B4-BE49-F238E27FC236}">
                <a16:creationId xmlns:a16="http://schemas.microsoft.com/office/drawing/2014/main" id="{A540D8ED-FF4B-1F17-86BF-1C4AEF954B98}"/>
              </a:ext>
            </a:extLst>
          </p:cNvPr>
          <p:cNvSpPr>
            <a:spLocks noGrp="1"/>
          </p:cNvSpPr>
          <p:nvPr>
            <p:ph type="dt" sz="half" idx="10"/>
          </p:nvPr>
        </p:nvSpPr>
        <p:spPr/>
        <p:txBody>
          <a:bodyPr/>
          <a:lstStyle/>
          <a:p>
            <a:r>
              <a:rPr lang="de-CH"/>
              <a:t>11.06.2026</a:t>
            </a:r>
          </a:p>
        </p:txBody>
      </p:sp>
    </p:spTree>
    <p:extLst>
      <p:ext uri="{BB962C8B-B14F-4D97-AF65-F5344CB8AC3E}">
        <p14:creationId xmlns:p14="http://schemas.microsoft.com/office/powerpoint/2010/main" val="33595692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40F020-A70D-EC30-83D5-F729575F6A08}"/>
              </a:ext>
            </a:extLst>
          </p:cNvPr>
          <p:cNvSpPr>
            <a:spLocks noGrp="1"/>
          </p:cNvSpPr>
          <p:nvPr>
            <p:ph type="title"/>
          </p:nvPr>
        </p:nvSpPr>
        <p:spPr/>
        <p:txBody>
          <a:bodyPr/>
          <a:lstStyle/>
          <a:p>
            <a:pPr algn="l"/>
            <a:r>
              <a:rPr lang="de-CH" sz="2800" b="1" dirty="0">
                <a:solidFill>
                  <a:srgbClr val="1B3A5C"/>
                </a:solidFill>
              </a:rPr>
              <a:t>Evidenzbasis der IST-Erhebung</a:t>
            </a:r>
          </a:p>
        </p:txBody>
      </p:sp>
      <p:sp>
        <p:nvSpPr>
          <p:cNvPr id="50" name="kicker"/>
          <p:cNvSpPr/>
          <p:nvPr/>
        </p:nvSpPr>
        <p:spPr>
          <a:xfrm>
            <a:off x="838200" y="1574800"/>
            <a:ext cx="10515600" cy="279400"/>
          </a:xfrm>
          <a:prstGeom prst="rect">
            <a:avLst/>
          </a:prstGeom>
          <a:noFill/>
        </p:spPr>
        <p:txBody>
          <a:bodyPr lIns="0" tIns="0" rIns="0" bIns="0"/>
          <a:lstStyle/>
          <a:p>
            <a:r>
              <a:rPr lang="de-DE" sz="1400" b="1" dirty="0">
                <a:solidFill>
                  <a:srgbClr val="2E6CA4"/>
                </a:solidFill>
              </a:rPr>
              <a:t>ITERATIVE ERHEBUNG UND MODELLIERUNG DES IST-ZUSTANDS</a:t>
            </a:r>
            <a:endParaRPr lang="de-CH" sz="1400" b="1" dirty="0">
              <a:solidFill>
                <a:srgbClr val="2E6CA4"/>
              </a:solidFill>
            </a:endParaRPr>
          </a:p>
        </p:txBody>
      </p:sp>
      <p:sp>
        <p:nvSpPr>
          <p:cNvPr id="51" name="lh"/>
          <p:cNvSpPr/>
          <p:nvPr/>
        </p:nvSpPr>
        <p:spPr>
          <a:xfrm>
            <a:off x="511711" y="2070100"/>
            <a:ext cx="4927600" cy="279400"/>
          </a:xfrm>
          <a:prstGeom prst="rect">
            <a:avLst/>
          </a:prstGeom>
          <a:noFill/>
        </p:spPr>
        <p:txBody>
          <a:bodyPr lIns="0" tIns="0" rIns="0" bIns="0"/>
          <a:lstStyle/>
          <a:p>
            <a:r>
              <a:rPr lang="de-CH" sz="1500" b="1" dirty="0">
                <a:solidFill>
                  <a:srgbClr val="1B3A5C"/>
                </a:solidFill>
              </a:rPr>
              <a:t>Evidenzquellen</a:t>
            </a:r>
          </a:p>
        </p:txBody>
      </p:sp>
      <p:sp>
        <p:nvSpPr>
          <p:cNvPr id="52" name="s0"/>
          <p:cNvSpPr/>
          <p:nvPr/>
        </p:nvSpPr>
        <p:spPr>
          <a:xfrm>
            <a:off x="486062" y="2598882"/>
            <a:ext cx="4555505" cy="1447312"/>
          </a:xfrm>
          <a:prstGeom prst="roundRect">
            <a:avLst>
              <a:gd name="adj" fmla="val 5000"/>
            </a:avLst>
          </a:prstGeom>
          <a:solidFill>
            <a:srgbClr val="FFFFFF"/>
          </a:solidFill>
          <a:ln w="12700">
            <a:solidFill>
              <a:srgbClr val="C9D6E2"/>
            </a:solidFill>
          </a:ln>
        </p:spPr>
        <p:txBody>
          <a:bodyPr lIns="203200" tIns="152400" rIns="177800" bIns="127000" anchor="t">
            <a:normAutofit/>
          </a:bodyPr>
          <a:lstStyle/>
          <a:p>
            <a:r>
              <a:rPr lang="de-CH" sz="1600" b="1" dirty="0">
                <a:solidFill>
                  <a:srgbClr val="1B3A5C"/>
                </a:solidFill>
              </a:rPr>
              <a:t>Dokumentenanalyse</a:t>
            </a:r>
          </a:p>
          <a:p>
            <a:pPr>
              <a:spcBef>
                <a:spcPts val="400"/>
              </a:spcBef>
            </a:pPr>
            <a:r>
              <a:rPr lang="de-CH" sz="1400" dirty="0">
                <a:solidFill>
                  <a:srgbClr val="5B6B79"/>
                </a:solidFill>
              </a:rPr>
              <a:t>Organigramm, Abteilungsbeschreibungen, Prozessdokumentation, Checklisten, Jira-Formulare, Fall-Verfolgung</a:t>
            </a:r>
          </a:p>
        </p:txBody>
      </p:sp>
      <p:sp>
        <p:nvSpPr>
          <p:cNvPr id="53" name="sm0"/>
          <p:cNvSpPr/>
          <p:nvPr/>
        </p:nvSpPr>
        <p:spPr>
          <a:xfrm>
            <a:off x="486062" y="2598882"/>
            <a:ext cx="45719" cy="1447312"/>
          </a:xfrm>
          <a:prstGeom prst="rect">
            <a:avLst/>
          </a:prstGeom>
          <a:solidFill>
            <a:srgbClr val="2E6CA4"/>
          </a:solidFill>
          <a:ln>
            <a:noFill/>
          </a:ln>
        </p:spPr>
        <p:txBody>
          <a:bodyPr/>
          <a:lstStyle/>
          <a:p>
            <a:endParaRPr/>
          </a:p>
        </p:txBody>
      </p:sp>
      <p:sp>
        <p:nvSpPr>
          <p:cNvPr id="54" name="s1"/>
          <p:cNvSpPr/>
          <p:nvPr/>
        </p:nvSpPr>
        <p:spPr>
          <a:xfrm>
            <a:off x="486062" y="4404954"/>
            <a:ext cx="4492337" cy="1262316"/>
          </a:xfrm>
          <a:prstGeom prst="roundRect">
            <a:avLst>
              <a:gd name="adj" fmla="val 5000"/>
            </a:avLst>
          </a:prstGeom>
          <a:solidFill>
            <a:srgbClr val="FFFFFF"/>
          </a:solidFill>
          <a:ln w="12700">
            <a:solidFill>
              <a:srgbClr val="C9D6E2"/>
            </a:solidFill>
          </a:ln>
        </p:spPr>
        <p:txBody>
          <a:bodyPr lIns="203200" tIns="152400" rIns="177800" bIns="127000" anchor="t">
            <a:normAutofit lnSpcReduction="10000"/>
          </a:bodyPr>
          <a:lstStyle/>
          <a:p>
            <a:r>
              <a:rPr lang="de-CH" sz="1600" b="1" dirty="0">
                <a:solidFill>
                  <a:srgbClr val="1B3A5C"/>
                </a:solidFill>
              </a:rPr>
              <a:t>Experteninterviews</a:t>
            </a:r>
          </a:p>
          <a:p>
            <a:pPr>
              <a:spcBef>
                <a:spcPts val="400"/>
              </a:spcBef>
            </a:pPr>
            <a:r>
              <a:rPr lang="de-CH" sz="1400" dirty="0">
                <a:solidFill>
                  <a:srgbClr val="5B6B79"/>
                </a:solidFill>
              </a:rPr>
              <a:t>Interviewpartner zuvor über eine Stakeholder-Analyse identifiziert; leitfadengestützte Interviews.</a:t>
            </a:r>
          </a:p>
          <a:p>
            <a:pPr>
              <a:spcBef>
                <a:spcPts val="400"/>
              </a:spcBef>
            </a:pPr>
            <a:r>
              <a:rPr lang="de-CH" sz="1400" i="1" u="sng" dirty="0">
                <a:solidFill>
                  <a:srgbClr val="5B6B79"/>
                </a:solidFill>
              </a:rPr>
              <a:t>Interviewleitfaden Basis </a:t>
            </a:r>
            <a:r>
              <a:rPr lang="de-CH" sz="1400" dirty="0">
                <a:solidFill>
                  <a:srgbClr val="5B6B79"/>
                </a:solidFill>
              </a:rPr>
              <a:t>– </a:t>
            </a:r>
            <a:r>
              <a:rPr lang="de-CH" sz="1400" i="1" u="sng" dirty="0">
                <a:solidFill>
                  <a:srgbClr val="5B6B79"/>
                </a:solidFill>
              </a:rPr>
              <a:t>Interview Leitfaden Individuell</a:t>
            </a:r>
          </a:p>
        </p:txBody>
      </p:sp>
      <p:sp>
        <p:nvSpPr>
          <p:cNvPr id="55" name="sm1"/>
          <p:cNvSpPr/>
          <p:nvPr/>
        </p:nvSpPr>
        <p:spPr>
          <a:xfrm>
            <a:off x="486062" y="4404954"/>
            <a:ext cx="45719" cy="1262316"/>
          </a:xfrm>
          <a:prstGeom prst="rect">
            <a:avLst/>
          </a:prstGeom>
          <a:solidFill>
            <a:srgbClr val="2E6CA4"/>
          </a:solidFill>
          <a:ln>
            <a:noFill/>
          </a:ln>
        </p:spPr>
        <p:txBody>
          <a:bodyPr/>
          <a:lstStyle/>
          <a:p>
            <a:endParaRPr/>
          </a:p>
        </p:txBody>
      </p:sp>
      <p:sp>
        <p:nvSpPr>
          <p:cNvPr id="65" name="kern"/>
          <p:cNvSpPr/>
          <p:nvPr/>
        </p:nvSpPr>
        <p:spPr>
          <a:xfrm>
            <a:off x="537359" y="5979391"/>
            <a:ext cx="11434718" cy="635000"/>
          </a:xfrm>
          <a:prstGeom prst="rect">
            <a:avLst/>
          </a:prstGeom>
          <a:solidFill>
            <a:srgbClr val="EEF2F6"/>
          </a:solidFill>
          <a:ln>
            <a:noFill/>
          </a:ln>
        </p:spPr>
        <p:txBody>
          <a:bodyPr lIns="203200" tIns="76200" rIns="203200" bIns="76200" anchor="ctr"/>
          <a:lstStyle/>
          <a:p>
            <a:r>
              <a:rPr lang="de-DE" sz="1400" dirty="0">
                <a:solidFill>
                  <a:srgbClr val="1A2A38"/>
                </a:solidFill>
              </a:rPr>
              <a:t>Dokumentenanalyse, Experteninterviews und iterative Modellierung bildeten das IST-Bild.</a:t>
            </a:r>
            <a:endParaRPr lang="de-CH" sz="1400" dirty="0">
              <a:solidFill>
                <a:srgbClr val="1A2A38"/>
              </a:solidFill>
            </a:endParaRPr>
          </a:p>
        </p:txBody>
      </p:sp>
      <p:sp>
        <p:nvSpPr>
          <p:cNvPr id="66" name="kb"/>
          <p:cNvSpPr/>
          <p:nvPr/>
        </p:nvSpPr>
        <p:spPr>
          <a:xfrm>
            <a:off x="537359" y="5979391"/>
            <a:ext cx="63500" cy="635000"/>
          </a:xfrm>
          <a:prstGeom prst="rect">
            <a:avLst/>
          </a:prstGeom>
          <a:solidFill>
            <a:srgbClr val="C8893A"/>
          </a:solidFill>
          <a:ln>
            <a:noFill/>
          </a:ln>
        </p:spPr>
        <p:txBody>
          <a:bodyPr/>
          <a:lstStyle/>
          <a:p>
            <a:endParaRPr/>
          </a:p>
        </p:txBody>
      </p:sp>
      <p:sp>
        <p:nvSpPr>
          <p:cNvPr id="200" name="rh2"/>
          <p:cNvSpPr/>
          <p:nvPr/>
        </p:nvSpPr>
        <p:spPr>
          <a:xfrm>
            <a:off x="5359113" y="2044770"/>
            <a:ext cx="5308600" cy="279400"/>
          </a:xfrm>
          <a:prstGeom prst="rect">
            <a:avLst/>
          </a:prstGeom>
          <a:noFill/>
        </p:spPr>
        <p:txBody>
          <a:bodyPr lIns="0" tIns="0" rIns="0" bIns="0"/>
          <a:lstStyle/>
          <a:p>
            <a:r>
              <a:rPr lang="de-CH" sz="1400" b="1" dirty="0">
                <a:solidFill>
                  <a:srgbClr val="2E6CA4"/>
                </a:solidFill>
                <a:latin typeface="Calibri"/>
              </a:rPr>
              <a:t>Iterativer Erhebungszyklus</a:t>
            </a:r>
          </a:p>
        </p:txBody>
      </p:sp>
      <p:sp>
        <p:nvSpPr>
          <p:cNvPr id="300" name="step0"/>
          <p:cNvSpPr>
            <a:spLocks noGrp="1"/>
          </p:cNvSpPr>
          <p:nvPr/>
        </p:nvSpPr>
        <p:spPr>
          <a:xfrm>
            <a:off x="5312791" y="2604437"/>
            <a:ext cx="1083623" cy="1054100"/>
          </a:xfrm>
          <a:prstGeom prst="roundRect">
            <a:avLst>
              <a:gd name="adj" fmla="val 10000"/>
            </a:avLst>
          </a:prstGeom>
          <a:solidFill>
            <a:srgbClr val="1B3A5C"/>
          </a:solidFill>
          <a:ln>
            <a:noFill/>
          </a:ln>
        </p:spPr>
        <p:txBody>
          <a:bodyPr vert="horz" wrap="square" anchor="ctr">
            <a:normAutofit/>
          </a:bodyPr>
          <a:lstStyle/>
          <a:p>
            <a:pPr algn="ctr"/>
            <a:r>
              <a:rPr lang="de-CH" sz="1200" b="1" dirty="0">
                <a:solidFill>
                  <a:srgbClr val="FFFFFF"/>
                </a:solidFill>
                <a:latin typeface="Calibri"/>
              </a:rPr>
              <a:t>Experten-</a:t>
            </a:r>
          </a:p>
          <a:p>
            <a:pPr algn="ctr">
              <a:spcBef>
                <a:spcPts val="0"/>
              </a:spcBef>
            </a:pPr>
            <a:r>
              <a:rPr lang="de-CH" sz="1200" b="1" dirty="0">
                <a:solidFill>
                  <a:srgbClr val="FFFFFF"/>
                </a:solidFill>
                <a:latin typeface="Calibri"/>
              </a:rPr>
              <a:t>interview</a:t>
            </a:r>
          </a:p>
          <a:p>
            <a:pPr algn="ctr">
              <a:spcBef>
                <a:spcPts val="200"/>
              </a:spcBef>
            </a:pPr>
            <a:r>
              <a:rPr lang="de-CH" sz="900" dirty="0">
                <a:solidFill>
                  <a:srgbClr val="D0E4F2"/>
                </a:solidFill>
                <a:latin typeface="Calibri"/>
              </a:rPr>
              <a:t>Prozesswissen erheben</a:t>
            </a:r>
          </a:p>
        </p:txBody>
      </p:sp>
      <p:sp>
        <p:nvSpPr>
          <p:cNvPr id="301" name="step1"/>
          <p:cNvSpPr>
            <a:spLocks noGrp="1"/>
          </p:cNvSpPr>
          <p:nvPr/>
        </p:nvSpPr>
        <p:spPr>
          <a:xfrm>
            <a:off x="6735369" y="2622669"/>
            <a:ext cx="1038967" cy="1048571"/>
          </a:xfrm>
          <a:prstGeom prst="roundRect">
            <a:avLst>
              <a:gd name="adj" fmla="val 10000"/>
            </a:avLst>
          </a:prstGeom>
          <a:solidFill>
            <a:srgbClr val="1B3A5C"/>
          </a:solidFill>
          <a:ln>
            <a:noFill/>
          </a:ln>
        </p:spPr>
        <p:txBody>
          <a:bodyPr vert="horz" wrap="square" anchor="ctr">
            <a:normAutofit/>
          </a:bodyPr>
          <a:lstStyle/>
          <a:p>
            <a:pPr algn="ctr"/>
            <a:r>
              <a:rPr lang="de-CH" sz="1200" b="1" dirty="0">
                <a:solidFill>
                  <a:srgbClr val="FFFFFF"/>
                </a:solidFill>
                <a:latin typeface="Calibri"/>
              </a:rPr>
              <a:t>Teilprozess</a:t>
            </a:r>
          </a:p>
          <a:p>
            <a:pPr algn="ctr">
              <a:spcBef>
                <a:spcPts val="0"/>
              </a:spcBef>
            </a:pPr>
            <a:r>
              <a:rPr lang="de-CH" sz="1200" b="1" dirty="0">
                <a:solidFill>
                  <a:srgbClr val="FFFFFF"/>
                </a:solidFill>
                <a:latin typeface="Calibri"/>
              </a:rPr>
              <a:t>modellieren</a:t>
            </a:r>
          </a:p>
          <a:p>
            <a:pPr algn="ctr">
              <a:spcBef>
                <a:spcPts val="200"/>
              </a:spcBef>
            </a:pPr>
            <a:r>
              <a:rPr lang="de-CH" sz="900" dirty="0">
                <a:solidFill>
                  <a:srgbClr val="D0E4F2"/>
                </a:solidFill>
                <a:latin typeface="Calibri"/>
              </a:rPr>
              <a:t>In BPMN überführen</a:t>
            </a:r>
          </a:p>
        </p:txBody>
      </p:sp>
      <p:sp>
        <p:nvSpPr>
          <p:cNvPr id="302" name="step2"/>
          <p:cNvSpPr>
            <a:spLocks noGrp="1"/>
          </p:cNvSpPr>
          <p:nvPr/>
        </p:nvSpPr>
        <p:spPr>
          <a:xfrm>
            <a:off x="8154145" y="2642996"/>
            <a:ext cx="1038966" cy="1033798"/>
          </a:xfrm>
          <a:prstGeom prst="roundRect">
            <a:avLst>
              <a:gd name="adj" fmla="val 10000"/>
            </a:avLst>
          </a:prstGeom>
          <a:solidFill>
            <a:srgbClr val="2E6CA4"/>
          </a:solidFill>
          <a:ln>
            <a:noFill/>
          </a:ln>
        </p:spPr>
        <p:txBody>
          <a:bodyPr vert="horz" wrap="square" anchor="ctr">
            <a:normAutofit/>
          </a:bodyPr>
          <a:lstStyle/>
          <a:p>
            <a:pPr algn="ctr"/>
            <a:r>
              <a:rPr lang="de-CH" sz="1200" b="1" dirty="0">
                <a:solidFill>
                  <a:srgbClr val="FFFFFF"/>
                </a:solidFill>
                <a:latin typeface="Calibri"/>
              </a:rPr>
              <a:t>Offene</a:t>
            </a:r>
          </a:p>
          <a:p>
            <a:pPr algn="ctr">
              <a:spcBef>
                <a:spcPts val="0"/>
              </a:spcBef>
            </a:pPr>
            <a:r>
              <a:rPr lang="de-CH" sz="1200" b="1" dirty="0">
                <a:solidFill>
                  <a:srgbClr val="FFFFFF"/>
                </a:solidFill>
                <a:latin typeface="Calibri"/>
              </a:rPr>
              <a:t>Punkte</a:t>
            </a:r>
          </a:p>
          <a:p>
            <a:pPr algn="ctr">
              <a:spcBef>
                <a:spcPts val="200"/>
              </a:spcBef>
            </a:pPr>
            <a:r>
              <a:rPr lang="de-CH" sz="900" dirty="0">
                <a:solidFill>
                  <a:srgbClr val="D0E4F2"/>
                </a:solidFill>
                <a:latin typeface="Calibri"/>
              </a:rPr>
              <a:t>Lücken und Widersprüche identifizieren</a:t>
            </a:r>
          </a:p>
        </p:txBody>
      </p:sp>
      <p:sp>
        <p:nvSpPr>
          <p:cNvPr id="303" name="step3"/>
          <p:cNvSpPr>
            <a:spLocks noGrp="1"/>
          </p:cNvSpPr>
          <p:nvPr/>
        </p:nvSpPr>
        <p:spPr>
          <a:xfrm>
            <a:off x="9628747" y="2635610"/>
            <a:ext cx="1038966" cy="1048571"/>
          </a:xfrm>
          <a:prstGeom prst="roundRect">
            <a:avLst>
              <a:gd name="adj" fmla="val 10000"/>
            </a:avLst>
          </a:prstGeom>
          <a:solidFill>
            <a:srgbClr val="2E6CA4"/>
          </a:solidFill>
          <a:ln>
            <a:noFill/>
          </a:ln>
        </p:spPr>
        <p:txBody>
          <a:bodyPr vert="horz" wrap="square" anchor="ctr">
            <a:normAutofit/>
          </a:bodyPr>
          <a:lstStyle/>
          <a:p>
            <a:pPr algn="ctr"/>
            <a:r>
              <a:rPr lang="de-CH" sz="1200" b="1" dirty="0">
                <a:solidFill>
                  <a:srgbClr val="FFFFFF"/>
                </a:solidFill>
                <a:latin typeface="Calibri"/>
              </a:rPr>
              <a:t>Rück-</a:t>
            </a:r>
          </a:p>
          <a:p>
            <a:pPr algn="ctr">
              <a:spcBef>
                <a:spcPts val="0"/>
              </a:spcBef>
            </a:pPr>
            <a:r>
              <a:rPr lang="de-CH" sz="1200" b="1" dirty="0">
                <a:solidFill>
                  <a:srgbClr val="FFFFFF"/>
                </a:solidFill>
                <a:latin typeface="Calibri"/>
              </a:rPr>
              <a:t>klärung</a:t>
            </a:r>
          </a:p>
          <a:p>
            <a:pPr algn="ctr">
              <a:spcBef>
                <a:spcPts val="200"/>
              </a:spcBef>
            </a:pPr>
            <a:r>
              <a:rPr lang="de-CH" sz="900" dirty="0">
                <a:solidFill>
                  <a:srgbClr val="D0E4F2"/>
                </a:solidFill>
                <a:latin typeface="Calibri"/>
              </a:rPr>
              <a:t>Mit Fachbereich klären</a:t>
            </a:r>
          </a:p>
        </p:txBody>
      </p:sp>
      <p:sp>
        <p:nvSpPr>
          <p:cNvPr id="304" name="step4"/>
          <p:cNvSpPr>
            <a:spLocks noGrp="1"/>
          </p:cNvSpPr>
          <p:nvPr/>
        </p:nvSpPr>
        <p:spPr>
          <a:xfrm>
            <a:off x="11083448" y="2635610"/>
            <a:ext cx="1023711" cy="1048571"/>
          </a:xfrm>
          <a:prstGeom prst="roundRect">
            <a:avLst>
              <a:gd name="adj" fmla="val 10000"/>
            </a:avLst>
          </a:prstGeom>
          <a:solidFill>
            <a:srgbClr val="1B3A5C"/>
          </a:solidFill>
          <a:ln>
            <a:noFill/>
          </a:ln>
        </p:spPr>
        <p:txBody>
          <a:bodyPr vert="horz" wrap="square" anchor="ctr">
            <a:normAutofit/>
          </a:bodyPr>
          <a:lstStyle/>
          <a:p>
            <a:pPr algn="ctr"/>
            <a:r>
              <a:rPr lang="de-CH" sz="1200" b="1" dirty="0">
                <a:solidFill>
                  <a:srgbClr val="FFFFFF"/>
                </a:solidFill>
                <a:latin typeface="Calibri"/>
              </a:rPr>
              <a:t>Modell</a:t>
            </a:r>
          </a:p>
          <a:p>
            <a:pPr algn="ctr">
              <a:spcBef>
                <a:spcPts val="0"/>
              </a:spcBef>
            </a:pPr>
            <a:r>
              <a:rPr lang="de-CH" sz="1200" b="1" dirty="0">
                <a:solidFill>
                  <a:srgbClr val="FFFFFF"/>
                </a:solidFill>
                <a:latin typeface="Calibri"/>
              </a:rPr>
              <a:t>präzisieren</a:t>
            </a:r>
          </a:p>
          <a:p>
            <a:pPr algn="ctr">
              <a:spcBef>
                <a:spcPts val="200"/>
              </a:spcBef>
            </a:pPr>
            <a:r>
              <a:rPr lang="de-CH" sz="900" dirty="0">
                <a:solidFill>
                  <a:srgbClr val="D0E4F2"/>
                </a:solidFill>
                <a:latin typeface="Calibri"/>
              </a:rPr>
              <a:t>IST-Modell konsolidieren</a:t>
            </a:r>
          </a:p>
        </p:txBody>
      </p:sp>
      <p:sp>
        <p:nvSpPr>
          <p:cNvPr id="320" name="fwdArr0"/>
          <p:cNvSpPr>
            <a:spLocks noGrp="1"/>
          </p:cNvSpPr>
          <p:nvPr/>
        </p:nvSpPr>
        <p:spPr>
          <a:xfrm>
            <a:off x="6362717" y="3067168"/>
            <a:ext cx="489589" cy="242987"/>
          </a:xfrm>
          <a:prstGeom prst="rightArrow">
            <a:avLst>
              <a:gd name="adj1" fmla="val 50000"/>
              <a:gd name="adj2" fmla="val 30000"/>
            </a:avLst>
          </a:prstGeom>
          <a:solidFill>
            <a:srgbClr val="4A90C2"/>
          </a:solidFill>
          <a:ln>
            <a:noFill/>
          </a:ln>
        </p:spPr>
        <p:txBody>
          <a:bodyPr/>
          <a:lstStyle/>
          <a:p>
            <a:endParaRPr/>
          </a:p>
        </p:txBody>
      </p:sp>
      <p:sp>
        <p:nvSpPr>
          <p:cNvPr id="325" name="fbArr"/>
          <p:cNvSpPr>
            <a:spLocks noGrp="1"/>
          </p:cNvSpPr>
          <p:nvPr/>
        </p:nvSpPr>
        <p:spPr>
          <a:xfrm flipH="1">
            <a:off x="6766585" y="4097482"/>
            <a:ext cx="5258396" cy="129909"/>
          </a:xfrm>
          <a:prstGeom prst="rightArrow">
            <a:avLst>
              <a:gd name="adj1" fmla="val 50000"/>
              <a:gd name="adj2" fmla="val 4000"/>
            </a:avLst>
          </a:prstGeom>
          <a:solidFill>
            <a:srgbClr val="C8893A"/>
          </a:solidFill>
          <a:ln>
            <a:noFill/>
          </a:ln>
        </p:spPr>
        <p:txBody>
          <a:bodyPr/>
          <a:lstStyle/>
          <a:p>
            <a:endParaRPr/>
          </a:p>
        </p:txBody>
      </p:sp>
      <p:sp>
        <p:nvSpPr>
          <p:cNvPr id="326" name="fbLbl"/>
          <p:cNvSpPr>
            <a:spLocks noGrp="1"/>
          </p:cNvSpPr>
          <p:nvPr/>
        </p:nvSpPr>
        <p:spPr>
          <a:xfrm>
            <a:off x="6766584" y="3622367"/>
            <a:ext cx="4828719" cy="635000"/>
          </a:xfrm>
          <a:prstGeom prst="rect">
            <a:avLst/>
          </a:prstGeom>
          <a:noFill/>
          <a:ln>
            <a:noFill/>
          </a:ln>
        </p:spPr>
        <p:txBody>
          <a:bodyPr vert="horz" wrap="square" anchor="ctr">
            <a:normAutofit/>
          </a:bodyPr>
          <a:lstStyle/>
          <a:p>
            <a:pPr algn="ctr"/>
            <a:r>
              <a:rPr lang="de-CH" sz="1600" i="1" dirty="0">
                <a:solidFill>
                  <a:srgbClr val="C8893A"/>
                </a:solidFill>
              </a:rPr>
              <a:t>Rückkopplungszyklus (bei offenen Punkten)</a:t>
            </a:r>
          </a:p>
        </p:txBody>
      </p:sp>
      <p:sp>
        <p:nvSpPr>
          <p:cNvPr id="327" name="downArr"/>
          <p:cNvSpPr>
            <a:spLocks noGrp="1"/>
          </p:cNvSpPr>
          <p:nvPr/>
        </p:nvSpPr>
        <p:spPr>
          <a:xfrm>
            <a:off x="8856561" y="4328051"/>
            <a:ext cx="336550" cy="310919"/>
          </a:xfrm>
          <a:prstGeom prst="downArrow">
            <a:avLst>
              <a:gd name="adj1" fmla="val 50000"/>
              <a:gd name="adj2" fmla="val 50000"/>
            </a:avLst>
          </a:prstGeom>
          <a:solidFill>
            <a:srgbClr val="C8893A"/>
          </a:solidFill>
          <a:ln>
            <a:noFill/>
          </a:ln>
        </p:spPr>
        <p:txBody>
          <a:bodyPr/>
          <a:lstStyle/>
          <a:p>
            <a:endParaRPr/>
          </a:p>
        </p:txBody>
      </p:sp>
      <p:sp>
        <p:nvSpPr>
          <p:cNvPr id="328" name="resultBox"/>
          <p:cNvSpPr>
            <a:spLocks noGrp="1"/>
          </p:cNvSpPr>
          <p:nvPr/>
        </p:nvSpPr>
        <p:spPr>
          <a:xfrm>
            <a:off x="5296353" y="4702130"/>
            <a:ext cx="6810806" cy="660400"/>
          </a:xfrm>
          <a:prstGeom prst="roundRect">
            <a:avLst>
              <a:gd name="adj" fmla="val 8000"/>
            </a:avLst>
          </a:prstGeom>
          <a:solidFill>
            <a:srgbClr val="C8893A"/>
          </a:solidFill>
          <a:ln>
            <a:noFill/>
          </a:ln>
        </p:spPr>
        <p:txBody>
          <a:bodyPr vert="horz" wrap="square" anchor="ctr">
            <a:normAutofit/>
          </a:bodyPr>
          <a:lstStyle/>
          <a:p>
            <a:pPr algn="ctr"/>
            <a:r>
              <a:rPr lang="de-CH" sz="1200" b="1" dirty="0">
                <a:solidFill>
                  <a:srgbClr val="FFFFFF"/>
                </a:solidFill>
                <a:latin typeface="Calibri"/>
              </a:rPr>
              <a:t>IST-Konzept</a:t>
            </a:r>
          </a:p>
        </p:txBody>
      </p:sp>
      <p:sp>
        <p:nvSpPr>
          <p:cNvPr id="3" name="fwdArr0">
            <a:extLst>
              <a:ext uri="{FF2B5EF4-FFF2-40B4-BE49-F238E27FC236}">
                <a16:creationId xmlns:a16="http://schemas.microsoft.com/office/drawing/2014/main" id="{648BA697-0071-1C4F-38C8-EBA5B9897B2B}"/>
              </a:ext>
            </a:extLst>
          </p:cNvPr>
          <p:cNvSpPr>
            <a:spLocks noGrp="1"/>
          </p:cNvSpPr>
          <p:nvPr/>
        </p:nvSpPr>
        <p:spPr>
          <a:xfrm>
            <a:off x="7751598" y="3052232"/>
            <a:ext cx="489589" cy="242987"/>
          </a:xfrm>
          <a:prstGeom prst="rightArrow">
            <a:avLst>
              <a:gd name="adj1" fmla="val 50000"/>
              <a:gd name="adj2" fmla="val 30000"/>
            </a:avLst>
          </a:prstGeom>
          <a:solidFill>
            <a:srgbClr val="4A90C2"/>
          </a:solidFill>
          <a:ln>
            <a:noFill/>
          </a:ln>
        </p:spPr>
        <p:txBody>
          <a:bodyPr/>
          <a:lstStyle/>
          <a:p>
            <a:endParaRPr/>
          </a:p>
        </p:txBody>
      </p:sp>
      <p:sp>
        <p:nvSpPr>
          <p:cNvPr id="4" name="fwdArr0">
            <a:extLst>
              <a:ext uri="{FF2B5EF4-FFF2-40B4-BE49-F238E27FC236}">
                <a16:creationId xmlns:a16="http://schemas.microsoft.com/office/drawing/2014/main" id="{E1F867E5-BBC2-EB9E-E3E1-5BDA631B75B8}"/>
              </a:ext>
            </a:extLst>
          </p:cNvPr>
          <p:cNvSpPr>
            <a:spLocks noGrp="1"/>
          </p:cNvSpPr>
          <p:nvPr/>
        </p:nvSpPr>
        <p:spPr>
          <a:xfrm>
            <a:off x="9156184" y="3052232"/>
            <a:ext cx="489589" cy="242987"/>
          </a:xfrm>
          <a:prstGeom prst="rightArrow">
            <a:avLst>
              <a:gd name="adj1" fmla="val 50000"/>
              <a:gd name="adj2" fmla="val 30000"/>
            </a:avLst>
          </a:prstGeom>
          <a:solidFill>
            <a:srgbClr val="4A90C2"/>
          </a:solidFill>
          <a:ln>
            <a:noFill/>
          </a:ln>
        </p:spPr>
        <p:txBody>
          <a:bodyPr/>
          <a:lstStyle/>
          <a:p>
            <a:endParaRPr/>
          </a:p>
        </p:txBody>
      </p:sp>
      <p:sp>
        <p:nvSpPr>
          <p:cNvPr id="5" name="fwdArr0">
            <a:extLst>
              <a:ext uri="{FF2B5EF4-FFF2-40B4-BE49-F238E27FC236}">
                <a16:creationId xmlns:a16="http://schemas.microsoft.com/office/drawing/2014/main" id="{4B660EF3-E35C-B0B6-BD75-E6CF6828CC66}"/>
              </a:ext>
            </a:extLst>
          </p:cNvPr>
          <p:cNvSpPr>
            <a:spLocks noGrp="1"/>
          </p:cNvSpPr>
          <p:nvPr/>
        </p:nvSpPr>
        <p:spPr>
          <a:xfrm>
            <a:off x="10638198" y="3052232"/>
            <a:ext cx="489589" cy="242987"/>
          </a:xfrm>
          <a:prstGeom prst="rightArrow">
            <a:avLst>
              <a:gd name="adj1" fmla="val 50000"/>
              <a:gd name="adj2" fmla="val 30000"/>
            </a:avLst>
          </a:prstGeom>
          <a:solidFill>
            <a:srgbClr val="4A90C2"/>
          </a:solidFill>
          <a:ln>
            <a:noFill/>
          </a:ln>
        </p:spPr>
        <p:txBody>
          <a:bodyPr/>
          <a:lstStyle/>
          <a:p>
            <a:endParaRPr/>
          </a:p>
        </p:txBody>
      </p:sp>
      <p:sp>
        <p:nvSpPr>
          <p:cNvPr id="6" name="Foliennummernplatzhalter 5">
            <a:extLst>
              <a:ext uri="{FF2B5EF4-FFF2-40B4-BE49-F238E27FC236}">
                <a16:creationId xmlns:a16="http://schemas.microsoft.com/office/drawing/2014/main" id="{F9FB5BD7-D792-1F2C-D6FD-6EA3769C8101}"/>
              </a:ext>
            </a:extLst>
          </p:cNvPr>
          <p:cNvSpPr>
            <a:spLocks noGrp="1"/>
          </p:cNvSpPr>
          <p:nvPr>
            <p:ph type="sldNum" sz="quarter" idx="12"/>
          </p:nvPr>
        </p:nvSpPr>
        <p:spPr/>
        <p:txBody>
          <a:bodyPr/>
          <a:lstStyle/>
          <a:p>
            <a:fld id="{2AAFDC3C-A9F8-4ABD-8D8D-8DC3321B02DC}" type="slidenum">
              <a:rPr lang="de-CH" smtClean="0"/>
              <a:t>12</a:t>
            </a:fld>
            <a:endParaRPr lang="de-CH"/>
          </a:p>
        </p:txBody>
      </p:sp>
    </p:spTree>
    <p:extLst>
      <p:ext uri="{BB962C8B-B14F-4D97-AF65-F5344CB8AC3E}">
        <p14:creationId xmlns:p14="http://schemas.microsoft.com/office/powerpoint/2010/main" val="2901012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CFCE1-C3EF-0649-26A8-FC9E0C9C2C0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6826921-1F7F-0340-9200-E3E0C86E6DB6}"/>
              </a:ext>
            </a:extLst>
          </p:cNvPr>
          <p:cNvSpPr>
            <a:spLocks noGrp="1"/>
          </p:cNvSpPr>
          <p:nvPr>
            <p:ph type="title"/>
          </p:nvPr>
        </p:nvSpPr>
        <p:spPr/>
        <p:txBody>
          <a:bodyPr/>
          <a:lstStyle/>
          <a:p>
            <a:pPr algn="l"/>
            <a:r>
              <a:rPr lang="de-CH" sz="2800" dirty="0">
                <a:solidFill>
                  <a:srgbClr val="1B3A5C"/>
                </a:solidFill>
                <a:latin typeface="Calibri"/>
              </a:rPr>
              <a:t>Erkenntnisse aus Interviews und Modellierung</a:t>
            </a:r>
          </a:p>
        </p:txBody>
      </p:sp>
      <p:sp>
        <p:nvSpPr>
          <p:cNvPr id="50" name="kicker">
            <a:extLst>
              <a:ext uri="{FF2B5EF4-FFF2-40B4-BE49-F238E27FC236}">
                <a16:creationId xmlns:a16="http://schemas.microsoft.com/office/drawing/2014/main" id="{1A207CA4-BC5B-BEC9-5C47-D6B814B02E76}"/>
              </a:ext>
            </a:extLst>
          </p:cNvPr>
          <p:cNvSpPr>
            <a:spLocks noGrp="1"/>
          </p:cNvSpPr>
          <p:nvPr/>
        </p:nvSpPr>
        <p:spPr>
          <a:xfrm>
            <a:off x="838200" y="1574800"/>
            <a:ext cx="10515600" cy="279400"/>
          </a:xfrm>
          <a:prstGeom prst="rect">
            <a:avLst/>
          </a:prstGeom>
          <a:solidFill>
            <a:srgbClr val="2E6CA4"/>
          </a:solidFill>
          <a:ln>
            <a:noFill/>
          </a:ln>
        </p:spPr>
        <p:txBody>
          <a:bodyPr vert="horz" wrap="square" anchor="ctr">
            <a:normAutofit fontScale="92500" lnSpcReduction="10000"/>
          </a:bodyPr>
          <a:lstStyle/>
          <a:p>
            <a:pPr>
              <a:spcBef>
                <a:spcPts val="0"/>
              </a:spcBef>
            </a:pPr>
            <a:r>
              <a:rPr lang="de-CH" sz="1400" b="1" dirty="0">
                <a:solidFill>
                  <a:srgbClr val="FFFFFF"/>
                </a:solidFill>
                <a:latin typeface="Calibri"/>
              </a:rPr>
              <a:t>Wiederkehrende Grundlogik mit variantenreichen Auslösern und Schnittstellen</a:t>
            </a:r>
          </a:p>
        </p:txBody>
      </p:sp>
      <p:sp>
        <p:nvSpPr>
          <p:cNvPr id="100" name="tile100">
            <a:extLst>
              <a:ext uri="{FF2B5EF4-FFF2-40B4-BE49-F238E27FC236}">
                <a16:creationId xmlns:a16="http://schemas.microsoft.com/office/drawing/2014/main" id="{DB5408D3-3A0B-80F2-9DAC-ED2D8147FB72}"/>
              </a:ext>
            </a:extLst>
          </p:cNvPr>
          <p:cNvSpPr>
            <a:spLocks noGrp="1"/>
          </p:cNvSpPr>
          <p:nvPr/>
        </p:nvSpPr>
        <p:spPr>
          <a:xfrm>
            <a:off x="287482" y="2024063"/>
            <a:ext cx="3879273" cy="1752600"/>
          </a:xfrm>
          <a:prstGeom prst="rect">
            <a:avLst/>
          </a:prstGeom>
          <a:solidFill>
            <a:srgbClr val="EEF2F6"/>
          </a:solidFill>
          <a:ln>
            <a:noFill/>
          </a:ln>
        </p:spPr>
        <p:txBody>
          <a:bodyPr/>
          <a:lstStyle/>
          <a:p>
            <a:endParaRPr/>
          </a:p>
        </p:txBody>
      </p:sp>
      <p:sp>
        <p:nvSpPr>
          <p:cNvPr id="101" name="accent100">
            <a:extLst>
              <a:ext uri="{FF2B5EF4-FFF2-40B4-BE49-F238E27FC236}">
                <a16:creationId xmlns:a16="http://schemas.microsoft.com/office/drawing/2014/main" id="{822A3A44-0583-7441-5644-CBC705C3A68B}"/>
              </a:ext>
            </a:extLst>
          </p:cNvPr>
          <p:cNvSpPr>
            <a:spLocks noGrp="1"/>
          </p:cNvSpPr>
          <p:nvPr/>
        </p:nvSpPr>
        <p:spPr>
          <a:xfrm>
            <a:off x="287482" y="2024063"/>
            <a:ext cx="63500" cy="1752600"/>
          </a:xfrm>
          <a:prstGeom prst="rect">
            <a:avLst/>
          </a:prstGeom>
          <a:solidFill>
            <a:srgbClr val="C8893A"/>
          </a:solidFill>
          <a:ln>
            <a:noFill/>
          </a:ln>
        </p:spPr>
        <p:txBody>
          <a:bodyPr/>
          <a:lstStyle/>
          <a:p>
            <a:endParaRPr/>
          </a:p>
        </p:txBody>
      </p:sp>
      <p:sp>
        <p:nvSpPr>
          <p:cNvPr id="102" name="text100">
            <a:extLst>
              <a:ext uri="{FF2B5EF4-FFF2-40B4-BE49-F238E27FC236}">
                <a16:creationId xmlns:a16="http://schemas.microsoft.com/office/drawing/2014/main" id="{39BC7816-7762-6C6D-ADC2-D93244FDF3DE}"/>
              </a:ext>
            </a:extLst>
          </p:cNvPr>
          <p:cNvSpPr>
            <a:spLocks noGrp="1"/>
          </p:cNvSpPr>
          <p:nvPr/>
        </p:nvSpPr>
        <p:spPr>
          <a:xfrm>
            <a:off x="452582" y="2125663"/>
            <a:ext cx="3381664" cy="1549400"/>
          </a:xfrm>
          <a:prstGeom prst="rect">
            <a:avLst/>
          </a:prstGeom>
          <a:noFill/>
          <a:ln>
            <a:noFill/>
          </a:ln>
        </p:spPr>
        <p:txBody>
          <a:bodyPr vert="horz" wrap="square" anchor="t">
            <a:normAutofit/>
          </a:bodyPr>
          <a:lstStyle/>
          <a:p>
            <a:pPr>
              <a:spcBef>
                <a:spcPts val="0"/>
              </a:spcBef>
            </a:pPr>
            <a:r>
              <a:rPr lang="de-CH" sz="1000" b="1" dirty="0">
                <a:solidFill>
                  <a:srgbClr val="C8893A"/>
                </a:solidFill>
                <a:latin typeface="Calibri"/>
              </a:rPr>
              <a:t>VARIANTEN</a:t>
            </a:r>
          </a:p>
          <a:p>
            <a:pPr>
              <a:spcBef>
                <a:spcPts val="100"/>
              </a:spcBef>
            </a:pPr>
            <a:r>
              <a:rPr lang="de-CH" sz="1400" b="1" dirty="0">
                <a:solidFill>
                  <a:srgbClr val="1B3A5C"/>
                </a:solidFill>
                <a:latin typeface="Calibri"/>
              </a:rPr>
              <a:t>Varianten entstehen früh im Prozess</a:t>
            </a:r>
          </a:p>
          <a:p>
            <a:pPr>
              <a:spcBef>
                <a:spcPts val="150"/>
              </a:spcBef>
            </a:pPr>
            <a:r>
              <a:rPr lang="de-CH" sz="1300" dirty="0">
                <a:solidFill>
                  <a:srgbClr val="1A2A38"/>
                </a:solidFill>
                <a:latin typeface="Calibri"/>
              </a:rPr>
              <a:t>Austrittsgrund, Anstellungsart und Eingangskanal bestimmen den Start der Bearbeitung.</a:t>
            </a:r>
          </a:p>
        </p:txBody>
      </p:sp>
      <p:sp>
        <p:nvSpPr>
          <p:cNvPr id="18" name="Eingekerbter Richtungspfeil 85">
            <a:extLst>
              <a:ext uri="{FF2B5EF4-FFF2-40B4-BE49-F238E27FC236}">
                <a16:creationId xmlns:a16="http://schemas.microsoft.com/office/drawing/2014/main" id="{3D208F7D-65B1-310A-3661-DD6AB18E42DE}"/>
              </a:ext>
            </a:extLst>
          </p:cNvPr>
          <p:cNvSpPr/>
          <p:nvPr/>
        </p:nvSpPr>
        <p:spPr>
          <a:xfrm>
            <a:off x="4341669" y="5393259"/>
            <a:ext cx="6708722" cy="900972"/>
          </a:xfrm>
          <a:prstGeom prst="roundRect">
            <a:avLst/>
          </a:prstGeom>
          <a:solidFill>
            <a:srgbClr val="FFFFFF">
              <a:lumMod val="95000"/>
            </a:srgbClr>
          </a:solidFill>
          <a:ln w="12700" cap="flat" cmpd="sng" algn="ctr">
            <a:solidFill>
              <a:srgbClr val="4F81BD">
                <a:lumMod val="60000"/>
                <a:lumOff val="40000"/>
              </a:srgbClr>
            </a:solidFill>
            <a:prstDash val="lgDashDot"/>
          </a:ln>
          <a:effectLst/>
        </p:spPr>
        <p:txBody>
          <a:bodyPr lIns="91415" tIns="45705" rIns="91415" bIns="45705" rtlCol="0" anchor="t"/>
          <a:lstStyle/>
          <a:p>
            <a:pPr marL="0" marR="0" lvl="0" indent="0" defTabSz="914148" eaLnBrk="1" fontAlgn="auto" latinLnBrk="0" hangingPunct="1">
              <a:lnSpc>
                <a:spcPct val="100000"/>
              </a:lnSpc>
              <a:spcBef>
                <a:spcPts val="0"/>
              </a:spcBef>
              <a:spcAft>
                <a:spcPts val="0"/>
              </a:spcAft>
              <a:buClrTx/>
              <a:buSzTx/>
              <a:buFontTx/>
              <a:buNone/>
              <a:tabLst/>
              <a:defRPr/>
            </a:pPr>
            <a:r>
              <a:rPr kumimoji="0" lang="de-CH" sz="1200" b="0" i="0" u="none" strike="noStrike" kern="0" cap="none" spc="0" normalizeH="0" baseline="0" noProof="0" dirty="0">
                <a:ln>
                  <a:noFill/>
                </a:ln>
                <a:solidFill>
                  <a:srgbClr val="000000">
                    <a:lumMod val="75000"/>
                    <a:lumOff val="25000"/>
                  </a:srgbClr>
                </a:solidFill>
                <a:effectLst/>
                <a:uLnTx/>
                <a:uFillTx/>
                <a:latin typeface="Arial"/>
                <a:ea typeface="+mn-ea"/>
                <a:cs typeface="+mn-cs"/>
              </a:rPr>
              <a:t>Mitarbeitende</a:t>
            </a:r>
          </a:p>
        </p:txBody>
      </p:sp>
      <p:sp>
        <p:nvSpPr>
          <p:cNvPr id="19" name="Eingekerbter Richtungspfeil 85">
            <a:extLst>
              <a:ext uri="{FF2B5EF4-FFF2-40B4-BE49-F238E27FC236}">
                <a16:creationId xmlns:a16="http://schemas.microsoft.com/office/drawing/2014/main" id="{55AC3F4C-21FA-2864-7386-6FD39FAE5A60}"/>
              </a:ext>
            </a:extLst>
          </p:cNvPr>
          <p:cNvSpPr/>
          <p:nvPr/>
        </p:nvSpPr>
        <p:spPr>
          <a:xfrm>
            <a:off x="4341670" y="2596528"/>
            <a:ext cx="6708722" cy="1386039"/>
          </a:xfrm>
          <a:prstGeom prst="roundRect">
            <a:avLst>
              <a:gd name="adj" fmla="val 4921"/>
            </a:avLst>
          </a:prstGeom>
          <a:solidFill>
            <a:srgbClr val="FFFFFF">
              <a:lumMod val="95000"/>
            </a:srgbClr>
          </a:solidFill>
          <a:ln w="12700" cap="flat" cmpd="sng" algn="ctr">
            <a:solidFill>
              <a:srgbClr val="4F81BD">
                <a:lumMod val="60000"/>
                <a:lumOff val="40000"/>
              </a:srgbClr>
            </a:solidFill>
            <a:prstDash val="lgDashDot"/>
          </a:ln>
          <a:effectLst/>
        </p:spPr>
        <p:txBody>
          <a:bodyPr lIns="91415" tIns="45705" rIns="91415" bIns="45705" rtlCol="0" anchor="t"/>
          <a:lstStyle/>
          <a:p>
            <a:pPr marL="0" marR="0" lvl="0" indent="0" defTabSz="914148" eaLnBrk="1" fontAlgn="auto" latinLnBrk="0" hangingPunct="1">
              <a:lnSpc>
                <a:spcPct val="100000"/>
              </a:lnSpc>
              <a:spcBef>
                <a:spcPts val="0"/>
              </a:spcBef>
              <a:spcAft>
                <a:spcPts val="0"/>
              </a:spcAft>
              <a:buClrTx/>
              <a:buSzTx/>
              <a:buFontTx/>
              <a:buNone/>
              <a:tabLst/>
              <a:defRPr/>
            </a:pPr>
            <a:r>
              <a:rPr kumimoji="0" lang="de-CH" sz="1200" b="0" i="0" u="none" strike="noStrike" kern="0" cap="none" spc="0" normalizeH="0" baseline="0" noProof="0">
                <a:ln>
                  <a:noFill/>
                </a:ln>
                <a:solidFill>
                  <a:srgbClr val="000000">
                    <a:lumMod val="75000"/>
                    <a:lumOff val="25000"/>
                  </a:srgbClr>
                </a:solidFill>
                <a:effectLst/>
                <a:uLnTx/>
                <a:uFillTx/>
                <a:latin typeface="Arial"/>
                <a:ea typeface="+mn-ea"/>
                <a:cs typeface="+mn-cs"/>
              </a:rPr>
              <a:t>Direktion Personal</a:t>
            </a:r>
          </a:p>
        </p:txBody>
      </p:sp>
      <p:sp>
        <p:nvSpPr>
          <p:cNvPr id="20" name="Eingekerbter Richtungspfeil 85">
            <a:extLst>
              <a:ext uri="{FF2B5EF4-FFF2-40B4-BE49-F238E27FC236}">
                <a16:creationId xmlns:a16="http://schemas.microsoft.com/office/drawing/2014/main" id="{E366B90A-0A65-AD06-9F21-0EC9990FA344}"/>
              </a:ext>
            </a:extLst>
          </p:cNvPr>
          <p:cNvSpPr/>
          <p:nvPr/>
        </p:nvSpPr>
        <p:spPr>
          <a:xfrm>
            <a:off x="4341669" y="4280837"/>
            <a:ext cx="6708722" cy="900972"/>
          </a:xfrm>
          <a:prstGeom prst="roundRect">
            <a:avLst/>
          </a:prstGeom>
          <a:solidFill>
            <a:srgbClr val="FFFFFF">
              <a:lumMod val="95000"/>
            </a:srgbClr>
          </a:solidFill>
          <a:ln w="12700" cap="flat" cmpd="sng" algn="ctr">
            <a:solidFill>
              <a:srgbClr val="4F81BD">
                <a:lumMod val="60000"/>
                <a:lumOff val="40000"/>
              </a:srgbClr>
            </a:solidFill>
            <a:prstDash val="lgDashDot"/>
          </a:ln>
          <a:effectLst/>
        </p:spPr>
        <p:txBody>
          <a:bodyPr lIns="91415" tIns="45705" rIns="91415" bIns="45705" rtlCol="0" anchor="t"/>
          <a:lstStyle/>
          <a:p>
            <a:pPr marL="0" marR="0" lvl="0" indent="0" defTabSz="914148" eaLnBrk="1" fontAlgn="auto" latinLnBrk="0" hangingPunct="1">
              <a:lnSpc>
                <a:spcPct val="100000"/>
              </a:lnSpc>
              <a:spcBef>
                <a:spcPts val="0"/>
              </a:spcBef>
              <a:spcAft>
                <a:spcPts val="0"/>
              </a:spcAft>
              <a:buClrTx/>
              <a:buSzTx/>
              <a:buFontTx/>
              <a:buNone/>
              <a:tabLst/>
              <a:defRPr/>
            </a:pPr>
            <a:r>
              <a:rPr kumimoji="0" lang="de-CH" sz="1200" b="0" i="0" u="none" strike="noStrike" kern="0" cap="none" spc="0" normalizeH="0" baseline="0" noProof="0" dirty="0">
                <a:ln>
                  <a:noFill/>
                </a:ln>
                <a:solidFill>
                  <a:srgbClr val="000000">
                    <a:lumMod val="75000"/>
                    <a:lumOff val="25000"/>
                  </a:srgbClr>
                </a:solidFill>
                <a:effectLst/>
                <a:uLnTx/>
                <a:uFillTx/>
                <a:latin typeface="Arial"/>
                <a:ea typeface="+mn-ea"/>
                <a:cs typeface="+mn-cs"/>
              </a:rPr>
              <a:t>Führungsperson</a:t>
            </a:r>
          </a:p>
        </p:txBody>
      </p:sp>
      <p:sp>
        <p:nvSpPr>
          <p:cNvPr id="21" name="AutoShape 24">
            <a:extLst>
              <a:ext uri="{FF2B5EF4-FFF2-40B4-BE49-F238E27FC236}">
                <a16:creationId xmlns:a16="http://schemas.microsoft.com/office/drawing/2014/main" id="{E277AA6D-95D9-5BBC-25D5-07470C3FD305}"/>
              </a:ext>
            </a:extLst>
          </p:cNvPr>
          <p:cNvSpPr>
            <a:spLocks noChangeArrowheads="1"/>
          </p:cNvSpPr>
          <p:nvPr/>
        </p:nvSpPr>
        <p:spPr bwMode="auto">
          <a:xfrm>
            <a:off x="7106049" y="3063872"/>
            <a:ext cx="1051394" cy="396345"/>
          </a:xfrm>
          <a:prstGeom prst="chevron">
            <a:avLst>
              <a:gd name="adj" fmla="val 37537"/>
            </a:avLst>
          </a:prstGeom>
          <a:solidFill>
            <a:schemeClr val="accent4">
              <a:lumMod val="75000"/>
            </a:schemeClr>
          </a:solidFill>
          <a:ln w="9525" algn="ctr">
            <a:solidFill>
              <a:srgbClr val="4F81BD">
                <a:lumMod val="20000"/>
                <a:lumOff val="80000"/>
              </a:srgbClr>
            </a:solidFill>
            <a:miter lim="800000"/>
            <a:headEnd/>
            <a:tailEnd/>
          </a:ln>
          <a:effectLst>
            <a:outerShdw blurRad="50800" dist="38100" dir="2700000" algn="tl" rotWithShape="0">
              <a:prstClr val="black">
                <a:alpha val="40000"/>
              </a:prstClr>
            </a:outerShdw>
          </a:effectLst>
        </p:spPr>
        <p:txBody>
          <a:bodyPr lIns="36000" tIns="45716" rIns="36000" bIns="45716" anchor="ctr" anchorCtr="1"/>
          <a:lstStyle/>
          <a:p>
            <a:pPr algn="ctr" eaLnBrk="0" hangingPunct="0">
              <a:lnSpc>
                <a:spcPct val="90000"/>
              </a:lnSpc>
            </a:pPr>
            <a:r>
              <a:rPr lang="de-CH" sz="1000" b="1" kern="0" dirty="0">
                <a:solidFill>
                  <a:schemeClr val="bg2">
                    <a:lumMod val="10000"/>
                  </a:schemeClr>
                </a:solidFill>
              </a:rPr>
              <a:t>Austritt bearbeiten</a:t>
            </a:r>
          </a:p>
        </p:txBody>
      </p:sp>
      <p:sp>
        <p:nvSpPr>
          <p:cNvPr id="22" name="AutoShape 24">
            <a:extLst>
              <a:ext uri="{FF2B5EF4-FFF2-40B4-BE49-F238E27FC236}">
                <a16:creationId xmlns:a16="http://schemas.microsoft.com/office/drawing/2014/main" id="{C41A1A03-2F99-6CF0-0947-0A6BE026FD22}"/>
              </a:ext>
            </a:extLst>
          </p:cNvPr>
          <p:cNvSpPr>
            <a:spLocks noChangeArrowheads="1"/>
          </p:cNvSpPr>
          <p:nvPr/>
        </p:nvSpPr>
        <p:spPr bwMode="auto">
          <a:xfrm>
            <a:off x="8245271" y="3063872"/>
            <a:ext cx="1051394" cy="396345"/>
          </a:xfrm>
          <a:prstGeom prst="chevron">
            <a:avLst>
              <a:gd name="adj" fmla="val 37537"/>
            </a:avLst>
          </a:prstGeom>
          <a:solidFill>
            <a:schemeClr val="accent4">
              <a:lumMod val="75000"/>
            </a:schemeClr>
          </a:solidFill>
          <a:ln w="9525" algn="ctr">
            <a:solidFill>
              <a:srgbClr val="4F81BD">
                <a:lumMod val="20000"/>
                <a:lumOff val="80000"/>
              </a:srgbClr>
            </a:solidFill>
            <a:miter lim="800000"/>
            <a:headEnd/>
            <a:tailEnd/>
          </a:ln>
          <a:effectLst>
            <a:outerShdw blurRad="50800" dist="38100" dir="2700000" algn="tl" rotWithShape="0">
              <a:prstClr val="black">
                <a:alpha val="40000"/>
              </a:prstClr>
            </a:outerShdw>
          </a:effectLst>
        </p:spPr>
        <p:txBody>
          <a:bodyPr lIns="36000" tIns="45716" rIns="36000" bIns="45716" anchor="ctr" anchorCtr="1"/>
          <a:lstStyle/>
          <a:p>
            <a:pPr algn="ctr" eaLnBrk="0" hangingPunct="0">
              <a:lnSpc>
                <a:spcPct val="90000"/>
              </a:lnSpc>
            </a:pPr>
            <a:r>
              <a:rPr lang="de-CH" sz="1000" b="1" kern="0" dirty="0">
                <a:solidFill>
                  <a:schemeClr val="bg2">
                    <a:lumMod val="10000"/>
                  </a:schemeClr>
                </a:solidFill>
              </a:rPr>
              <a:t>Austritt verbuchen</a:t>
            </a:r>
          </a:p>
        </p:txBody>
      </p:sp>
      <p:sp>
        <p:nvSpPr>
          <p:cNvPr id="23" name="AutoShape 24">
            <a:extLst>
              <a:ext uri="{FF2B5EF4-FFF2-40B4-BE49-F238E27FC236}">
                <a16:creationId xmlns:a16="http://schemas.microsoft.com/office/drawing/2014/main" id="{014D05CC-A024-6016-5734-4A303683CC80}"/>
              </a:ext>
            </a:extLst>
          </p:cNvPr>
          <p:cNvSpPr>
            <a:spLocks noChangeArrowheads="1"/>
          </p:cNvSpPr>
          <p:nvPr/>
        </p:nvSpPr>
        <p:spPr bwMode="auto">
          <a:xfrm>
            <a:off x="4341669" y="2024063"/>
            <a:ext cx="6708722" cy="396345"/>
          </a:xfrm>
          <a:prstGeom prst="chevron">
            <a:avLst>
              <a:gd name="adj" fmla="val 37537"/>
            </a:avLst>
          </a:prstGeom>
          <a:solidFill>
            <a:srgbClr val="ECD6ED"/>
          </a:solidFill>
          <a:ln w="9525" algn="ctr">
            <a:solidFill>
              <a:srgbClr val="4F81BD">
                <a:lumMod val="20000"/>
                <a:lumOff val="80000"/>
              </a:srgbClr>
            </a:solidFill>
            <a:miter lim="800000"/>
            <a:headEnd/>
            <a:tailEnd/>
          </a:ln>
          <a:effectLst>
            <a:outerShdw blurRad="50800" dist="38100" dir="2700000" algn="tl" rotWithShape="0">
              <a:prstClr val="black">
                <a:alpha val="40000"/>
              </a:prstClr>
            </a:outerShdw>
          </a:effectLst>
        </p:spPr>
        <p:txBody>
          <a:bodyPr lIns="36000" tIns="45716" rIns="36000" bIns="45716" anchor="ctr" anchorCtr="1"/>
          <a:lstStyle/>
          <a:p>
            <a:pPr marL="0" marR="0" lvl="0" indent="0" algn="ctr" defTabSz="914400" eaLnBrk="0" fontAlgn="auto" latinLnBrk="0" hangingPunct="0">
              <a:lnSpc>
                <a:spcPct val="90000"/>
              </a:lnSpc>
              <a:spcBef>
                <a:spcPts val="0"/>
              </a:spcBef>
              <a:spcAft>
                <a:spcPts val="0"/>
              </a:spcAft>
              <a:buClrTx/>
              <a:buSzTx/>
              <a:buFontTx/>
              <a:buNone/>
              <a:tabLst/>
              <a:defRPr/>
            </a:pPr>
            <a:r>
              <a:rPr kumimoji="0" lang="de-CH" sz="1000" b="1" i="0" u="none" strike="noStrike" kern="0" cap="none" spc="0" normalizeH="0" baseline="0" noProof="0">
                <a:ln>
                  <a:noFill/>
                </a:ln>
                <a:solidFill>
                  <a:schemeClr val="accent6"/>
                </a:solidFill>
                <a:effectLst/>
                <a:uLnTx/>
                <a:uFillTx/>
              </a:rPr>
              <a:t>Anstellung USB</a:t>
            </a:r>
          </a:p>
        </p:txBody>
      </p:sp>
      <p:sp>
        <p:nvSpPr>
          <p:cNvPr id="24" name="AutoShape 24">
            <a:extLst>
              <a:ext uri="{FF2B5EF4-FFF2-40B4-BE49-F238E27FC236}">
                <a16:creationId xmlns:a16="http://schemas.microsoft.com/office/drawing/2014/main" id="{D9EC5AEF-226D-03FC-EE2F-4F51430CDBB0}"/>
              </a:ext>
            </a:extLst>
          </p:cNvPr>
          <p:cNvSpPr>
            <a:spLocks noChangeArrowheads="1"/>
          </p:cNvSpPr>
          <p:nvPr/>
        </p:nvSpPr>
        <p:spPr bwMode="auto">
          <a:xfrm>
            <a:off x="11050391" y="2024063"/>
            <a:ext cx="1051394" cy="396345"/>
          </a:xfrm>
          <a:prstGeom prst="chevron">
            <a:avLst>
              <a:gd name="adj" fmla="val 37537"/>
            </a:avLst>
          </a:prstGeom>
          <a:solidFill>
            <a:schemeClr val="accent5">
              <a:lumMod val="20000"/>
              <a:lumOff val="80000"/>
            </a:schemeClr>
          </a:solidFill>
          <a:ln w="9525" algn="ctr">
            <a:solidFill>
              <a:srgbClr val="4F81BD">
                <a:lumMod val="20000"/>
                <a:lumOff val="80000"/>
              </a:srgbClr>
            </a:solidFill>
            <a:miter lim="800000"/>
            <a:headEnd/>
            <a:tailEnd/>
          </a:ln>
          <a:effectLst>
            <a:outerShdw blurRad="50800" dist="38100" dir="2700000" algn="tl" rotWithShape="0">
              <a:prstClr val="black">
                <a:alpha val="40000"/>
              </a:prstClr>
            </a:outerShdw>
          </a:effectLst>
        </p:spPr>
        <p:txBody>
          <a:bodyPr lIns="36000" tIns="45716" rIns="36000" bIns="45716" anchor="ctr" anchorCtr="1"/>
          <a:lstStyle/>
          <a:p>
            <a:pPr marL="0" marR="0" lvl="0" indent="0" algn="ctr" defTabSz="914400" eaLnBrk="0" fontAlgn="auto" latinLnBrk="0" hangingPunct="0">
              <a:lnSpc>
                <a:spcPct val="90000"/>
              </a:lnSpc>
              <a:spcBef>
                <a:spcPts val="0"/>
              </a:spcBef>
              <a:spcAft>
                <a:spcPts val="0"/>
              </a:spcAft>
              <a:buClrTx/>
              <a:buSzTx/>
              <a:buFontTx/>
              <a:buNone/>
              <a:tabLst/>
              <a:defRPr/>
            </a:pPr>
            <a:r>
              <a:rPr kumimoji="0" lang="de-CH" sz="1000" b="1" i="0" u="none" strike="noStrike" kern="0" cap="none" spc="0" normalizeH="0" baseline="0" noProof="0">
                <a:ln>
                  <a:noFill/>
                </a:ln>
                <a:solidFill>
                  <a:schemeClr val="accent5"/>
                </a:solidFill>
                <a:effectLst/>
                <a:uLnTx/>
                <a:uFillTx/>
              </a:rPr>
              <a:t>Austritt</a:t>
            </a:r>
          </a:p>
        </p:txBody>
      </p:sp>
      <p:sp>
        <p:nvSpPr>
          <p:cNvPr id="25" name="Eingekerbter Richtungspfeil 85">
            <a:extLst>
              <a:ext uri="{FF2B5EF4-FFF2-40B4-BE49-F238E27FC236}">
                <a16:creationId xmlns:a16="http://schemas.microsoft.com/office/drawing/2014/main" id="{955D30F3-55AE-7C03-39D7-55F6050CE80E}"/>
              </a:ext>
            </a:extLst>
          </p:cNvPr>
          <p:cNvSpPr/>
          <p:nvPr/>
        </p:nvSpPr>
        <p:spPr>
          <a:xfrm>
            <a:off x="5669169" y="2945428"/>
            <a:ext cx="1349052" cy="3598636"/>
          </a:xfrm>
          <a:prstGeom prst="roundRect">
            <a:avLst/>
          </a:prstGeom>
          <a:solidFill>
            <a:schemeClr val="bg2">
              <a:lumMod val="20000"/>
              <a:lumOff val="80000"/>
            </a:schemeClr>
          </a:solidFill>
          <a:ln w="12700" cap="flat" cmpd="sng" algn="ctr">
            <a:solidFill>
              <a:srgbClr val="4F81BD">
                <a:lumMod val="60000"/>
                <a:lumOff val="40000"/>
              </a:srgbClr>
            </a:solidFill>
            <a:prstDash val="lgDashDot"/>
          </a:ln>
          <a:effectLst/>
        </p:spPr>
        <p:txBody>
          <a:bodyPr lIns="91415" tIns="45705" rIns="91415" bIns="45705" rtlCol="0" anchor="t"/>
          <a:lstStyle/>
          <a:p>
            <a:pPr marL="0" marR="0" lvl="0" indent="0" algn="ctr" defTabSz="914148" eaLnBrk="1" fontAlgn="auto" latinLnBrk="0" hangingPunct="1">
              <a:lnSpc>
                <a:spcPct val="100000"/>
              </a:lnSpc>
              <a:spcBef>
                <a:spcPts val="0"/>
              </a:spcBef>
              <a:spcAft>
                <a:spcPts val="0"/>
              </a:spcAft>
              <a:buClrTx/>
              <a:buSzTx/>
              <a:buFontTx/>
              <a:buNone/>
              <a:tabLst/>
              <a:defRPr/>
            </a:pPr>
            <a:endParaRPr kumimoji="0" lang="de-CH" sz="1200" b="0" i="0" u="none" strike="noStrike" kern="0" cap="none" spc="0" normalizeH="0" baseline="0" noProof="0">
              <a:ln>
                <a:noFill/>
              </a:ln>
              <a:solidFill>
                <a:srgbClr val="000000">
                  <a:lumMod val="75000"/>
                  <a:lumOff val="25000"/>
                </a:srgbClr>
              </a:solidFill>
              <a:effectLst/>
              <a:uLnTx/>
              <a:uFillTx/>
              <a:latin typeface="Arial"/>
              <a:ea typeface="+mn-ea"/>
              <a:cs typeface="+mn-cs"/>
            </a:endParaRPr>
          </a:p>
        </p:txBody>
      </p:sp>
      <p:sp>
        <p:nvSpPr>
          <p:cNvPr id="3" name="Foliennummernplatzhalter 2">
            <a:extLst>
              <a:ext uri="{FF2B5EF4-FFF2-40B4-BE49-F238E27FC236}">
                <a16:creationId xmlns:a16="http://schemas.microsoft.com/office/drawing/2014/main" id="{C2461BB1-1344-5276-76F4-DFE4029FF3F3}"/>
              </a:ext>
            </a:extLst>
          </p:cNvPr>
          <p:cNvSpPr>
            <a:spLocks noGrp="1"/>
          </p:cNvSpPr>
          <p:nvPr>
            <p:ph type="sldNum" sz="quarter" idx="12"/>
          </p:nvPr>
        </p:nvSpPr>
        <p:spPr/>
        <p:txBody>
          <a:bodyPr/>
          <a:lstStyle/>
          <a:p>
            <a:fld id="{2AAFDC3C-A9F8-4ABD-8D8D-8DC3321B02DC}" type="slidenum">
              <a:rPr lang="de-CH" smtClean="0"/>
              <a:t>13</a:t>
            </a:fld>
            <a:endParaRPr lang="de-CH"/>
          </a:p>
        </p:txBody>
      </p:sp>
      <p:sp>
        <p:nvSpPr>
          <p:cNvPr id="4" name="Datumsplatzhalter 3">
            <a:extLst>
              <a:ext uri="{FF2B5EF4-FFF2-40B4-BE49-F238E27FC236}">
                <a16:creationId xmlns:a16="http://schemas.microsoft.com/office/drawing/2014/main" id="{75662B27-3500-D6EA-72BF-5FEDE6F598FE}"/>
              </a:ext>
            </a:extLst>
          </p:cNvPr>
          <p:cNvSpPr>
            <a:spLocks noGrp="1"/>
          </p:cNvSpPr>
          <p:nvPr>
            <p:ph type="dt" sz="half" idx="10"/>
          </p:nvPr>
        </p:nvSpPr>
        <p:spPr/>
        <p:txBody>
          <a:bodyPr/>
          <a:lstStyle/>
          <a:p>
            <a:r>
              <a:rPr lang="de-CH"/>
              <a:t>11.06.2026</a:t>
            </a:r>
          </a:p>
        </p:txBody>
      </p:sp>
      <p:sp>
        <p:nvSpPr>
          <p:cNvPr id="5" name="AutoShape 24">
            <a:extLst>
              <a:ext uri="{FF2B5EF4-FFF2-40B4-BE49-F238E27FC236}">
                <a16:creationId xmlns:a16="http://schemas.microsoft.com/office/drawing/2014/main" id="{5BA25568-C5F0-1BAF-1838-3D2ADFA11DD9}"/>
              </a:ext>
            </a:extLst>
          </p:cNvPr>
          <p:cNvSpPr>
            <a:spLocks noChangeArrowheads="1"/>
          </p:cNvSpPr>
          <p:nvPr/>
        </p:nvSpPr>
        <p:spPr bwMode="auto">
          <a:xfrm>
            <a:off x="5816886" y="3666938"/>
            <a:ext cx="1051394" cy="396345"/>
          </a:xfrm>
          <a:prstGeom prst="chevron">
            <a:avLst>
              <a:gd name="adj" fmla="val 37537"/>
            </a:avLst>
          </a:prstGeom>
          <a:solidFill>
            <a:schemeClr val="accent2">
              <a:lumMod val="40000"/>
              <a:lumOff val="60000"/>
            </a:schemeClr>
          </a:solidFill>
          <a:ln w="9525" algn="ctr">
            <a:solidFill>
              <a:srgbClr val="4F81BD">
                <a:lumMod val="20000"/>
                <a:lumOff val="80000"/>
              </a:srgbClr>
            </a:solidFill>
            <a:miter lim="800000"/>
            <a:headEnd/>
            <a:tailEnd/>
          </a:ln>
          <a:effectLst>
            <a:outerShdw blurRad="50800" dist="38100" dir="2700000" algn="tl" rotWithShape="0">
              <a:prstClr val="black">
                <a:alpha val="40000"/>
              </a:prstClr>
            </a:outerShdw>
          </a:effectLst>
        </p:spPr>
        <p:txBody>
          <a:bodyPr lIns="36000" tIns="45716" rIns="36000" bIns="45716" anchor="ctr" anchorCtr="1"/>
          <a:lstStyle/>
          <a:p>
            <a:pPr marL="0" marR="0" lvl="0" indent="0" algn="ctr" defTabSz="914400" eaLnBrk="0" fontAlgn="auto" latinLnBrk="0" hangingPunct="0">
              <a:lnSpc>
                <a:spcPct val="90000"/>
              </a:lnSpc>
              <a:spcBef>
                <a:spcPts val="0"/>
              </a:spcBef>
              <a:spcAft>
                <a:spcPts val="0"/>
              </a:spcAft>
              <a:buClrTx/>
              <a:buSzTx/>
              <a:buFontTx/>
              <a:buNone/>
              <a:tabLst/>
              <a:defRPr/>
            </a:pPr>
            <a:r>
              <a:rPr kumimoji="0" lang="de-CH" sz="1000" b="1" i="0" u="none" strike="noStrike" kern="0" cap="none" spc="0" normalizeH="0" baseline="0" noProof="0" dirty="0">
                <a:ln>
                  <a:noFill/>
                </a:ln>
                <a:solidFill>
                  <a:schemeClr val="tx2"/>
                </a:solidFill>
                <a:effectLst/>
                <a:uLnTx/>
                <a:uFillTx/>
              </a:rPr>
              <a:t>Ablauf Befristung</a:t>
            </a:r>
          </a:p>
        </p:txBody>
      </p:sp>
      <p:sp>
        <p:nvSpPr>
          <p:cNvPr id="6" name="AutoShape 24">
            <a:extLst>
              <a:ext uri="{FF2B5EF4-FFF2-40B4-BE49-F238E27FC236}">
                <a16:creationId xmlns:a16="http://schemas.microsoft.com/office/drawing/2014/main" id="{F0104946-663D-4619-D4B8-DF4A8161DC3C}"/>
              </a:ext>
            </a:extLst>
          </p:cNvPr>
          <p:cNvSpPr>
            <a:spLocks noChangeArrowheads="1"/>
          </p:cNvSpPr>
          <p:nvPr/>
        </p:nvSpPr>
        <p:spPr bwMode="auto">
          <a:xfrm>
            <a:off x="5816886" y="4174327"/>
            <a:ext cx="1051394" cy="396345"/>
          </a:xfrm>
          <a:prstGeom prst="chevron">
            <a:avLst>
              <a:gd name="adj" fmla="val 37537"/>
            </a:avLst>
          </a:prstGeom>
          <a:solidFill>
            <a:schemeClr val="accent2">
              <a:lumMod val="40000"/>
              <a:lumOff val="60000"/>
            </a:schemeClr>
          </a:solidFill>
          <a:ln w="9525" algn="ctr">
            <a:solidFill>
              <a:srgbClr val="4F81BD">
                <a:lumMod val="20000"/>
                <a:lumOff val="80000"/>
              </a:srgbClr>
            </a:solidFill>
            <a:miter lim="800000"/>
            <a:headEnd/>
            <a:tailEnd/>
          </a:ln>
          <a:effectLst>
            <a:outerShdw blurRad="50800" dist="38100" dir="2700000" algn="tl" rotWithShape="0">
              <a:prstClr val="black">
                <a:alpha val="40000"/>
              </a:prstClr>
            </a:outerShdw>
          </a:effectLst>
        </p:spPr>
        <p:txBody>
          <a:bodyPr lIns="36000" tIns="45716" rIns="36000" bIns="45716" anchor="ctr" anchorCtr="1"/>
          <a:lstStyle/>
          <a:p>
            <a:pPr marL="0" marR="0" lvl="0" indent="0" algn="ctr" defTabSz="914400" eaLnBrk="0" fontAlgn="auto" latinLnBrk="0" hangingPunct="0">
              <a:lnSpc>
                <a:spcPct val="90000"/>
              </a:lnSpc>
              <a:spcBef>
                <a:spcPts val="0"/>
              </a:spcBef>
              <a:spcAft>
                <a:spcPts val="0"/>
              </a:spcAft>
              <a:buClrTx/>
              <a:buSzTx/>
              <a:buFontTx/>
              <a:buNone/>
              <a:tabLst/>
              <a:defRPr/>
            </a:pPr>
            <a:r>
              <a:rPr kumimoji="0" lang="de-CH" sz="1000" b="1" i="0" u="none" strike="noStrike" kern="0" cap="none" spc="0" normalizeH="0" baseline="0" noProof="0" dirty="0">
                <a:ln>
                  <a:noFill/>
                </a:ln>
                <a:solidFill>
                  <a:schemeClr val="tx2"/>
                </a:solidFill>
                <a:effectLst/>
                <a:uLnTx/>
                <a:uFillTx/>
              </a:rPr>
              <a:t>Kündigung AN</a:t>
            </a:r>
          </a:p>
        </p:txBody>
      </p:sp>
      <p:sp>
        <p:nvSpPr>
          <p:cNvPr id="7" name="AutoShape 24">
            <a:extLst>
              <a:ext uri="{FF2B5EF4-FFF2-40B4-BE49-F238E27FC236}">
                <a16:creationId xmlns:a16="http://schemas.microsoft.com/office/drawing/2014/main" id="{490897E0-DE1B-8BB3-DAAC-2E45D7A25E39}"/>
              </a:ext>
            </a:extLst>
          </p:cNvPr>
          <p:cNvSpPr>
            <a:spLocks noChangeArrowheads="1"/>
          </p:cNvSpPr>
          <p:nvPr/>
        </p:nvSpPr>
        <p:spPr bwMode="auto">
          <a:xfrm>
            <a:off x="5816886" y="5283200"/>
            <a:ext cx="1051394" cy="396345"/>
          </a:xfrm>
          <a:prstGeom prst="chevron">
            <a:avLst>
              <a:gd name="adj" fmla="val 37537"/>
            </a:avLst>
          </a:prstGeom>
          <a:solidFill>
            <a:schemeClr val="accent2">
              <a:lumMod val="40000"/>
              <a:lumOff val="60000"/>
            </a:schemeClr>
          </a:solidFill>
          <a:ln w="9525" algn="ctr">
            <a:solidFill>
              <a:srgbClr val="4F81BD">
                <a:lumMod val="20000"/>
                <a:lumOff val="80000"/>
              </a:srgbClr>
            </a:solidFill>
            <a:miter lim="800000"/>
            <a:headEnd/>
            <a:tailEnd/>
          </a:ln>
          <a:effectLst>
            <a:outerShdw blurRad="50800" dist="38100" dir="2700000" algn="tl" rotWithShape="0">
              <a:prstClr val="black">
                <a:alpha val="40000"/>
              </a:prstClr>
            </a:outerShdw>
          </a:effectLst>
        </p:spPr>
        <p:txBody>
          <a:bodyPr lIns="36000" tIns="45716" rIns="36000" bIns="45716" anchor="ctr" anchorCtr="1"/>
          <a:lstStyle/>
          <a:p>
            <a:pPr marL="0" marR="0" lvl="0" indent="0" algn="ctr" defTabSz="914400" eaLnBrk="0" fontAlgn="auto" latinLnBrk="0" hangingPunct="0">
              <a:lnSpc>
                <a:spcPct val="90000"/>
              </a:lnSpc>
              <a:spcBef>
                <a:spcPts val="0"/>
              </a:spcBef>
              <a:spcAft>
                <a:spcPts val="0"/>
              </a:spcAft>
              <a:buClrTx/>
              <a:buSzTx/>
              <a:buFontTx/>
              <a:buNone/>
              <a:tabLst/>
              <a:defRPr/>
            </a:pPr>
            <a:r>
              <a:rPr kumimoji="0" lang="de-CH" sz="1000" b="1" i="0" u="none" strike="noStrike" kern="0" cap="none" spc="0" normalizeH="0" baseline="0" noProof="0" dirty="0">
                <a:ln>
                  <a:noFill/>
                </a:ln>
                <a:solidFill>
                  <a:schemeClr val="tx2"/>
                </a:solidFill>
                <a:effectLst/>
                <a:uLnTx/>
                <a:uFillTx/>
              </a:rPr>
              <a:t>Pensionierung</a:t>
            </a:r>
          </a:p>
        </p:txBody>
      </p:sp>
      <p:sp>
        <p:nvSpPr>
          <p:cNvPr id="8" name="AutoShape 24">
            <a:extLst>
              <a:ext uri="{FF2B5EF4-FFF2-40B4-BE49-F238E27FC236}">
                <a16:creationId xmlns:a16="http://schemas.microsoft.com/office/drawing/2014/main" id="{6FC39638-34FD-7C16-5C6B-2478D00255A5}"/>
              </a:ext>
            </a:extLst>
          </p:cNvPr>
          <p:cNvSpPr>
            <a:spLocks noChangeArrowheads="1"/>
          </p:cNvSpPr>
          <p:nvPr/>
        </p:nvSpPr>
        <p:spPr bwMode="auto">
          <a:xfrm>
            <a:off x="5816886" y="5816849"/>
            <a:ext cx="1051394" cy="396345"/>
          </a:xfrm>
          <a:prstGeom prst="chevron">
            <a:avLst>
              <a:gd name="adj" fmla="val 37537"/>
            </a:avLst>
          </a:prstGeom>
          <a:solidFill>
            <a:schemeClr val="accent2">
              <a:lumMod val="40000"/>
              <a:lumOff val="60000"/>
            </a:schemeClr>
          </a:solidFill>
          <a:ln w="9525" algn="ctr">
            <a:solidFill>
              <a:srgbClr val="4F81BD">
                <a:lumMod val="20000"/>
                <a:lumOff val="80000"/>
              </a:srgbClr>
            </a:solidFill>
            <a:miter lim="800000"/>
            <a:headEnd/>
            <a:tailEnd/>
          </a:ln>
          <a:effectLst>
            <a:outerShdw blurRad="50800" dist="38100" dir="2700000" algn="tl" rotWithShape="0">
              <a:prstClr val="black">
                <a:alpha val="40000"/>
              </a:prstClr>
            </a:outerShdw>
          </a:effectLst>
        </p:spPr>
        <p:txBody>
          <a:bodyPr lIns="36000" tIns="45716" rIns="36000" bIns="45716" anchor="ctr" anchorCtr="1"/>
          <a:lstStyle/>
          <a:p>
            <a:pPr marL="0" marR="0" lvl="0" indent="0" algn="ctr" defTabSz="914400" eaLnBrk="0" fontAlgn="auto" latinLnBrk="0" hangingPunct="0">
              <a:lnSpc>
                <a:spcPct val="90000"/>
              </a:lnSpc>
              <a:spcBef>
                <a:spcPts val="0"/>
              </a:spcBef>
              <a:spcAft>
                <a:spcPts val="0"/>
              </a:spcAft>
              <a:buClrTx/>
              <a:buSzTx/>
              <a:buFontTx/>
              <a:buNone/>
              <a:tabLst/>
              <a:defRPr/>
            </a:pPr>
            <a:r>
              <a:rPr lang="de-CH" sz="1000" b="1" kern="0" dirty="0" err="1">
                <a:solidFill>
                  <a:schemeClr val="tx2"/>
                </a:solidFill>
              </a:rPr>
              <a:t>AuW</a:t>
            </a:r>
            <a:endParaRPr kumimoji="0" lang="de-CH" sz="1000" b="1" i="0" u="none" strike="noStrike" kern="0" cap="none" spc="0" normalizeH="0" baseline="0" noProof="0" dirty="0">
              <a:ln>
                <a:noFill/>
              </a:ln>
              <a:solidFill>
                <a:schemeClr val="tx2"/>
              </a:solidFill>
              <a:effectLst/>
              <a:uLnTx/>
              <a:uFillTx/>
            </a:endParaRPr>
          </a:p>
        </p:txBody>
      </p:sp>
      <p:sp>
        <p:nvSpPr>
          <p:cNvPr id="9" name="AutoShape 24">
            <a:extLst>
              <a:ext uri="{FF2B5EF4-FFF2-40B4-BE49-F238E27FC236}">
                <a16:creationId xmlns:a16="http://schemas.microsoft.com/office/drawing/2014/main" id="{BD1F57AC-E911-E774-0672-1A6A60BEFFC9}"/>
              </a:ext>
            </a:extLst>
          </p:cNvPr>
          <p:cNvSpPr>
            <a:spLocks noChangeArrowheads="1"/>
          </p:cNvSpPr>
          <p:nvPr/>
        </p:nvSpPr>
        <p:spPr bwMode="auto">
          <a:xfrm>
            <a:off x="5816886" y="4693307"/>
            <a:ext cx="1051394" cy="396345"/>
          </a:xfrm>
          <a:prstGeom prst="chevron">
            <a:avLst>
              <a:gd name="adj" fmla="val 37537"/>
            </a:avLst>
          </a:prstGeom>
          <a:solidFill>
            <a:schemeClr val="accent2">
              <a:lumMod val="40000"/>
              <a:lumOff val="60000"/>
            </a:schemeClr>
          </a:solidFill>
          <a:ln w="9525" algn="ctr">
            <a:solidFill>
              <a:srgbClr val="4F81BD">
                <a:lumMod val="20000"/>
                <a:lumOff val="80000"/>
              </a:srgbClr>
            </a:solidFill>
            <a:miter lim="800000"/>
            <a:headEnd/>
            <a:tailEnd/>
          </a:ln>
          <a:effectLst>
            <a:outerShdw blurRad="50800" dist="38100" dir="2700000" algn="tl" rotWithShape="0">
              <a:prstClr val="black">
                <a:alpha val="40000"/>
              </a:prstClr>
            </a:outerShdw>
          </a:effectLst>
        </p:spPr>
        <p:txBody>
          <a:bodyPr lIns="36000" tIns="45716" rIns="36000" bIns="45716" anchor="ctr" anchorCtr="1"/>
          <a:lstStyle/>
          <a:p>
            <a:pPr marL="0" marR="0" lvl="0" indent="0" algn="ctr" defTabSz="914400" eaLnBrk="0" fontAlgn="auto" latinLnBrk="0" hangingPunct="0">
              <a:lnSpc>
                <a:spcPct val="90000"/>
              </a:lnSpc>
              <a:spcBef>
                <a:spcPts val="0"/>
              </a:spcBef>
              <a:spcAft>
                <a:spcPts val="0"/>
              </a:spcAft>
              <a:buClrTx/>
              <a:buSzTx/>
              <a:buFontTx/>
              <a:buNone/>
              <a:tabLst/>
              <a:defRPr/>
            </a:pPr>
            <a:r>
              <a:rPr lang="de-CH" sz="1000" b="1" kern="0" dirty="0">
                <a:solidFill>
                  <a:schemeClr val="tx2"/>
                </a:solidFill>
              </a:rPr>
              <a:t>Kündigung AG / Auflösung</a:t>
            </a:r>
            <a:endParaRPr kumimoji="0" lang="de-CH" sz="1000" b="1" i="0" u="none" strike="noStrike" kern="0" cap="none" spc="0" normalizeH="0" baseline="0" noProof="0" dirty="0">
              <a:ln>
                <a:noFill/>
              </a:ln>
              <a:solidFill>
                <a:schemeClr val="tx2"/>
              </a:solidFill>
              <a:effectLst/>
              <a:uLnTx/>
              <a:uFillTx/>
            </a:endParaRPr>
          </a:p>
        </p:txBody>
      </p:sp>
      <p:sp>
        <p:nvSpPr>
          <p:cNvPr id="10" name="AutoShape 24">
            <a:extLst>
              <a:ext uri="{FF2B5EF4-FFF2-40B4-BE49-F238E27FC236}">
                <a16:creationId xmlns:a16="http://schemas.microsoft.com/office/drawing/2014/main" id="{022EDCAD-717F-CE29-A7DB-11E299BFC575}"/>
              </a:ext>
            </a:extLst>
          </p:cNvPr>
          <p:cNvSpPr>
            <a:spLocks noChangeArrowheads="1"/>
          </p:cNvSpPr>
          <p:nvPr/>
        </p:nvSpPr>
        <p:spPr bwMode="auto">
          <a:xfrm>
            <a:off x="5816886" y="3112502"/>
            <a:ext cx="1051394" cy="396345"/>
          </a:xfrm>
          <a:prstGeom prst="chevron">
            <a:avLst>
              <a:gd name="adj" fmla="val 37537"/>
            </a:avLst>
          </a:prstGeom>
          <a:solidFill>
            <a:schemeClr val="accent4">
              <a:lumMod val="75000"/>
            </a:schemeClr>
          </a:solidFill>
          <a:ln w="9525" algn="ctr">
            <a:solidFill>
              <a:srgbClr val="4F81BD">
                <a:lumMod val="20000"/>
                <a:lumOff val="80000"/>
              </a:srgbClr>
            </a:solidFill>
            <a:miter lim="800000"/>
            <a:headEnd/>
            <a:tailEnd/>
          </a:ln>
          <a:effectLst>
            <a:outerShdw blurRad="50800" dist="38100" dir="2700000" algn="tl" rotWithShape="0">
              <a:prstClr val="black">
                <a:alpha val="40000"/>
              </a:prstClr>
            </a:outerShdw>
          </a:effectLst>
        </p:spPr>
        <p:txBody>
          <a:bodyPr lIns="36000" tIns="45716" rIns="36000" bIns="45716" anchor="ctr" anchorCtr="1"/>
          <a:lstStyle/>
          <a:p>
            <a:pPr marL="0" marR="0" lvl="0" indent="0" algn="ctr" defTabSz="914400" eaLnBrk="0" fontAlgn="auto" latinLnBrk="0" hangingPunct="0">
              <a:lnSpc>
                <a:spcPct val="90000"/>
              </a:lnSpc>
              <a:spcBef>
                <a:spcPts val="0"/>
              </a:spcBef>
              <a:spcAft>
                <a:spcPts val="0"/>
              </a:spcAft>
              <a:buClrTx/>
              <a:buSzTx/>
              <a:buFontTx/>
              <a:buNone/>
              <a:tabLst/>
              <a:defRPr/>
            </a:pPr>
            <a:r>
              <a:rPr kumimoji="0" lang="de-CH" sz="1000" b="1" i="0" u="none" strike="noStrike" kern="0" cap="none" spc="0" normalizeH="0" baseline="0" noProof="0" dirty="0">
                <a:ln>
                  <a:noFill/>
                </a:ln>
                <a:solidFill>
                  <a:schemeClr val="bg2">
                    <a:lumMod val="10000"/>
                  </a:schemeClr>
                </a:solidFill>
                <a:effectLst/>
                <a:uLnTx/>
                <a:uFillTx/>
              </a:rPr>
              <a:t>Austritt melden</a:t>
            </a:r>
          </a:p>
        </p:txBody>
      </p:sp>
    </p:spTree>
    <p:extLst>
      <p:ext uri="{BB962C8B-B14F-4D97-AF65-F5344CB8AC3E}">
        <p14:creationId xmlns:p14="http://schemas.microsoft.com/office/powerpoint/2010/main" val="20524597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F58181-8242-EB1D-20A2-D0BFF091BEB6}"/>
              </a:ext>
            </a:extLst>
          </p:cNvPr>
          <p:cNvSpPr>
            <a:spLocks noGrp="1"/>
          </p:cNvSpPr>
          <p:nvPr>
            <p:ph type="title"/>
          </p:nvPr>
        </p:nvSpPr>
        <p:spPr/>
        <p:txBody>
          <a:bodyPr/>
          <a:lstStyle/>
          <a:p>
            <a:pPr algn="l"/>
            <a:r>
              <a:rPr lang="de-CH" sz="2800" dirty="0">
                <a:solidFill>
                  <a:srgbClr val="1B3A5C"/>
                </a:solidFill>
                <a:latin typeface="Calibri"/>
              </a:rPr>
              <a:t>Erkenntnisse aus Interviews und Modellierung</a:t>
            </a:r>
          </a:p>
        </p:txBody>
      </p:sp>
      <p:sp>
        <p:nvSpPr>
          <p:cNvPr id="50" name="kicker"/>
          <p:cNvSpPr>
            <a:spLocks noGrp="1"/>
          </p:cNvSpPr>
          <p:nvPr/>
        </p:nvSpPr>
        <p:spPr>
          <a:xfrm>
            <a:off x="838200" y="1574800"/>
            <a:ext cx="10515600" cy="279400"/>
          </a:xfrm>
          <a:prstGeom prst="rect">
            <a:avLst/>
          </a:prstGeom>
          <a:solidFill>
            <a:srgbClr val="2E6CA4"/>
          </a:solidFill>
          <a:ln>
            <a:noFill/>
          </a:ln>
        </p:spPr>
        <p:txBody>
          <a:bodyPr vert="horz" wrap="square" anchor="ctr">
            <a:normAutofit fontScale="92500" lnSpcReduction="10000"/>
          </a:bodyPr>
          <a:lstStyle/>
          <a:p>
            <a:pPr>
              <a:spcBef>
                <a:spcPts val="0"/>
              </a:spcBef>
            </a:pPr>
            <a:r>
              <a:rPr lang="de-CH" sz="1400" b="1" dirty="0">
                <a:solidFill>
                  <a:srgbClr val="FFFFFF"/>
                </a:solidFill>
                <a:latin typeface="Calibri"/>
              </a:rPr>
              <a:t>Wiederkehrende Grundlogik mit variantenreichen Auslösern und Schnittstellen</a:t>
            </a:r>
          </a:p>
        </p:txBody>
      </p:sp>
      <p:sp>
        <p:nvSpPr>
          <p:cNvPr id="100" name="tile100"/>
          <p:cNvSpPr>
            <a:spLocks noGrp="1"/>
          </p:cNvSpPr>
          <p:nvPr/>
        </p:nvSpPr>
        <p:spPr>
          <a:xfrm>
            <a:off x="838200" y="1955800"/>
            <a:ext cx="5105400" cy="1752600"/>
          </a:xfrm>
          <a:prstGeom prst="rect">
            <a:avLst/>
          </a:prstGeom>
          <a:solidFill>
            <a:srgbClr val="EEF2F6"/>
          </a:solidFill>
          <a:ln>
            <a:noFill/>
          </a:ln>
        </p:spPr>
        <p:txBody>
          <a:bodyPr/>
          <a:lstStyle/>
          <a:p>
            <a:endParaRPr/>
          </a:p>
        </p:txBody>
      </p:sp>
      <p:sp>
        <p:nvSpPr>
          <p:cNvPr id="101" name="accent100"/>
          <p:cNvSpPr>
            <a:spLocks noGrp="1"/>
          </p:cNvSpPr>
          <p:nvPr/>
        </p:nvSpPr>
        <p:spPr>
          <a:xfrm>
            <a:off x="838200" y="1955800"/>
            <a:ext cx="63500" cy="1752600"/>
          </a:xfrm>
          <a:prstGeom prst="rect">
            <a:avLst/>
          </a:prstGeom>
          <a:solidFill>
            <a:srgbClr val="C8893A"/>
          </a:solidFill>
          <a:ln>
            <a:noFill/>
          </a:ln>
        </p:spPr>
        <p:txBody>
          <a:bodyPr/>
          <a:lstStyle/>
          <a:p>
            <a:endParaRPr/>
          </a:p>
        </p:txBody>
      </p:sp>
      <p:sp>
        <p:nvSpPr>
          <p:cNvPr id="102" name="text100"/>
          <p:cNvSpPr>
            <a:spLocks noGrp="1"/>
          </p:cNvSpPr>
          <p:nvPr/>
        </p:nvSpPr>
        <p:spPr>
          <a:xfrm>
            <a:off x="1003300" y="2057400"/>
            <a:ext cx="4889500" cy="1549400"/>
          </a:xfrm>
          <a:prstGeom prst="rect">
            <a:avLst/>
          </a:prstGeom>
          <a:noFill/>
          <a:ln>
            <a:noFill/>
          </a:ln>
        </p:spPr>
        <p:txBody>
          <a:bodyPr vert="horz" wrap="square" anchor="t">
            <a:normAutofit/>
          </a:bodyPr>
          <a:lstStyle/>
          <a:p>
            <a:pPr>
              <a:spcBef>
                <a:spcPts val="0"/>
              </a:spcBef>
            </a:pPr>
            <a:r>
              <a:rPr lang="de-CH" sz="1000" b="1" dirty="0">
                <a:solidFill>
                  <a:srgbClr val="C8893A"/>
                </a:solidFill>
                <a:latin typeface="Calibri"/>
              </a:rPr>
              <a:t>VARIANTEN</a:t>
            </a:r>
          </a:p>
          <a:p>
            <a:pPr>
              <a:spcBef>
                <a:spcPts val="100"/>
              </a:spcBef>
            </a:pPr>
            <a:r>
              <a:rPr lang="de-CH" sz="1400" b="1" dirty="0">
                <a:solidFill>
                  <a:srgbClr val="1B3A5C"/>
                </a:solidFill>
              </a:rPr>
              <a:t>Varianten entstehen früh im Prozess</a:t>
            </a:r>
          </a:p>
          <a:p>
            <a:pPr>
              <a:spcBef>
                <a:spcPts val="150"/>
              </a:spcBef>
            </a:pPr>
            <a:r>
              <a:rPr lang="de-CH" sz="1300" dirty="0">
                <a:solidFill>
                  <a:srgbClr val="1A2A38"/>
                </a:solidFill>
                <a:latin typeface="Calibri"/>
              </a:rPr>
              <a:t>Austrittsgrund, Anstellungsart und Eingangskanal bestimmen den Start der Bearbeitung.</a:t>
            </a:r>
          </a:p>
        </p:txBody>
      </p:sp>
      <p:sp>
        <p:nvSpPr>
          <p:cNvPr id="110" name="tile110"/>
          <p:cNvSpPr>
            <a:spLocks noGrp="1"/>
          </p:cNvSpPr>
          <p:nvPr/>
        </p:nvSpPr>
        <p:spPr>
          <a:xfrm>
            <a:off x="6121400" y="1955800"/>
            <a:ext cx="5105400" cy="1752600"/>
          </a:xfrm>
          <a:prstGeom prst="rect">
            <a:avLst/>
          </a:prstGeom>
          <a:solidFill>
            <a:srgbClr val="EEF2F6"/>
          </a:solidFill>
          <a:ln>
            <a:noFill/>
          </a:ln>
        </p:spPr>
        <p:txBody>
          <a:bodyPr/>
          <a:lstStyle/>
          <a:p>
            <a:endParaRPr/>
          </a:p>
        </p:txBody>
      </p:sp>
      <p:sp>
        <p:nvSpPr>
          <p:cNvPr id="111" name="accent110"/>
          <p:cNvSpPr>
            <a:spLocks noGrp="1"/>
          </p:cNvSpPr>
          <p:nvPr/>
        </p:nvSpPr>
        <p:spPr>
          <a:xfrm>
            <a:off x="6121400" y="1955800"/>
            <a:ext cx="63500" cy="1752600"/>
          </a:xfrm>
          <a:prstGeom prst="rect">
            <a:avLst/>
          </a:prstGeom>
          <a:solidFill>
            <a:srgbClr val="2E6CA4"/>
          </a:solidFill>
          <a:ln>
            <a:noFill/>
          </a:ln>
        </p:spPr>
        <p:txBody>
          <a:bodyPr/>
          <a:lstStyle/>
          <a:p>
            <a:endParaRPr/>
          </a:p>
        </p:txBody>
      </p:sp>
      <p:sp>
        <p:nvSpPr>
          <p:cNvPr id="112" name="text110"/>
          <p:cNvSpPr>
            <a:spLocks noGrp="1"/>
          </p:cNvSpPr>
          <p:nvPr/>
        </p:nvSpPr>
        <p:spPr>
          <a:xfrm>
            <a:off x="6286500" y="2057400"/>
            <a:ext cx="4889500" cy="1549400"/>
          </a:xfrm>
          <a:prstGeom prst="rect">
            <a:avLst/>
          </a:prstGeom>
          <a:noFill/>
          <a:ln>
            <a:noFill/>
          </a:ln>
        </p:spPr>
        <p:txBody>
          <a:bodyPr vert="horz" wrap="square" anchor="t">
            <a:normAutofit/>
          </a:bodyPr>
          <a:lstStyle/>
          <a:p>
            <a:pPr>
              <a:spcBef>
                <a:spcPts val="0"/>
              </a:spcBef>
            </a:pPr>
            <a:r>
              <a:rPr lang="de-CH" sz="1000" b="1" dirty="0">
                <a:solidFill>
                  <a:srgbClr val="2E6CA4"/>
                </a:solidFill>
                <a:latin typeface="Calibri"/>
              </a:rPr>
              <a:t>HR ADMINISTRATION</a:t>
            </a:r>
          </a:p>
          <a:p>
            <a:pPr>
              <a:spcBef>
                <a:spcPts val="100"/>
              </a:spcBef>
            </a:pPr>
            <a:r>
              <a:rPr lang="de-CH" sz="1400" b="1" dirty="0">
                <a:solidFill>
                  <a:srgbClr val="1B3A5C"/>
                </a:solidFill>
                <a:latin typeface="Calibri"/>
              </a:rPr>
              <a:t>HR Administration folgt einer Grundlogik</a:t>
            </a:r>
          </a:p>
          <a:p>
            <a:pPr>
              <a:spcBef>
                <a:spcPts val="150"/>
              </a:spcBef>
            </a:pPr>
            <a:r>
              <a:rPr lang="de-CH" sz="1300" dirty="0">
                <a:solidFill>
                  <a:srgbClr val="1A2A38"/>
                </a:solidFill>
                <a:latin typeface="Calibri"/>
              </a:rPr>
              <a:t>Die Bearbeitung erfolgt weitgehend über Checklisten, definierte Prüfschritte und Jira-Tickets.</a:t>
            </a:r>
          </a:p>
        </p:txBody>
      </p:sp>
      <p:sp>
        <p:nvSpPr>
          <p:cNvPr id="120" name="tile120"/>
          <p:cNvSpPr>
            <a:spLocks noGrp="1"/>
          </p:cNvSpPr>
          <p:nvPr/>
        </p:nvSpPr>
        <p:spPr>
          <a:xfrm>
            <a:off x="838200" y="3810000"/>
            <a:ext cx="5105400" cy="1752600"/>
          </a:xfrm>
          <a:prstGeom prst="rect">
            <a:avLst/>
          </a:prstGeom>
          <a:solidFill>
            <a:srgbClr val="EEF2F6"/>
          </a:solidFill>
          <a:ln>
            <a:noFill/>
          </a:ln>
        </p:spPr>
        <p:txBody>
          <a:bodyPr/>
          <a:lstStyle/>
          <a:p>
            <a:endParaRPr/>
          </a:p>
        </p:txBody>
      </p:sp>
      <p:sp>
        <p:nvSpPr>
          <p:cNvPr id="121" name="accent120"/>
          <p:cNvSpPr>
            <a:spLocks noGrp="1"/>
          </p:cNvSpPr>
          <p:nvPr/>
        </p:nvSpPr>
        <p:spPr>
          <a:xfrm>
            <a:off x="838200" y="3810000"/>
            <a:ext cx="63500" cy="1752600"/>
          </a:xfrm>
          <a:prstGeom prst="rect">
            <a:avLst/>
          </a:prstGeom>
          <a:solidFill>
            <a:srgbClr val="2E6CA4"/>
          </a:solidFill>
          <a:ln>
            <a:noFill/>
          </a:ln>
        </p:spPr>
        <p:txBody>
          <a:bodyPr/>
          <a:lstStyle/>
          <a:p>
            <a:endParaRPr/>
          </a:p>
        </p:txBody>
      </p:sp>
      <p:sp>
        <p:nvSpPr>
          <p:cNvPr id="122" name="text120"/>
          <p:cNvSpPr>
            <a:spLocks noGrp="1"/>
          </p:cNvSpPr>
          <p:nvPr/>
        </p:nvSpPr>
        <p:spPr>
          <a:xfrm>
            <a:off x="1003300" y="3911600"/>
            <a:ext cx="4889500" cy="1549400"/>
          </a:xfrm>
          <a:prstGeom prst="rect">
            <a:avLst/>
          </a:prstGeom>
          <a:noFill/>
          <a:ln>
            <a:noFill/>
          </a:ln>
        </p:spPr>
        <p:txBody>
          <a:bodyPr vert="horz" wrap="square" anchor="t">
            <a:normAutofit/>
          </a:bodyPr>
          <a:lstStyle/>
          <a:p>
            <a:pPr>
              <a:spcBef>
                <a:spcPts val="0"/>
              </a:spcBef>
            </a:pPr>
            <a:r>
              <a:rPr lang="de-CH" sz="1000" b="1" dirty="0">
                <a:solidFill>
                  <a:srgbClr val="2E6CA4"/>
                </a:solidFill>
                <a:latin typeface="Calibri"/>
              </a:rPr>
              <a:t>PAYROLL &amp; TIME MANAGEMENT</a:t>
            </a:r>
          </a:p>
          <a:p>
            <a:pPr>
              <a:spcBef>
                <a:spcPts val="100"/>
              </a:spcBef>
            </a:pPr>
            <a:r>
              <a:rPr lang="de-CH" sz="1400" b="1" dirty="0">
                <a:solidFill>
                  <a:srgbClr val="1B3A5C"/>
                </a:solidFill>
                <a:latin typeface="Calibri"/>
              </a:rPr>
              <a:t>Payroll und Time Management bearbeiten stabile Teilprozesse</a:t>
            </a:r>
          </a:p>
          <a:p>
            <a:pPr>
              <a:spcBef>
                <a:spcPts val="150"/>
              </a:spcBef>
            </a:pPr>
            <a:r>
              <a:rPr lang="de-CH" sz="1300" dirty="0">
                <a:solidFill>
                  <a:srgbClr val="1A2A38"/>
                </a:solidFill>
                <a:latin typeface="Calibri"/>
              </a:rPr>
              <a:t>Austrittsbuchung, Saldoprüfung und Auszahlung folgen fachlich wiederkehrenden Mustern.</a:t>
            </a:r>
          </a:p>
        </p:txBody>
      </p:sp>
      <p:sp>
        <p:nvSpPr>
          <p:cNvPr id="130" name="tile130"/>
          <p:cNvSpPr>
            <a:spLocks noGrp="1"/>
          </p:cNvSpPr>
          <p:nvPr/>
        </p:nvSpPr>
        <p:spPr>
          <a:xfrm>
            <a:off x="6121400" y="3810000"/>
            <a:ext cx="5105400" cy="1752600"/>
          </a:xfrm>
          <a:prstGeom prst="rect">
            <a:avLst/>
          </a:prstGeom>
          <a:solidFill>
            <a:srgbClr val="EEF2F6"/>
          </a:solidFill>
          <a:ln>
            <a:noFill/>
          </a:ln>
        </p:spPr>
        <p:txBody>
          <a:bodyPr/>
          <a:lstStyle/>
          <a:p>
            <a:endParaRPr/>
          </a:p>
        </p:txBody>
      </p:sp>
      <p:sp>
        <p:nvSpPr>
          <p:cNvPr id="131" name="accent130"/>
          <p:cNvSpPr>
            <a:spLocks noGrp="1"/>
          </p:cNvSpPr>
          <p:nvPr/>
        </p:nvSpPr>
        <p:spPr>
          <a:xfrm>
            <a:off x="6121400" y="3810000"/>
            <a:ext cx="63500" cy="1752600"/>
          </a:xfrm>
          <a:prstGeom prst="rect">
            <a:avLst/>
          </a:prstGeom>
          <a:solidFill>
            <a:srgbClr val="C8893A"/>
          </a:solidFill>
          <a:ln>
            <a:noFill/>
          </a:ln>
        </p:spPr>
        <p:txBody>
          <a:bodyPr/>
          <a:lstStyle/>
          <a:p>
            <a:endParaRPr/>
          </a:p>
        </p:txBody>
      </p:sp>
      <p:sp>
        <p:nvSpPr>
          <p:cNvPr id="132" name="text130"/>
          <p:cNvSpPr>
            <a:spLocks noGrp="1"/>
          </p:cNvSpPr>
          <p:nvPr/>
        </p:nvSpPr>
        <p:spPr>
          <a:xfrm>
            <a:off x="6286500" y="3911600"/>
            <a:ext cx="4889500" cy="1549400"/>
          </a:xfrm>
          <a:prstGeom prst="rect">
            <a:avLst/>
          </a:prstGeom>
          <a:noFill/>
          <a:ln>
            <a:noFill/>
          </a:ln>
        </p:spPr>
        <p:txBody>
          <a:bodyPr vert="horz" wrap="square" anchor="t">
            <a:normAutofit/>
          </a:bodyPr>
          <a:lstStyle/>
          <a:p>
            <a:pPr>
              <a:spcBef>
                <a:spcPts val="0"/>
              </a:spcBef>
            </a:pPr>
            <a:r>
              <a:rPr lang="de-CH" sz="1000" b="1" dirty="0">
                <a:solidFill>
                  <a:srgbClr val="C8893A"/>
                </a:solidFill>
                <a:latin typeface="Calibri"/>
              </a:rPr>
              <a:t>KOMPLEXITÄT</a:t>
            </a:r>
          </a:p>
          <a:p>
            <a:pPr>
              <a:spcBef>
                <a:spcPts val="100"/>
              </a:spcBef>
            </a:pPr>
            <a:r>
              <a:rPr lang="de-CH" sz="1400" b="1" dirty="0">
                <a:solidFill>
                  <a:srgbClr val="1B3A5C"/>
                </a:solidFill>
                <a:latin typeface="Calibri"/>
              </a:rPr>
              <a:t>Komplexität liegt an Schnittstellen und Sonderfällen</a:t>
            </a:r>
          </a:p>
          <a:p>
            <a:pPr>
              <a:spcBef>
                <a:spcPts val="150"/>
              </a:spcBef>
            </a:pPr>
            <a:r>
              <a:rPr lang="de-DE" sz="1300" dirty="0">
                <a:solidFill>
                  <a:srgbClr val="1A2A38"/>
                </a:solidFill>
                <a:latin typeface="Calibri"/>
              </a:rPr>
              <a:t>Freistellungen, Austrittsschein, Rückzahlungspflichten, Pensionierungen und zeitkritische Austritte erfordern zusätzliche Prüfungen und Abstimmungen.</a:t>
            </a:r>
            <a:endParaRPr lang="de-CH" sz="1300" dirty="0">
              <a:solidFill>
                <a:srgbClr val="1A2A38"/>
              </a:solidFill>
              <a:latin typeface="Calibri"/>
            </a:endParaRPr>
          </a:p>
        </p:txBody>
      </p:sp>
      <p:sp>
        <p:nvSpPr>
          <p:cNvPr id="63" name="kern"/>
          <p:cNvSpPr>
            <a:spLocks noGrp="1"/>
          </p:cNvSpPr>
          <p:nvPr/>
        </p:nvSpPr>
        <p:spPr>
          <a:xfrm>
            <a:off x="838200" y="5791200"/>
            <a:ext cx="10515600" cy="736600"/>
          </a:xfrm>
          <a:prstGeom prst="rect">
            <a:avLst/>
          </a:prstGeom>
          <a:solidFill>
            <a:srgbClr val="EEF2F6"/>
          </a:solidFill>
          <a:ln>
            <a:noFill/>
          </a:ln>
        </p:spPr>
        <p:txBody>
          <a:bodyPr vert="horz" wrap="square" anchor="ctr">
            <a:normAutofit/>
          </a:bodyPr>
          <a:lstStyle/>
          <a:p>
            <a:r>
              <a:rPr lang="de-DE" sz="1300" dirty="0">
                <a:solidFill>
                  <a:srgbClr val="1A2A38"/>
                </a:solidFill>
                <a:latin typeface="Calibri"/>
              </a:rPr>
              <a:t>Die IST-Erhebung zeigte keine vollständig getrennten Einzelprozesse, sondern eine gemeinsame Grundlogik mit variantenabhängigen Einstiegspunkten und vorgelagerten Prozessschritten.</a:t>
            </a:r>
            <a:endParaRPr lang="de-CH" sz="1300" dirty="0">
              <a:solidFill>
                <a:srgbClr val="1A2A38"/>
              </a:solidFill>
              <a:latin typeface="Calibri"/>
            </a:endParaRPr>
          </a:p>
        </p:txBody>
      </p:sp>
      <p:sp>
        <p:nvSpPr>
          <p:cNvPr id="64" name="kb"/>
          <p:cNvSpPr>
            <a:spLocks noGrp="1"/>
          </p:cNvSpPr>
          <p:nvPr/>
        </p:nvSpPr>
        <p:spPr>
          <a:xfrm>
            <a:off x="838200" y="5791200"/>
            <a:ext cx="63500" cy="736600"/>
          </a:xfrm>
          <a:prstGeom prst="rect">
            <a:avLst/>
          </a:prstGeom>
          <a:solidFill>
            <a:srgbClr val="C8893A"/>
          </a:solidFill>
          <a:ln>
            <a:noFill/>
          </a:ln>
        </p:spPr>
        <p:txBody>
          <a:bodyPr/>
          <a:lstStyle/>
          <a:p>
            <a:endParaRPr/>
          </a:p>
        </p:txBody>
      </p:sp>
      <p:sp>
        <p:nvSpPr>
          <p:cNvPr id="3" name="Foliennummernplatzhalter 2">
            <a:extLst>
              <a:ext uri="{FF2B5EF4-FFF2-40B4-BE49-F238E27FC236}">
                <a16:creationId xmlns:a16="http://schemas.microsoft.com/office/drawing/2014/main" id="{F961D4F3-00AB-9C98-5450-77264224946E}"/>
              </a:ext>
            </a:extLst>
          </p:cNvPr>
          <p:cNvSpPr>
            <a:spLocks noGrp="1"/>
          </p:cNvSpPr>
          <p:nvPr>
            <p:ph type="sldNum" sz="quarter" idx="12"/>
          </p:nvPr>
        </p:nvSpPr>
        <p:spPr/>
        <p:txBody>
          <a:bodyPr/>
          <a:lstStyle/>
          <a:p>
            <a:fld id="{2AAFDC3C-A9F8-4ABD-8D8D-8DC3321B02DC}" type="slidenum">
              <a:rPr lang="de-CH" smtClean="0"/>
              <a:t>14</a:t>
            </a:fld>
            <a:endParaRPr lang="de-CH"/>
          </a:p>
        </p:txBody>
      </p:sp>
    </p:spTree>
    <p:extLst>
      <p:ext uri="{BB962C8B-B14F-4D97-AF65-F5344CB8AC3E}">
        <p14:creationId xmlns:p14="http://schemas.microsoft.com/office/powerpoint/2010/main" val="1414117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B4DE84-20A1-B665-5C47-A3FAF2882FE7}"/>
              </a:ext>
            </a:extLst>
          </p:cNvPr>
          <p:cNvSpPr>
            <a:spLocks noGrp="1"/>
          </p:cNvSpPr>
          <p:nvPr>
            <p:ph type="title"/>
          </p:nvPr>
        </p:nvSpPr>
        <p:spPr/>
        <p:txBody>
          <a:bodyPr/>
          <a:lstStyle/>
          <a:p>
            <a:pPr algn="l"/>
            <a:r>
              <a:rPr lang="de-CH" sz="2800" b="1" dirty="0">
                <a:solidFill>
                  <a:srgbClr val="1B3A5C"/>
                </a:solidFill>
              </a:rPr>
              <a:t>IST-Konzept</a:t>
            </a:r>
          </a:p>
        </p:txBody>
      </p:sp>
      <p:sp>
        <p:nvSpPr>
          <p:cNvPr id="50" name="kicker"/>
          <p:cNvSpPr/>
          <p:nvPr/>
        </p:nvSpPr>
        <p:spPr>
          <a:xfrm>
            <a:off x="838200" y="1343384"/>
            <a:ext cx="10515600" cy="279400"/>
          </a:xfrm>
          <a:prstGeom prst="rect">
            <a:avLst/>
          </a:prstGeom>
          <a:noFill/>
        </p:spPr>
        <p:txBody>
          <a:bodyPr lIns="0" tIns="0" rIns="0" bIns="0"/>
          <a:lstStyle/>
          <a:p>
            <a:r>
              <a:rPr lang="de-CH" sz="1400" b="1" dirty="0">
                <a:solidFill>
                  <a:srgbClr val="2E6CA4"/>
                </a:solidFill>
              </a:rPr>
              <a:t>AUSTRITTSKONSTELLATIONEN IN SECHS PROZESSMODELLEN STRUKTURIERT</a:t>
            </a:r>
          </a:p>
        </p:txBody>
      </p:sp>
      <p:sp>
        <p:nvSpPr>
          <p:cNvPr id="51" name="panel"/>
          <p:cNvSpPr/>
          <p:nvPr/>
        </p:nvSpPr>
        <p:spPr>
          <a:xfrm>
            <a:off x="838200" y="1794234"/>
            <a:ext cx="6477000" cy="3810000"/>
          </a:xfrm>
          <a:prstGeom prst="roundRect">
            <a:avLst>
              <a:gd name="adj" fmla="val 4000"/>
            </a:avLst>
          </a:prstGeom>
          <a:solidFill>
            <a:srgbClr val="F4F7FA"/>
          </a:solidFill>
          <a:ln w="12700">
            <a:solidFill>
              <a:srgbClr val="C9D6E2"/>
            </a:solidFill>
          </a:ln>
        </p:spPr>
        <p:txBody>
          <a:bodyPr/>
          <a:lstStyle/>
          <a:p>
            <a:endParaRPr/>
          </a:p>
        </p:txBody>
      </p:sp>
      <p:sp>
        <p:nvSpPr>
          <p:cNvPr id="52" name="head"/>
          <p:cNvSpPr/>
          <p:nvPr/>
        </p:nvSpPr>
        <p:spPr>
          <a:xfrm>
            <a:off x="838200" y="1794234"/>
            <a:ext cx="6477000" cy="584200"/>
          </a:xfrm>
          <a:prstGeom prst="round2SameRect">
            <a:avLst>
              <a:gd name="adj1" fmla="val 18000"/>
              <a:gd name="adj2" fmla="val 0"/>
            </a:avLst>
          </a:prstGeom>
          <a:solidFill>
            <a:srgbClr val="1B3A5C"/>
          </a:solidFill>
          <a:ln>
            <a:noFill/>
          </a:ln>
        </p:spPr>
        <p:txBody>
          <a:bodyPr lIns="203200" tIns="0" rIns="152400" bIns="0" anchor="ctr"/>
          <a:lstStyle/>
          <a:p>
            <a:r>
              <a:rPr lang="de-CH" sz="1100" b="1">
                <a:solidFill>
                  <a:srgbClr val="C8DCEC"/>
                </a:solidFill>
              </a:rPr>
              <a:t>ANSTELLUNGSART</a:t>
            </a:r>
          </a:p>
          <a:p>
            <a:pPr>
              <a:spcBef>
                <a:spcPts val="0"/>
              </a:spcBef>
            </a:pPr>
            <a:r>
              <a:rPr lang="de-CH" sz="1600" b="1">
                <a:solidFill>
                  <a:srgbClr val="FFFFFF"/>
                </a:solidFill>
              </a:rPr>
              <a:t>USB und Fonds (Drittmittel)</a:t>
            </a:r>
          </a:p>
        </p:txBody>
      </p:sp>
      <p:sp>
        <p:nvSpPr>
          <p:cNvPr id="53" name="m0"/>
          <p:cNvSpPr/>
          <p:nvPr/>
        </p:nvSpPr>
        <p:spPr>
          <a:xfrm>
            <a:off x="1016000" y="2505434"/>
            <a:ext cx="6121400" cy="673100"/>
          </a:xfrm>
          <a:prstGeom prst="roundRect">
            <a:avLst>
              <a:gd name="adj" fmla="val 7000"/>
            </a:avLst>
          </a:prstGeom>
          <a:solidFill>
            <a:srgbClr val="FFFFFF"/>
          </a:solidFill>
          <a:ln w="12700">
            <a:solidFill>
              <a:srgbClr val="C9D6E2"/>
            </a:solidFill>
          </a:ln>
        </p:spPr>
        <p:txBody>
          <a:bodyPr lIns="635000" tIns="76200" rIns="152400" bIns="76200" anchor="ctr">
            <a:normAutofit/>
          </a:bodyPr>
          <a:lstStyle/>
          <a:p>
            <a:r>
              <a:rPr lang="de-CH" sz="1500" b="1" dirty="0">
                <a:solidFill>
                  <a:srgbClr val="1B3A5C"/>
                </a:solidFill>
              </a:rPr>
              <a:t>Vertragsablauf</a:t>
            </a:r>
          </a:p>
        </p:txBody>
      </p:sp>
      <p:sp>
        <p:nvSpPr>
          <p:cNvPr id="54" name="mb0"/>
          <p:cNvSpPr/>
          <p:nvPr/>
        </p:nvSpPr>
        <p:spPr>
          <a:xfrm>
            <a:off x="1168400" y="2676884"/>
            <a:ext cx="330200" cy="330200"/>
          </a:xfrm>
          <a:prstGeom prst="ellipse">
            <a:avLst/>
          </a:prstGeom>
          <a:solidFill>
            <a:srgbClr val="1B3A5C"/>
          </a:solidFill>
          <a:ln>
            <a:noFill/>
          </a:ln>
        </p:spPr>
        <p:txBody>
          <a:bodyPr lIns="0" tIns="0" rIns="0" bIns="0" anchor="ctr"/>
          <a:lstStyle/>
          <a:p>
            <a:pPr algn="ctr"/>
            <a:r>
              <a:rPr lang="de-CH" sz="1300" b="1">
                <a:solidFill>
                  <a:srgbClr val="FFFFFF"/>
                </a:solidFill>
              </a:rPr>
              <a:t>1</a:t>
            </a:r>
          </a:p>
        </p:txBody>
      </p:sp>
      <p:sp>
        <p:nvSpPr>
          <p:cNvPr id="55" name="m1"/>
          <p:cNvSpPr/>
          <p:nvPr/>
        </p:nvSpPr>
        <p:spPr>
          <a:xfrm>
            <a:off x="1016000" y="3280134"/>
            <a:ext cx="6121400" cy="673100"/>
          </a:xfrm>
          <a:prstGeom prst="roundRect">
            <a:avLst>
              <a:gd name="adj" fmla="val 7000"/>
            </a:avLst>
          </a:prstGeom>
          <a:solidFill>
            <a:srgbClr val="FFFFFF"/>
          </a:solidFill>
          <a:ln w="12700">
            <a:solidFill>
              <a:srgbClr val="C9D6E2"/>
            </a:solidFill>
          </a:ln>
        </p:spPr>
        <p:txBody>
          <a:bodyPr lIns="635000" tIns="76200" rIns="152400" bIns="76200" anchor="ctr">
            <a:normAutofit/>
          </a:bodyPr>
          <a:lstStyle/>
          <a:p>
            <a:r>
              <a:rPr lang="de-CH" sz="1500" b="1" dirty="0">
                <a:solidFill>
                  <a:srgbClr val="1B3A5C"/>
                </a:solidFill>
              </a:rPr>
              <a:t>Kündigung Mitarbeiter/in</a:t>
            </a:r>
          </a:p>
        </p:txBody>
      </p:sp>
      <p:sp>
        <p:nvSpPr>
          <p:cNvPr id="56" name="mb1"/>
          <p:cNvSpPr/>
          <p:nvPr/>
        </p:nvSpPr>
        <p:spPr>
          <a:xfrm>
            <a:off x="1168400" y="3451584"/>
            <a:ext cx="330200" cy="330200"/>
          </a:xfrm>
          <a:prstGeom prst="ellipse">
            <a:avLst/>
          </a:prstGeom>
          <a:solidFill>
            <a:srgbClr val="1B3A5C"/>
          </a:solidFill>
          <a:ln>
            <a:noFill/>
          </a:ln>
        </p:spPr>
        <p:txBody>
          <a:bodyPr lIns="0" tIns="0" rIns="0" bIns="0" anchor="ctr"/>
          <a:lstStyle/>
          <a:p>
            <a:pPr algn="ctr"/>
            <a:r>
              <a:rPr lang="de-CH" sz="1300" b="1">
                <a:solidFill>
                  <a:srgbClr val="FFFFFF"/>
                </a:solidFill>
              </a:rPr>
              <a:t>2</a:t>
            </a:r>
          </a:p>
        </p:txBody>
      </p:sp>
      <p:sp>
        <p:nvSpPr>
          <p:cNvPr id="57" name="m2"/>
          <p:cNvSpPr/>
          <p:nvPr/>
        </p:nvSpPr>
        <p:spPr>
          <a:xfrm>
            <a:off x="1016000" y="4054834"/>
            <a:ext cx="6121400" cy="673100"/>
          </a:xfrm>
          <a:prstGeom prst="roundRect">
            <a:avLst>
              <a:gd name="adj" fmla="val 7000"/>
            </a:avLst>
          </a:prstGeom>
          <a:solidFill>
            <a:srgbClr val="FFFFFF"/>
          </a:solidFill>
          <a:ln w="12700">
            <a:solidFill>
              <a:srgbClr val="C9D6E2"/>
            </a:solidFill>
          </a:ln>
        </p:spPr>
        <p:txBody>
          <a:bodyPr lIns="635000" tIns="76200" rIns="152400" bIns="76200" anchor="ctr">
            <a:normAutofit/>
          </a:bodyPr>
          <a:lstStyle/>
          <a:p>
            <a:r>
              <a:rPr lang="de-CH" sz="1500" b="1" dirty="0">
                <a:solidFill>
                  <a:srgbClr val="1B3A5C"/>
                </a:solidFill>
              </a:rPr>
              <a:t>Kündigung Arbeitgeberin / Auflösungsvereinbarung</a:t>
            </a:r>
          </a:p>
        </p:txBody>
      </p:sp>
      <p:sp>
        <p:nvSpPr>
          <p:cNvPr id="58" name="mb2"/>
          <p:cNvSpPr/>
          <p:nvPr/>
        </p:nvSpPr>
        <p:spPr>
          <a:xfrm>
            <a:off x="1168400" y="4226284"/>
            <a:ext cx="330200" cy="330200"/>
          </a:xfrm>
          <a:prstGeom prst="ellipse">
            <a:avLst/>
          </a:prstGeom>
          <a:solidFill>
            <a:srgbClr val="1B3A5C"/>
          </a:solidFill>
          <a:ln>
            <a:noFill/>
          </a:ln>
        </p:spPr>
        <p:txBody>
          <a:bodyPr lIns="0" tIns="0" rIns="0" bIns="0" anchor="ctr"/>
          <a:lstStyle/>
          <a:p>
            <a:pPr algn="ctr"/>
            <a:r>
              <a:rPr lang="de-CH" sz="1300" b="1">
                <a:solidFill>
                  <a:srgbClr val="FFFFFF"/>
                </a:solidFill>
              </a:rPr>
              <a:t>3</a:t>
            </a:r>
          </a:p>
        </p:txBody>
      </p:sp>
      <p:sp>
        <p:nvSpPr>
          <p:cNvPr id="59" name="m3"/>
          <p:cNvSpPr/>
          <p:nvPr/>
        </p:nvSpPr>
        <p:spPr>
          <a:xfrm>
            <a:off x="1016000" y="4829534"/>
            <a:ext cx="6121400" cy="673100"/>
          </a:xfrm>
          <a:prstGeom prst="roundRect">
            <a:avLst>
              <a:gd name="adj" fmla="val 7000"/>
            </a:avLst>
          </a:prstGeom>
          <a:solidFill>
            <a:srgbClr val="FFFFFF"/>
          </a:solidFill>
          <a:ln w="12700">
            <a:solidFill>
              <a:srgbClr val="C9D6E2"/>
            </a:solidFill>
          </a:ln>
        </p:spPr>
        <p:txBody>
          <a:bodyPr lIns="635000" tIns="76200" rIns="152400" bIns="76200" anchor="ctr">
            <a:normAutofit/>
          </a:bodyPr>
          <a:lstStyle/>
          <a:p>
            <a:r>
              <a:rPr lang="de-CH" sz="1500" b="1">
                <a:solidFill>
                  <a:srgbClr val="1B3A5C"/>
                </a:solidFill>
              </a:rPr>
              <a:t>Pensionierung (ordentlich / frühzeitig)</a:t>
            </a:r>
          </a:p>
        </p:txBody>
      </p:sp>
      <p:sp>
        <p:nvSpPr>
          <p:cNvPr id="60" name="mb3"/>
          <p:cNvSpPr/>
          <p:nvPr/>
        </p:nvSpPr>
        <p:spPr>
          <a:xfrm>
            <a:off x="1168400" y="5000984"/>
            <a:ext cx="330200" cy="330200"/>
          </a:xfrm>
          <a:prstGeom prst="ellipse">
            <a:avLst/>
          </a:prstGeom>
          <a:solidFill>
            <a:srgbClr val="1B3A5C"/>
          </a:solidFill>
          <a:ln>
            <a:noFill/>
          </a:ln>
        </p:spPr>
        <p:txBody>
          <a:bodyPr lIns="0" tIns="0" rIns="0" bIns="0" anchor="ctr"/>
          <a:lstStyle/>
          <a:p>
            <a:pPr algn="ctr"/>
            <a:r>
              <a:rPr lang="de-CH" sz="1300" b="1">
                <a:solidFill>
                  <a:srgbClr val="FFFFFF"/>
                </a:solidFill>
              </a:rPr>
              <a:t>4</a:t>
            </a:r>
          </a:p>
        </p:txBody>
      </p:sp>
      <p:sp>
        <p:nvSpPr>
          <p:cNvPr id="61" name="panel"/>
          <p:cNvSpPr/>
          <p:nvPr/>
        </p:nvSpPr>
        <p:spPr>
          <a:xfrm>
            <a:off x="7569200" y="1794234"/>
            <a:ext cx="3784600" cy="3810000"/>
          </a:xfrm>
          <a:prstGeom prst="roundRect">
            <a:avLst>
              <a:gd name="adj" fmla="val 4000"/>
            </a:avLst>
          </a:prstGeom>
          <a:solidFill>
            <a:srgbClr val="F4F7FA"/>
          </a:solidFill>
          <a:ln w="12700">
            <a:solidFill>
              <a:srgbClr val="C9D6E2"/>
            </a:solidFill>
          </a:ln>
        </p:spPr>
        <p:txBody>
          <a:bodyPr/>
          <a:lstStyle/>
          <a:p>
            <a:endParaRPr/>
          </a:p>
        </p:txBody>
      </p:sp>
      <p:sp>
        <p:nvSpPr>
          <p:cNvPr id="62" name="head"/>
          <p:cNvSpPr/>
          <p:nvPr/>
        </p:nvSpPr>
        <p:spPr>
          <a:xfrm>
            <a:off x="7569200" y="1794234"/>
            <a:ext cx="3784600" cy="584200"/>
          </a:xfrm>
          <a:prstGeom prst="round2SameRect">
            <a:avLst>
              <a:gd name="adj1" fmla="val 18000"/>
              <a:gd name="adj2" fmla="val 0"/>
            </a:avLst>
          </a:prstGeom>
          <a:solidFill>
            <a:srgbClr val="2E6CA4"/>
          </a:solidFill>
          <a:ln>
            <a:noFill/>
          </a:ln>
        </p:spPr>
        <p:txBody>
          <a:bodyPr lIns="203200" tIns="0" rIns="152400" bIns="0" anchor="ctr"/>
          <a:lstStyle/>
          <a:p>
            <a:r>
              <a:rPr lang="de-CH" sz="1100" b="1">
                <a:solidFill>
                  <a:srgbClr val="C8DCEC"/>
                </a:solidFill>
              </a:rPr>
              <a:t>ANSTELLUNGSART</a:t>
            </a:r>
          </a:p>
          <a:p>
            <a:pPr>
              <a:spcBef>
                <a:spcPts val="0"/>
              </a:spcBef>
            </a:pPr>
            <a:r>
              <a:rPr lang="de-CH" sz="1600" b="1">
                <a:solidFill>
                  <a:srgbClr val="FFFFFF"/>
                </a:solidFill>
              </a:rPr>
              <a:t>Aus- und Weiterbildung</a:t>
            </a:r>
          </a:p>
        </p:txBody>
      </p:sp>
      <p:sp>
        <p:nvSpPr>
          <p:cNvPr id="63" name="m0"/>
          <p:cNvSpPr/>
          <p:nvPr/>
        </p:nvSpPr>
        <p:spPr>
          <a:xfrm>
            <a:off x="7747000" y="2556234"/>
            <a:ext cx="3429000" cy="736600"/>
          </a:xfrm>
          <a:prstGeom prst="roundRect">
            <a:avLst>
              <a:gd name="adj" fmla="val 7000"/>
            </a:avLst>
          </a:prstGeom>
          <a:solidFill>
            <a:srgbClr val="FFFFFF"/>
          </a:solidFill>
          <a:ln w="12700">
            <a:solidFill>
              <a:srgbClr val="C9D6E2"/>
            </a:solidFill>
          </a:ln>
        </p:spPr>
        <p:txBody>
          <a:bodyPr lIns="635000" tIns="76200" rIns="152400" bIns="76200" anchor="ctr">
            <a:normAutofit/>
          </a:bodyPr>
          <a:lstStyle/>
          <a:p>
            <a:r>
              <a:rPr lang="de-CH" sz="1500" b="1">
                <a:solidFill>
                  <a:srgbClr val="1B3A5C"/>
                </a:solidFill>
              </a:rPr>
              <a:t>Vertragsablauf</a:t>
            </a:r>
          </a:p>
        </p:txBody>
      </p:sp>
      <p:sp>
        <p:nvSpPr>
          <p:cNvPr id="64" name="mb0"/>
          <p:cNvSpPr/>
          <p:nvPr/>
        </p:nvSpPr>
        <p:spPr>
          <a:xfrm>
            <a:off x="7899400" y="2759434"/>
            <a:ext cx="330200" cy="330200"/>
          </a:xfrm>
          <a:prstGeom prst="ellipse">
            <a:avLst/>
          </a:prstGeom>
          <a:solidFill>
            <a:srgbClr val="2E6CA4"/>
          </a:solidFill>
          <a:ln>
            <a:noFill/>
          </a:ln>
        </p:spPr>
        <p:txBody>
          <a:bodyPr lIns="0" tIns="0" rIns="0" bIns="0" anchor="ctr"/>
          <a:lstStyle/>
          <a:p>
            <a:pPr algn="ctr"/>
            <a:r>
              <a:rPr lang="de-CH" sz="1300" b="1">
                <a:solidFill>
                  <a:srgbClr val="FFFFFF"/>
                </a:solidFill>
              </a:rPr>
              <a:t>5</a:t>
            </a:r>
          </a:p>
        </p:txBody>
      </p:sp>
      <p:sp>
        <p:nvSpPr>
          <p:cNvPr id="65" name="m1"/>
          <p:cNvSpPr/>
          <p:nvPr/>
        </p:nvSpPr>
        <p:spPr>
          <a:xfrm>
            <a:off x="7747000" y="3419834"/>
            <a:ext cx="3429000" cy="736600"/>
          </a:xfrm>
          <a:prstGeom prst="roundRect">
            <a:avLst>
              <a:gd name="adj" fmla="val 7000"/>
            </a:avLst>
          </a:prstGeom>
          <a:solidFill>
            <a:srgbClr val="FFFFFF"/>
          </a:solidFill>
          <a:ln w="12700">
            <a:solidFill>
              <a:srgbClr val="C9D6E2"/>
            </a:solidFill>
          </a:ln>
        </p:spPr>
        <p:txBody>
          <a:bodyPr lIns="635000" tIns="76200" rIns="152400" bIns="76200" anchor="ctr">
            <a:normAutofit/>
          </a:bodyPr>
          <a:lstStyle/>
          <a:p>
            <a:r>
              <a:rPr lang="de-CH" sz="1500" b="1">
                <a:solidFill>
                  <a:srgbClr val="1B3A5C"/>
                </a:solidFill>
              </a:rPr>
              <a:t>Kündigung (MA / AG) / Auflösung</a:t>
            </a:r>
          </a:p>
        </p:txBody>
      </p:sp>
      <p:sp>
        <p:nvSpPr>
          <p:cNvPr id="66" name="mb1"/>
          <p:cNvSpPr/>
          <p:nvPr/>
        </p:nvSpPr>
        <p:spPr>
          <a:xfrm>
            <a:off x="7899400" y="3623034"/>
            <a:ext cx="330200" cy="330200"/>
          </a:xfrm>
          <a:prstGeom prst="ellipse">
            <a:avLst/>
          </a:prstGeom>
          <a:solidFill>
            <a:srgbClr val="2E6CA4"/>
          </a:solidFill>
          <a:ln>
            <a:noFill/>
          </a:ln>
        </p:spPr>
        <p:txBody>
          <a:bodyPr lIns="0" tIns="0" rIns="0" bIns="0" anchor="ctr"/>
          <a:lstStyle/>
          <a:p>
            <a:pPr algn="ctr"/>
            <a:r>
              <a:rPr lang="de-CH" sz="1300" b="1">
                <a:solidFill>
                  <a:srgbClr val="FFFFFF"/>
                </a:solidFill>
              </a:rPr>
              <a:t>6</a:t>
            </a:r>
          </a:p>
        </p:txBody>
      </p:sp>
      <p:sp>
        <p:nvSpPr>
          <p:cNvPr id="67" name="kern"/>
          <p:cNvSpPr/>
          <p:nvPr/>
        </p:nvSpPr>
        <p:spPr>
          <a:xfrm>
            <a:off x="838200" y="5807434"/>
            <a:ext cx="10515600" cy="584200"/>
          </a:xfrm>
          <a:prstGeom prst="rect">
            <a:avLst/>
          </a:prstGeom>
          <a:solidFill>
            <a:srgbClr val="EEF2F6"/>
          </a:solidFill>
          <a:ln>
            <a:noFill/>
          </a:ln>
        </p:spPr>
        <p:txBody>
          <a:bodyPr lIns="203200" tIns="50800" rIns="203200" bIns="50800" anchor="ctr"/>
          <a:lstStyle/>
          <a:p>
            <a:r>
              <a:rPr lang="de-DE" sz="1400" dirty="0">
                <a:solidFill>
                  <a:srgbClr val="1A2A38"/>
                </a:solidFill>
              </a:rPr>
              <a:t>Die Variantenvielfalt wurde zur besseren Vergleichbarkeit in sechs fachlich abgegrenzte IST-Prozessmodelle überführt.</a:t>
            </a:r>
          </a:p>
        </p:txBody>
      </p:sp>
      <p:sp>
        <p:nvSpPr>
          <p:cNvPr id="68" name="kb"/>
          <p:cNvSpPr/>
          <p:nvPr/>
        </p:nvSpPr>
        <p:spPr>
          <a:xfrm>
            <a:off x="838200" y="5807434"/>
            <a:ext cx="63500" cy="584200"/>
          </a:xfrm>
          <a:prstGeom prst="rect">
            <a:avLst/>
          </a:prstGeom>
          <a:solidFill>
            <a:srgbClr val="C8893A"/>
          </a:solidFill>
          <a:ln>
            <a:noFill/>
          </a:ln>
        </p:spPr>
        <p:txBody>
          <a:bodyPr/>
          <a:lstStyle/>
          <a:p>
            <a:endParaRPr/>
          </a:p>
        </p:txBody>
      </p:sp>
      <p:sp>
        <p:nvSpPr>
          <p:cNvPr id="3" name="Foliennummernplatzhalter 2">
            <a:extLst>
              <a:ext uri="{FF2B5EF4-FFF2-40B4-BE49-F238E27FC236}">
                <a16:creationId xmlns:a16="http://schemas.microsoft.com/office/drawing/2014/main" id="{EB0C69A3-475B-40E0-D60F-EA516558CA99}"/>
              </a:ext>
            </a:extLst>
          </p:cNvPr>
          <p:cNvSpPr>
            <a:spLocks noGrp="1"/>
          </p:cNvSpPr>
          <p:nvPr>
            <p:ph type="sldNum" sz="quarter" idx="12"/>
          </p:nvPr>
        </p:nvSpPr>
        <p:spPr/>
        <p:txBody>
          <a:bodyPr/>
          <a:lstStyle/>
          <a:p>
            <a:fld id="{2AAFDC3C-A9F8-4ABD-8D8D-8DC3321B02DC}" type="slidenum">
              <a:rPr lang="de-CH" smtClean="0"/>
              <a:t>15</a:t>
            </a:fld>
            <a:endParaRPr lang="de-CH"/>
          </a:p>
        </p:txBody>
      </p:sp>
      <p:sp>
        <p:nvSpPr>
          <p:cNvPr id="4" name="Datumsplatzhalter 3">
            <a:extLst>
              <a:ext uri="{FF2B5EF4-FFF2-40B4-BE49-F238E27FC236}">
                <a16:creationId xmlns:a16="http://schemas.microsoft.com/office/drawing/2014/main" id="{89E2BAD0-D074-7AF8-8654-3A48DC602EDA}"/>
              </a:ext>
            </a:extLst>
          </p:cNvPr>
          <p:cNvSpPr>
            <a:spLocks noGrp="1"/>
          </p:cNvSpPr>
          <p:nvPr>
            <p:ph type="dt" sz="half" idx="10"/>
          </p:nvPr>
        </p:nvSpPr>
        <p:spPr/>
        <p:txBody>
          <a:bodyPr/>
          <a:lstStyle/>
          <a:p>
            <a:r>
              <a:rPr lang="de-CH"/>
              <a:t>11.06.2026</a:t>
            </a:r>
          </a:p>
        </p:txBody>
      </p:sp>
    </p:spTree>
    <p:extLst>
      <p:ext uri="{BB962C8B-B14F-4D97-AF65-F5344CB8AC3E}">
        <p14:creationId xmlns:p14="http://schemas.microsoft.com/office/powerpoint/2010/main" val="3315803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244CDF-3C6D-1C7C-8500-E2B695CB5475}"/>
              </a:ext>
            </a:extLst>
          </p:cNvPr>
          <p:cNvSpPr>
            <a:spLocks noGrp="1"/>
          </p:cNvSpPr>
          <p:nvPr>
            <p:ph type="title"/>
          </p:nvPr>
        </p:nvSpPr>
        <p:spPr/>
        <p:txBody>
          <a:bodyPr/>
          <a:lstStyle/>
          <a:p>
            <a:pPr algn="l"/>
            <a:r>
              <a:rPr lang="de-CH" sz="2800" b="1" dirty="0">
                <a:solidFill>
                  <a:srgbClr val="1B3A5C"/>
                </a:solidFill>
              </a:rPr>
              <a:t>IST-Workshop</a:t>
            </a:r>
          </a:p>
        </p:txBody>
      </p:sp>
      <p:sp>
        <p:nvSpPr>
          <p:cNvPr id="50" name="kick"/>
          <p:cNvSpPr/>
          <p:nvPr/>
        </p:nvSpPr>
        <p:spPr>
          <a:xfrm>
            <a:off x="838200" y="1423971"/>
            <a:ext cx="10515600" cy="279400"/>
          </a:xfrm>
          <a:prstGeom prst="rect">
            <a:avLst/>
          </a:prstGeom>
          <a:noFill/>
        </p:spPr>
        <p:txBody>
          <a:bodyPr lIns="0" tIns="0" rIns="0" bIns="0"/>
          <a:lstStyle/>
          <a:p>
            <a:r>
              <a:rPr lang="de-CH" sz="1400" b="1">
                <a:solidFill>
                  <a:srgbClr val="2E6CA4"/>
                </a:solidFill>
              </a:rPr>
              <a:t>GEMEINSAME VALIDIERUNG DER IST-PROZESSE MIT DEN FACHBEREICHEN</a:t>
            </a:r>
          </a:p>
        </p:txBody>
      </p:sp>
      <p:sp>
        <p:nvSpPr>
          <p:cNvPr id="51" name="st"/>
          <p:cNvSpPr/>
          <p:nvPr/>
        </p:nvSpPr>
        <p:spPr>
          <a:xfrm>
            <a:off x="838200" y="1797116"/>
            <a:ext cx="3352800" cy="939800"/>
          </a:xfrm>
          <a:prstGeom prst="roundRect">
            <a:avLst>
              <a:gd name="adj" fmla="val 8000"/>
            </a:avLst>
          </a:prstGeom>
          <a:solidFill>
            <a:srgbClr val="1B3A5C"/>
          </a:solidFill>
          <a:ln>
            <a:noFill/>
          </a:ln>
        </p:spPr>
        <p:txBody>
          <a:bodyPr lIns="203200" tIns="101600" rIns="152400" bIns="101600" anchor="ctr"/>
          <a:lstStyle/>
          <a:p>
            <a:r>
              <a:rPr lang="de-CH" sz="2000" b="1">
                <a:solidFill>
                  <a:srgbClr val="FFFFFF"/>
                </a:solidFill>
              </a:rPr>
              <a:t>21.05.2026</a:t>
            </a:r>
          </a:p>
          <a:p>
            <a:pPr>
              <a:spcBef>
                <a:spcPts val="0"/>
              </a:spcBef>
            </a:pPr>
            <a:r>
              <a:rPr lang="de-CH" sz="1200" b="1">
                <a:solidFill>
                  <a:srgbClr val="9FC3DF"/>
                </a:solidFill>
              </a:rPr>
              <a:t>WORKSHOP-DATUM</a:t>
            </a:r>
          </a:p>
        </p:txBody>
      </p:sp>
      <p:sp>
        <p:nvSpPr>
          <p:cNvPr id="52" name="st"/>
          <p:cNvSpPr/>
          <p:nvPr/>
        </p:nvSpPr>
        <p:spPr>
          <a:xfrm>
            <a:off x="4419600" y="1797116"/>
            <a:ext cx="3352800" cy="939800"/>
          </a:xfrm>
          <a:prstGeom prst="roundRect">
            <a:avLst>
              <a:gd name="adj" fmla="val 8000"/>
            </a:avLst>
          </a:prstGeom>
          <a:solidFill>
            <a:srgbClr val="1B3A5C"/>
          </a:solidFill>
          <a:ln>
            <a:noFill/>
          </a:ln>
        </p:spPr>
        <p:txBody>
          <a:bodyPr lIns="203200" tIns="101600" rIns="152400" bIns="101600" anchor="ctr"/>
          <a:lstStyle/>
          <a:p>
            <a:r>
              <a:rPr lang="de-CH" sz="2000" b="1" dirty="0">
                <a:solidFill>
                  <a:srgbClr val="FFFFFF"/>
                </a:solidFill>
              </a:rPr>
              <a:t>9</a:t>
            </a:r>
          </a:p>
          <a:p>
            <a:pPr>
              <a:spcBef>
                <a:spcPts val="0"/>
              </a:spcBef>
            </a:pPr>
            <a:r>
              <a:rPr lang="de-CH" sz="1200" b="1" dirty="0">
                <a:solidFill>
                  <a:srgbClr val="9FC3DF"/>
                </a:solidFill>
              </a:rPr>
              <a:t>TEILNEHMENDE AUS HR FACHBEREICHEN</a:t>
            </a:r>
          </a:p>
        </p:txBody>
      </p:sp>
      <p:sp>
        <p:nvSpPr>
          <p:cNvPr id="53" name="st"/>
          <p:cNvSpPr/>
          <p:nvPr/>
        </p:nvSpPr>
        <p:spPr>
          <a:xfrm>
            <a:off x="8001000" y="1797116"/>
            <a:ext cx="3352800" cy="939800"/>
          </a:xfrm>
          <a:prstGeom prst="roundRect">
            <a:avLst>
              <a:gd name="adj" fmla="val 8000"/>
            </a:avLst>
          </a:prstGeom>
          <a:solidFill>
            <a:srgbClr val="1B3A5C"/>
          </a:solidFill>
          <a:ln>
            <a:noFill/>
          </a:ln>
        </p:spPr>
        <p:txBody>
          <a:bodyPr lIns="203200" tIns="101600" rIns="152400" bIns="101600" anchor="ctr"/>
          <a:lstStyle/>
          <a:p>
            <a:r>
              <a:rPr lang="de-CH" sz="2000" b="1">
                <a:solidFill>
                  <a:srgbClr val="FFFFFF"/>
                </a:solidFill>
              </a:rPr>
              <a:t>2</a:t>
            </a:r>
          </a:p>
          <a:p>
            <a:pPr>
              <a:spcBef>
                <a:spcPts val="0"/>
              </a:spcBef>
            </a:pPr>
            <a:r>
              <a:rPr lang="de-CH" sz="1200" b="1">
                <a:solidFill>
                  <a:srgbClr val="9FC3DF"/>
                </a:solidFill>
              </a:rPr>
              <a:t>ZIELE: VALIDIERUNG + HANDLUNGSFELDER</a:t>
            </a:r>
          </a:p>
        </p:txBody>
      </p:sp>
      <p:sp>
        <p:nvSpPr>
          <p:cNvPr id="54" name="pn"/>
          <p:cNvSpPr/>
          <p:nvPr/>
        </p:nvSpPr>
        <p:spPr>
          <a:xfrm>
            <a:off x="838200" y="2940116"/>
            <a:ext cx="5080000" cy="2235200"/>
          </a:xfrm>
          <a:prstGeom prst="roundRect">
            <a:avLst>
              <a:gd name="adj" fmla="val 4000"/>
            </a:avLst>
          </a:prstGeom>
          <a:solidFill>
            <a:srgbClr val="FFFFFF"/>
          </a:solidFill>
          <a:ln w="12700">
            <a:solidFill>
              <a:srgbClr val="C9D6E2"/>
            </a:solidFill>
          </a:ln>
        </p:spPr>
        <p:txBody>
          <a:bodyPr/>
          <a:lstStyle/>
          <a:p>
            <a:endParaRPr/>
          </a:p>
        </p:txBody>
      </p:sp>
      <p:sp>
        <p:nvSpPr>
          <p:cNvPr id="55" name="ph"/>
          <p:cNvSpPr/>
          <p:nvPr/>
        </p:nvSpPr>
        <p:spPr>
          <a:xfrm>
            <a:off x="838200" y="2940116"/>
            <a:ext cx="5080000" cy="508000"/>
          </a:xfrm>
          <a:prstGeom prst="round2SameRect">
            <a:avLst>
              <a:gd name="adj1" fmla="val 20000"/>
              <a:gd name="adj2" fmla="val 0"/>
            </a:avLst>
          </a:prstGeom>
          <a:solidFill>
            <a:srgbClr val="2E6CA4"/>
          </a:solidFill>
          <a:ln>
            <a:noFill/>
          </a:ln>
        </p:spPr>
        <p:txBody>
          <a:bodyPr lIns="203200" tIns="0" rIns="152400" bIns="0" anchor="ctr"/>
          <a:lstStyle/>
          <a:p>
            <a:r>
              <a:rPr lang="de-CH" sz="1500" b="1">
                <a:solidFill>
                  <a:srgbClr val="FFFFFF"/>
                </a:solidFill>
              </a:rPr>
              <a:t>Ziele des Workshops</a:t>
            </a:r>
          </a:p>
        </p:txBody>
      </p:sp>
      <p:sp>
        <p:nvSpPr>
          <p:cNvPr id="56" name="pt"/>
          <p:cNvSpPr/>
          <p:nvPr/>
        </p:nvSpPr>
        <p:spPr>
          <a:xfrm>
            <a:off x="939800" y="3549716"/>
            <a:ext cx="4826000" cy="1524000"/>
          </a:xfrm>
          <a:prstGeom prst="rect">
            <a:avLst/>
          </a:prstGeom>
          <a:noFill/>
        </p:spPr>
        <p:txBody>
          <a:bodyPr lIns="127000" tIns="50800" rIns="101600" bIns="50800">
            <a:normAutofit/>
          </a:bodyPr>
          <a:lstStyle/>
          <a:p>
            <a:pPr marL="203200" indent="-203200">
              <a:spcBef>
                <a:spcPts val="500"/>
              </a:spcBef>
              <a:buFont typeface="Arial"/>
              <a:buChar char="–"/>
            </a:pPr>
            <a:r>
              <a:rPr lang="de-CH" sz="1400" dirty="0"/>
              <a:t>Durchsicht IST-Prozess(e)</a:t>
            </a:r>
          </a:p>
          <a:p>
            <a:pPr marL="203200" indent="-203200">
              <a:spcBef>
                <a:spcPts val="500"/>
              </a:spcBef>
              <a:buFont typeface="Arial"/>
              <a:buChar char="–"/>
            </a:pPr>
            <a:r>
              <a:rPr lang="de-CH" sz="1400" dirty="0"/>
              <a:t>Pain Points und Handlungsfelder identifizieren</a:t>
            </a:r>
          </a:p>
          <a:p>
            <a:pPr>
              <a:spcBef>
                <a:spcPts val="500"/>
              </a:spcBef>
            </a:pPr>
            <a:endParaRPr lang="de-CH" sz="1400" dirty="0">
              <a:solidFill>
                <a:srgbClr val="1A2A38"/>
              </a:solidFill>
            </a:endParaRPr>
          </a:p>
        </p:txBody>
      </p:sp>
      <p:sp>
        <p:nvSpPr>
          <p:cNvPr id="57" name="rlab"/>
          <p:cNvSpPr/>
          <p:nvPr/>
        </p:nvSpPr>
        <p:spPr>
          <a:xfrm>
            <a:off x="6172200" y="2940116"/>
            <a:ext cx="5181600" cy="279400"/>
          </a:xfrm>
          <a:prstGeom prst="rect">
            <a:avLst/>
          </a:prstGeom>
          <a:noFill/>
        </p:spPr>
        <p:txBody>
          <a:bodyPr lIns="0" tIns="0" rIns="0" bIns="0"/>
          <a:lstStyle/>
          <a:p>
            <a:r>
              <a:rPr lang="de-CH" sz="1400" b="1">
                <a:solidFill>
                  <a:srgbClr val="2E6CA4"/>
                </a:solidFill>
              </a:rPr>
              <a:t>Ergebnisse</a:t>
            </a:r>
          </a:p>
        </p:txBody>
      </p:sp>
      <p:sp>
        <p:nvSpPr>
          <p:cNvPr id="58" name="oc"/>
          <p:cNvSpPr/>
          <p:nvPr/>
        </p:nvSpPr>
        <p:spPr>
          <a:xfrm>
            <a:off x="6172200" y="3295716"/>
            <a:ext cx="5181600" cy="1041400"/>
          </a:xfrm>
          <a:prstGeom prst="roundRect">
            <a:avLst>
              <a:gd name="adj" fmla="val 7000"/>
            </a:avLst>
          </a:prstGeom>
          <a:solidFill>
            <a:srgbClr val="F4F7FA"/>
          </a:solidFill>
          <a:ln w="12700">
            <a:solidFill>
              <a:srgbClr val="C9D6E2"/>
            </a:solidFill>
          </a:ln>
        </p:spPr>
        <p:txBody>
          <a:bodyPr/>
          <a:lstStyle/>
          <a:p>
            <a:endParaRPr/>
          </a:p>
        </p:txBody>
      </p:sp>
      <p:sp>
        <p:nvSpPr>
          <p:cNvPr id="59" name="ob"/>
          <p:cNvSpPr/>
          <p:nvPr/>
        </p:nvSpPr>
        <p:spPr>
          <a:xfrm>
            <a:off x="6172200" y="3295716"/>
            <a:ext cx="63500" cy="1041400"/>
          </a:xfrm>
          <a:prstGeom prst="rect">
            <a:avLst/>
          </a:prstGeom>
          <a:solidFill>
            <a:srgbClr val="C8893A"/>
          </a:solidFill>
          <a:ln>
            <a:noFill/>
          </a:ln>
        </p:spPr>
        <p:txBody>
          <a:bodyPr/>
          <a:lstStyle/>
          <a:p>
            <a:endParaRPr/>
          </a:p>
        </p:txBody>
      </p:sp>
      <p:sp>
        <p:nvSpPr>
          <p:cNvPr id="60" name="ot"/>
          <p:cNvSpPr/>
          <p:nvPr/>
        </p:nvSpPr>
        <p:spPr>
          <a:xfrm>
            <a:off x="6426200" y="3422716"/>
            <a:ext cx="4775200" cy="787400"/>
          </a:xfrm>
          <a:prstGeom prst="rect">
            <a:avLst/>
          </a:prstGeom>
          <a:noFill/>
        </p:spPr>
        <p:txBody>
          <a:bodyPr lIns="0" tIns="0" rIns="0" bIns="0" anchor="ctr">
            <a:normAutofit/>
          </a:bodyPr>
          <a:lstStyle/>
          <a:p>
            <a:r>
              <a:rPr lang="de-CH" sz="1500" b="1">
                <a:solidFill>
                  <a:srgbClr val="1B3A5C"/>
                </a:solidFill>
              </a:rPr>
              <a:t>IST-Prozesse validiert</a:t>
            </a:r>
          </a:p>
          <a:p>
            <a:pPr>
              <a:spcBef>
                <a:spcPts val="200"/>
              </a:spcBef>
            </a:pPr>
            <a:r>
              <a:rPr lang="de-CH" sz="1300">
                <a:solidFill>
                  <a:srgbClr val="5B6B79"/>
                </a:solidFill>
              </a:rPr>
              <a:t>Die sechs Prozessmodelle sind bestätigt – «so arbeiten wir heute».</a:t>
            </a:r>
          </a:p>
        </p:txBody>
      </p:sp>
      <p:sp>
        <p:nvSpPr>
          <p:cNvPr id="61" name="oc"/>
          <p:cNvSpPr/>
          <p:nvPr/>
        </p:nvSpPr>
        <p:spPr>
          <a:xfrm>
            <a:off x="6172200" y="4464116"/>
            <a:ext cx="5181600" cy="1041400"/>
          </a:xfrm>
          <a:prstGeom prst="roundRect">
            <a:avLst>
              <a:gd name="adj" fmla="val 7000"/>
            </a:avLst>
          </a:prstGeom>
          <a:solidFill>
            <a:srgbClr val="F4F7FA"/>
          </a:solidFill>
          <a:ln w="12700">
            <a:solidFill>
              <a:srgbClr val="C9D6E2"/>
            </a:solidFill>
          </a:ln>
        </p:spPr>
        <p:txBody>
          <a:bodyPr/>
          <a:lstStyle/>
          <a:p>
            <a:endParaRPr/>
          </a:p>
        </p:txBody>
      </p:sp>
      <p:sp>
        <p:nvSpPr>
          <p:cNvPr id="62" name="ob"/>
          <p:cNvSpPr/>
          <p:nvPr/>
        </p:nvSpPr>
        <p:spPr>
          <a:xfrm>
            <a:off x="6172200" y="4464116"/>
            <a:ext cx="63500" cy="1041400"/>
          </a:xfrm>
          <a:prstGeom prst="rect">
            <a:avLst/>
          </a:prstGeom>
          <a:solidFill>
            <a:srgbClr val="C8893A"/>
          </a:solidFill>
          <a:ln>
            <a:noFill/>
          </a:ln>
        </p:spPr>
        <p:txBody>
          <a:bodyPr/>
          <a:lstStyle/>
          <a:p>
            <a:endParaRPr/>
          </a:p>
        </p:txBody>
      </p:sp>
      <p:sp>
        <p:nvSpPr>
          <p:cNvPr id="63" name="ot"/>
          <p:cNvSpPr/>
          <p:nvPr/>
        </p:nvSpPr>
        <p:spPr>
          <a:xfrm>
            <a:off x="6426200" y="4591116"/>
            <a:ext cx="4775200" cy="787400"/>
          </a:xfrm>
          <a:prstGeom prst="rect">
            <a:avLst/>
          </a:prstGeom>
          <a:noFill/>
        </p:spPr>
        <p:txBody>
          <a:bodyPr lIns="0" tIns="0" rIns="0" bIns="0" anchor="ctr">
            <a:normAutofit/>
          </a:bodyPr>
          <a:lstStyle/>
          <a:p>
            <a:r>
              <a:rPr lang="de-CH" sz="1500" b="1" dirty="0">
                <a:solidFill>
                  <a:srgbClr val="1B3A5C"/>
                </a:solidFill>
              </a:rPr>
              <a:t>Pain Points und Handlungsfelder</a:t>
            </a:r>
          </a:p>
          <a:p>
            <a:pPr>
              <a:spcBef>
                <a:spcPts val="200"/>
              </a:spcBef>
            </a:pPr>
            <a:r>
              <a:rPr lang="de-CH" sz="1300" dirty="0">
                <a:solidFill>
                  <a:srgbClr val="5B6B79"/>
                </a:solidFill>
              </a:rPr>
              <a:t>Optimierungspotenziale aufgenommen und in vier Handlungsfelder überführt.</a:t>
            </a:r>
          </a:p>
        </p:txBody>
      </p:sp>
      <p:sp>
        <p:nvSpPr>
          <p:cNvPr id="64" name="kern"/>
          <p:cNvSpPr/>
          <p:nvPr/>
        </p:nvSpPr>
        <p:spPr>
          <a:xfrm>
            <a:off x="838200" y="5835716"/>
            <a:ext cx="10515600" cy="584200"/>
          </a:xfrm>
          <a:prstGeom prst="rect">
            <a:avLst/>
          </a:prstGeom>
          <a:solidFill>
            <a:srgbClr val="EEF2F6"/>
          </a:solidFill>
          <a:ln>
            <a:noFill/>
          </a:ln>
        </p:spPr>
        <p:txBody>
          <a:bodyPr lIns="203200" tIns="50800" rIns="203200" bIns="50800" anchor="ctr"/>
          <a:lstStyle/>
          <a:p>
            <a:r>
              <a:rPr lang="de-DE" sz="1400" dirty="0">
                <a:solidFill>
                  <a:srgbClr val="1A2A38"/>
                </a:solidFill>
              </a:rPr>
              <a:t>Der Workshop validierte die sechs IST-Prozessmodelle und bildet die fachlich gesicherte Grundlage für die </a:t>
            </a:r>
            <a:r>
              <a:rPr lang="de-DE" sz="1400" dirty="0" err="1">
                <a:solidFill>
                  <a:srgbClr val="1A2A38"/>
                </a:solidFill>
              </a:rPr>
              <a:t>anschliessende</a:t>
            </a:r>
            <a:r>
              <a:rPr lang="de-DE" sz="1400" dirty="0">
                <a:solidFill>
                  <a:srgbClr val="1A2A38"/>
                </a:solidFill>
              </a:rPr>
              <a:t> Erarbeitung eines SOLL-Konzepts.</a:t>
            </a:r>
            <a:endParaRPr lang="de-CH" sz="1400" dirty="0">
              <a:solidFill>
                <a:srgbClr val="1A2A38"/>
              </a:solidFill>
            </a:endParaRPr>
          </a:p>
        </p:txBody>
      </p:sp>
      <p:sp>
        <p:nvSpPr>
          <p:cNvPr id="65" name="kb"/>
          <p:cNvSpPr/>
          <p:nvPr/>
        </p:nvSpPr>
        <p:spPr>
          <a:xfrm>
            <a:off x="838200" y="5835716"/>
            <a:ext cx="63500" cy="584200"/>
          </a:xfrm>
          <a:prstGeom prst="rect">
            <a:avLst/>
          </a:prstGeom>
          <a:solidFill>
            <a:srgbClr val="C8893A"/>
          </a:solidFill>
          <a:ln>
            <a:noFill/>
          </a:ln>
        </p:spPr>
        <p:txBody>
          <a:bodyPr/>
          <a:lstStyle/>
          <a:p>
            <a:endParaRPr/>
          </a:p>
        </p:txBody>
      </p:sp>
      <p:sp>
        <p:nvSpPr>
          <p:cNvPr id="3" name="Foliennummernplatzhalter 2">
            <a:extLst>
              <a:ext uri="{FF2B5EF4-FFF2-40B4-BE49-F238E27FC236}">
                <a16:creationId xmlns:a16="http://schemas.microsoft.com/office/drawing/2014/main" id="{A32BB0A2-FE63-718D-4F70-24DEDE8B17D4}"/>
              </a:ext>
            </a:extLst>
          </p:cNvPr>
          <p:cNvSpPr>
            <a:spLocks noGrp="1"/>
          </p:cNvSpPr>
          <p:nvPr>
            <p:ph type="sldNum" sz="quarter" idx="12"/>
          </p:nvPr>
        </p:nvSpPr>
        <p:spPr/>
        <p:txBody>
          <a:bodyPr/>
          <a:lstStyle/>
          <a:p>
            <a:fld id="{2AAFDC3C-A9F8-4ABD-8D8D-8DC3321B02DC}" type="slidenum">
              <a:rPr lang="de-CH" smtClean="0"/>
              <a:t>16</a:t>
            </a:fld>
            <a:endParaRPr lang="de-CH"/>
          </a:p>
        </p:txBody>
      </p:sp>
      <p:sp>
        <p:nvSpPr>
          <p:cNvPr id="4" name="Datumsplatzhalter 3">
            <a:extLst>
              <a:ext uri="{FF2B5EF4-FFF2-40B4-BE49-F238E27FC236}">
                <a16:creationId xmlns:a16="http://schemas.microsoft.com/office/drawing/2014/main" id="{6F59DBCD-84F4-6306-FF3A-4C0ED300BF1E}"/>
              </a:ext>
            </a:extLst>
          </p:cNvPr>
          <p:cNvSpPr>
            <a:spLocks noGrp="1"/>
          </p:cNvSpPr>
          <p:nvPr>
            <p:ph type="dt" sz="half" idx="10"/>
          </p:nvPr>
        </p:nvSpPr>
        <p:spPr/>
        <p:txBody>
          <a:bodyPr/>
          <a:lstStyle/>
          <a:p>
            <a:r>
              <a:rPr lang="de-CH"/>
              <a:t>11.06.2026</a:t>
            </a:r>
          </a:p>
        </p:txBody>
      </p:sp>
    </p:spTree>
    <p:extLst>
      <p:ext uri="{BB962C8B-B14F-4D97-AF65-F5344CB8AC3E}">
        <p14:creationId xmlns:p14="http://schemas.microsoft.com/office/powerpoint/2010/main" val="3772070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44ECE6-CE8C-8690-2511-E771742D3DBB}"/>
              </a:ext>
            </a:extLst>
          </p:cNvPr>
          <p:cNvSpPr>
            <a:spLocks noGrp="1"/>
          </p:cNvSpPr>
          <p:nvPr>
            <p:ph type="title"/>
          </p:nvPr>
        </p:nvSpPr>
        <p:spPr/>
        <p:txBody>
          <a:bodyPr/>
          <a:lstStyle/>
          <a:p>
            <a:pPr algn="l"/>
            <a:r>
              <a:rPr lang="de-CH" sz="2800" b="1" dirty="0">
                <a:solidFill>
                  <a:srgbClr val="1B3A5C"/>
                </a:solidFill>
              </a:rPr>
              <a:t>Vier identifizierte Handlungsfelder</a:t>
            </a:r>
          </a:p>
        </p:txBody>
      </p:sp>
      <p:sp>
        <p:nvSpPr>
          <p:cNvPr id="50" name="eye"/>
          <p:cNvSpPr/>
          <p:nvPr/>
        </p:nvSpPr>
        <p:spPr>
          <a:xfrm>
            <a:off x="838200" y="1574800"/>
            <a:ext cx="10515600" cy="279400"/>
          </a:xfrm>
          <a:prstGeom prst="rect">
            <a:avLst/>
          </a:prstGeom>
          <a:noFill/>
        </p:spPr>
        <p:txBody>
          <a:bodyPr lIns="0" tIns="0" rIns="0" bIns="0"/>
          <a:lstStyle/>
          <a:p>
            <a:r>
              <a:rPr lang="de-CH" sz="1400" b="1" dirty="0">
                <a:solidFill>
                  <a:srgbClr val="2E6CA4"/>
                </a:solidFill>
              </a:rPr>
              <a:t>ZIELRICHTUNG FÜR DAS SOLL-KONZEPT</a:t>
            </a:r>
          </a:p>
        </p:txBody>
      </p:sp>
      <p:sp>
        <p:nvSpPr>
          <p:cNvPr id="51" name="cd"/>
          <p:cNvSpPr/>
          <p:nvPr/>
        </p:nvSpPr>
        <p:spPr>
          <a:xfrm>
            <a:off x="838200" y="2057400"/>
            <a:ext cx="5168900" cy="1778000"/>
          </a:xfrm>
          <a:prstGeom prst="roundRect">
            <a:avLst>
              <a:gd name="adj" fmla="val 4000"/>
            </a:avLst>
          </a:prstGeom>
          <a:solidFill>
            <a:srgbClr val="FFFFFF"/>
          </a:solidFill>
          <a:ln w="12700">
            <a:solidFill>
              <a:srgbClr val="C9D6E2"/>
            </a:solidFill>
          </a:ln>
        </p:spPr>
        <p:txBody>
          <a:bodyPr/>
          <a:lstStyle/>
          <a:p>
            <a:endParaRPr/>
          </a:p>
        </p:txBody>
      </p:sp>
      <p:sp>
        <p:nvSpPr>
          <p:cNvPr id="52" name="cs"/>
          <p:cNvSpPr/>
          <p:nvPr/>
        </p:nvSpPr>
        <p:spPr>
          <a:xfrm>
            <a:off x="838200" y="2057400"/>
            <a:ext cx="5168900" cy="50800"/>
          </a:xfrm>
          <a:prstGeom prst="rect">
            <a:avLst/>
          </a:prstGeom>
          <a:solidFill>
            <a:srgbClr val="1B3A5C"/>
          </a:solidFill>
          <a:ln>
            <a:noFill/>
          </a:ln>
        </p:spPr>
        <p:txBody>
          <a:bodyPr/>
          <a:lstStyle/>
          <a:p>
            <a:endParaRPr/>
          </a:p>
        </p:txBody>
      </p:sp>
      <p:sp>
        <p:nvSpPr>
          <p:cNvPr id="53" name="bg"/>
          <p:cNvSpPr/>
          <p:nvPr/>
        </p:nvSpPr>
        <p:spPr>
          <a:xfrm>
            <a:off x="1041400" y="2286000"/>
            <a:ext cx="431800" cy="431800"/>
          </a:xfrm>
          <a:prstGeom prst="ellipse">
            <a:avLst/>
          </a:prstGeom>
          <a:solidFill>
            <a:srgbClr val="2E6CA4"/>
          </a:solidFill>
          <a:ln>
            <a:noFill/>
          </a:ln>
        </p:spPr>
        <p:txBody>
          <a:bodyPr lIns="0" tIns="0" rIns="0" bIns="0" anchor="ctr"/>
          <a:lstStyle/>
          <a:p>
            <a:pPr algn="ctr"/>
            <a:r>
              <a:rPr lang="de-CH" sz="1500" b="1">
                <a:solidFill>
                  <a:srgbClr val="FFFFFF"/>
                </a:solidFill>
              </a:rPr>
              <a:t>1</a:t>
            </a:r>
          </a:p>
        </p:txBody>
      </p:sp>
      <p:sp>
        <p:nvSpPr>
          <p:cNvPr id="54" name="ti"/>
          <p:cNvSpPr/>
          <p:nvPr/>
        </p:nvSpPr>
        <p:spPr>
          <a:xfrm>
            <a:off x="1600200" y="2260600"/>
            <a:ext cx="4229100" cy="508000"/>
          </a:xfrm>
          <a:prstGeom prst="rect">
            <a:avLst/>
          </a:prstGeom>
          <a:noFill/>
        </p:spPr>
        <p:txBody>
          <a:bodyPr lIns="0" tIns="0" rIns="0" bIns="0" anchor="ctr">
            <a:normAutofit/>
          </a:bodyPr>
          <a:lstStyle/>
          <a:p>
            <a:r>
              <a:rPr lang="de-CH" sz="1600" b="1">
                <a:solidFill>
                  <a:srgbClr val="1B3A5C"/>
                </a:solidFill>
              </a:rPr>
              <a:t>Transparenz und operative Steuerung</a:t>
            </a:r>
          </a:p>
        </p:txBody>
      </p:sp>
      <p:sp>
        <p:nvSpPr>
          <p:cNvPr id="55" name="bl"/>
          <p:cNvSpPr/>
          <p:nvPr/>
        </p:nvSpPr>
        <p:spPr>
          <a:xfrm>
            <a:off x="1066800" y="2844800"/>
            <a:ext cx="4737100" cy="863600"/>
          </a:xfrm>
          <a:prstGeom prst="rect">
            <a:avLst/>
          </a:prstGeom>
          <a:noFill/>
        </p:spPr>
        <p:txBody>
          <a:bodyPr lIns="0" tIns="0" rIns="0" bIns="0">
            <a:normAutofit/>
          </a:bodyPr>
          <a:lstStyle/>
          <a:p>
            <a:pPr marL="203200" indent="-203200">
              <a:spcBef>
                <a:spcPts val="300"/>
              </a:spcBef>
              <a:buFont typeface="Arial"/>
              <a:buChar char="–"/>
            </a:pPr>
            <a:r>
              <a:rPr lang="de-CH" sz="1300" dirty="0">
                <a:solidFill>
                  <a:srgbClr val="5B6B79"/>
                </a:solidFill>
              </a:rPr>
              <a:t>Bearbeitungsstand jederzeit nachvollziehbar</a:t>
            </a:r>
          </a:p>
          <a:p>
            <a:pPr marL="203200" indent="-203200">
              <a:spcBef>
                <a:spcPts val="300"/>
              </a:spcBef>
              <a:buFont typeface="Arial"/>
              <a:buChar char="–"/>
            </a:pPr>
            <a:r>
              <a:rPr lang="de-CH" sz="1300" dirty="0">
                <a:solidFill>
                  <a:srgbClr val="5B6B79"/>
                </a:solidFill>
              </a:rPr>
              <a:t>Offene Aufgaben, Rollen, Prioritäten und Fälligkeiten fallbezogen und übergreifend sichtbar</a:t>
            </a:r>
          </a:p>
        </p:txBody>
      </p:sp>
      <p:sp>
        <p:nvSpPr>
          <p:cNvPr id="56" name="cd"/>
          <p:cNvSpPr/>
          <p:nvPr/>
        </p:nvSpPr>
        <p:spPr>
          <a:xfrm>
            <a:off x="6184900" y="2057400"/>
            <a:ext cx="5168900" cy="1778000"/>
          </a:xfrm>
          <a:prstGeom prst="roundRect">
            <a:avLst>
              <a:gd name="adj" fmla="val 4000"/>
            </a:avLst>
          </a:prstGeom>
          <a:solidFill>
            <a:srgbClr val="FFFFFF"/>
          </a:solidFill>
          <a:ln w="12700">
            <a:solidFill>
              <a:srgbClr val="C9D6E2"/>
            </a:solidFill>
          </a:ln>
        </p:spPr>
        <p:txBody>
          <a:bodyPr/>
          <a:lstStyle/>
          <a:p>
            <a:endParaRPr/>
          </a:p>
        </p:txBody>
      </p:sp>
      <p:sp>
        <p:nvSpPr>
          <p:cNvPr id="57" name="cs"/>
          <p:cNvSpPr/>
          <p:nvPr/>
        </p:nvSpPr>
        <p:spPr>
          <a:xfrm>
            <a:off x="6184900" y="2057400"/>
            <a:ext cx="5168900" cy="50800"/>
          </a:xfrm>
          <a:prstGeom prst="rect">
            <a:avLst/>
          </a:prstGeom>
          <a:solidFill>
            <a:srgbClr val="1B3A5C"/>
          </a:solidFill>
          <a:ln>
            <a:noFill/>
          </a:ln>
        </p:spPr>
        <p:txBody>
          <a:bodyPr/>
          <a:lstStyle/>
          <a:p>
            <a:endParaRPr/>
          </a:p>
        </p:txBody>
      </p:sp>
      <p:sp>
        <p:nvSpPr>
          <p:cNvPr id="58" name="bg"/>
          <p:cNvSpPr/>
          <p:nvPr/>
        </p:nvSpPr>
        <p:spPr>
          <a:xfrm>
            <a:off x="6388100" y="2286000"/>
            <a:ext cx="431800" cy="431800"/>
          </a:xfrm>
          <a:prstGeom prst="ellipse">
            <a:avLst/>
          </a:prstGeom>
          <a:solidFill>
            <a:srgbClr val="2E6CA4"/>
          </a:solidFill>
          <a:ln>
            <a:noFill/>
          </a:ln>
        </p:spPr>
        <p:txBody>
          <a:bodyPr lIns="0" tIns="0" rIns="0" bIns="0" anchor="ctr"/>
          <a:lstStyle/>
          <a:p>
            <a:pPr algn="ctr"/>
            <a:r>
              <a:rPr lang="de-CH" sz="1500" b="1">
                <a:solidFill>
                  <a:srgbClr val="FFFFFF"/>
                </a:solidFill>
              </a:rPr>
              <a:t>2</a:t>
            </a:r>
          </a:p>
        </p:txBody>
      </p:sp>
      <p:sp>
        <p:nvSpPr>
          <p:cNvPr id="59" name="ti"/>
          <p:cNvSpPr/>
          <p:nvPr/>
        </p:nvSpPr>
        <p:spPr>
          <a:xfrm>
            <a:off x="6946900" y="2260600"/>
            <a:ext cx="4229100" cy="508000"/>
          </a:xfrm>
          <a:prstGeom prst="rect">
            <a:avLst/>
          </a:prstGeom>
          <a:noFill/>
        </p:spPr>
        <p:txBody>
          <a:bodyPr lIns="0" tIns="0" rIns="0" bIns="0" anchor="ctr">
            <a:normAutofit/>
          </a:bodyPr>
          <a:lstStyle/>
          <a:p>
            <a:r>
              <a:rPr lang="de-CH" sz="1600" b="1">
                <a:solidFill>
                  <a:srgbClr val="1B3A5C"/>
                </a:solidFill>
              </a:rPr>
              <a:t>Konsistente Datenbasis und Systemintegration</a:t>
            </a:r>
          </a:p>
        </p:txBody>
      </p:sp>
      <p:sp>
        <p:nvSpPr>
          <p:cNvPr id="60" name="bl"/>
          <p:cNvSpPr/>
          <p:nvPr/>
        </p:nvSpPr>
        <p:spPr>
          <a:xfrm>
            <a:off x="6413500" y="2844800"/>
            <a:ext cx="4737100" cy="863600"/>
          </a:xfrm>
          <a:prstGeom prst="rect">
            <a:avLst/>
          </a:prstGeom>
          <a:noFill/>
        </p:spPr>
        <p:txBody>
          <a:bodyPr lIns="0" tIns="0" rIns="0" bIns="0">
            <a:normAutofit/>
          </a:bodyPr>
          <a:lstStyle/>
          <a:p>
            <a:pPr marL="203200" indent="-203200">
              <a:spcBef>
                <a:spcPts val="300"/>
              </a:spcBef>
              <a:buFont typeface="Arial"/>
              <a:buChar char="–"/>
            </a:pPr>
            <a:r>
              <a:rPr lang="de-CH" sz="1300" dirty="0">
                <a:solidFill>
                  <a:srgbClr val="5B6B79"/>
                </a:solidFill>
              </a:rPr>
              <a:t>Informationen vollständig und konsistent vorhanden</a:t>
            </a:r>
          </a:p>
          <a:p>
            <a:pPr marL="203200" indent="-203200">
              <a:spcBef>
                <a:spcPts val="300"/>
              </a:spcBef>
              <a:buFont typeface="Arial"/>
              <a:buChar char="–"/>
            </a:pPr>
            <a:r>
              <a:rPr lang="de-CH" sz="1300" dirty="0">
                <a:solidFill>
                  <a:srgbClr val="5B6B79"/>
                </a:solidFill>
              </a:rPr>
              <a:t>Daten einmalig erfasst und systemübergreifend weiterverwendet</a:t>
            </a:r>
          </a:p>
          <a:p>
            <a:pPr marL="203200" indent="-203200">
              <a:spcBef>
                <a:spcPts val="300"/>
              </a:spcBef>
              <a:buFont typeface="Arial"/>
              <a:buChar char="–"/>
            </a:pPr>
            <a:r>
              <a:rPr lang="de-CH" sz="1300" dirty="0">
                <a:solidFill>
                  <a:srgbClr val="5B6B79"/>
                </a:solidFill>
              </a:rPr>
              <a:t>Übergaben strukturiert und dokumentiert</a:t>
            </a:r>
          </a:p>
        </p:txBody>
      </p:sp>
      <p:sp>
        <p:nvSpPr>
          <p:cNvPr id="61" name="cd"/>
          <p:cNvSpPr/>
          <p:nvPr/>
        </p:nvSpPr>
        <p:spPr>
          <a:xfrm>
            <a:off x="838200" y="3987800"/>
            <a:ext cx="5168900" cy="1778000"/>
          </a:xfrm>
          <a:prstGeom prst="roundRect">
            <a:avLst>
              <a:gd name="adj" fmla="val 4000"/>
            </a:avLst>
          </a:prstGeom>
          <a:solidFill>
            <a:srgbClr val="FFFFFF"/>
          </a:solidFill>
          <a:ln w="12700">
            <a:solidFill>
              <a:srgbClr val="C9D6E2"/>
            </a:solidFill>
          </a:ln>
        </p:spPr>
        <p:txBody>
          <a:bodyPr/>
          <a:lstStyle/>
          <a:p>
            <a:endParaRPr/>
          </a:p>
        </p:txBody>
      </p:sp>
      <p:sp>
        <p:nvSpPr>
          <p:cNvPr id="62" name="cs"/>
          <p:cNvSpPr/>
          <p:nvPr/>
        </p:nvSpPr>
        <p:spPr>
          <a:xfrm>
            <a:off x="838200" y="3987800"/>
            <a:ext cx="5168900" cy="50800"/>
          </a:xfrm>
          <a:prstGeom prst="rect">
            <a:avLst/>
          </a:prstGeom>
          <a:solidFill>
            <a:srgbClr val="1B3A5C"/>
          </a:solidFill>
          <a:ln>
            <a:noFill/>
          </a:ln>
        </p:spPr>
        <p:txBody>
          <a:bodyPr/>
          <a:lstStyle/>
          <a:p>
            <a:endParaRPr/>
          </a:p>
        </p:txBody>
      </p:sp>
      <p:sp>
        <p:nvSpPr>
          <p:cNvPr id="63" name="bg"/>
          <p:cNvSpPr/>
          <p:nvPr/>
        </p:nvSpPr>
        <p:spPr>
          <a:xfrm>
            <a:off x="1041400" y="4216400"/>
            <a:ext cx="431800" cy="431800"/>
          </a:xfrm>
          <a:prstGeom prst="ellipse">
            <a:avLst/>
          </a:prstGeom>
          <a:solidFill>
            <a:srgbClr val="2E6CA4"/>
          </a:solidFill>
          <a:ln>
            <a:noFill/>
          </a:ln>
        </p:spPr>
        <p:txBody>
          <a:bodyPr lIns="0" tIns="0" rIns="0" bIns="0" anchor="ctr"/>
          <a:lstStyle/>
          <a:p>
            <a:pPr algn="ctr"/>
            <a:r>
              <a:rPr lang="de-CH" sz="1500" b="1">
                <a:solidFill>
                  <a:srgbClr val="FFFFFF"/>
                </a:solidFill>
              </a:rPr>
              <a:t>3</a:t>
            </a:r>
          </a:p>
        </p:txBody>
      </p:sp>
      <p:sp>
        <p:nvSpPr>
          <p:cNvPr id="64" name="ti"/>
          <p:cNvSpPr/>
          <p:nvPr/>
        </p:nvSpPr>
        <p:spPr>
          <a:xfrm>
            <a:off x="1600200" y="4191000"/>
            <a:ext cx="4229100" cy="508000"/>
          </a:xfrm>
          <a:prstGeom prst="rect">
            <a:avLst/>
          </a:prstGeom>
          <a:noFill/>
        </p:spPr>
        <p:txBody>
          <a:bodyPr lIns="0" tIns="0" rIns="0" bIns="0" anchor="ctr">
            <a:normAutofit/>
          </a:bodyPr>
          <a:lstStyle/>
          <a:p>
            <a:r>
              <a:rPr lang="de-CH" sz="1600" b="1">
                <a:solidFill>
                  <a:srgbClr val="1B3A5C"/>
                </a:solidFill>
              </a:rPr>
              <a:t>Standardisierung und Prozessdokumentation</a:t>
            </a:r>
          </a:p>
        </p:txBody>
      </p:sp>
      <p:sp>
        <p:nvSpPr>
          <p:cNvPr id="65" name="bl"/>
          <p:cNvSpPr/>
          <p:nvPr/>
        </p:nvSpPr>
        <p:spPr>
          <a:xfrm>
            <a:off x="1066800" y="4775200"/>
            <a:ext cx="4737100" cy="863600"/>
          </a:xfrm>
          <a:prstGeom prst="rect">
            <a:avLst/>
          </a:prstGeom>
          <a:noFill/>
        </p:spPr>
        <p:txBody>
          <a:bodyPr lIns="0" tIns="0" rIns="0" bIns="0">
            <a:normAutofit/>
          </a:bodyPr>
          <a:lstStyle/>
          <a:p>
            <a:pPr marL="203200" indent="-203200">
              <a:spcBef>
                <a:spcPts val="300"/>
              </a:spcBef>
              <a:buFont typeface="Arial"/>
              <a:buChar char="–"/>
            </a:pPr>
            <a:r>
              <a:rPr lang="de-CH" sz="1300" dirty="0">
                <a:solidFill>
                  <a:srgbClr val="5B6B79"/>
                </a:solidFill>
              </a:rPr>
              <a:t>Wiederkehrende Fälle folgen einheitlicher Bearbeitungslogik</a:t>
            </a:r>
          </a:p>
          <a:p>
            <a:pPr marL="203200" indent="-203200">
              <a:spcBef>
                <a:spcPts val="300"/>
              </a:spcBef>
              <a:buFont typeface="Arial"/>
              <a:buChar char="–"/>
            </a:pPr>
            <a:r>
              <a:rPr lang="de-DE" sz="1300" dirty="0">
                <a:solidFill>
                  <a:srgbClr val="5B6B79"/>
                </a:solidFill>
              </a:rPr>
              <a:t>Varianten werden klar unterschieden, Sonderfälle anhand definierter Kriterien erkannt und Rollen dokumentiert.</a:t>
            </a:r>
            <a:endParaRPr lang="de-CH" sz="1300" dirty="0">
              <a:solidFill>
                <a:srgbClr val="5B6B79"/>
              </a:solidFill>
            </a:endParaRPr>
          </a:p>
        </p:txBody>
      </p:sp>
      <p:sp>
        <p:nvSpPr>
          <p:cNvPr id="66" name="cd"/>
          <p:cNvSpPr/>
          <p:nvPr/>
        </p:nvSpPr>
        <p:spPr>
          <a:xfrm>
            <a:off x="6184900" y="3987800"/>
            <a:ext cx="5168900" cy="1778000"/>
          </a:xfrm>
          <a:prstGeom prst="roundRect">
            <a:avLst>
              <a:gd name="adj" fmla="val 4000"/>
            </a:avLst>
          </a:prstGeom>
          <a:solidFill>
            <a:srgbClr val="FFFFFF"/>
          </a:solidFill>
          <a:ln w="12700">
            <a:solidFill>
              <a:srgbClr val="C9D6E2"/>
            </a:solidFill>
          </a:ln>
        </p:spPr>
        <p:txBody>
          <a:bodyPr/>
          <a:lstStyle/>
          <a:p>
            <a:endParaRPr/>
          </a:p>
        </p:txBody>
      </p:sp>
      <p:sp>
        <p:nvSpPr>
          <p:cNvPr id="67" name="cs"/>
          <p:cNvSpPr/>
          <p:nvPr/>
        </p:nvSpPr>
        <p:spPr>
          <a:xfrm>
            <a:off x="6184900" y="3987800"/>
            <a:ext cx="5168900" cy="50800"/>
          </a:xfrm>
          <a:prstGeom prst="rect">
            <a:avLst/>
          </a:prstGeom>
          <a:solidFill>
            <a:srgbClr val="1B3A5C"/>
          </a:solidFill>
          <a:ln>
            <a:noFill/>
          </a:ln>
        </p:spPr>
        <p:txBody>
          <a:bodyPr/>
          <a:lstStyle/>
          <a:p>
            <a:endParaRPr/>
          </a:p>
        </p:txBody>
      </p:sp>
      <p:sp>
        <p:nvSpPr>
          <p:cNvPr id="68" name="bg"/>
          <p:cNvSpPr/>
          <p:nvPr/>
        </p:nvSpPr>
        <p:spPr>
          <a:xfrm>
            <a:off x="6388100" y="4216400"/>
            <a:ext cx="431800" cy="431800"/>
          </a:xfrm>
          <a:prstGeom prst="ellipse">
            <a:avLst/>
          </a:prstGeom>
          <a:solidFill>
            <a:srgbClr val="2E6CA4"/>
          </a:solidFill>
          <a:ln>
            <a:noFill/>
          </a:ln>
        </p:spPr>
        <p:txBody>
          <a:bodyPr lIns="0" tIns="0" rIns="0" bIns="0" anchor="ctr"/>
          <a:lstStyle/>
          <a:p>
            <a:pPr algn="ctr"/>
            <a:r>
              <a:rPr lang="de-CH" sz="1500" b="1">
                <a:solidFill>
                  <a:srgbClr val="FFFFFF"/>
                </a:solidFill>
              </a:rPr>
              <a:t>4</a:t>
            </a:r>
          </a:p>
        </p:txBody>
      </p:sp>
      <p:sp>
        <p:nvSpPr>
          <p:cNvPr id="69" name="ti"/>
          <p:cNvSpPr/>
          <p:nvPr/>
        </p:nvSpPr>
        <p:spPr>
          <a:xfrm>
            <a:off x="6946900" y="4191000"/>
            <a:ext cx="4229100" cy="508000"/>
          </a:xfrm>
          <a:prstGeom prst="rect">
            <a:avLst/>
          </a:prstGeom>
          <a:noFill/>
        </p:spPr>
        <p:txBody>
          <a:bodyPr lIns="0" tIns="0" rIns="0" bIns="0" anchor="ctr">
            <a:normAutofit/>
          </a:bodyPr>
          <a:lstStyle/>
          <a:p>
            <a:r>
              <a:rPr lang="de-CH" sz="1600" b="1">
                <a:solidFill>
                  <a:srgbClr val="1B3A5C"/>
                </a:solidFill>
              </a:rPr>
              <a:t>Systemgestützte Prozessausführung</a:t>
            </a:r>
          </a:p>
        </p:txBody>
      </p:sp>
      <p:sp>
        <p:nvSpPr>
          <p:cNvPr id="70" name="bl"/>
          <p:cNvSpPr/>
          <p:nvPr/>
        </p:nvSpPr>
        <p:spPr>
          <a:xfrm>
            <a:off x="6413500" y="4775200"/>
            <a:ext cx="4940300" cy="954088"/>
          </a:xfrm>
          <a:prstGeom prst="rect">
            <a:avLst/>
          </a:prstGeom>
          <a:noFill/>
        </p:spPr>
        <p:txBody>
          <a:bodyPr lIns="0" tIns="0" rIns="0" bIns="0">
            <a:normAutofit/>
          </a:bodyPr>
          <a:lstStyle/>
          <a:p>
            <a:pPr marL="203200" indent="-203200">
              <a:spcBef>
                <a:spcPts val="300"/>
              </a:spcBef>
              <a:buFont typeface="Arial"/>
              <a:buChar char="–"/>
            </a:pPr>
            <a:r>
              <a:rPr lang="de-CH" sz="1300" dirty="0">
                <a:solidFill>
                  <a:srgbClr val="5B6B79"/>
                </a:solidFill>
              </a:rPr>
              <a:t>Aufgaben, Prüfungen, Übergaben und Entscheidungen systemgestützt geführt</a:t>
            </a:r>
          </a:p>
          <a:p>
            <a:pPr marL="203200" indent="-203200">
              <a:spcBef>
                <a:spcPts val="300"/>
              </a:spcBef>
              <a:buFont typeface="Arial"/>
              <a:buChar char="–"/>
            </a:pPr>
            <a:r>
              <a:rPr lang="de-DE" sz="1300" dirty="0">
                <a:solidFill>
                  <a:srgbClr val="5B6B79"/>
                </a:solidFill>
              </a:rPr>
              <a:t>Aufgaben werden regelbasiert ausgelöst und zentral dokumentiert; Formulare (falls im SOLL vorhanden) sind in den Prozess eingebettet.</a:t>
            </a:r>
            <a:endParaRPr lang="de-CH" sz="1300" dirty="0">
              <a:solidFill>
                <a:srgbClr val="5B6B79"/>
              </a:solidFill>
            </a:endParaRPr>
          </a:p>
        </p:txBody>
      </p:sp>
      <p:sp>
        <p:nvSpPr>
          <p:cNvPr id="71" name="kern"/>
          <p:cNvSpPr/>
          <p:nvPr/>
        </p:nvSpPr>
        <p:spPr>
          <a:xfrm>
            <a:off x="838200" y="6146800"/>
            <a:ext cx="10515600" cy="584200"/>
          </a:xfrm>
          <a:prstGeom prst="rect">
            <a:avLst/>
          </a:prstGeom>
          <a:solidFill>
            <a:srgbClr val="EEF2F6"/>
          </a:solidFill>
          <a:ln>
            <a:noFill/>
          </a:ln>
        </p:spPr>
        <p:txBody>
          <a:bodyPr lIns="203200" tIns="50800" rIns="203200" bIns="50800" anchor="ctr"/>
          <a:lstStyle/>
          <a:p>
            <a:r>
              <a:rPr lang="de-DE" sz="1400" dirty="0">
                <a:solidFill>
                  <a:srgbClr val="1A2A38"/>
                </a:solidFill>
              </a:rPr>
              <a:t>Die vier Handlungsfelder bündeln die identifizierten Pain Points und bilden den fachlichen Rahmen für das SOLL-Konzept.</a:t>
            </a:r>
            <a:endParaRPr lang="de-CH" sz="1400" dirty="0">
              <a:solidFill>
                <a:srgbClr val="1A2A38"/>
              </a:solidFill>
            </a:endParaRPr>
          </a:p>
        </p:txBody>
      </p:sp>
      <p:sp>
        <p:nvSpPr>
          <p:cNvPr id="72" name="kb"/>
          <p:cNvSpPr/>
          <p:nvPr/>
        </p:nvSpPr>
        <p:spPr>
          <a:xfrm>
            <a:off x="838200" y="6146800"/>
            <a:ext cx="63500" cy="584200"/>
          </a:xfrm>
          <a:prstGeom prst="rect">
            <a:avLst/>
          </a:prstGeom>
          <a:solidFill>
            <a:srgbClr val="C8893A"/>
          </a:solidFill>
          <a:ln>
            <a:noFill/>
          </a:ln>
        </p:spPr>
        <p:txBody>
          <a:bodyPr/>
          <a:lstStyle/>
          <a:p>
            <a:endParaRPr/>
          </a:p>
        </p:txBody>
      </p:sp>
      <p:sp>
        <p:nvSpPr>
          <p:cNvPr id="3" name="Foliennummernplatzhalter 2">
            <a:extLst>
              <a:ext uri="{FF2B5EF4-FFF2-40B4-BE49-F238E27FC236}">
                <a16:creationId xmlns:a16="http://schemas.microsoft.com/office/drawing/2014/main" id="{9B1C2A26-D6A6-F9F0-D230-5F0A2988FE62}"/>
              </a:ext>
            </a:extLst>
          </p:cNvPr>
          <p:cNvSpPr>
            <a:spLocks noGrp="1"/>
          </p:cNvSpPr>
          <p:nvPr>
            <p:ph type="sldNum" sz="quarter" idx="12"/>
          </p:nvPr>
        </p:nvSpPr>
        <p:spPr/>
        <p:txBody>
          <a:bodyPr/>
          <a:lstStyle/>
          <a:p>
            <a:fld id="{2AAFDC3C-A9F8-4ABD-8D8D-8DC3321B02DC}" type="slidenum">
              <a:rPr lang="de-CH" smtClean="0"/>
              <a:t>17</a:t>
            </a:fld>
            <a:endParaRPr lang="de-CH"/>
          </a:p>
        </p:txBody>
      </p:sp>
    </p:spTree>
    <p:extLst>
      <p:ext uri="{BB962C8B-B14F-4D97-AF65-F5344CB8AC3E}">
        <p14:creationId xmlns:p14="http://schemas.microsoft.com/office/powerpoint/2010/main" val="4108779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28BEE04-230D-B0DF-A517-9940021B91EC}"/>
              </a:ext>
            </a:extLst>
          </p:cNvPr>
          <p:cNvSpPr>
            <a:spLocks noGrp="1"/>
          </p:cNvSpPr>
          <p:nvPr>
            <p:ph type="title"/>
          </p:nvPr>
        </p:nvSpPr>
        <p:spPr/>
        <p:txBody>
          <a:bodyPr/>
          <a:lstStyle/>
          <a:p>
            <a:pPr algn="l"/>
            <a:r>
              <a:rPr lang="de-CH" sz="2800" b="1" dirty="0">
                <a:solidFill>
                  <a:srgbClr val="1B3A5C"/>
                </a:solidFill>
              </a:rPr>
              <a:t>18 konsolidierte Pain Points aus der IST-Erhebung</a:t>
            </a:r>
          </a:p>
        </p:txBody>
      </p:sp>
      <p:sp>
        <p:nvSpPr>
          <p:cNvPr id="50" name="kicker"/>
          <p:cNvSpPr/>
          <p:nvPr/>
        </p:nvSpPr>
        <p:spPr>
          <a:xfrm>
            <a:off x="838200" y="1524000"/>
            <a:ext cx="10515600" cy="254000"/>
          </a:xfrm>
          <a:prstGeom prst="rect">
            <a:avLst/>
          </a:prstGeom>
          <a:noFill/>
        </p:spPr>
        <p:txBody>
          <a:bodyPr lIns="0" tIns="0" rIns="0" bIns="0"/>
          <a:lstStyle/>
          <a:p>
            <a:r>
              <a:rPr lang="de-CH" sz="1400" b="1" dirty="0">
                <a:solidFill>
                  <a:srgbClr val="2E6CA4"/>
                </a:solidFill>
              </a:rPr>
              <a:t>Zuordnung zu den vier Handlungsfeldern als Grundlage für die IST-Analyse</a:t>
            </a:r>
          </a:p>
        </p:txBody>
      </p:sp>
      <p:grpSp>
        <p:nvGrpSpPr>
          <p:cNvPr id="19" name="Gruppieren 18">
            <a:extLst>
              <a:ext uri="{FF2B5EF4-FFF2-40B4-BE49-F238E27FC236}">
                <a16:creationId xmlns:a16="http://schemas.microsoft.com/office/drawing/2014/main" id="{0349630D-61DD-747E-C045-B841E120EEC0}"/>
              </a:ext>
            </a:extLst>
          </p:cNvPr>
          <p:cNvGrpSpPr/>
          <p:nvPr/>
        </p:nvGrpSpPr>
        <p:grpSpPr>
          <a:xfrm>
            <a:off x="838200" y="6062363"/>
            <a:ext cx="10532979" cy="596440"/>
            <a:chOff x="838200" y="5969000"/>
            <a:chExt cx="10532979" cy="596440"/>
          </a:xfrm>
        </p:grpSpPr>
        <p:sp>
          <p:nvSpPr>
            <p:cNvPr id="103" name="kern"/>
            <p:cNvSpPr/>
            <p:nvPr/>
          </p:nvSpPr>
          <p:spPr>
            <a:xfrm>
              <a:off x="855579" y="5981240"/>
              <a:ext cx="10515600" cy="584200"/>
            </a:xfrm>
            <a:prstGeom prst="rect">
              <a:avLst/>
            </a:prstGeom>
            <a:solidFill>
              <a:srgbClr val="EEF2F6"/>
            </a:solidFill>
            <a:ln>
              <a:noFill/>
            </a:ln>
          </p:spPr>
          <p:txBody>
            <a:bodyPr lIns="203200" tIns="50800" rIns="203200" bIns="50800" anchor="ctr"/>
            <a:lstStyle/>
            <a:p>
              <a:r>
                <a:rPr lang="de-CH" sz="1300" dirty="0"/>
                <a:t>Die Pain Points verdichten sich zu vier Problembereichen: fehlende Transparenz, inkonsistente Datenbasis, uneinheitliche Standardisierung und unzureichende systemgestützte Prozessausführung. Diese Handlungsfelder bilden die Grundlage für das SOLL-Konzept.</a:t>
              </a:r>
              <a:endParaRPr lang="de-CH" sz="1300" dirty="0">
                <a:solidFill>
                  <a:srgbClr val="1A2A38"/>
                </a:solidFill>
              </a:endParaRPr>
            </a:p>
          </p:txBody>
        </p:sp>
        <p:sp>
          <p:nvSpPr>
            <p:cNvPr id="104" name="kb"/>
            <p:cNvSpPr/>
            <p:nvPr/>
          </p:nvSpPr>
          <p:spPr>
            <a:xfrm>
              <a:off x="838200" y="5969000"/>
              <a:ext cx="63500" cy="584200"/>
            </a:xfrm>
            <a:prstGeom prst="rect">
              <a:avLst/>
            </a:prstGeom>
            <a:solidFill>
              <a:srgbClr val="C8893A"/>
            </a:solidFill>
            <a:ln>
              <a:noFill/>
            </a:ln>
          </p:spPr>
          <p:txBody>
            <a:bodyPr/>
            <a:lstStyle/>
            <a:p>
              <a:endParaRPr/>
            </a:p>
          </p:txBody>
        </p:sp>
      </p:grpSp>
      <p:sp>
        <p:nvSpPr>
          <p:cNvPr id="200" name="colc"/>
          <p:cNvSpPr/>
          <p:nvPr/>
        </p:nvSpPr>
        <p:spPr>
          <a:xfrm>
            <a:off x="838200" y="1930400"/>
            <a:ext cx="2514600" cy="3911600"/>
          </a:xfrm>
          <a:prstGeom prst="roundRect">
            <a:avLst>
              <a:gd name="adj" fmla="val 7098"/>
            </a:avLst>
          </a:prstGeom>
          <a:solidFill>
            <a:srgbClr val="1B3A5C"/>
          </a:solidFill>
          <a:ln>
            <a:noFill/>
          </a:ln>
        </p:spPr>
        <p:txBody>
          <a:bodyPr/>
          <a:lstStyle/>
          <a:p>
            <a:endParaRPr lang="de-CH"/>
          </a:p>
        </p:txBody>
      </p:sp>
      <p:sp>
        <p:nvSpPr>
          <p:cNvPr id="201" name="colh"/>
          <p:cNvSpPr/>
          <p:nvPr/>
        </p:nvSpPr>
        <p:spPr>
          <a:xfrm>
            <a:off x="838200" y="2016939"/>
            <a:ext cx="2514600" cy="812800"/>
          </a:xfrm>
          <a:prstGeom prst="roundRect">
            <a:avLst/>
          </a:prstGeom>
          <a:noFill/>
          <a:ln>
            <a:noFill/>
          </a:ln>
        </p:spPr>
        <p:txBody>
          <a:bodyPr lIns="101600" tIns="76200" rIns="76200" bIns="25400" rtlCol="0" anchor="t"/>
          <a:lstStyle/>
          <a:p>
            <a:r>
              <a:rPr lang="de-CH" sz="1200" b="1" dirty="0">
                <a:solidFill>
                  <a:srgbClr val="9FC3DF"/>
                </a:solidFill>
              </a:rPr>
              <a:t>HF-01</a:t>
            </a:r>
          </a:p>
          <a:p>
            <a:pPr>
              <a:spcBef>
                <a:spcPts val="100"/>
              </a:spcBef>
            </a:pPr>
            <a:r>
              <a:rPr lang="de-CH" sz="1100" b="1" dirty="0">
                <a:solidFill>
                  <a:srgbClr val="FFFFFF"/>
                </a:solidFill>
              </a:rPr>
              <a:t>Transparenz und operative Steuerung</a:t>
            </a:r>
          </a:p>
        </p:txBody>
      </p:sp>
      <p:sp>
        <p:nvSpPr>
          <p:cNvPr id="202" name="ppc"/>
          <p:cNvSpPr/>
          <p:nvPr/>
        </p:nvSpPr>
        <p:spPr>
          <a:xfrm>
            <a:off x="939800" y="2819400"/>
            <a:ext cx="2311400" cy="948267"/>
          </a:xfrm>
          <a:prstGeom prst="rect">
            <a:avLst/>
          </a:prstGeom>
          <a:solidFill>
            <a:srgbClr val="FFFFFF"/>
          </a:solidFill>
          <a:ln>
            <a:noFill/>
          </a:ln>
        </p:spPr>
        <p:txBody>
          <a:bodyPr/>
          <a:lstStyle/>
          <a:p>
            <a:endParaRPr lang="de-CH"/>
          </a:p>
        </p:txBody>
      </p:sp>
      <p:sp>
        <p:nvSpPr>
          <p:cNvPr id="203" name="ppb"/>
          <p:cNvSpPr/>
          <p:nvPr/>
        </p:nvSpPr>
        <p:spPr>
          <a:xfrm>
            <a:off x="939800" y="2819400"/>
            <a:ext cx="50800" cy="948267"/>
          </a:xfrm>
          <a:prstGeom prst="rect">
            <a:avLst/>
          </a:prstGeom>
          <a:solidFill>
            <a:srgbClr val="C8893A"/>
          </a:solidFill>
          <a:ln>
            <a:noFill/>
          </a:ln>
        </p:spPr>
        <p:txBody>
          <a:bodyPr/>
          <a:lstStyle/>
          <a:p>
            <a:endParaRPr lang="de-CH"/>
          </a:p>
        </p:txBody>
      </p:sp>
      <p:sp>
        <p:nvSpPr>
          <p:cNvPr id="204" name="ppt"/>
          <p:cNvSpPr/>
          <p:nvPr/>
        </p:nvSpPr>
        <p:spPr>
          <a:xfrm>
            <a:off x="939800" y="2819400"/>
            <a:ext cx="2311400" cy="948267"/>
          </a:xfrm>
          <a:prstGeom prst="rect">
            <a:avLst/>
          </a:prstGeom>
          <a:noFill/>
          <a:ln>
            <a:noFill/>
          </a:ln>
        </p:spPr>
        <p:txBody>
          <a:bodyPr lIns="114300" tIns="25400" rIns="50800" bIns="25400" rtlCol="0" anchor="ctr"/>
          <a:lstStyle/>
          <a:p>
            <a:r>
              <a:rPr lang="de-CH" sz="1000" b="1" dirty="0">
                <a:solidFill>
                  <a:srgbClr val="9A6512"/>
                </a:solidFill>
              </a:rPr>
              <a:t>PP-01  </a:t>
            </a:r>
            <a:r>
              <a:rPr lang="de-CH" sz="1000" dirty="0">
                <a:solidFill>
                  <a:srgbClr val="1A2A38"/>
                </a:solidFill>
              </a:rPr>
              <a:t>Fehlende zentrale Übersicht über den Bearbeitungsstand</a:t>
            </a:r>
          </a:p>
        </p:txBody>
      </p:sp>
      <p:sp>
        <p:nvSpPr>
          <p:cNvPr id="205" name="ppc"/>
          <p:cNvSpPr/>
          <p:nvPr/>
        </p:nvSpPr>
        <p:spPr>
          <a:xfrm>
            <a:off x="939800" y="3818467"/>
            <a:ext cx="2311400" cy="948267"/>
          </a:xfrm>
          <a:prstGeom prst="rect">
            <a:avLst/>
          </a:prstGeom>
          <a:solidFill>
            <a:srgbClr val="FFFFFF"/>
          </a:solidFill>
          <a:ln>
            <a:noFill/>
          </a:ln>
        </p:spPr>
        <p:txBody>
          <a:bodyPr/>
          <a:lstStyle/>
          <a:p>
            <a:endParaRPr lang="de-CH"/>
          </a:p>
        </p:txBody>
      </p:sp>
      <p:sp>
        <p:nvSpPr>
          <p:cNvPr id="206" name="ppb"/>
          <p:cNvSpPr/>
          <p:nvPr/>
        </p:nvSpPr>
        <p:spPr>
          <a:xfrm>
            <a:off x="939800" y="3818467"/>
            <a:ext cx="50800" cy="948267"/>
          </a:xfrm>
          <a:prstGeom prst="rect">
            <a:avLst/>
          </a:prstGeom>
          <a:solidFill>
            <a:srgbClr val="C8893A"/>
          </a:solidFill>
          <a:ln>
            <a:noFill/>
          </a:ln>
        </p:spPr>
        <p:txBody>
          <a:bodyPr/>
          <a:lstStyle/>
          <a:p>
            <a:endParaRPr lang="de-CH"/>
          </a:p>
        </p:txBody>
      </p:sp>
      <p:sp>
        <p:nvSpPr>
          <p:cNvPr id="207" name="ppt"/>
          <p:cNvSpPr/>
          <p:nvPr/>
        </p:nvSpPr>
        <p:spPr>
          <a:xfrm>
            <a:off x="939800" y="3818467"/>
            <a:ext cx="2311400" cy="948267"/>
          </a:xfrm>
          <a:prstGeom prst="rect">
            <a:avLst/>
          </a:prstGeom>
          <a:noFill/>
          <a:ln>
            <a:noFill/>
          </a:ln>
        </p:spPr>
        <p:txBody>
          <a:bodyPr lIns="114300" tIns="25400" rIns="50800" bIns="25400" rtlCol="0" anchor="ctr"/>
          <a:lstStyle/>
          <a:p>
            <a:r>
              <a:rPr lang="de-CH" sz="1000" b="1" dirty="0">
                <a:solidFill>
                  <a:srgbClr val="9A6512"/>
                </a:solidFill>
              </a:rPr>
              <a:t>PP-05  </a:t>
            </a:r>
            <a:r>
              <a:rPr lang="de-CH" sz="1000" dirty="0">
                <a:solidFill>
                  <a:srgbClr val="1A2A38"/>
                </a:solidFill>
              </a:rPr>
              <a:t>Unklare Verantwortlichkeiten bei Rückzahlungspflichten</a:t>
            </a:r>
          </a:p>
        </p:txBody>
      </p:sp>
      <p:sp>
        <p:nvSpPr>
          <p:cNvPr id="208" name="ppc"/>
          <p:cNvSpPr/>
          <p:nvPr/>
        </p:nvSpPr>
        <p:spPr>
          <a:xfrm>
            <a:off x="939800" y="4817533"/>
            <a:ext cx="2311400" cy="948267"/>
          </a:xfrm>
          <a:prstGeom prst="rect">
            <a:avLst/>
          </a:prstGeom>
          <a:solidFill>
            <a:srgbClr val="FFFFFF"/>
          </a:solidFill>
          <a:ln>
            <a:noFill/>
          </a:ln>
        </p:spPr>
        <p:txBody>
          <a:bodyPr/>
          <a:lstStyle/>
          <a:p>
            <a:endParaRPr lang="de-CH"/>
          </a:p>
        </p:txBody>
      </p:sp>
      <p:sp>
        <p:nvSpPr>
          <p:cNvPr id="209" name="ppb"/>
          <p:cNvSpPr/>
          <p:nvPr/>
        </p:nvSpPr>
        <p:spPr>
          <a:xfrm>
            <a:off x="939800" y="4817533"/>
            <a:ext cx="50800" cy="948267"/>
          </a:xfrm>
          <a:prstGeom prst="rect">
            <a:avLst/>
          </a:prstGeom>
          <a:solidFill>
            <a:srgbClr val="C8893A"/>
          </a:solidFill>
          <a:ln>
            <a:noFill/>
          </a:ln>
        </p:spPr>
        <p:txBody>
          <a:bodyPr/>
          <a:lstStyle/>
          <a:p>
            <a:endParaRPr lang="de-CH"/>
          </a:p>
        </p:txBody>
      </p:sp>
      <p:sp>
        <p:nvSpPr>
          <p:cNvPr id="210" name="ppt"/>
          <p:cNvSpPr/>
          <p:nvPr/>
        </p:nvSpPr>
        <p:spPr>
          <a:xfrm>
            <a:off x="939800" y="4817533"/>
            <a:ext cx="2311400" cy="948267"/>
          </a:xfrm>
          <a:prstGeom prst="rect">
            <a:avLst/>
          </a:prstGeom>
          <a:noFill/>
          <a:ln>
            <a:noFill/>
          </a:ln>
        </p:spPr>
        <p:txBody>
          <a:bodyPr lIns="114300" tIns="25400" rIns="50800" bIns="25400" rtlCol="0" anchor="ctr"/>
          <a:lstStyle/>
          <a:p>
            <a:r>
              <a:rPr lang="de-CH" sz="1000" b="1" dirty="0">
                <a:solidFill>
                  <a:srgbClr val="9A6512"/>
                </a:solidFill>
              </a:rPr>
              <a:t>PP-06  </a:t>
            </a:r>
            <a:r>
              <a:rPr lang="de-CH" sz="1000" dirty="0">
                <a:solidFill>
                  <a:srgbClr val="1A2A38"/>
                </a:solidFill>
              </a:rPr>
              <a:t>Fehlende Frühinformation an HR Payroll bei zeitkritischen Austritten</a:t>
            </a:r>
          </a:p>
        </p:txBody>
      </p:sp>
      <p:sp>
        <p:nvSpPr>
          <p:cNvPr id="211" name="colc"/>
          <p:cNvSpPr/>
          <p:nvPr/>
        </p:nvSpPr>
        <p:spPr>
          <a:xfrm>
            <a:off x="3505200" y="1930400"/>
            <a:ext cx="2514600" cy="3911600"/>
          </a:xfrm>
          <a:prstGeom prst="roundRect">
            <a:avLst>
              <a:gd name="adj" fmla="val 6715"/>
            </a:avLst>
          </a:prstGeom>
          <a:solidFill>
            <a:srgbClr val="1B3A5C"/>
          </a:solidFill>
          <a:ln>
            <a:noFill/>
          </a:ln>
        </p:spPr>
        <p:txBody>
          <a:bodyPr/>
          <a:lstStyle/>
          <a:p>
            <a:endParaRPr lang="de-CH"/>
          </a:p>
        </p:txBody>
      </p:sp>
      <p:sp>
        <p:nvSpPr>
          <p:cNvPr id="212" name="colh"/>
          <p:cNvSpPr/>
          <p:nvPr/>
        </p:nvSpPr>
        <p:spPr>
          <a:xfrm>
            <a:off x="3598779" y="1968500"/>
            <a:ext cx="2514600" cy="812800"/>
          </a:xfrm>
          <a:prstGeom prst="roundRect">
            <a:avLst/>
          </a:prstGeom>
          <a:noFill/>
          <a:ln>
            <a:noFill/>
          </a:ln>
        </p:spPr>
        <p:txBody>
          <a:bodyPr lIns="101600" tIns="76200" rIns="76200" bIns="25400" rtlCol="0" anchor="t"/>
          <a:lstStyle/>
          <a:p>
            <a:r>
              <a:rPr lang="de-CH" sz="1200" b="1" dirty="0">
                <a:solidFill>
                  <a:srgbClr val="9FC3DF"/>
                </a:solidFill>
              </a:rPr>
              <a:t>HF-02</a:t>
            </a:r>
          </a:p>
          <a:p>
            <a:pPr>
              <a:spcBef>
                <a:spcPts val="100"/>
              </a:spcBef>
            </a:pPr>
            <a:r>
              <a:rPr lang="de-CH" sz="1100" b="1" dirty="0">
                <a:solidFill>
                  <a:srgbClr val="FFFFFF"/>
                </a:solidFill>
              </a:rPr>
              <a:t>Konsistente Datenbasis und Systemintegration</a:t>
            </a:r>
          </a:p>
        </p:txBody>
      </p:sp>
      <p:sp>
        <p:nvSpPr>
          <p:cNvPr id="213" name="ppc"/>
          <p:cNvSpPr/>
          <p:nvPr/>
        </p:nvSpPr>
        <p:spPr>
          <a:xfrm>
            <a:off x="3606800" y="2819400"/>
            <a:ext cx="2311400" cy="448733"/>
          </a:xfrm>
          <a:prstGeom prst="rect">
            <a:avLst/>
          </a:prstGeom>
          <a:solidFill>
            <a:srgbClr val="FFFFFF"/>
          </a:solidFill>
          <a:ln>
            <a:noFill/>
          </a:ln>
        </p:spPr>
        <p:txBody>
          <a:bodyPr/>
          <a:lstStyle/>
          <a:p>
            <a:endParaRPr lang="de-CH"/>
          </a:p>
        </p:txBody>
      </p:sp>
      <p:sp>
        <p:nvSpPr>
          <p:cNvPr id="214" name="ppb"/>
          <p:cNvSpPr/>
          <p:nvPr/>
        </p:nvSpPr>
        <p:spPr>
          <a:xfrm>
            <a:off x="3606800" y="2819400"/>
            <a:ext cx="50800" cy="448733"/>
          </a:xfrm>
          <a:prstGeom prst="rect">
            <a:avLst/>
          </a:prstGeom>
          <a:solidFill>
            <a:srgbClr val="C8893A"/>
          </a:solidFill>
          <a:ln>
            <a:noFill/>
          </a:ln>
        </p:spPr>
        <p:txBody>
          <a:bodyPr/>
          <a:lstStyle/>
          <a:p>
            <a:endParaRPr lang="de-CH"/>
          </a:p>
        </p:txBody>
      </p:sp>
      <p:sp>
        <p:nvSpPr>
          <p:cNvPr id="215" name="ppt"/>
          <p:cNvSpPr/>
          <p:nvPr/>
        </p:nvSpPr>
        <p:spPr>
          <a:xfrm>
            <a:off x="3606800" y="2819400"/>
            <a:ext cx="2311400" cy="448733"/>
          </a:xfrm>
          <a:prstGeom prst="rect">
            <a:avLst/>
          </a:prstGeom>
          <a:noFill/>
          <a:ln>
            <a:noFill/>
          </a:ln>
        </p:spPr>
        <p:txBody>
          <a:bodyPr lIns="114300" tIns="25400" rIns="50800" bIns="25400" rtlCol="0" anchor="ctr"/>
          <a:lstStyle/>
          <a:p>
            <a:r>
              <a:rPr lang="de-CH" sz="1000" b="1" dirty="0">
                <a:solidFill>
                  <a:srgbClr val="9A6512"/>
                </a:solidFill>
              </a:rPr>
              <a:t>PP-02  </a:t>
            </a:r>
            <a:r>
              <a:rPr lang="de-CH" sz="1000" dirty="0">
                <a:solidFill>
                  <a:srgbClr val="1A2A38"/>
                </a:solidFill>
              </a:rPr>
              <a:t>Unvollständige oder uneinheitliche Ticketinformationen</a:t>
            </a:r>
          </a:p>
        </p:txBody>
      </p:sp>
      <p:sp>
        <p:nvSpPr>
          <p:cNvPr id="216" name="ppc"/>
          <p:cNvSpPr/>
          <p:nvPr/>
        </p:nvSpPr>
        <p:spPr>
          <a:xfrm>
            <a:off x="3606800" y="3318933"/>
            <a:ext cx="2311400" cy="448733"/>
          </a:xfrm>
          <a:prstGeom prst="rect">
            <a:avLst/>
          </a:prstGeom>
          <a:solidFill>
            <a:srgbClr val="FFFFFF"/>
          </a:solidFill>
          <a:ln>
            <a:noFill/>
          </a:ln>
        </p:spPr>
        <p:txBody>
          <a:bodyPr/>
          <a:lstStyle/>
          <a:p>
            <a:endParaRPr lang="de-CH"/>
          </a:p>
        </p:txBody>
      </p:sp>
      <p:sp>
        <p:nvSpPr>
          <p:cNvPr id="217" name="ppb"/>
          <p:cNvSpPr/>
          <p:nvPr/>
        </p:nvSpPr>
        <p:spPr>
          <a:xfrm>
            <a:off x="3606800" y="3318933"/>
            <a:ext cx="50800" cy="448733"/>
          </a:xfrm>
          <a:prstGeom prst="rect">
            <a:avLst/>
          </a:prstGeom>
          <a:solidFill>
            <a:srgbClr val="C8893A"/>
          </a:solidFill>
          <a:ln>
            <a:noFill/>
          </a:ln>
        </p:spPr>
        <p:txBody>
          <a:bodyPr/>
          <a:lstStyle/>
          <a:p>
            <a:endParaRPr lang="de-CH"/>
          </a:p>
        </p:txBody>
      </p:sp>
      <p:sp>
        <p:nvSpPr>
          <p:cNvPr id="218" name="ppt"/>
          <p:cNvSpPr/>
          <p:nvPr/>
        </p:nvSpPr>
        <p:spPr>
          <a:xfrm>
            <a:off x="3606800" y="3318933"/>
            <a:ext cx="2311400" cy="448733"/>
          </a:xfrm>
          <a:prstGeom prst="rect">
            <a:avLst/>
          </a:prstGeom>
          <a:noFill/>
          <a:ln>
            <a:noFill/>
          </a:ln>
        </p:spPr>
        <p:txBody>
          <a:bodyPr lIns="114300" tIns="25400" rIns="50800" bIns="25400" rtlCol="0" anchor="ctr"/>
          <a:lstStyle/>
          <a:p>
            <a:r>
              <a:rPr lang="de-CH" sz="1000" b="1" dirty="0">
                <a:solidFill>
                  <a:srgbClr val="9A6512"/>
                </a:solidFill>
              </a:rPr>
              <a:t>PP-03  </a:t>
            </a:r>
            <a:r>
              <a:rPr lang="de-CH" sz="1000" dirty="0">
                <a:solidFill>
                  <a:srgbClr val="1A2A38"/>
                </a:solidFill>
              </a:rPr>
              <a:t>Uneinheitlicher Prozesseingang, Risiko von Doppeltickets</a:t>
            </a:r>
          </a:p>
        </p:txBody>
      </p:sp>
      <p:sp>
        <p:nvSpPr>
          <p:cNvPr id="219" name="ppc"/>
          <p:cNvSpPr/>
          <p:nvPr/>
        </p:nvSpPr>
        <p:spPr>
          <a:xfrm>
            <a:off x="3606800" y="3818467"/>
            <a:ext cx="2311400" cy="448733"/>
          </a:xfrm>
          <a:prstGeom prst="rect">
            <a:avLst/>
          </a:prstGeom>
          <a:solidFill>
            <a:srgbClr val="FFFFFF"/>
          </a:solidFill>
          <a:ln>
            <a:noFill/>
          </a:ln>
        </p:spPr>
        <p:txBody>
          <a:bodyPr/>
          <a:lstStyle/>
          <a:p>
            <a:endParaRPr lang="de-CH"/>
          </a:p>
        </p:txBody>
      </p:sp>
      <p:sp>
        <p:nvSpPr>
          <p:cNvPr id="220" name="ppb"/>
          <p:cNvSpPr/>
          <p:nvPr/>
        </p:nvSpPr>
        <p:spPr>
          <a:xfrm>
            <a:off x="3606800" y="3818467"/>
            <a:ext cx="50800" cy="448733"/>
          </a:xfrm>
          <a:prstGeom prst="rect">
            <a:avLst/>
          </a:prstGeom>
          <a:solidFill>
            <a:srgbClr val="C8893A"/>
          </a:solidFill>
          <a:ln>
            <a:noFill/>
          </a:ln>
        </p:spPr>
        <p:txBody>
          <a:bodyPr/>
          <a:lstStyle/>
          <a:p>
            <a:endParaRPr lang="de-CH"/>
          </a:p>
        </p:txBody>
      </p:sp>
      <p:sp>
        <p:nvSpPr>
          <p:cNvPr id="221" name="ppt"/>
          <p:cNvSpPr/>
          <p:nvPr/>
        </p:nvSpPr>
        <p:spPr>
          <a:xfrm>
            <a:off x="3606800" y="3818467"/>
            <a:ext cx="2311400" cy="448733"/>
          </a:xfrm>
          <a:prstGeom prst="rect">
            <a:avLst/>
          </a:prstGeom>
          <a:noFill/>
          <a:ln>
            <a:noFill/>
          </a:ln>
        </p:spPr>
        <p:txBody>
          <a:bodyPr lIns="114300" tIns="25400" rIns="50800" bIns="25400" rtlCol="0" anchor="ctr"/>
          <a:lstStyle/>
          <a:p>
            <a:r>
              <a:rPr lang="de-CH" sz="1000" b="1" dirty="0">
                <a:solidFill>
                  <a:srgbClr val="9A6512"/>
                </a:solidFill>
              </a:rPr>
              <a:t>PP-07  </a:t>
            </a:r>
            <a:r>
              <a:rPr lang="de-CH" sz="1000" dirty="0">
                <a:solidFill>
                  <a:srgbClr val="1A2A38"/>
                </a:solidFill>
              </a:rPr>
              <a:t>Manuelle Übertragung von SAP-Stammdaten in Jira</a:t>
            </a:r>
          </a:p>
        </p:txBody>
      </p:sp>
      <p:sp>
        <p:nvSpPr>
          <p:cNvPr id="222" name="ppc"/>
          <p:cNvSpPr/>
          <p:nvPr/>
        </p:nvSpPr>
        <p:spPr>
          <a:xfrm>
            <a:off x="3606800" y="4318000"/>
            <a:ext cx="2311400" cy="448733"/>
          </a:xfrm>
          <a:prstGeom prst="rect">
            <a:avLst/>
          </a:prstGeom>
          <a:solidFill>
            <a:srgbClr val="FFFFFF"/>
          </a:solidFill>
          <a:ln>
            <a:noFill/>
          </a:ln>
        </p:spPr>
        <p:txBody>
          <a:bodyPr/>
          <a:lstStyle/>
          <a:p>
            <a:endParaRPr lang="de-CH"/>
          </a:p>
        </p:txBody>
      </p:sp>
      <p:sp>
        <p:nvSpPr>
          <p:cNvPr id="223" name="ppb"/>
          <p:cNvSpPr/>
          <p:nvPr/>
        </p:nvSpPr>
        <p:spPr>
          <a:xfrm>
            <a:off x="3606800" y="4318000"/>
            <a:ext cx="50800" cy="448733"/>
          </a:xfrm>
          <a:prstGeom prst="rect">
            <a:avLst/>
          </a:prstGeom>
          <a:solidFill>
            <a:srgbClr val="C8893A"/>
          </a:solidFill>
          <a:ln>
            <a:noFill/>
          </a:ln>
        </p:spPr>
        <p:txBody>
          <a:bodyPr/>
          <a:lstStyle/>
          <a:p>
            <a:endParaRPr lang="de-CH"/>
          </a:p>
        </p:txBody>
      </p:sp>
      <p:sp>
        <p:nvSpPr>
          <p:cNvPr id="224" name="ppt"/>
          <p:cNvSpPr/>
          <p:nvPr/>
        </p:nvSpPr>
        <p:spPr>
          <a:xfrm>
            <a:off x="3606800" y="4318000"/>
            <a:ext cx="2311400" cy="448733"/>
          </a:xfrm>
          <a:prstGeom prst="rect">
            <a:avLst/>
          </a:prstGeom>
          <a:noFill/>
          <a:ln>
            <a:noFill/>
          </a:ln>
        </p:spPr>
        <p:txBody>
          <a:bodyPr lIns="114300" tIns="25400" rIns="50800" bIns="25400" rtlCol="0" anchor="ctr"/>
          <a:lstStyle/>
          <a:p>
            <a:r>
              <a:rPr lang="de-CH" sz="1000" b="1" dirty="0">
                <a:solidFill>
                  <a:srgbClr val="9A6512"/>
                </a:solidFill>
              </a:rPr>
              <a:t>PP-10  </a:t>
            </a:r>
            <a:r>
              <a:rPr lang="de-CH" sz="1000" dirty="0">
                <a:solidFill>
                  <a:srgbClr val="1A2A38"/>
                </a:solidFill>
              </a:rPr>
              <a:t>SharePoint-Liste im AuW-Prozess ohne Jira-Anbindung</a:t>
            </a:r>
          </a:p>
        </p:txBody>
      </p:sp>
      <p:sp>
        <p:nvSpPr>
          <p:cNvPr id="225" name="ppc"/>
          <p:cNvSpPr/>
          <p:nvPr/>
        </p:nvSpPr>
        <p:spPr>
          <a:xfrm>
            <a:off x="3606800" y="4817533"/>
            <a:ext cx="2311400" cy="448733"/>
          </a:xfrm>
          <a:prstGeom prst="rect">
            <a:avLst/>
          </a:prstGeom>
          <a:solidFill>
            <a:srgbClr val="FFFFFF"/>
          </a:solidFill>
          <a:ln>
            <a:noFill/>
          </a:ln>
        </p:spPr>
        <p:txBody>
          <a:bodyPr/>
          <a:lstStyle/>
          <a:p>
            <a:endParaRPr lang="de-CH"/>
          </a:p>
        </p:txBody>
      </p:sp>
      <p:sp>
        <p:nvSpPr>
          <p:cNvPr id="226" name="ppb"/>
          <p:cNvSpPr/>
          <p:nvPr/>
        </p:nvSpPr>
        <p:spPr>
          <a:xfrm>
            <a:off x="3606800" y="4817533"/>
            <a:ext cx="50800" cy="448733"/>
          </a:xfrm>
          <a:prstGeom prst="rect">
            <a:avLst/>
          </a:prstGeom>
          <a:solidFill>
            <a:srgbClr val="C8893A"/>
          </a:solidFill>
          <a:ln>
            <a:noFill/>
          </a:ln>
        </p:spPr>
        <p:txBody>
          <a:bodyPr/>
          <a:lstStyle/>
          <a:p>
            <a:endParaRPr lang="de-CH"/>
          </a:p>
        </p:txBody>
      </p:sp>
      <p:sp>
        <p:nvSpPr>
          <p:cNvPr id="227" name="ppt"/>
          <p:cNvSpPr/>
          <p:nvPr/>
        </p:nvSpPr>
        <p:spPr>
          <a:xfrm>
            <a:off x="3606800" y="4817533"/>
            <a:ext cx="2311400" cy="448733"/>
          </a:xfrm>
          <a:prstGeom prst="rect">
            <a:avLst/>
          </a:prstGeom>
          <a:noFill/>
          <a:ln>
            <a:noFill/>
          </a:ln>
        </p:spPr>
        <p:txBody>
          <a:bodyPr lIns="114300" tIns="25400" rIns="50800" bIns="25400" rtlCol="0" anchor="ctr"/>
          <a:lstStyle/>
          <a:p>
            <a:r>
              <a:rPr lang="de-CH" sz="1000" b="1" dirty="0">
                <a:solidFill>
                  <a:srgbClr val="9A6512"/>
                </a:solidFill>
              </a:rPr>
              <a:t>PP-15  </a:t>
            </a:r>
            <a:r>
              <a:rPr lang="de-CH" sz="1000" dirty="0">
                <a:solidFill>
                  <a:srgbClr val="1A2A38"/>
                </a:solidFill>
              </a:rPr>
              <a:t>Saldoabweichungen zwischen Austrittsschein und PEP</a:t>
            </a:r>
          </a:p>
        </p:txBody>
      </p:sp>
      <p:sp>
        <p:nvSpPr>
          <p:cNvPr id="228" name="ppc"/>
          <p:cNvSpPr/>
          <p:nvPr/>
        </p:nvSpPr>
        <p:spPr>
          <a:xfrm>
            <a:off x="3606800" y="5317067"/>
            <a:ext cx="2311400" cy="448733"/>
          </a:xfrm>
          <a:prstGeom prst="rect">
            <a:avLst/>
          </a:prstGeom>
          <a:solidFill>
            <a:srgbClr val="FFFFFF"/>
          </a:solidFill>
          <a:ln>
            <a:noFill/>
          </a:ln>
        </p:spPr>
        <p:txBody>
          <a:bodyPr/>
          <a:lstStyle/>
          <a:p>
            <a:endParaRPr lang="de-CH"/>
          </a:p>
        </p:txBody>
      </p:sp>
      <p:sp>
        <p:nvSpPr>
          <p:cNvPr id="229" name="ppb"/>
          <p:cNvSpPr/>
          <p:nvPr/>
        </p:nvSpPr>
        <p:spPr>
          <a:xfrm>
            <a:off x="3606800" y="5317067"/>
            <a:ext cx="50800" cy="448733"/>
          </a:xfrm>
          <a:prstGeom prst="rect">
            <a:avLst/>
          </a:prstGeom>
          <a:solidFill>
            <a:srgbClr val="C8893A"/>
          </a:solidFill>
          <a:ln>
            <a:noFill/>
          </a:ln>
        </p:spPr>
        <p:txBody>
          <a:bodyPr/>
          <a:lstStyle/>
          <a:p>
            <a:endParaRPr lang="de-CH"/>
          </a:p>
        </p:txBody>
      </p:sp>
      <p:sp>
        <p:nvSpPr>
          <p:cNvPr id="230" name="ppt"/>
          <p:cNvSpPr/>
          <p:nvPr/>
        </p:nvSpPr>
        <p:spPr>
          <a:xfrm>
            <a:off x="3606800" y="5317067"/>
            <a:ext cx="2311400" cy="448733"/>
          </a:xfrm>
          <a:prstGeom prst="rect">
            <a:avLst/>
          </a:prstGeom>
          <a:noFill/>
          <a:ln>
            <a:noFill/>
          </a:ln>
        </p:spPr>
        <p:txBody>
          <a:bodyPr lIns="114300" tIns="25400" rIns="50800" bIns="25400" rtlCol="0" anchor="ctr"/>
          <a:lstStyle/>
          <a:p>
            <a:r>
              <a:rPr lang="de-CH" sz="1000" b="1" dirty="0">
                <a:solidFill>
                  <a:srgbClr val="9A6512"/>
                </a:solidFill>
              </a:rPr>
              <a:t>PP-16  </a:t>
            </a:r>
            <a:r>
              <a:rPr lang="de-CH" sz="1000" dirty="0">
                <a:solidFill>
                  <a:srgbClr val="1A2A38"/>
                </a:solidFill>
              </a:rPr>
              <a:t>Manuelle VSAO-Abmeldung bei ärztlichen Anstellungen</a:t>
            </a:r>
          </a:p>
        </p:txBody>
      </p:sp>
      <p:sp>
        <p:nvSpPr>
          <p:cNvPr id="231" name="colc"/>
          <p:cNvSpPr/>
          <p:nvPr/>
        </p:nvSpPr>
        <p:spPr>
          <a:xfrm>
            <a:off x="6206958" y="1930400"/>
            <a:ext cx="2514600" cy="3911600"/>
          </a:xfrm>
          <a:prstGeom prst="roundRect">
            <a:avLst>
              <a:gd name="adj" fmla="val 6715"/>
            </a:avLst>
          </a:prstGeom>
          <a:solidFill>
            <a:srgbClr val="1B3A5C"/>
          </a:solidFill>
          <a:ln>
            <a:noFill/>
          </a:ln>
        </p:spPr>
        <p:txBody>
          <a:bodyPr/>
          <a:lstStyle/>
          <a:p>
            <a:endParaRPr lang="de-CH"/>
          </a:p>
        </p:txBody>
      </p:sp>
      <p:sp>
        <p:nvSpPr>
          <p:cNvPr id="232" name="colh"/>
          <p:cNvSpPr/>
          <p:nvPr/>
        </p:nvSpPr>
        <p:spPr>
          <a:xfrm>
            <a:off x="6172200" y="1930400"/>
            <a:ext cx="2514600" cy="812800"/>
          </a:xfrm>
          <a:prstGeom prst="roundRect">
            <a:avLst/>
          </a:prstGeom>
          <a:noFill/>
          <a:ln>
            <a:noFill/>
          </a:ln>
        </p:spPr>
        <p:txBody>
          <a:bodyPr lIns="101600" tIns="76200" rIns="76200" bIns="25400" rtlCol="0" anchor="t"/>
          <a:lstStyle/>
          <a:p>
            <a:r>
              <a:rPr lang="de-CH" sz="1200" b="1" dirty="0">
                <a:solidFill>
                  <a:srgbClr val="9FC3DF"/>
                </a:solidFill>
              </a:rPr>
              <a:t>HF-03</a:t>
            </a:r>
          </a:p>
          <a:p>
            <a:pPr>
              <a:spcBef>
                <a:spcPts val="100"/>
              </a:spcBef>
            </a:pPr>
            <a:r>
              <a:rPr lang="de-CH" sz="1100" b="1" dirty="0">
                <a:solidFill>
                  <a:srgbClr val="FFFFFF"/>
                </a:solidFill>
              </a:rPr>
              <a:t>Standardisierung und Prozessdokumentation</a:t>
            </a:r>
          </a:p>
        </p:txBody>
      </p:sp>
      <p:sp>
        <p:nvSpPr>
          <p:cNvPr id="234" name="ppb"/>
          <p:cNvSpPr/>
          <p:nvPr/>
        </p:nvSpPr>
        <p:spPr>
          <a:xfrm flipH="1">
            <a:off x="6330747" y="2857517"/>
            <a:ext cx="45719" cy="613344"/>
          </a:xfrm>
          <a:prstGeom prst="rect">
            <a:avLst/>
          </a:prstGeom>
          <a:solidFill>
            <a:srgbClr val="C8893A"/>
          </a:solidFill>
          <a:ln>
            <a:noFill/>
          </a:ln>
        </p:spPr>
        <p:txBody>
          <a:bodyPr/>
          <a:lstStyle/>
          <a:p>
            <a:endParaRPr lang="de-CH"/>
          </a:p>
        </p:txBody>
      </p:sp>
      <p:grpSp>
        <p:nvGrpSpPr>
          <p:cNvPr id="4" name="Gruppieren 3">
            <a:extLst>
              <a:ext uri="{FF2B5EF4-FFF2-40B4-BE49-F238E27FC236}">
                <a16:creationId xmlns:a16="http://schemas.microsoft.com/office/drawing/2014/main" id="{DDB89509-FF3D-5864-B298-B5D35EC955E0}"/>
              </a:ext>
            </a:extLst>
          </p:cNvPr>
          <p:cNvGrpSpPr/>
          <p:nvPr/>
        </p:nvGrpSpPr>
        <p:grpSpPr>
          <a:xfrm>
            <a:off x="6324600" y="2416628"/>
            <a:ext cx="2354179" cy="1447800"/>
            <a:chOff x="6324600" y="2526105"/>
            <a:chExt cx="2354179" cy="1447800"/>
          </a:xfrm>
        </p:grpSpPr>
        <p:sp>
          <p:nvSpPr>
            <p:cNvPr id="233" name="ppc"/>
            <p:cNvSpPr/>
            <p:nvPr/>
          </p:nvSpPr>
          <p:spPr>
            <a:xfrm>
              <a:off x="6367379" y="2958642"/>
              <a:ext cx="2311400" cy="621696"/>
            </a:xfrm>
            <a:prstGeom prst="rect">
              <a:avLst/>
            </a:prstGeom>
            <a:solidFill>
              <a:srgbClr val="FFFFFF"/>
            </a:solidFill>
            <a:ln>
              <a:noFill/>
            </a:ln>
          </p:spPr>
          <p:txBody>
            <a:bodyPr/>
            <a:lstStyle/>
            <a:p>
              <a:endParaRPr lang="de-CH" dirty="0"/>
            </a:p>
          </p:txBody>
        </p:sp>
        <p:sp>
          <p:nvSpPr>
            <p:cNvPr id="235" name="ppt"/>
            <p:cNvSpPr/>
            <p:nvPr/>
          </p:nvSpPr>
          <p:spPr>
            <a:xfrm>
              <a:off x="6324600" y="2526105"/>
              <a:ext cx="2311400" cy="1447800"/>
            </a:xfrm>
            <a:prstGeom prst="rect">
              <a:avLst/>
            </a:prstGeom>
            <a:noFill/>
            <a:ln>
              <a:noFill/>
            </a:ln>
          </p:spPr>
          <p:txBody>
            <a:bodyPr lIns="114300" tIns="25400" rIns="50800" bIns="25400" rtlCol="0" anchor="ctr"/>
            <a:lstStyle/>
            <a:p>
              <a:r>
                <a:rPr lang="de-CH" sz="1000" b="1" dirty="0">
                  <a:solidFill>
                    <a:srgbClr val="9A6512"/>
                  </a:solidFill>
                </a:rPr>
                <a:t>PP-12  </a:t>
              </a:r>
              <a:r>
                <a:rPr lang="de-CH" sz="1000" dirty="0">
                  <a:solidFill>
                    <a:srgbClr val="1A2A38"/>
                  </a:solidFill>
                </a:rPr>
                <a:t>Unklare Regelung zu Arbeitszeugnis oder -bestätigung</a:t>
              </a:r>
            </a:p>
          </p:txBody>
        </p:sp>
      </p:grpSp>
      <p:grpSp>
        <p:nvGrpSpPr>
          <p:cNvPr id="22" name="Gruppieren 21">
            <a:extLst>
              <a:ext uri="{FF2B5EF4-FFF2-40B4-BE49-F238E27FC236}">
                <a16:creationId xmlns:a16="http://schemas.microsoft.com/office/drawing/2014/main" id="{4B598091-0537-98F4-38A8-CC8114D1AC2C}"/>
              </a:ext>
            </a:extLst>
          </p:cNvPr>
          <p:cNvGrpSpPr/>
          <p:nvPr/>
        </p:nvGrpSpPr>
        <p:grpSpPr>
          <a:xfrm>
            <a:off x="6324600" y="3199426"/>
            <a:ext cx="2354179" cy="1233714"/>
            <a:chOff x="6324600" y="3302840"/>
            <a:chExt cx="2354179" cy="1233714"/>
          </a:xfrm>
        </p:grpSpPr>
        <p:sp>
          <p:nvSpPr>
            <p:cNvPr id="237" name="ppb"/>
            <p:cNvSpPr/>
            <p:nvPr/>
          </p:nvSpPr>
          <p:spPr>
            <a:xfrm flipH="1">
              <a:off x="6330749" y="3638211"/>
              <a:ext cx="45719" cy="565084"/>
            </a:xfrm>
            <a:prstGeom prst="rect">
              <a:avLst/>
            </a:prstGeom>
            <a:solidFill>
              <a:srgbClr val="C8893A"/>
            </a:solidFill>
            <a:ln>
              <a:noFill/>
            </a:ln>
          </p:spPr>
          <p:txBody>
            <a:bodyPr/>
            <a:lstStyle/>
            <a:p>
              <a:endParaRPr lang="de-CH"/>
            </a:p>
          </p:txBody>
        </p:sp>
        <p:grpSp>
          <p:nvGrpSpPr>
            <p:cNvPr id="5" name="Gruppieren 4">
              <a:extLst>
                <a:ext uri="{FF2B5EF4-FFF2-40B4-BE49-F238E27FC236}">
                  <a16:creationId xmlns:a16="http://schemas.microsoft.com/office/drawing/2014/main" id="{E53C0E8A-6189-FAE7-2765-7E0EDA871BA6}"/>
                </a:ext>
              </a:extLst>
            </p:cNvPr>
            <p:cNvGrpSpPr/>
            <p:nvPr/>
          </p:nvGrpSpPr>
          <p:grpSpPr>
            <a:xfrm>
              <a:off x="6324600" y="3302840"/>
              <a:ext cx="2354179" cy="1233714"/>
              <a:chOff x="6273800" y="4532086"/>
              <a:chExt cx="2354179" cy="1233714"/>
            </a:xfrm>
          </p:grpSpPr>
          <p:sp>
            <p:nvSpPr>
              <p:cNvPr id="236" name="ppc"/>
              <p:cNvSpPr/>
              <p:nvPr/>
            </p:nvSpPr>
            <p:spPr>
              <a:xfrm>
                <a:off x="6316579" y="4869703"/>
                <a:ext cx="2311400" cy="558480"/>
              </a:xfrm>
              <a:prstGeom prst="rect">
                <a:avLst/>
              </a:prstGeom>
              <a:solidFill>
                <a:srgbClr val="FFFFFF"/>
              </a:solidFill>
              <a:ln>
                <a:noFill/>
              </a:ln>
            </p:spPr>
            <p:txBody>
              <a:bodyPr/>
              <a:lstStyle/>
              <a:p>
                <a:endParaRPr lang="de-CH" dirty="0"/>
              </a:p>
            </p:txBody>
          </p:sp>
          <p:sp>
            <p:nvSpPr>
              <p:cNvPr id="238" name="ppt"/>
              <p:cNvSpPr/>
              <p:nvPr/>
            </p:nvSpPr>
            <p:spPr>
              <a:xfrm>
                <a:off x="6273800" y="4532086"/>
                <a:ext cx="2311400" cy="1233714"/>
              </a:xfrm>
              <a:prstGeom prst="rect">
                <a:avLst/>
              </a:prstGeom>
              <a:noFill/>
              <a:ln>
                <a:noFill/>
              </a:ln>
            </p:spPr>
            <p:txBody>
              <a:bodyPr lIns="114300" tIns="25400" rIns="50800" bIns="25400" rtlCol="0" anchor="ctr"/>
              <a:lstStyle/>
              <a:p>
                <a:r>
                  <a:rPr lang="de-CH" sz="1000" b="1" dirty="0">
                    <a:solidFill>
                      <a:srgbClr val="9A6512"/>
                    </a:solidFill>
                  </a:rPr>
                  <a:t>PP-13  </a:t>
                </a:r>
                <a:r>
                  <a:rPr lang="de-CH" sz="1000" dirty="0">
                    <a:solidFill>
                      <a:srgbClr val="1A2A38"/>
                    </a:solidFill>
                  </a:rPr>
                  <a:t>Manuelle Prüfungen mit begrenztem fachlichem Nutzen</a:t>
                </a:r>
              </a:p>
            </p:txBody>
          </p:sp>
        </p:grpSp>
      </p:grpSp>
      <p:sp>
        <p:nvSpPr>
          <p:cNvPr id="239" name="colc"/>
          <p:cNvSpPr/>
          <p:nvPr/>
        </p:nvSpPr>
        <p:spPr>
          <a:xfrm>
            <a:off x="8839200" y="1930400"/>
            <a:ext cx="2514600" cy="3911600"/>
          </a:xfrm>
          <a:prstGeom prst="roundRect">
            <a:avLst>
              <a:gd name="adj" fmla="val 9777"/>
            </a:avLst>
          </a:prstGeom>
          <a:solidFill>
            <a:srgbClr val="1B3A5C"/>
          </a:solidFill>
          <a:ln>
            <a:noFill/>
          </a:ln>
        </p:spPr>
        <p:txBody>
          <a:bodyPr/>
          <a:lstStyle/>
          <a:p>
            <a:endParaRPr lang="de-CH"/>
          </a:p>
        </p:txBody>
      </p:sp>
      <p:sp>
        <p:nvSpPr>
          <p:cNvPr id="240" name="colh"/>
          <p:cNvSpPr/>
          <p:nvPr/>
        </p:nvSpPr>
        <p:spPr>
          <a:xfrm>
            <a:off x="8839200" y="1955858"/>
            <a:ext cx="2514600" cy="812800"/>
          </a:xfrm>
          <a:prstGeom prst="roundRect">
            <a:avLst/>
          </a:prstGeom>
          <a:noFill/>
          <a:ln>
            <a:noFill/>
          </a:ln>
        </p:spPr>
        <p:txBody>
          <a:bodyPr lIns="101600" tIns="76200" rIns="76200" bIns="25400" rtlCol="0" anchor="t"/>
          <a:lstStyle/>
          <a:p>
            <a:r>
              <a:rPr lang="de-CH" sz="1200" b="1" dirty="0">
                <a:solidFill>
                  <a:srgbClr val="9FC3DF"/>
                </a:solidFill>
              </a:rPr>
              <a:t>HF-04</a:t>
            </a:r>
          </a:p>
          <a:p>
            <a:pPr>
              <a:spcBef>
                <a:spcPts val="100"/>
              </a:spcBef>
            </a:pPr>
            <a:r>
              <a:rPr lang="de-CH" sz="1100" b="1" dirty="0">
                <a:solidFill>
                  <a:srgbClr val="FFFFFF"/>
                </a:solidFill>
              </a:rPr>
              <a:t>Systemgestützte Prozessausführung</a:t>
            </a:r>
          </a:p>
        </p:txBody>
      </p:sp>
      <p:sp>
        <p:nvSpPr>
          <p:cNvPr id="241" name="ppc"/>
          <p:cNvSpPr/>
          <p:nvPr/>
        </p:nvSpPr>
        <p:spPr>
          <a:xfrm>
            <a:off x="8940800" y="2819400"/>
            <a:ext cx="2311400" cy="377371"/>
          </a:xfrm>
          <a:prstGeom prst="rect">
            <a:avLst/>
          </a:prstGeom>
          <a:solidFill>
            <a:srgbClr val="FFFFFF"/>
          </a:solidFill>
          <a:ln>
            <a:noFill/>
          </a:ln>
        </p:spPr>
        <p:txBody>
          <a:bodyPr/>
          <a:lstStyle/>
          <a:p>
            <a:endParaRPr lang="de-CH"/>
          </a:p>
        </p:txBody>
      </p:sp>
      <p:sp>
        <p:nvSpPr>
          <p:cNvPr id="242" name="ppb"/>
          <p:cNvSpPr/>
          <p:nvPr/>
        </p:nvSpPr>
        <p:spPr>
          <a:xfrm>
            <a:off x="8940800" y="2819400"/>
            <a:ext cx="50800" cy="377371"/>
          </a:xfrm>
          <a:prstGeom prst="rect">
            <a:avLst/>
          </a:prstGeom>
          <a:solidFill>
            <a:srgbClr val="C8893A"/>
          </a:solidFill>
          <a:ln>
            <a:noFill/>
          </a:ln>
        </p:spPr>
        <p:txBody>
          <a:bodyPr/>
          <a:lstStyle/>
          <a:p>
            <a:endParaRPr lang="de-CH"/>
          </a:p>
        </p:txBody>
      </p:sp>
      <p:sp>
        <p:nvSpPr>
          <p:cNvPr id="243" name="ppt"/>
          <p:cNvSpPr/>
          <p:nvPr/>
        </p:nvSpPr>
        <p:spPr>
          <a:xfrm>
            <a:off x="8940800" y="2819400"/>
            <a:ext cx="2311400" cy="377371"/>
          </a:xfrm>
          <a:prstGeom prst="rect">
            <a:avLst/>
          </a:prstGeom>
          <a:noFill/>
          <a:ln>
            <a:noFill/>
          </a:ln>
        </p:spPr>
        <p:txBody>
          <a:bodyPr lIns="114300" tIns="25400" rIns="50800" bIns="25400" rtlCol="0" anchor="ctr"/>
          <a:lstStyle/>
          <a:p>
            <a:r>
              <a:rPr lang="de-CH" sz="1000" b="1" dirty="0">
                <a:solidFill>
                  <a:srgbClr val="9A6512"/>
                </a:solidFill>
              </a:rPr>
              <a:t>PP-04  </a:t>
            </a:r>
            <a:r>
              <a:rPr lang="de-CH" sz="1000" dirty="0">
                <a:solidFill>
                  <a:srgbClr val="1A2A38"/>
                </a:solidFill>
              </a:rPr>
              <a:t>Austrittsschein nicht in die Ticketbearbeitung integriert</a:t>
            </a:r>
          </a:p>
        </p:txBody>
      </p:sp>
      <p:sp>
        <p:nvSpPr>
          <p:cNvPr id="244" name="ppc"/>
          <p:cNvSpPr/>
          <p:nvPr/>
        </p:nvSpPr>
        <p:spPr>
          <a:xfrm>
            <a:off x="8940800" y="3247571"/>
            <a:ext cx="2311400" cy="377371"/>
          </a:xfrm>
          <a:prstGeom prst="rect">
            <a:avLst/>
          </a:prstGeom>
          <a:solidFill>
            <a:srgbClr val="FFFFFF"/>
          </a:solidFill>
          <a:ln>
            <a:noFill/>
          </a:ln>
        </p:spPr>
        <p:txBody>
          <a:bodyPr/>
          <a:lstStyle/>
          <a:p>
            <a:endParaRPr lang="de-CH"/>
          </a:p>
        </p:txBody>
      </p:sp>
      <p:sp>
        <p:nvSpPr>
          <p:cNvPr id="245" name="ppb"/>
          <p:cNvSpPr/>
          <p:nvPr/>
        </p:nvSpPr>
        <p:spPr>
          <a:xfrm>
            <a:off x="8940800" y="3247571"/>
            <a:ext cx="50800" cy="377371"/>
          </a:xfrm>
          <a:prstGeom prst="rect">
            <a:avLst/>
          </a:prstGeom>
          <a:solidFill>
            <a:srgbClr val="C8893A"/>
          </a:solidFill>
          <a:ln>
            <a:noFill/>
          </a:ln>
        </p:spPr>
        <p:txBody>
          <a:bodyPr/>
          <a:lstStyle/>
          <a:p>
            <a:endParaRPr lang="de-CH"/>
          </a:p>
        </p:txBody>
      </p:sp>
      <p:sp>
        <p:nvSpPr>
          <p:cNvPr id="246" name="ppt"/>
          <p:cNvSpPr/>
          <p:nvPr/>
        </p:nvSpPr>
        <p:spPr>
          <a:xfrm>
            <a:off x="8940800" y="3247571"/>
            <a:ext cx="2311400" cy="377371"/>
          </a:xfrm>
          <a:prstGeom prst="rect">
            <a:avLst/>
          </a:prstGeom>
          <a:noFill/>
          <a:ln>
            <a:noFill/>
          </a:ln>
        </p:spPr>
        <p:txBody>
          <a:bodyPr lIns="114300" tIns="25400" rIns="50800" bIns="25400" rtlCol="0" anchor="ctr"/>
          <a:lstStyle/>
          <a:p>
            <a:r>
              <a:rPr lang="de-CH" sz="1000" b="1" dirty="0">
                <a:solidFill>
                  <a:srgbClr val="9A6512"/>
                </a:solidFill>
              </a:rPr>
              <a:t>PP-08  </a:t>
            </a:r>
            <a:r>
              <a:rPr lang="de-CH" sz="1000" dirty="0">
                <a:solidFill>
                  <a:srgbClr val="1A2A38"/>
                </a:solidFill>
              </a:rPr>
              <a:t>Späte Durchführung von Sonderfallprüfungen</a:t>
            </a:r>
          </a:p>
        </p:txBody>
      </p:sp>
      <p:sp>
        <p:nvSpPr>
          <p:cNvPr id="247" name="ppc"/>
          <p:cNvSpPr/>
          <p:nvPr/>
        </p:nvSpPr>
        <p:spPr>
          <a:xfrm>
            <a:off x="8940800" y="3675743"/>
            <a:ext cx="2311400" cy="377371"/>
          </a:xfrm>
          <a:prstGeom prst="rect">
            <a:avLst/>
          </a:prstGeom>
          <a:solidFill>
            <a:srgbClr val="FFFFFF"/>
          </a:solidFill>
          <a:ln>
            <a:noFill/>
          </a:ln>
        </p:spPr>
        <p:txBody>
          <a:bodyPr/>
          <a:lstStyle/>
          <a:p>
            <a:endParaRPr lang="de-CH"/>
          </a:p>
        </p:txBody>
      </p:sp>
      <p:sp>
        <p:nvSpPr>
          <p:cNvPr id="248" name="ppb"/>
          <p:cNvSpPr/>
          <p:nvPr/>
        </p:nvSpPr>
        <p:spPr>
          <a:xfrm>
            <a:off x="8940800" y="3675743"/>
            <a:ext cx="50800" cy="377371"/>
          </a:xfrm>
          <a:prstGeom prst="rect">
            <a:avLst/>
          </a:prstGeom>
          <a:solidFill>
            <a:srgbClr val="C8893A"/>
          </a:solidFill>
          <a:ln>
            <a:noFill/>
          </a:ln>
        </p:spPr>
        <p:txBody>
          <a:bodyPr/>
          <a:lstStyle/>
          <a:p>
            <a:endParaRPr lang="de-CH"/>
          </a:p>
        </p:txBody>
      </p:sp>
      <p:sp>
        <p:nvSpPr>
          <p:cNvPr id="249" name="ppt"/>
          <p:cNvSpPr/>
          <p:nvPr/>
        </p:nvSpPr>
        <p:spPr>
          <a:xfrm>
            <a:off x="8940800" y="3675743"/>
            <a:ext cx="2311400" cy="377371"/>
          </a:xfrm>
          <a:prstGeom prst="rect">
            <a:avLst/>
          </a:prstGeom>
          <a:noFill/>
          <a:ln>
            <a:noFill/>
          </a:ln>
        </p:spPr>
        <p:txBody>
          <a:bodyPr lIns="114300" tIns="25400" rIns="50800" bIns="25400" rtlCol="0" anchor="ctr"/>
          <a:lstStyle/>
          <a:p>
            <a:r>
              <a:rPr lang="de-CH" sz="1000" b="1" dirty="0">
                <a:solidFill>
                  <a:srgbClr val="9A6512"/>
                </a:solidFill>
              </a:rPr>
              <a:t>PP-09  </a:t>
            </a:r>
            <a:r>
              <a:rPr lang="de-CH" sz="1000" dirty="0">
                <a:solidFill>
                  <a:srgbClr val="1A2A38"/>
                </a:solidFill>
              </a:rPr>
              <a:t>Uneinheitlicher Informationsweg bei Freistellungen</a:t>
            </a:r>
          </a:p>
        </p:txBody>
      </p:sp>
      <p:sp>
        <p:nvSpPr>
          <p:cNvPr id="250" name="ppc"/>
          <p:cNvSpPr/>
          <p:nvPr/>
        </p:nvSpPr>
        <p:spPr>
          <a:xfrm>
            <a:off x="8940800" y="4103914"/>
            <a:ext cx="2311400" cy="377371"/>
          </a:xfrm>
          <a:prstGeom prst="rect">
            <a:avLst/>
          </a:prstGeom>
          <a:solidFill>
            <a:srgbClr val="FFFFFF"/>
          </a:solidFill>
          <a:ln>
            <a:noFill/>
          </a:ln>
        </p:spPr>
        <p:txBody>
          <a:bodyPr/>
          <a:lstStyle/>
          <a:p>
            <a:endParaRPr lang="de-CH"/>
          </a:p>
        </p:txBody>
      </p:sp>
      <p:sp>
        <p:nvSpPr>
          <p:cNvPr id="251" name="ppb"/>
          <p:cNvSpPr/>
          <p:nvPr/>
        </p:nvSpPr>
        <p:spPr>
          <a:xfrm>
            <a:off x="8940800" y="4103914"/>
            <a:ext cx="50800" cy="377371"/>
          </a:xfrm>
          <a:prstGeom prst="rect">
            <a:avLst/>
          </a:prstGeom>
          <a:solidFill>
            <a:srgbClr val="C8893A"/>
          </a:solidFill>
          <a:ln>
            <a:noFill/>
          </a:ln>
        </p:spPr>
        <p:txBody>
          <a:bodyPr/>
          <a:lstStyle/>
          <a:p>
            <a:endParaRPr lang="de-CH"/>
          </a:p>
        </p:txBody>
      </p:sp>
      <p:sp>
        <p:nvSpPr>
          <p:cNvPr id="252" name="ppt"/>
          <p:cNvSpPr/>
          <p:nvPr/>
        </p:nvSpPr>
        <p:spPr>
          <a:xfrm>
            <a:off x="8940800" y="4103914"/>
            <a:ext cx="2311400" cy="377371"/>
          </a:xfrm>
          <a:prstGeom prst="rect">
            <a:avLst/>
          </a:prstGeom>
          <a:noFill/>
          <a:ln>
            <a:noFill/>
          </a:ln>
        </p:spPr>
        <p:txBody>
          <a:bodyPr lIns="114300" tIns="25400" rIns="50800" bIns="25400" rtlCol="0" anchor="ctr"/>
          <a:lstStyle/>
          <a:p>
            <a:r>
              <a:rPr lang="de-CH" sz="1000" b="1" dirty="0">
                <a:solidFill>
                  <a:srgbClr val="9A6512"/>
                </a:solidFill>
              </a:rPr>
              <a:t>PP-11  </a:t>
            </a:r>
            <a:r>
              <a:rPr lang="de-CH" sz="1000" dirty="0">
                <a:solidFill>
                  <a:srgbClr val="1A2A38"/>
                </a:solidFill>
              </a:rPr>
              <a:t>Redundante Auflösungsabwicklung bei AuW-Nichtbestehen</a:t>
            </a:r>
          </a:p>
        </p:txBody>
      </p:sp>
      <p:sp>
        <p:nvSpPr>
          <p:cNvPr id="253" name="ppc"/>
          <p:cNvSpPr/>
          <p:nvPr/>
        </p:nvSpPr>
        <p:spPr>
          <a:xfrm>
            <a:off x="8940800" y="4532086"/>
            <a:ext cx="2311400" cy="377371"/>
          </a:xfrm>
          <a:prstGeom prst="rect">
            <a:avLst/>
          </a:prstGeom>
          <a:solidFill>
            <a:srgbClr val="FFFFFF"/>
          </a:solidFill>
          <a:ln>
            <a:noFill/>
          </a:ln>
        </p:spPr>
        <p:txBody>
          <a:bodyPr/>
          <a:lstStyle/>
          <a:p>
            <a:endParaRPr lang="de-CH"/>
          </a:p>
        </p:txBody>
      </p:sp>
      <p:sp>
        <p:nvSpPr>
          <p:cNvPr id="254" name="ppb"/>
          <p:cNvSpPr/>
          <p:nvPr/>
        </p:nvSpPr>
        <p:spPr>
          <a:xfrm>
            <a:off x="8940800" y="4532086"/>
            <a:ext cx="50800" cy="377371"/>
          </a:xfrm>
          <a:prstGeom prst="rect">
            <a:avLst/>
          </a:prstGeom>
          <a:solidFill>
            <a:srgbClr val="C8893A"/>
          </a:solidFill>
          <a:ln>
            <a:noFill/>
          </a:ln>
        </p:spPr>
        <p:txBody>
          <a:bodyPr/>
          <a:lstStyle/>
          <a:p>
            <a:endParaRPr lang="de-CH"/>
          </a:p>
        </p:txBody>
      </p:sp>
      <p:sp>
        <p:nvSpPr>
          <p:cNvPr id="255" name="ppt"/>
          <p:cNvSpPr/>
          <p:nvPr/>
        </p:nvSpPr>
        <p:spPr>
          <a:xfrm>
            <a:off x="8940800" y="4532086"/>
            <a:ext cx="2311400" cy="377371"/>
          </a:xfrm>
          <a:prstGeom prst="rect">
            <a:avLst/>
          </a:prstGeom>
          <a:noFill/>
          <a:ln>
            <a:noFill/>
          </a:ln>
        </p:spPr>
        <p:txBody>
          <a:bodyPr lIns="114300" tIns="25400" rIns="50800" bIns="25400" rtlCol="0" anchor="ctr"/>
          <a:lstStyle/>
          <a:p>
            <a:r>
              <a:rPr lang="de-CH" sz="1000" b="1" dirty="0">
                <a:solidFill>
                  <a:srgbClr val="9A6512"/>
                </a:solidFill>
              </a:rPr>
              <a:t>PP-14  </a:t>
            </a:r>
            <a:r>
              <a:rPr lang="de-CH" sz="1000" dirty="0">
                <a:solidFill>
                  <a:srgbClr val="1A2A38"/>
                </a:solidFill>
              </a:rPr>
              <a:t>Keine strukturierte Abbildung von Varianten und Sonderfällen</a:t>
            </a:r>
          </a:p>
        </p:txBody>
      </p:sp>
      <p:sp>
        <p:nvSpPr>
          <p:cNvPr id="256" name="ppc"/>
          <p:cNvSpPr/>
          <p:nvPr/>
        </p:nvSpPr>
        <p:spPr>
          <a:xfrm>
            <a:off x="8940800" y="4960257"/>
            <a:ext cx="2311400" cy="377371"/>
          </a:xfrm>
          <a:prstGeom prst="rect">
            <a:avLst/>
          </a:prstGeom>
          <a:solidFill>
            <a:srgbClr val="FFFFFF"/>
          </a:solidFill>
          <a:ln>
            <a:noFill/>
          </a:ln>
        </p:spPr>
        <p:txBody>
          <a:bodyPr/>
          <a:lstStyle/>
          <a:p>
            <a:endParaRPr lang="de-CH"/>
          </a:p>
        </p:txBody>
      </p:sp>
      <p:sp>
        <p:nvSpPr>
          <p:cNvPr id="257" name="ppb"/>
          <p:cNvSpPr/>
          <p:nvPr/>
        </p:nvSpPr>
        <p:spPr>
          <a:xfrm>
            <a:off x="8940800" y="4960257"/>
            <a:ext cx="50800" cy="377371"/>
          </a:xfrm>
          <a:prstGeom prst="rect">
            <a:avLst/>
          </a:prstGeom>
          <a:solidFill>
            <a:srgbClr val="C8893A"/>
          </a:solidFill>
          <a:ln>
            <a:noFill/>
          </a:ln>
        </p:spPr>
        <p:txBody>
          <a:bodyPr/>
          <a:lstStyle/>
          <a:p>
            <a:endParaRPr lang="de-CH"/>
          </a:p>
        </p:txBody>
      </p:sp>
      <p:sp>
        <p:nvSpPr>
          <p:cNvPr id="258" name="ppt"/>
          <p:cNvSpPr/>
          <p:nvPr/>
        </p:nvSpPr>
        <p:spPr>
          <a:xfrm>
            <a:off x="8940800" y="4960257"/>
            <a:ext cx="2311400" cy="377371"/>
          </a:xfrm>
          <a:prstGeom prst="rect">
            <a:avLst/>
          </a:prstGeom>
          <a:noFill/>
          <a:ln>
            <a:noFill/>
          </a:ln>
        </p:spPr>
        <p:txBody>
          <a:bodyPr lIns="114300" tIns="25400" rIns="50800" bIns="25400" rtlCol="0" anchor="ctr"/>
          <a:lstStyle/>
          <a:p>
            <a:r>
              <a:rPr lang="de-CH" sz="1000" b="1" dirty="0">
                <a:solidFill>
                  <a:srgbClr val="9A6512"/>
                </a:solidFill>
              </a:rPr>
              <a:t>PP-17  </a:t>
            </a:r>
            <a:r>
              <a:rPr lang="de-CH" sz="1000" dirty="0">
                <a:solidFill>
                  <a:srgbClr val="1A2A38"/>
                </a:solidFill>
              </a:rPr>
              <a:t>Manueller Abschluss des SAP-Fiori-Workflows (Ablauf Fonds/ZTP ..)</a:t>
            </a:r>
          </a:p>
        </p:txBody>
      </p:sp>
      <p:sp>
        <p:nvSpPr>
          <p:cNvPr id="259" name="ppc"/>
          <p:cNvSpPr/>
          <p:nvPr/>
        </p:nvSpPr>
        <p:spPr>
          <a:xfrm>
            <a:off x="8940800" y="5388429"/>
            <a:ext cx="2311400" cy="377371"/>
          </a:xfrm>
          <a:prstGeom prst="rect">
            <a:avLst/>
          </a:prstGeom>
          <a:solidFill>
            <a:srgbClr val="FFFFFF"/>
          </a:solidFill>
          <a:ln>
            <a:noFill/>
          </a:ln>
        </p:spPr>
        <p:txBody>
          <a:bodyPr/>
          <a:lstStyle/>
          <a:p>
            <a:endParaRPr lang="de-CH"/>
          </a:p>
        </p:txBody>
      </p:sp>
      <p:sp>
        <p:nvSpPr>
          <p:cNvPr id="260" name="ppb"/>
          <p:cNvSpPr/>
          <p:nvPr/>
        </p:nvSpPr>
        <p:spPr>
          <a:xfrm>
            <a:off x="8940800" y="5388429"/>
            <a:ext cx="50800" cy="377371"/>
          </a:xfrm>
          <a:prstGeom prst="rect">
            <a:avLst/>
          </a:prstGeom>
          <a:solidFill>
            <a:srgbClr val="C8893A"/>
          </a:solidFill>
          <a:ln>
            <a:noFill/>
          </a:ln>
        </p:spPr>
        <p:txBody>
          <a:bodyPr/>
          <a:lstStyle/>
          <a:p>
            <a:endParaRPr lang="de-CH"/>
          </a:p>
        </p:txBody>
      </p:sp>
      <p:sp>
        <p:nvSpPr>
          <p:cNvPr id="261" name="ppt"/>
          <p:cNvSpPr/>
          <p:nvPr/>
        </p:nvSpPr>
        <p:spPr>
          <a:xfrm>
            <a:off x="8940800" y="5388429"/>
            <a:ext cx="2311400" cy="377371"/>
          </a:xfrm>
          <a:prstGeom prst="rect">
            <a:avLst/>
          </a:prstGeom>
          <a:noFill/>
          <a:ln>
            <a:noFill/>
          </a:ln>
        </p:spPr>
        <p:txBody>
          <a:bodyPr lIns="114300" tIns="25400" rIns="50800" bIns="25400" rtlCol="0" anchor="ctr"/>
          <a:lstStyle/>
          <a:p>
            <a:r>
              <a:rPr lang="de-CH" sz="1000" b="1" dirty="0">
                <a:solidFill>
                  <a:srgbClr val="9A6512"/>
                </a:solidFill>
              </a:rPr>
              <a:t>PP-18  </a:t>
            </a:r>
            <a:r>
              <a:rPr lang="de-CH" sz="1000" dirty="0">
                <a:solidFill>
                  <a:srgbClr val="1A2A38"/>
                </a:solidFill>
              </a:rPr>
              <a:t>Pensionierung nicht strukturiert in Jira erfasst</a:t>
            </a:r>
          </a:p>
        </p:txBody>
      </p:sp>
      <p:sp>
        <p:nvSpPr>
          <p:cNvPr id="8" name="ppt">
            <a:extLst>
              <a:ext uri="{FF2B5EF4-FFF2-40B4-BE49-F238E27FC236}">
                <a16:creationId xmlns:a16="http://schemas.microsoft.com/office/drawing/2014/main" id="{4D49159B-B6F7-767E-F00C-E004B17B20BD}"/>
              </a:ext>
            </a:extLst>
          </p:cNvPr>
          <p:cNvSpPr/>
          <p:nvPr/>
        </p:nvSpPr>
        <p:spPr>
          <a:xfrm>
            <a:off x="6303210" y="4315051"/>
            <a:ext cx="2311400" cy="1233714"/>
          </a:xfrm>
          <a:prstGeom prst="rect">
            <a:avLst/>
          </a:prstGeom>
          <a:noFill/>
          <a:ln>
            <a:noFill/>
          </a:ln>
        </p:spPr>
        <p:txBody>
          <a:bodyPr lIns="114300" tIns="25400" rIns="50800" bIns="25400" rtlCol="0" anchor="ctr"/>
          <a:lstStyle/>
          <a:p>
            <a:endParaRPr lang="de-CH" sz="1000" dirty="0">
              <a:solidFill>
                <a:schemeClr val="bg2">
                  <a:lumMod val="10000"/>
                </a:schemeClr>
              </a:solidFill>
            </a:endParaRPr>
          </a:p>
        </p:txBody>
      </p:sp>
      <p:grpSp>
        <p:nvGrpSpPr>
          <p:cNvPr id="18" name="Gruppieren 17">
            <a:extLst>
              <a:ext uri="{FF2B5EF4-FFF2-40B4-BE49-F238E27FC236}">
                <a16:creationId xmlns:a16="http://schemas.microsoft.com/office/drawing/2014/main" id="{BD351326-E7D5-2802-78A4-88FC7C7CD177}"/>
              </a:ext>
            </a:extLst>
          </p:cNvPr>
          <p:cNvGrpSpPr/>
          <p:nvPr/>
        </p:nvGrpSpPr>
        <p:grpSpPr>
          <a:xfrm>
            <a:off x="7593980" y="1311584"/>
            <a:ext cx="4470709" cy="472973"/>
            <a:chOff x="7408128" y="1243494"/>
            <a:chExt cx="4783872" cy="512792"/>
          </a:xfrm>
        </p:grpSpPr>
        <p:sp>
          <p:nvSpPr>
            <p:cNvPr id="11" name="kern">
              <a:extLst>
                <a:ext uri="{FF2B5EF4-FFF2-40B4-BE49-F238E27FC236}">
                  <a16:creationId xmlns:a16="http://schemas.microsoft.com/office/drawing/2014/main" id="{5FB74C06-6851-2019-3FD2-59157948D598}"/>
                </a:ext>
              </a:extLst>
            </p:cNvPr>
            <p:cNvSpPr/>
            <p:nvPr/>
          </p:nvSpPr>
          <p:spPr>
            <a:xfrm>
              <a:off x="7408128" y="1262234"/>
              <a:ext cx="4783872" cy="494052"/>
            </a:xfrm>
            <a:prstGeom prst="rect">
              <a:avLst/>
            </a:prstGeom>
            <a:solidFill>
              <a:srgbClr val="EEF2F6"/>
            </a:solidFill>
            <a:ln>
              <a:noFill/>
            </a:ln>
          </p:spPr>
          <p:txBody>
            <a:bodyPr lIns="203200" tIns="50800" rIns="203200" bIns="50800" anchor="ctr"/>
            <a:lstStyle/>
            <a:p>
              <a:r>
                <a:rPr lang="de-CH" sz="1100" i="1" dirty="0">
                  <a:solidFill>
                    <a:schemeClr val="bg2">
                      <a:lumMod val="10000"/>
                    </a:schemeClr>
                  </a:solidFill>
                </a:rPr>
                <a:t>           </a:t>
              </a:r>
              <a:r>
                <a:rPr lang="de-CH" sz="1100" b="1" i="1" dirty="0">
                  <a:solidFill>
                    <a:schemeClr val="bg2">
                      <a:lumMod val="10000"/>
                    </a:schemeClr>
                  </a:solidFill>
                </a:rPr>
                <a:t>HF-03</a:t>
              </a:r>
              <a:r>
                <a:rPr lang="de-CH" sz="1100" i="1" dirty="0">
                  <a:solidFill>
                    <a:schemeClr val="bg2">
                      <a:lumMod val="10000"/>
                    </a:schemeClr>
                  </a:solidFill>
                </a:rPr>
                <a:t> </a:t>
              </a:r>
              <a:r>
                <a:rPr lang="de-CH" sz="1100" i="1" dirty="0"/>
                <a:t>weist Querbezüge zu den übrigen Handlungsfeldern auf!</a:t>
              </a:r>
              <a:endParaRPr lang="de-CH" sz="1100" i="1" dirty="0">
                <a:solidFill>
                  <a:schemeClr val="bg2">
                    <a:lumMod val="10000"/>
                  </a:schemeClr>
                </a:solidFill>
              </a:endParaRPr>
            </a:p>
          </p:txBody>
        </p:sp>
        <p:pic>
          <p:nvPicPr>
            <p:cNvPr id="17" name="Grafik 16">
              <a:extLst>
                <a:ext uri="{FF2B5EF4-FFF2-40B4-BE49-F238E27FC236}">
                  <a16:creationId xmlns:a16="http://schemas.microsoft.com/office/drawing/2014/main" id="{4201C56C-CA1A-83FD-6FB1-E9DEF73103D5}"/>
                </a:ext>
              </a:extLst>
            </p:cNvPr>
            <p:cNvPicPr>
              <a:picLocks noChangeAspect="1"/>
            </p:cNvPicPr>
            <p:nvPr/>
          </p:nvPicPr>
          <p:blipFill>
            <a:blip r:embed="rId3"/>
            <a:stretch/>
          </p:blipFill>
          <p:spPr>
            <a:xfrm>
              <a:off x="7490820" y="1243494"/>
              <a:ext cx="494052" cy="494052"/>
            </a:xfrm>
            <a:prstGeom prst="rect">
              <a:avLst/>
            </a:prstGeom>
          </p:spPr>
        </p:pic>
      </p:grpSp>
      <p:sp>
        <p:nvSpPr>
          <p:cNvPr id="21" name="Foliennummernplatzhalter 20">
            <a:extLst>
              <a:ext uri="{FF2B5EF4-FFF2-40B4-BE49-F238E27FC236}">
                <a16:creationId xmlns:a16="http://schemas.microsoft.com/office/drawing/2014/main" id="{72D38F48-FDD0-4F70-E76D-1E6F7A77A4A9}"/>
              </a:ext>
            </a:extLst>
          </p:cNvPr>
          <p:cNvSpPr>
            <a:spLocks noGrp="1"/>
          </p:cNvSpPr>
          <p:nvPr>
            <p:ph type="sldNum" sz="quarter" idx="12"/>
          </p:nvPr>
        </p:nvSpPr>
        <p:spPr/>
        <p:txBody>
          <a:bodyPr/>
          <a:lstStyle/>
          <a:p>
            <a:fld id="{2AAFDC3C-A9F8-4ABD-8D8D-8DC3321B02DC}" type="slidenum">
              <a:rPr lang="de-CH" smtClean="0"/>
              <a:t>18</a:t>
            </a:fld>
            <a:endParaRPr lang="de-CH"/>
          </a:p>
        </p:txBody>
      </p:sp>
    </p:spTree>
    <p:extLst>
      <p:ext uri="{BB962C8B-B14F-4D97-AF65-F5344CB8AC3E}">
        <p14:creationId xmlns:p14="http://schemas.microsoft.com/office/powerpoint/2010/main" val="1699120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0429E-7C80-02E3-9316-B18BE3DC122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2720C51-D526-78C2-9862-8E14CAC31A48}"/>
              </a:ext>
            </a:extLst>
          </p:cNvPr>
          <p:cNvSpPr>
            <a:spLocks noGrp="1"/>
          </p:cNvSpPr>
          <p:nvPr>
            <p:ph type="title"/>
          </p:nvPr>
        </p:nvSpPr>
        <p:spPr/>
        <p:txBody>
          <a:bodyPr/>
          <a:lstStyle/>
          <a:p>
            <a:pPr algn="l"/>
            <a:r>
              <a:rPr lang="de-CH" sz="2800" b="1" dirty="0">
                <a:solidFill>
                  <a:srgbClr val="1B3A5C"/>
                </a:solidFill>
              </a:rPr>
              <a:t>Projektstand und Vorgehen</a:t>
            </a:r>
          </a:p>
        </p:txBody>
      </p:sp>
      <p:sp>
        <p:nvSpPr>
          <p:cNvPr id="50" name="kicker">
            <a:extLst>
              <a:ext uri="{FF2B5EF4-FFF2-40B4-BE49-F238E27FC236}">
                <a16:creationId xmlns:a16="http://schemas.microsoft.com/office/drawing/2014/main" id="{2DF23813-163D-B011-084A-FCD7208A3B4D}"/>
              </a:ext>
            </a:extLst>
          </p:cNvPr>
          <p:cNvSpPr/>
          <p:nvPr/>
        </p:nvSpPr>
        <p:spPr>
          <a:xfrm>
            <a:off x="838200" y="1574800"/>
            <a:ext cx="9906000" cy="279400"/>
          </a:xfrm>
          <a:prstGeom prst="rect">
            <a:avLst/>
          </a:prstGeom>
          <a:noFill/>
        </p:spPr>
        <p:txBody>
          <a:bodyPr lIns="0" tIns="0" rIns="0" bIns="0"/>
          <a:lstStyle/>
          <a:p>
            <a:r>
              <a:rPr lang="de-DE" sz="1400" b="1" dirty="0">
                <a:solidFill>
                  <a:srgbClr val="2E6CA4"/>
                </a:solidFill>
              </a:rPr>
              <a:t>Phase 2 · Von den Datenquellen zum validierten IST-Konzept</a:t>
            </a:r>
          </a:p>
        </p:txBody>
      </p:sp>
      <p:sp>
        <p:nvSpPr>
          <p:cNvPr id="51" name="track">
            <a:extLst>
              <a:ext uri="{FF2B5EF4-FFF2-40B4-BE49-F238E27FC236}">
                <a16:creationId xmlns:a16="http://schemas.microsoft.com/office/drawing/2014/main" id="{1D8C6FF0-0BEB-28E7-006E-0BF6F23DC198}"/>
              </a:ext>
            </a:extLst>
          </p:cNvPr>
          <p:cNvSpPr/>
          <p:nvPr/>
        </p:nvSpPr>
        <p:spPr>
          <a:xfrm>
            <a:off x="1651000" y="2692401"/>
            <a:ext cx="8890000" cy="50800"/>
          </a:xfrm>
          <a:prstGeom prst="rect">
            <a:avLst/>
          </a:prstGeom>
          <a:solidFill>
            <a:srgbClr val="C9D6E2"/>
          </a:solidFill>
          <a:ln>
            <a:noFill/>
          </a:ln>
        </p:spPr>
        <p:txBody>
          <a:bodyPr/>
          <a:lstStyle/>
          <a:p>
            <a:endParaRPr/>
          </a:p>
        </p:txBody>
      </p:sp>
      <p:sp>
        <p:nvSpPr>
          <p:cNvPr id="53" name="c0">
            <a:extLst>
              <a:ext uri="{FF2B5EF4-FFF2-40B4-BE49-F238E27FC236}">
                <a16:creationId xmlns:a16="http://schemas.microsoft.com/office/drawing/2014/main" id="{9E195193-EE3D-8C3A-5F91-8686271ADBCC}"/>
              </a:ext>
            </a:extLst>
          </p:cNvPr>
          <p:cNvSpPr/>
          <p:nvPr/>
        </p:nvSpPr>
        <p:spPr>
          <a:xfrm>
            <a:off x="838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a:solidFill>
                  <a:srgbClr val="1B3A5C"/>
                </a:solidFill>
              </a:rPr>
              <a:t>Kick-off</a:t>
            </a:r>
          </a:p>
          <a:p>
            <a:pPr algn="ctr">
              <a:spcBef>
                <a:spcPts val="400"/>
              </a:spcBef>
            </a:pPr>
            <a:r>
              <a:rPr lang="de-CH" sz="1100">
                <a:solidFill>
                  <a:srgbClr val="5B6B79"/>
                </a:solidFill>
              </a:rPr>
              <a:t>Auftrag und Rahmen geklärt</a:t>
            </a:r>
          </a:p>
        </p:txBody>
      </p:sp>
      <p:sp>
        <p:nvSpPr>
          <p:cNvPr id="55" name="c1">
            <a:extLst>
              <a:ext uri="{FF2B5EF4-FFF2-40B4-BE49-F238E27FC236}">
                <a16:creationId xmlns:a16="http://schemas.microsoft.com/office/drawing/2014/main" id="{6636C698-90F2-8C00-19E6-3FE62DD6F9D3}"/>
              </a:ext>
            </a:extLst>
          </p:cNvPr>
          <p:cNvSpPr/>
          <p:nvPr/>
        </p:nvSpPr>
        <p:spPr>
          <a:xfrm>
            <a:off x="2616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dirty="0">
                <a:solidFill>
                  <a:srgbClr val="1B3A5C"/>
                </a:solidFill>
              </a:rPr>
              <a:t>Literatur und Disposition</a:t>
            </a:r>
          </a:p>
          <a:p>
            <a:pPr algn="ctr">
              <a:spcBef>
                <a:spcPts val="400"/>
              </a:spcBef>
            </a:pPr>
            <a:r>
              <a:rPr lang="de-CH" sz="1100" dirty="0">
                <a:solidFill>
                  <a:srgbClr val="5B6B79"/>
                </a:solidFill>
              </a:rPr>
              <a:t>Theoretische und methodische Grundlagen</a:t>
            </a:r>
          </a:p>
        </p:txBody>
      </p:sp>
      <p:sp>
        <p:nvSpPr>
          <p:cNvPr id="57" name="c2">
            <a:extLst>
              <a:ext uri="{FF2B5EF4-FFF2-40B4-BE49-F238E27FC236}">
                <a16:creationId xmlns:a16="http://schemas.microsoft.com/office/drawing/2014/main" id="{4392DA18-8530-5F4F-CEE6-A7D829CD9A91}"/>
              </a:ext>
            </a:extLst>
          </p:cNvPr>
          <p:cNvSpPr/>
          <p:nvPr/>
        </p:nvSpPr>
        <p:spPr>
          <a:xfrm>
            <a:off x="4394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dirty="0">
                <a:solidFill>
                  <a:srgbClr val="1B3A5C"/>
                </a:solidFill>
              </a:rPr>
              <a:t>IST-Erhebung</a:t>
            </a:r>
          </a:p>
          <a:p>
            <a:pPr algn="ctr">
              <a:spcBef>
                <a:spcPts val="400"/>
              </a:spcBef>
            </a:pPr>
            <a:r>
              <a:rPr lang="de-CH" sz="1100" dirty="0">
                <a:solidFill>
                  <a:srgbClr val="5B6B79"/>
                </a:solidFill>
              </a:rPr>
              <a:t>Dokumentenanalyse, Interviews, IST-Modellierung und Validierungsworkshop</a:t>
            </a:r>
          </a:p>
        </p:txBody>
      </p:sp>
      <p:sp>
        <p:nvSpPr>
          <p:cNvPr id="58" name="b3">
            <a:extLst>
              <a:ext uri="{FF2B5EF4-FFF2-40B4-BE49-F238E27FC236}">
                <a16:creationId xmlns:a16="http://schemas.microsoft.com/office/drawing/2014/main" id="{F8443023-D9BB-EC8F-D989-B422BFE6BA78}"/>
              </a:ext>
            </a:extLst>
          </p:cNvPr>
          <p:cNvSpPr/>
          <p:nvPr/>
        </p:nvSpPr>
        <p:spPr>
          <a:xfrm>
            <a:off x="6832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4</a:t>
            </a:r>
          </a:p>
        </p:txBody>
      </p:sp>
      <p:sp>
        <p:nvSpPr>
          <p:cNvPr id="59" name="c3">
            <a:extLst>
              <a:ext uri="{FF2B5EF4-FFF2-40B4-BE49-F238E27FC236}">
                <a16:creationId xmlns:a16="http://schemas.microsoft.com/office/drawing/2014/main" id="{553E7739-2533-5974-DF2C-111359B5D478}"/>
              </a:ext>
            </a:extLst>
          </p:cNvPr>
          <p:cNvSpPr/>
          <p:nvPr/>
        </p:nvSpPr>
        <p:spPr>
          <a:xfrm>
            <a:off x="6172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IST-Analyse</a:t>
            </a:r>
          </a:p>
          <a:p>
            <a:pPr algn="ctr">
              <a:spcBef>
                <a:spcPts val="400"/>
              </a:spcBef>
            </a:pPr>
            <a:r>
              <a:rPr lang="de-CH" sz="1100" dirty="0" err="1">
                <a:solidFill>
                  <a:srgbClr val="5B6B79"/>
                </a:solidFill>
              </a:rPr>
              <a:t>Issue</a:t>
            </a:r>
            <a:r>
              <a:rPr lang="de-CH" sz="1100" dirty="0">
                <a:solidFill>
                  <a:srgbClr val="5B6B79"/>
                </a:solidFill>
              </a:rPr>
              <a:t> Register, Value-</a:t>
            </a:r>
            <a:r>
              <a:rPr lang="de-CH" sz="1100" dirty="0" err="1">
                <a:solidFill>
                  <a:srgbClr val="5B6B79"/>
                </a:solidFill>
              </a:rPr>
              <a:t>Added</a:t>
            </a:r>
            <a:r>
              <a:rPr lang="de-CH" sz="1100" dirty="0">
                <a:solidFill>
                  <a:srgbClr val="5B6B79"/>
                </a:solidFill>
              </a:rPr>
              <a:t>-Analyse, </a:t>
            </a:r>
            <a:r>
              <a:rPr lang="de-CH" sz="1100" dirty="0" err="1">
                <a:solidFill>
                  <a:srgbClr val="5B6B79"/>
                </a:solidFill>
              </a:rPr>
              <a:t>Muda</a:t>
            </a:r>
            <a:r>
              <a:rPr lang="de-CH" sz="1100" dirty="0">
                <a:solidFill>
                  <a:srgbClr val="5B6B79"/>
                </a:solidFill>
              </a:rPr>
              <a:t>-</a:t>
            </a:r>
            <a:r>
              <a:rPr lang="de-CH" sz="1100" dirty="0" err="1">
                <a:solidFill>
                  <a:srgbClr val="5B6B79"/>
                </a:solidFill>
              </a:rPr>
              <a:t>Waste</a:t>
            </a:r>
            <a:r>
              <a:rPr lang="de-CH" sz="1100" dirty="0">
                <a:solidFill>
                  <a:srgbClr val="5B6B79"/>
                </a:solidFill>
              </a:rPr>
              <a:t>-Analyse und Ursachenanalyse </a:t>
            </a:r>
          </a:p>
        </p:txBody>
      </p:sp>
      <p:sp>
        <p:nvSpPr>
          <p:cNvPr id="60" name="b4">
            <a:extLst>
              <a:ext uri="{FF2B5EF4-FFF2-40B4-BE49-F238E27FC236}">
                <a16:creationId xmlns:a16="http://schemas.microsoft.com/office/drawing/2014/main" id="{97F2DF4E-B23D-7060-84D3-237108F2341A}"/>
              </a:ext>
            </a:extLst>
          </p:cNvPr>
          <p:cNvSpPr/>
          <p:nvPr/>
        </p:nvSpPr>
        <p:spPr>
          <a:xfrm>
            <a:off x="8610600" y="2565401"/>
            <a:ext cx="304800" cy="304800"/>
          </a:xfrm>
          <a:prstGeom prst="ellipse">
            <a:avLst/>
          </a:prstGeom>
          <a:solidFill>
            <a:srgbClr val="C8893A"/>
          </a:solidFill>
          <a:ln w="19050">
            <a:solidFill>
              <a:srgbClr val="C8893A"/>
            </a:solidFill>
          </a:ln>
        </p:spPr>
        <p:txBody>
          <a:bodyPr lIns="0" tIns="0" rIns="0" bIns="0" anchor="ctr"/>
          <a:lstStyle/>
          <a:p>
            <a:pPr algn="ctr"/>
            <a:r>
              <a:rPr lang="de-CH" sz="1300" b="1" dirty="0">
                <a:solidFill>
                  <a:srgbClr val="FFFFFF"/>
                </a:solidFill>
              </a:rPr>
              <a:t>5</a:t>
            </a:r>
          </a:p>
        </p:txBody>
      </p:sp>
      <p:sp>
        <p:nvSpPr>
          <p:cNvPr id="61" name="c4">
            <a:extLst>
              <a:ext uri="{FF2B5EF4-FFF2-40B4-BE49-F238E27FC236}">
                <a16:creationId xmlns:a16="http://schemas.microsoft.com/office/drawing/2014/main" id="{855460AB-0389-6CC5-7154-C8EAFC7354B5}"/>
              </a:ext>
            </a:extLst>
          </p:cNvPr>
          <p:cNvSpPr/>
          <p:nvPr/>
        </p:nvSpPr>
        <p:spPr>
          <a:xfrm>
            <a:off x="7950200" y="3098801"/>
            <a:ext cx="1625600" cy="1905000"/>
          </a:xfrm>
          <a:prstGeom prst="roundRect">
            <a:avLst>
              <a:gd name="adj" fmla="val 6000"/>
            </a:avLst>
          </a:prstGeom>
          <a:solidFill>
            <a:schemeClr val="bg1"/>
          </a:solidFill>
          <a:ln w="22225">
            <a:solidFill>
              <a:schemeClr val="bg2"/>
            </a:solidFill>
          </a:ln>
        </p:spPr>
        <p:txBody>
          <a:bodyPr lIns="101600" tIns="127000" rIns="101600" bIns="101600" anchor="t">
            <a:normAutofit/>
          </a:bodyPr>
          <a:lstStyle/>
          <a:p>
            <a:pPr algn="ctr"/>
            <a:r>
              <a:rPr lang="de-CH" sz="1300" b="1" dirty="0">
                <a:solidFill>
                  <a:srgbClr val="1B3A5C"/>
                </a:solidFill>
              </a:rPr>
              <a:t>SOLL-Konzept</a:t>
            </a:r>
          </a:p>
          <a:p>
            <a:pPr algn="ctr">
              <a:spcBef>
                <a:spcPts val="400"/>
              </a:spcBef>
            </a:pPr>
            <a:r>
              <a:rPr lang="de-CH" sz="1100" dirty="0">
                <a:solidFill>
                  <a:srgbClr val="5B6B79"/>
                </a:solidFill>
              </a:rPr>
              <a:t>Ziel-Konzept im SOLL-Workshop entwickeln und Anforderungen erheben</a:t>
            </a:r>
          </a:p>
        </p:txBody>
      </p:sp>
      <p:sp>
        <p:nvSpPr>
          <p:cNvPr id="63" name="b5">
            <a:extLst>
              <a:ext uri="{FF2B5EF4-FFF2-40B4-BE49-F238E27FC236}">
                <a16:creationId xmlns:a16="http://schemas.microsoft.com/office/drawing/2014/main" id="{E7142DF9-1FB5-6D4F-09D9-95F52648C3AA}"/>
              </a:ext>
            </a:extLst>
          </p:cNvPr>
          <p:cNvSpPr/>
          <p:nvPr/>
        </p:nvSpPr>
        <p:spPr>
          <a:xfrm>
            <a:off x="10388600" y="2565401"/>
            <a:ext cx="304800" cy="304800"/>
          </a:xfrm>
          <a:prstGeom prst="ellipse">
            <a:avLst/>
          </a:prstGeom>
          <a:solidFill>
            <a:srgbClr val="1B3A5C"/>
          </a:solidFill>
          <a:ln w="19050">
            <a:solidFill>
              <a:srgbClr val="7FA8C9"/>
            </a:solidFill>
          </a:ln>
        </p:spPr>
        <p:txBody>
          <a:bodyPr lIns="0" tIns="0" rIns="0" bIns="0" anchor="ctr"/>
          <a:lstStyle/>
          <a:p>
            <a:pPr algn="ctr"/>
            <a:r>
              <a:rPr lang="de-CH" sz="1300" b="1" dirty="0">
                <a:solidFill>
                  <a:srgbClr val="FFFFFF"/>
                </a:solidFill>
              </a:rPr>
              <a:t>6</a:t>
            </a:r>
          </a:p>
        </p:txBody>
      </p:sp>
      <p:sp>
        <p:nvSpPr>
          <p:cNvPr id="64" name="c5">
            <a:extLst>
              <a:ext uri="{FF2B5EF4-FFF2-40B4-BE49-F238E27FC236}">
                <a16:creationId xmlns:a16="http://schemas.microsoft.com/office/drawing/2014/main" id="{292AE453-0207-D521-7892-8FA95D81E9C9}"/>
              </a:ext>
            </a:extLst>
          </p:cNvPr>
          <p:cNvSpPr/>
          <p:nvPr/>
        </p:nvSpPr>
        <p:spPr>
          <a:xfrm>
            <a:off x="9728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Detailspezifikation und Abnahme</a:t>
            </a:r>
          </a:p>
          <a:p>
            <a:pPr algn="ctr">
              <a:spcBef>
                <a:spcPts val="400"/>
              </a:spcBef>
            </a:pPr>
            <a:r>
              <a:rPr lang="de-CH" sz="1100" dirty="0">
                <a:solidFill>
                  <a:srgbClr val="5B6B79"/>
                </a:solidFill>
              </a:rPr>
              <a:t>Anforderungskatalog inkl. User Stories und Use Cases, Projektabnahme</a:t>
            </a:r>
          </a:p>
        </p:txBody>
      </p:sp>
      <p:sp>
        <p:nvSpPr>
          <p:cNvPr id="3" name="b0">
            <a:extLst>
              <a:ext uri="{FF2B5EF4-FFF2-40B4-BE49-F238E27FC236}">
                <a16:creationId xmlns:a16="http://schemas.microsoft.com/office/drawing/2014/main" id="{C97D21D8-EF4B-9504-3CE1-208BD9C882C6}"/>
              </a:ext>
            </a:extLst>
          </p:cNvPr>
          <p:cNvSpPr/>
          <p:nvPr/>
        </p:nvSpPr>
        <p:spPr>
          <a:xfrm>
            <a:off x="8610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5</a:t>
            </a:r>
          </a:p>
        </p:txBody>
      </p:sp>
      <p:sp>
        <p:nvSpPr>
          <p:cNvPr id="4" name="b0">
            <a:extLst>
              <a:ext uri="{FF2B5EF4-FFF2-40B4-BE49-F238E27FC236}">
                <a16:creationId xmlns:a16="http://schemas.microsoft.com/office/drawing/2014/main" id="{AEB493B1-87A1-47A0-BA88-36CC91D7BE18}"/>
              </a:ext>
            </a:extLst>
          </p:cNvPr>
          <p:cNvSpPr/>
          <p:nvPr/>
        </p:nvSpPr>
        <p:spPr>
          <a:xfrm>
            <a:off x="1346200" y="2565401"/>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5" name="Grafik 4" descr="Häkchen mit einfarbiger Füllung">
            <a:extLst>
              <a:ext uri="{FF2B5EF4-FFF2-40B4-BE49-F238E27FC236}">
                <a16:creationId xmlns:a16="http://schemas.microsoft.com/office/drawing/2014/main" id="{393B1FE3-37FA-C432-AC62-FF3C7AC960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90650" y="2609851"/>
            <a:ext cx="215900" cy="215900"/>
          </a:xfrm>
          <a:prstGeom prst="rect">
            <a:avLst/>
          </a:prstGeom>
        </p:spPr>
      </p:pic>
      <p:sp>
        <p:nvSpPr>
          <p:cNvPr id="6" name="b0">
            <a:extLst>
              <a:ext uri="{FF2B5EF4-FFF2-40B4-BE49-F238E27FC236}">
                <a16:creationId xmlns:a16="http://schemas.microsoft.com/office/drawing/2014/main" id="{94DBEB2F-15FD-6301-FF4F-BC1235DC7709}"/>
              </a:ext>
            </a:extLst>
          </p:cNvPr>
          <p:cNvSpPr/>
          <p:nvPr/>
        </p:nvSpPr>
        <p:spPr>
          <a:xfrm>
            <a:off x="3200400" y="2580988"/>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7" name="Grafik 6" descr="Häkchen mit einfarbiger Füllung">
            <a:extLst>
              <a:ext uri="{FF2B5EF4-FFF2-40B4-BE49-F238E27FC236}">
                <a16:creationId xmlns:a16="http://schemas.microsoft.com/office/drawing/2014/main" id="{156CA97F-A2E6-AB1F-7EA0-316ED552175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244850" y="2625438"/>
            <a:ext cx="215900" cy="215900"/>
          </a:xfrm>
          <a:prstGeom prst="rect">
            <a:avLst/>
          </a:prstGeom>
        </p:spPr>
      </p:pic>
      <p:sp>
        <p:nvSpPr>
          <p:cNvPr id="8" name="b0">
            <a:extLst>
              <a:ext uri="{FF2B5EF4-FFF2-40B4-BE49-F238E27FC236}">
                <a16:creationId xmlns:a16="http://schemas.microsoft.com/office/drawing/2014/main" id="{D51FEA69-E6EA-CBF1-50FE-523742E5FF9B}"/>
              </a:ext>
            </a:extLst>
          </p:cNvPr>
          <p:cNvSpPr/>
          <p:nvPr/>
        </p:nvSpPr>
        <p:spPr>
          <a:xfrm>
            <a:off x="5032664" y="2580988"/>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9" name="Grafik 8" descr="Häkchen mit einfarbiger Füllung">
            <a:extLst>
              <a:ext uri="{FF2B5EF4-FFF2-40B4-BE49-F238E27FC236}">
                <a16:creationId xmlns:a16="http://schemas.microsoft.com/office/drawing/2014/main" id="{4B419147-EE6E-6153-7D1F-E50C5F67470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77114" y="2625438"/>
            <a:ext cx="215900" cy="215900"/>
          </a:xfrm>
          <a:prstGeom prst="rect">
            <a:avLst/>
          </a:prstGeom>
        </p:spPr>
      </p:pic>
      <p:sp>
        <p:nvSpPr>
          <p:cNvPr id="10" name="Foliennummernplatzhalter 9">
            <a:extLst>
              <a:ext uri="{FF2B5EF4-FFF2-40B4-BE49-F238E27FC236}">
                <a16:creationId xmlns:a16="http://schemas.microsoft.com/office/drawing/2014/main" id="{827C298E-5B90-7E3E-F0C0-C15CF52064C8}"/>
              </a:ext>
            </a:extLst>
          </p:cNvPr>
          <p:cNvSpPr>
            <a:spLocks noGrp="1"/>
          </p:cNvSpPr>
          <p:nvPr>
            <p:ph type="sldNum" sz="quarter" idx="12"/>
          </p:nvPr>
        </p:nvSpPr>
        <p:spPr/>
        <p:txBody>
          <a:bodyPr/>
          <a:lstStyle/>
          <a:p>
            <a:fld id="{2AAFDC3C-A9F8-4ABD-8D8D-8DC3321B02DC}" type="slidenum">
              <a:rPr lang="de-CH" smtClean="0"/>
              <a:t>19</a:t>
            </a:fld>
            <a:endParaRPr lang="de-CH"/>
          </a:p>
        </p:txBody>
      </p:sp>
      <p:sp>
        <p:nvSpPr>
          <p:cNvPr id="11" name="Datumsplatzhalter 10">
            <a:extLst>
              <a:ext uri="{FF2B5EF4-FFF2-40B4-BE49-F238E27FC236}">
                <a16:creationId xmlns:a16="http://schemas.microsoft.com/office/drawing/2014/main" id="{AB34E67A-6C28-6A95-9A28-834A619A18C0}"/>
              </a:ext>
            </a:extLst>
          </p:cNvPr>
          <p:cNvSpPr>
            <a:spLocks noGrp="1"/>
          </p:cNvSpPr>
          <p:nvPr>
            <p:ph type="dt" sz="half" idx="10"/>
          </p:nvPr>
        </p:nvSpPr>
        <p:spPr/>
        <p:txBody>
          <a:bodyPr/>
          <a:lstStyle/>
          <a:p>
            <a:r>
              <a:rPr lang="de-CH"/>
              <a:t>11.06.2026</a:t>
            </a:r>
          </a:p>
        </p:txBody>
      </p:sp>
    </p:spTree>
    <p:extLst>
      <p:ext uri="{BB962C8B-B14F-4D97-AF65-F5344CB8AC3E}">
        <p14:creationId xmlns:p14="http://schemas.microsoft.com/office/powerpoint/2010/main" val="1896204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B27DA-446E-BD28-4B53-C2D9128A0C9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3BDC39C-DA0C-B7F9-A922-B0B953A9B6D0}"/>
              </a:ext>
            </a:extLst>
          </p:cNvPr>
          <p:cNvSpPr>
            <a:spLocks noGrp="1"/>
          </p:cNvSpPr>
          <p:nvPr>
            <p:ph type="title"/>
          </p:nvPr>
        </p:nvSpPr>
        <p:spPr/>
        <p:txBody>
          <a:bodyPr/>
          <a:lstStyle/>
          <a:p>
            <a:pPr algn="l"/>
            <a:r>
              <a:rPr lang="de-CH" sz="2800" b="1">
                <a:solidFill>
                  <a:srgbClr val="1B3A5C"/>
                </a:solidFill>
              </a:rPr>
              <a:t>Projektstand und Vorgehen</a:t>
            </a:r>
          </a:p>
        </p:txBody>
      </p:sp>
      <p:sp>
        <p:nvSpPr>
          <p:cNvPr id="50" name="kicker">
            <a:extLst>
              <a:ext uri="{FF2B5EF4-FFF2-40B4-BE49-F238E27FC236}">
                <a16:creationId xmlns:a16="http://schemas.microsoft.com/office/drawing/2014/main" id="{885B96BD-5E7E-C6D5-1B84-14823910B79F}"/>
              </a:ext>
            </a:extLst>
          </p:cNvPr>
          <p:cNvSpPr/>
          <p:nvPr/>
        </p:nvSpPr>
        <p:spPr>
          <a:xfrm>
            <a:off x="838200" y="1574800"/>
            <a:ext cx="9906000" cy="279400"/>
          </a:xfrm>
          <a:prstGeom prst="rect">
            <a:avLst/>
          </a:prstGeom>
          <a:noFill/>
        </p:spPr>
        <p:txBody>
          <a:bodyPr lIns="0" tIns="0" rIns="0" bIns="0"/>
          <a:lstStyle/>
          <a:p>
            <a:r>
              <a:rPr lang="de-DE" sz="1400" b="1" dirty="0">
                <a:solidFill>
                  <a:srgbClr val="2E6CA4"/>
                </a:solidFill>
              </a:rPr>
              <a:t>Phase 3 · Von erhobenen Pain Points zu bestätigten Handlungsfeldern</a:t>
            </a:r>
          </a:p>
        </p:txBody>
      </p:sp>
      <p:sp>
        <p:nvSpPr>
          <p:cNvPr id="51" name="track">
            <a:extLst>
              <a:ext uri="{FF2B5EF4-FFF2-40B4-BE49-F238E27FC236}">
                <a16:creationId xmlns:a16="http://schemas.microsoft.com/office/drawing/2014/main" id="{0FBDAE1D-492D-59CF-B0C8-8A779B58B5A0}"/>
              </a:ext>
            </a:extLst>
          </p:cNvPr>
          <p:cNvSpPr/>
          <p:nvPr/>
        </p:nvSpPr>
        <p:spPr>
          <a:xfrm>
            <a:off x="1651000" y="2692401"/>
            <a:ext cx="8890000" cy="50800"/>
          </a:xfrm>
          <a:prstGeom prst="rect">
            <a:avLst/>
          </a:prstGeom>
          <a:solidFill>
            <a:srgbClr val="C9D6E2"/>
          </a:solidFill>
          <a:ln>
            <a:noFill/>
          </a:ln>
        </p:spPr>
        <p:txBody>
          <a:bodyPr/>
          <a:lstStyle/>
          <a:p>
            <a:endParaRPr/>
          </a:p>
        </p:txBody>
      </p:sp>
      <p:sp>
        <p:nvSpPr>
          <p:cNvPr id="53" name="c0">
            <a:extLst>
              <a:ext uri="{FF2B5EF4-FFF2-40B4-BE49-F238E27FC236}">
                <a16:creationId xmlns:a16="http://schemas.microsoft.com/office/drawing/2014/main" id="{3F46C691-0040-2079-D9C6-D6B9D39BF55A}"/>
              </a:ext>
            </a:extLst>
          </p:cNvPr>
          <p:cNvSpPr/>
          <p:nvPr/>
        </p:nvSpPr>
        <p:spPr>
          <a:xfrm>
            <a:off x="838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a:solidFill>
                  <a:srgbClr val="1B3A5C"/>
                </a:solidFill>
              </a:rPr>
              <a:t>Kick-off</a:t>
            </a:r>
          </a:p>
          <a:p>
            <a:pPr algn="ctr">
              <a:spcBef>
                <a:spcPts val="400"/>
              </a:spcBef>
            </a:pPr>
            <a:r>
              <a:rPr lang="de-CH" sz="1100">
                <a:solidFill>
                  <a:srgbClr val="5B6B79"/>
                </a:solidFill>
              </a:rPr>
              <a:t>Auftrag und Rahmen geklärt</a:t>
            </a:r>
          </a:p>
        </p:txBody>
      </p:sp>
      <p:sp>
        <p:nvSpPr>
          <p:cNvPr id="55" name="c1">
            <a:extLst>
              <a:ext uri="{FF2B5EF4-FFF2-40B4-BE49-F238E27FC236}">
                <a16:creationId xmlns:a16="http://schemas.microsoft.com/office/drawing/2014/main" id="{D509F880-FD4E-1C93-490F-40A5685284E6}"/>
              </a:ext>
            </a:extLst>
          </p:cNvPr>
          <p:cNvSpPr/>
          <p:nvPr/>
        </p:nvSpPr>
        <p:spPr>
          <a:xfrm>
            <a:off x="2616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dirty="0">
                <a:solidFill>
                  <a:srgbClr val="1B3A5C"/>
                </a:solidFill>
              </a:rPr>
              <a:t>Literatur und Disposition</a:t>
            </a:r>
          </a:p>
          <a:p>
            <a:pPr algn="ctr">
              <a:spcBef>
                <a:spcPts val="400"/>
              </a:spcBef>
            </a:pPr>
            <a:r>
              <a:rPr lang="de-CH" sz="1100" dirty="0">
                <a:solidFill>
                  <a:srgbClr val="5B6B79"/>
                </a:solidFill>
              </a:rPr>
              <a:t>Theoretische und methodische Grundlagen</a:t>
            </a:r>
          </a:p>
        </p:txBody>
      </p:sp>
      <p:sp>
        <p:nvSpPr>
          <p:cNvPr id="57" name="c2">
            <a:extLst>
              <a:ext uri="{FF2B5EF4-FFF2-40B4-BE49-F238E27FC236}">
                <a16:creationId xmlns:a16="http://schemas.microsoft.com/office/drawing/2014/main" id="{AA0139A2-EFE1-A8FD-ED57-8CD166B38E83}"/>
              </a:ext>
            </a:extLst>
          </p:cNvPr>
          <p:cNvSpPr/>
          <p:nvPr/>
        </p:nvSpPr>
        <p:spPr>
          <a:xfrm>
            <a:off x="4394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dirty="0">
                <a:solidFill>
                  <a:srgbClr val="1B3A5C"/>
                </a:solidFill>
              </a:rPr>
              <a:t>IST-Erhebung</a:t>
            </a:r>
          </a:p>
          <a:p>
            <a:pPr algn="ctr">
              <a:spcBef>
                <a:spcPts val="400"/>
              </a:spcBef>
            </a:pPr>
            <a:r>
              <a:rPr lang="de-CH" sz="1100" dirty="0">
                <a:solidFill>
                  <a:srgbClr val="5B6B79"/>
                </a:solidFill>
              </a:rPr>
              <a:t>Dokumentenanalyse, Interviews, IST-Modellierung und Validierungsworkshop</a:t>
            </a:r>
          </a:p>
        </p:txBody>
      </p:sp>
      <p:sp>
        <p:nvSpPr>
          <p:cNvPr id="58" name="b3">
            <a:extLst>
              <a:ext uri="{FF2B5EF4-FFF2-40B4-BE49-F238E27FC236}">
                <a16:creationId xmlns:a16="http://schemas.microsoft.com/office/drawing/2014/main" id="{B7859F3F-49DF-EE15-3A25-0D92F5E8AFD3}"/>
              </a:ext>
            </a:extLst>
          </p:cNvPr>
          <p:cNvSpPr/>
          <p:nvPr/>
        </p:nvSpPr>
        <p:spPr>
          <a:xfrm>
            <a:off x="6832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4</a:t>
            </a:r>
          </a:p>
        </p:txBody>
      </p:sp>
      <p:sp>
        <p:nvSpPr>
          <p:cNvPr id="59" name="c3">
            <a:extLst>
              <a:ext uri="{FF2B5EF4-FFF2-40B4-BE49-F238E27FC236}">
                <a16:creationId xmlns:a16="http://schemas.microsoft.com/office/drawing/2014/main" id="{4B282D4A-4387-5B09-CD8B-C10FC60B4265}"/>
              </a:ext>
            </a:extLst>
          </p:cNvPr>
          <p:cNvSpPr/>
          <p:nvPr/>
        </p:nvSpPr>
        <p:spPr>
          <a:xfrm>
            <a:off x="6172200" y="3098801"/>
            <a:ext cx="1625600" cy="1905000"/>
          </a:xfrm>
          <a:prstGeom prst="roundRect">
            <a:avLst>
              <a:gd name="adj" fmla="val 6000"/>
            </a:avLst>
          </a:prstGeom>
          <a:solidFill>
            <a:schemeClr val="accent1">
              <a:lumMod val="20000"/>
              <a:lumOff val="80000"/>
            </a:schemeClr>
          </a:solidFill>
          <a:ln w="12700">
            <a:solidFill>
              <a:srgbClr val="C9D6E2"/>
            </a:solidFill>
          </a:ln>
        </p:spPr>
        <p:txBody>
          <a:bodyPr lIns="101600" tIns="127000" rIns="101600" bIns="101600" anchor="t">
            <a:normAutofit/>
          </a:bodyPr>
          <a:lstStyle/>
          <a:p>
            <a:pPr algn="ctr"/>
            <a:r>
              <a:rPr lang="de-CH" sz="1300" b="1" dirty="0">
                <a:solidFill>
                  <a:srgbClr val="1B3A5C"/>
                </a:solidFill>
              </a:rPr>
              <a:t>IST-Analyse</a:t>
            </a:r>
          </a:p>
          <a:p>
            <a:pPr algn="ctr">
              <a:spcBef>
                <a:spcPts val="400"/>
              </a:spcBef>
            </a:pPr>
            <a:r>
              <a:rPr lang="de-CH" sz="1100" dirty="0" err="1">
                <a:solidFill>
                  <a:srgbClr val="5B6B79"/>
                </a:solidFill>
              </a:rPr>
              <a:t>Issue</a:t>
            </a:r>
            <a:r>
              <a:rPr lang="de-CH" sz="1100" dirty="0">
                <a:solidFill>
                  <a:srgbClr val="5B6B79"/>
                </a:solidFill>
              </a:rPr>
              <a:t> Register, Value-</a:t>
            </a:r>
            <a:r>
              <a:rPr lang="de-CH" sz="1100" dirty="0" err="1">
                <a:solidFill>
                  <a:srgbClr val="5B6B79"/>
                </a:solidFill>
              </a:rPr>
              <a:t>Added</a:t>
            </a:r>
            <a:r>
              <a:rPr lang="de-CH" sz="1100" dirty="0">
                <a:solidFill>
                  <a:srgbClr val="5B6B79"/>
                </a:solidFill>
              </a:rPr>
              <a:t>-Analyse, </a:t>
            </a:r>
            <a:r>
              <a:rPr lang="de-CH" sz="1100" dirty="0" err="1">
                <a:solidFill>
                  <a:srgbClr val="5B6B79"/>
                </a:solidFill>
              </a:rPr>
              <a:t>Muda</a:t>
            </a:r>
            <a:r>
              <a:rPr lang="de-CH" sz="1100" dirty="0">
                <a:solidFill>
                  <a:srgbClr val="5B6B79"/>
                </a:solidFill>
              </a:rPr>
              <a:t>-</a:t>
            </a:r>
            <a:r>
              <a:rPr lang="de-CH" sz="1100" dirty="0" err="1">
                <a:solidFill>
                  <a:srgbClr val="5B6B79"/>
                </a:solidFill>
              </a:rPr>
              <a:t>Waste</a:t>
            </a:r>
            <a:r>
              <a:rPr lang="de-CH" sz="1100" dirty="0">
                <a:solidFill>
                  <a:srgbClr val="5B6B79"/>
                </a:solidFill>
              </a:rPr>
              <a:t>-Analyse und Ursachenanalyse </a:t>
            </a:r>
          </a:p>
        </p:txBody>
      </p:sp>
      <p:sp>
        <p:nvSpPr>
          <p:cNvPr id="60" name="b4">
            <a:extLst>
              <a:ext uri="{FF2B5EF4-FFF2-40B4-BE49-F238E27FC236}">
                <a16:creationId xmlns:a16="http://schemas.microsoft.com/office/drawing/2014/main" id="{2FCED220-B170-1D5D-682D-7FA33E2D48AF}"/>
              </a:ext>
            </a:extLst>
          </p:cNvPr>
          <p:cNvSpPr/>
          <p:nvPr/>
        </p:nvSpPr>
        <p:spPr>
          <a:xfrm>
            <a:off x="8610600" y="2565401"/>
            <a:ext cx="304800" cy="304800"/>
          </a:xfrm>
          <a:prstGeom prst="ellipse">
            <a:avLst/>
          </a:prstGeom>
          <a:solidFill>
            <a:srgbClr val="C8893A"/>
          </a:solidFill>
          <a:ln w="19050">
            <a:solidFill>
              <a:srgbClr val="C8893A"/>
            </a:solidFill>
          </a:ln>
        </p:spPr>
        <p:txBody>
          <a:bodyPr lIns="0" tIns="0" rIns="0" bIns="0" anchor="ctr"/>
          <a:lstStyle/>
          <a:p>
            <a:pPr algn="ctr"/>
            <a:r>
              <a:rPr lang="de-CH" sz="1300" b="1" dirty="0">
                <a:solidFill>
                  <a:srgbClr val="FFFFFF"/>
                </a:solidFill>
              </a:rPr>
              <a:t>5</a:t>
            </a:r>
          </a:p>
        </p:txBody>
      </p:sp>
      <p:sp>
        <p:nvSpPr>
          <p:cNvPr id="61" name="c4">
            <a:extLst>
              <a:ext uri="{FF2B5EF4-FFF2-40B4-BE49-F238E27FC236}">
                <a16:creationId xmlns:a16="http://schemas.microsoft.com/office/drawing/2014/main" id="{A202D2B0-D630-1E42-E749-71C8DCBFC653}"/>
              </a:ext>
            </a:extLst>
          </p:cNvPr>
          <p:cNvSpPr/>
          <p:nvPr/>
        </p:nvSpPr>
        <p:spPr>
          <a:xfrm>
            <a:off x="7950200" y="3098801"/>
            <a:ext cx="1625600" cy="1905000"/>
          </a:xfrm>
          <a:prstGeom prst="roundRect">
            <a:avLst>
              <a:gd name="adj" fmla="val 6000"/>
            </a:avLst>
          </a:prstGeom>
          <a:solidFill>
            <a:schemeClr val="bg1"/>
          </a:solidFill>
          <a:ln w="22225">
            <a:solidFill>
              <a:schemeClr val="bg2"/>
            </a:solidFill>
          </a:ln>
        </p:spPr>
        <p:txBody>
          <a:bodyPr lIns="101600" tIns="127000" rIns="101600" bIns="101600" anchor="t">
            <a:normAutofit/>
          </a:bodyPr>
          <a:lstStyle/>
          <a:p>
            <a:pPr algn="ctr"/>
            <a:r>
              <a:rPr lang="de-CH" sz="1300" b="1" dirty="0">
                <a:solidFill>
                  <a:srgbClr val="1B3A5C"/>
                </a:solidFill>
              </a:rPr>
              <a:t>SOLL-Konzept</a:t>
            </a:r>
          </a:p>
          <a:p>
            <a:pPr algn="ctr">
              <a:spcBef>
                <a:spcPts val="400"/>
              </a:spcBef>
            </a:pPr>
            <a:r>
              <a:rPr lang="de-CH" sz="1100" dirty="0">
                <a:solidFill>
                  <a:srgbClr val="5B6B79"/>
                </a:solidFill>
              </a:rPr>
              <a:t>Ziel-Konzept im SOLL-Workshop entwickeln und Anforderungen erheben</a:t>
            </a:r>
          </a:p>
        </p:txBody>
      </p:sp>
      <p:sp>
        <p:nvSpPr>
          <p:cNvPr id="63" name="b5">
            <a:extLst>
              <a:ext uri="{FF2B5EF4-FFF2-40B4-BE49-F238E27FC236}">
                <a16:creationId xmlns:a16="http://schemas.microsoft.com/office/drawing/2014/main" id="{01760933-8FE5-C0B9-6CAE-6173E2FCDF32}"/>
              </a:ext>
            </a:extLst>
          </p:cNvPr>
          <p:cNvSpPr/>
          <p:nvPr/>
        </p:nvSpPr>
        <p:spPr>
          <a:xfrm>
            <a:off x="10388600" y="2565401"/>
            <a:ext cx="304800" cy="304800"/>
          </a:xfrm>
          <a:prstGeom prst="ellipse">
            <a:avLst/>
          </a:prstGeom>
          <a:solidFill>
            <a:srgbClr val="1B3A5C"/>
          </a:solidFill>
          <a:ln w="19050">
            <a:solidFill>
              <a:srgbClr val="7FA8C9"/>
            </a:solidFill>
          </a:ln>
        </p:spPr>
        <p:txBody>
          <a:bodyPr lIns="0" tIns="0" rIns="0" bIns="0" anchor="ctr"/>
          <a:lstStyle/>
          <a:p>
            <a:pPr algn="ctr"/>
            <a:r>
              <a:rPr lang="de-CH" sz="1300" b="1" dirty="0">
                <a:solidFill>
                  <a:srgbClr val="FFFFFF"/>
                </a:solidFill>
              </a:rPr>
              <a:t>6</a:t>
            </a:r>
          </a:p>
        </p:txBody>
      </p:sp>
      <p:sp>
        <p:nvSpPr>
          <p:cNvPr id="64" name="c5">
            <a:extLst>
              <a:ext uri="{FF2B5EF4-FFF2-40B4-BE49-F238E27FC236}">
                <a16:creationId xmlns:a16="http://schemas.microsoft.com/office/drawing/2014/main" id="{003D997B-CA53-85C9-1B8F-E3641087D39C}"/>
              </a:ext>
            </a:extLst>
          </p:cNvPr>
          <p:cNvSpPr/>
          <p:nvPr/>
        </p:nvSpPr>
        <p:spPr>
          <a:xfrm>
            <a:off x="9728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Detailspezifikation und Abnahme</a:t>
            </a:r>
          </a:p>
          <a:p>
            <a:pPr algn="ctr">
              <a:spcBef>
                <a:spcPts val="400"/>
              </a:spcBef>
            </a:pPr>
            <a:r>
              <a:rPr lang="de-CH" sz="1100" dirty="0">
                <a:solidFill>
                  <a:srgbClr val="5B6B79"/>
                </a:solidFill>
              </a:rPr>
              <a:t>Anforderungskatalog inkl. User Stories und Use Cases, Projektabnahme</a:t>
            </a:r>
          </a:p>
        </p:txBody>
      </p:sp>
      <p:sp>
        <p:nvSpPr>
          <p:cNvPr id="3" name="b0">
            <a:extLst>
              <a:ext uri="{FF2B5EF4-FFF2-40B4-BE49-F238E27FC236}">
                <a16:creationId xmlns:a16="http://schemas.microsoft.com/office/drawing/2014/main" id="{FFB7E21F-7063-80BE-658A-0BBEA90D4AF9}"/>
              </a:ext>
            </a:extLst>
          </p:cNvPr>
          <p:cNvSpPr/>
          <p:nvPr/>
        </p:nvSpPr>
        <p:spPr>
          <a:xfrm>
            <a:off x="8610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5</a:t>
            </a:r>
          </a:p>
        </p:txBody>
      </p:sp>
      <p:sp>
        <p:nvSpPr>
          <p:cNvPr id="4" name="b0">
            <a:extLst>
              <a:ext uri="{FF2B5EF4-FFF2-40B4-BE49-F238E27FC236}">
                <a16:creationId xmlns:a16="http://schemas.microsoft.com/office/drawing/2014/main" id="{10D29ECE-ED84-937B-5E70-7101613FDB8A}"/>
              </a:ext>
            </a:extLst>
          </p:cNvPr>
          <p:cNvSpPr/>
          <p:nvPr/>
        </p:nvSpPr>
        <p:spPr>
          <a:xfrm>
            <a:off x="1346200" y="2565401"/>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5" name="Grafik 4" descr="Häkchen mit einfarbiger Füllung">
            <a:extLst>
              <a:ext uri="{FF2B5EF4-FFF2-40B4-BE49-F238E27FC236}">
                <a16:creationId xmlns:a16="http://schemas.microsoft.com/office/drawing/2014/main" id="{FDDCAA30-2BB1-FE1F-2539-4557DEB66F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0650" y="2609851"/>
            <a:ext cx="215900" cy="215900"/>
          </a:xfrm>
          <a:prstGeom prst="rect">
            <a:avLst/>
          </a:prstGeom>
        </p:spPr>
      </p:pic>
      <p:sp>
        <p:nvSpPr>
          <p:cNvPr id="6" name="b0">
            <a:extLst>
              <a:ext uri="{FF2B5EF4-FFF2-40B4-BE49-F238E27FC236}">
                <a16:creationId xmlns:a16="http://schemas.microsoft.com/office/drawing/2014/main" id="{996C158B-7737-EBD6-AD64-09C3C2F5CE93}"/>
              </a:ext>
            </a:extLst>
          </p:cNvPr>
          <p:cNvSpPr/>
          <p:nvPr/>
        </p:nvSpPr>
        <p:spPr>
          <a:xfrm>
            <a:off x="3200400" y="2580988"/>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7" name="Grafik 6" descr="Häkchen mit einfarbiger Füllung">
            <a:extLst>
              <a:ext uri="{FF2B5EF4-FFF2-40B4-BE49-F238E27FC236}">
                <a16:creationId xmlns:a16="http://schemas.microsoft.com/office/drawing/2014/main" id="{4616C75D-BC37-D929-45DB-1A3F36E5B4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44850" y="2625438"/>
            <a:ext cx="215900" cy="215900"/>
          </a:xfrm>
          <a:prstGeom prst="rect">
            <a:avLst/>
          </a:prstGeom>
        </p:spPr>
      </p:pic>
      <p:sp>
        <p:nvSpPr>
          <p:cNvPr id="8" name="b0">
            <a:extLst>
              <a:ext uri="{FF2B5EF4-FFF2-40B4-BE49-F238E27FC236}">
                <a16:creationId xmlns:a16="http://schemas.microsoft.com/office/drawing/2014/main" id="{DC8A35D4-66E3-8749-C291-56AC15FEF166}"/>
              </a:ext>
            </a:extLst>
          </p:cNvPr>
          <p:cNvSpPr/>
          <p:nvPr/>
        </p:nvSpPr>
        <p:spPr>
          <a:xfrm>
            <a:off x="5032664" y="2580988"/>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9" name="Grafik 8" descr="Häkchen mit einfarbiger Füllung">
            <a:extLst>
              <a:ext uri="{FF2B5EF4-FFF2-40B4-BE49-F238E27FC236}">
                <a16:creationId xmlns:a16="http://schemas.microsoft.com/office/drawing/2014/main" id="{C7F88277-2E94-7361-1E64-5DF4F896E4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77114" y="2625438"/>
            <a:ext cx="215900" cy="215900"/>
          </a:xfrm>
          <a:prstGeom prst="rect">
            <a:avLst/>
          </a:prstGeom>
        </p:spPr>
      </p:pic>
      <p:sp>
        <p:nvSpPr>
          <p:cNvPr id="10" name="Foliennummernplatzhalter 9">
            <a:extLst>
              <a:ext uri="{FF2B5EF4-FFF2-40B4-BE49-F238E27FC236}">
                <a16:creationId xmlns:a16="http://schemas.microsoft.com/office/drawing/2014/main" id="{E2D9C4C2-5DB2-CF4D-D46D-6DA769D24B35}"/>
              </a:ext>
            </a:extLst>
          </p:cNvPr>
          <p:cNvSpPr>
            <a:spLocks noGrp="1"/>
          </p:cNvSpPr>
          <p:nvPr>
            <p:ph type="sldNum" sz="quarter" idx="12"/>
          </p:nvPr>
        </p:nvSpPr>
        <p:spPr/>
        <p:txBody>
          <a:bodyPr/>
          <a:lstStyle/>
          <a:p>
            <a:fld id="{2AAFDC3C-A9F8-4ABD-8D8D-8DC3321B02DC}" type="slidenum">
              <a:rPr lang="de-CH" smtClean="0"/>
              <a:t>20</a:t>
            </a:fld>
            <a:endParaRPr lang="de-CH"/>
          </a:p>
        </p:txBody>
      </p:sp>
      <p:sp>
        <p:nvSpPr>
          <p:cNvPr id="11" name="Datumsplatzhalter 10">
            <a:extLst>
              <a:ext uri="{FF2B5EF4-FFF2-40B4-BE49-F238E27FC236}">
                <a16:creationId xmlns:a16="http://schemas.microsoft.com/office/drawing/2014/main" id="{D5FF6E3E-B6BB-5708-09C6-1560CD27919A}"/>
              </a:ext>
            </a:extLst>
          </p:cNvPr>
          <p:cNvSpPr>
            <a:spLocks noGrp="1"/>
          </p:cNvSpPr>
          <p:nvPr>
            <p:ph type="dt" sz="half" idx="10"/>
          </p:nvPr>
        </p:nvSpPr>
        <p:spPr/>
        <p:txBody>
          <a:bodyPr/>
          <a:lstStyle/>
          <a:p>
            <a:r>
              <a:rPr lang="de-CH"/>
              <a:t>11.06.2026</a:t>
            </a:r>
          </a:p>
        </p:txBody>
      </p:sp>
    </p:spTree>
    <p:extLst>
      <p:ext uri="{BB962C8B-B14F-4D97-AF65-F5344CB8AC3E}">
        <p14:creationId xmlns:p14="http://schemas.microsoft.com/office/powerpoint/2010/main" val="13870424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42F030-8207-68F6-B8ED-74D2F30E4F64}"/>
              </a:ext>
            </a:extLst>
          </p:cNvPr>
          <p:cNvSpPr>
            <a:spLocks noGrp="1"/>
          </p:cNvSpPr>
          <p:nvPr>
            <p:ph type="title"/>
          </p:nvPr>
        </p:nvSpPr>
        <p:spPr/>
        <p:txBody>
          <a:bodyPr/>
          <a:lstStyle/>
          <a:p>
            <a:pPr algn="l"/>
            <a:r>
              <a:rPr lang="de-DE" sz="2800" b="1" dirty="0">
                <a:solidFill>
                  <a:srgbClr val="1B3A5C"/>
                </a:solidFill>
              </a:rPr>
              <a:t>IST-Analyse</a:t>
            </a:r>
            <a:endParaRPr lang="de-CH" sz="2800" b="1" dirty="0">
              <a:solidFill>
                <a:srgbClr val="1B3A5C"/>
              </a:solidFill>
            </a:endParaRPr>
          </a:p>
        </p:txBody>
      </p:sp>
      <p:sp>
        <p:nvSpPr>
          <p:cNvPr id="50" name="eye"/>
          <p:cNvSpPr/>
          <p:nvPr/>
        </p:nvSpPr>
        <p:spPr>
          <a:xfrm>
            <a:off x="838200" y="1574800"/>
            <a:ext cx="10515600" cy="279400"/>
          </a:xfrm>
          <a:prstGeom prst="rect">
            <a:avLst/>
          </a:prstGeom>
          <a:noFill/>
        </p:spPr>
        <p:txBody>
          <a:bodyPr lIns="0" tIns="0" rIns="0" bIns="0"/>
          <a:lstStyle/>
          <a:p>
            <a:r>
              <a:rPr lang="de-DE" sz="1400" b="1" dirty="0">
                <a:solidFill>
                  <a:srgbClr val="2E6CA4"/>
                </a:solidFill>
              </a:rPr>
              <a:t>Vom </a:t>
            </a:r>
            <a:r>
              <a:rPr lang="de-DE" sz="1400" b="1" dirty="0" err="1">
                <a:solidFill>
                  <a:srgbClr val="2E6CA4"/>
                </a:solidFill>
              </a:rPr>
              <a:t>Issue</a:t>
            </a:r>
            <a:r>
              <a:rPr lang="de-DE" sz="1400" b="1" dirty="0">
                <a:solidFill>
                  <a:srgbClr val="2E6CA4"/>
                </a:solidFill>
              </a:rPr>
              <a:t> Register zur Grundlage des SOLL-Konzepts</a:t>
            </a:r>
            <a:endParaRPr lang="de-CH" sz="1400" b="1" dirty="0">
              <a:solidFill>
                <a:srgbClr val="2E6CA4"/>
              </a:solidFill>
            </a:endParaRPr>
          </a:p>
        </p:txBody>
      </p:sp>
      <p:sp>
        <p:nvSpPr>
          <p:cNvPr id="51" name="sc"/>
          <p:cNvSpPr/>
          <p:nvPr/>
        </p:nvSpPr>
        <p:spPr>
          <a:xfrm>
            <a:off x="838200" y="2362200"/>
            <a:ext cx="2133600" cy="1905000"/>
          </a:xfrm>
          <a:prstGeom prst="roundRect">
            <a:avLst>
              <a:gd name="adj" fmla="val 8000"/>
            </a:avLst>
          </a:prstGeom>
          <a:solidFill>
            <a:srgbClr val="FFFFFF"/>
          </a:solidFill>
          <a:ln w="19050">
            <a:solidFill>
              <a:srgbClr val="2E6CA4"/>
            </a:solidFill>
          </a:ln>
        </p:spPr>
        <p:txBody>
          <a:bodyPr lIns="177800" tIns="127000" rIns="152400" bIns="127000" anchor="ctr">
            <a:normAutofit/>
          </a:bodyPr>
          <a:lstStyle/>
          <a:p>
            <a:pPr algn="ctr"/>
            <a:r>
              <a:rPr lang="de-CH" sz="1600" b="1" dirty="0">
                <a:solidFill>
                  <a:srgbClr val="1B3A5C"/>
                </a:solidFill>
              </a:rPr>
              <a:t>Pain Points</a:t>
            </a:r>
          </a:p>
          <a:p>
            <a:pPr algn="ctr">
              <a:spcBef>
                <a:spcPts val="400"/>
              </a:spcBef>
            </a:pPr>
            <a:r>
              <a:rPr lang="de-DE" sz="1300" dirty="0">
                <a:solidFill>
                  <a:srgbClr val="5B6B79"/>
                </a:solidFill>
              </a:rPr>
              <a:t>Konsolidierte Erkenntnisse aus Interviews, Modellierung und Workshop</a:t>
            </a:r>
            <a:endParaRPr lang="de-CH" sz="1300" dirty="0">
              <a:solidFill>
                <a:srgbClr val="5B6B79"/>
              </a:solidFill>
            </a:endParaRPr>
          </a:p>
        </p:txBody>
      </p:sp>
      <p:sp>
        <p:nvSpPr>
          <p:cNvPr id="52" name="ar"/>
          <p:cNvSpPr/>
          <p:nvPr/>
        </p:nvSpPr>
        <p:spPr>
          <a:xfrm>
            <a:off x="3048000" y="3149600"/>
            <a:ext cx="330200" cy="330200"/>
          </a:xfrm>
          <a:prstGeom prst="rightArrow">
            <a:avLst/>
          </a:prstGeom>
          <a:solidFill>
            <a:srgbClr val="7FA8C9"/>
          </a:solidFill>
          <a:ln>
            <a:noFill/>
          </a:ln>
        </p:spPr>
        <p:txBody>
          <a:bodyPr/>
          <a:lstStyle/>
          <a:p>
            <a:endParaRPr/>
          </a:p>
        </p:txBody>
      </p:sp>
      <p:sp>
        <p:nvSpPr>
          <p:cNvPr id="53" name="sc"/>
          <p:cNvSpPr/>
          <p:nvPr/>
        </p:nvSpPr>
        <p:spPr>
          <a:xfrm>
            <a:off x="3454400" y="2362200"/>
            <a:ext cx="1905000" cy="1905000"/>
          </a:xfrm>
          <a:prstGeom prst="roundRect">
            <a:avLst>
              <a:gd name="adj" fmla="val 8000"/>
            </a:avLst>
          </a:prstGeom>
          <a:solidFill>
            <a:srgbClr val="FFFFFF"/>
          </a:solidFill>
          <a:ln w="19050">
            <a:solidFill>
              <a:srgbClr val="C9D6E2"/>
            </a:solidFill>
          </a:ln>
        </p:spPr>
        <p:txBody>
          <a:bodyPr lIns="177800" tIns="127000" rIns="152400" bIns="127000" anchor="ctr">
            <a:normAutofit/>
          </a:bodyPr>
          <a:lstStyle/>
          <a:p>
            <a:pPr algn="ctr"/>
            <a:r>
              <a:rPr lang="de-CH" sz="1600" b="1" dirty="0" err="1">
                <a:solidFill>
                  <a:srgbClr val="1B3A5C"/>
                </a:solidFill>
              </a:rPr>
              <a:t>Issue</a:t>
            </a:r>
            <a:r>
              <a:rPr lang="de-CH" sz="1600" b="1" dirty="0">
                <a:solidFill>
                  <a:srgbClr val="1B3A5C"/>
                </a:solidFill>
              </a:rPr>
              <a:t> Register</a:t>
            </a:r>
          </a:p>
          <a:p>
            <a:pPr algn="ctr">
              <a:spcBef>
                <a:spcPts val="400"/>
              </a:spcBef>
            </a:pPr>
            <a:r>
              <a:rPr lang="de-DE" sz="1300" dirty="0">
                <a:solidFill>
                  <a:srgbClr val="5B6B79"/>
                </a:solidFill>
              </a:rPr>
              <a:t>Strukturierung nach Auswirkung, Analysefokus, Bezug zu Projektziele, Handlungsfeld und Quelle</a:t>
            </a:r>
            <a:endParaRPr lang="de-CH" sz="1300" dirty="0">
              <a:solidFill>
                <a:srgbClr val="5B6B79"/>
              </a:solidFill>
            </a:endParaRPr>
          </a:p>
        </p:txBody>
      </p:sp>
      <p:sp>
        <p:nvSpPr>
          <p:cNvPr id="54" name="ar"/>
          <p:cNvSpPr/>
          <p:nvPr/>
        </p:nvSpPr>
        <p:spPr>
          <a:xfrm>
            <a:off x="5435600" y="3149600"/>
            <a:ext cx="330200" cy="330200"/>
          </a:xfrm>
          <a:prstGeom prst="rightArrow">
            <a:avLst/>
          </a:prstGeom>
          <a:solidFill>
            <a:srgbClr val="7FA8C9"/>
          </a:solidFill>
          <a:ln>
            <a:noFill/>
          </a:ln>
        </p:spPr>
        <p:txBody>
          <a:bodyPr/>
          <a:lstStyle/>
          <a:p>
            <a:endParaRPr/>
          </a:p>
        </p:txBody>
      </p:sp>
      <p:sp>
        <p:nvSpPr>
          <p:cNvPr id="55" name="anablk"/>
          <p:cNvSpPr/>
          <p:nvPr/>
        </p:nvSpPr>
        <p:spPr>
          <a:xfrm>
            <a:off x="5842000" y="2362200"/>
            <a:ext cx="3276600" cy="1905000"/>
          </a:xfrm>
          <a:prstGeom prst="roundRect">
            <a:avLst>
              <a:gd name="adj" fmla="val 6000"/>
            </a:avLst>
          </a:prstGeom>
          <a:solidFill>
            <a:srgbClr val="1B3A5C"/>
          </a:solidFill>
          <a:ln>
            <a:noFill/>
          </a:ln>
        </p:spPr>
        <p:txBody>
          <a:bodyPr lIns="152400" tIns="101600" rIns="152400" bIns="101600"/>
          <a:lstStyle/>
          <a:p>
            <a:pPr algn="ctr"/>
            <a:r>
              <a:rPr lang="de-CH" sz="1300" b="1" dirty="0">
                <a:solidFill>
                  <a:srgbClr val="9FC3DF"/>
                </a:solidFill>
              </a:rPr>
              <a:t>Vertiefende Analyseschritte</a:t>
            </a:r>
          </a:p>
        </p:txBody>
      </p:sp>
      <p:sp>
        <p:nvSpPr>
          <p:cNvPr id="56" name="mc"/>
          <p:cNvSpPr/>
          <p:nvPr/>
        </p:nvSpPr>
        <p:spPr>
          <a:xfrm>
            <a:off x="5994400" y="2844800"/>
            <a:ext cx="1473200" cy="609600"/>
          </a:xfrm>
          <a:prstGeom prst="roundRect">
            <a:avLst>
              <a:gd name="adj" fmla="val 14000"/>
            </a:avLst>
          </a:prstGeom>
          <a:solidFill>
            <a:srgbClr val="2E6CA4"/>
          </a:solidFill>
          <a:ln>
            <a:noFill/>
          </a:ln>
        </p:spPr>
        <p:txBody>
          <a:bodyPr lIns="76200" tIns="25400" rIns="76200" bIns="25400" anchor="ctr">
            <a:normAutofit/>
          </a:bodyPr>
          <a:lstStyle/>
          <a:p>
            <a:pPr algn="ctr"/>
            <a:r>
              <a:rPr lang="de-CH" sz="1300" b="1" dirty="0">
                <a:solidFill>
                  <a:srgbClr val="FFFFFF"/>
                </a:solidFill>
              </a:rPr>
              <a:t>Value-</a:t>
            </a:r>
            <a:r>
              <a:rPr lang="de-CH" sz="1300" b="1" dirty="0" err="1">
                <a:solidFill>
                  <a:srgbClr val="FFFFFF"/>
                </a:solidFill>
              </a:rPr>
              <a:t>Added</a:t>
            </a:r>
            <a:r>
              <a:rPr lang="de-CH" sz="1300" b="1" dirty="0">
                <a:solidFill>
                  <a:srgbClr val="FFFFFF"/>
                </a:solidFill>
              </a:rPr>
              <a:t>-Analyse</a:t>
            </a:r>
          </a:p>
        </p:txBody>
      </p:sp>
      <p:sp>
        <p:nvSpPr>
          <p:cNvPr id="57" name="mc"/>
          <p:cNvSpPr/>
          <p:nvPr/>
        </p:nvSpPr>
        <p:spPr>
          <a:xfrm>
            <a:off x="7569200" y="2844800"/>
            <a:ext cx="1473200" cy="609600"/>
          </a:xfrm>
          <a:prstGeom prst="roundRect">
            <a:avLst>
              <a:gd name="adj" fmla="val 14000"/>
            </a:avLst>
          </a:prstGeom>
          <a:solidFill>
            <a:srgbClr val="2E6CA4"/>
          </a:solidFill>
          <a:ln>
            <a:noFill/>
          </a:ln>
        </p:spPr>
        <p:txBody>
          <a:bodyPr lIns="76200" tIns="25400" rIns="76200" bIns="25400" anchor="ctr">
            <a:normAutofit/>
          </a:bodyPr>
          <a:lstStyle/>
          <a:p>
            <a:pPr algn="ctr"/>
            <a:r>
              <a:rPr lang="de-CH" sz="1300" b="1" dirty="0" err="1">
                <a:solidFill>
                  <a:srgbClr val="FFFFFF"/>
                </a:solidFill>
              </a:rPr>
              <a:t>Muda</a:t>
            </a:r>
            <a:r>
              <a:rPr lang="de-CH" sz="1300" b="1" dirty="0">
                <a:solidFill>
                  <a:srgbClr val="FFFFFF"/>
                </a:solidFill>
              </a:rPr>
              <a:t>-</a:t>
            </a:r>
            <a:r>
              <a:rPr lang="de-CH" sz="1300" b="1" dirty="0" err="1">
                <a:solidFill>
                  <a:srgbClr val="FFFFFF"/>
                </a:solidFill>
              </a:rPr>
              <a:t>Waste</a:t>
            </a:r>
            <a:r>
              <a:rPr lang="de-CH" sz="1300" b="1" dirty="0">
                <a:solidFill>
                  <a:srgbClr val="FFFFFF"/>
                </a:solidFill>
              </a:rPr>
              <a:t>-Analyse</a:t>
            </a:r>
          </a:p>
        </p:txBody>
      </p:sp>
      <p:sp>
        <p:nvSpPr>
          <p:cNvPr id="58" name="mc"/>
          <p:cNvSpPr/>
          <p:nvPr/>
        </p:nvSpPr>
        <p:spPr>
          <a:xfrm>
            <a:off x="5994400" y="3556000"/>
            <a:ext cx="1473200" cy="609600"/>
          </a:xfrm>
          <a:prstGeom prst="roundRect">
            <a:avLst>
              <a:gd name="adj" fmla="val 14000"/>
            </a:avLst>
          </a:prstGeom>
          <a:solidFill>
            <a:srgbClr val="2E6CA4"/>
          </a:solidFill>
          <a:ln>
            <a:noFill/>
          </a:ln>
        </p:spPr>
        <p:txBody>
          <a:bodyPr lIns="76200" tIns="25400" rIns="76200" bIns="25400" anchor="ctr">
            <a:normAutofit/>
          </a:bodyPr>
          <a:lstStyle/>
          <a:p>
            <a:pPr algn="ctr"/>
            <a:r>
              <a:rPr lang="de-CH" sz="1200" b="1">
                <a:solidFill>
                  <a:srgbClr val="FFFFFF"/>
                </a:solidFill>
              </a:rPr>
              <a:t>Ursachendiagramm</a:t>
            </a:r>
          </a:p>
        </p:txBody>
      </p:sp>
      <p:sp>
        <p:nvSpPr>
          <p:cNvPr id="59" name="mc"/>
          <p:cNvSpPr/>
          <p:nvPr/>
        </p:nvSpPr>
        <p:spPr>
          <a:xfrm>
            <a:off x="7569200" y="3556000"/>
            <a:ext cx="1473200" cy="609600"/>
          </a:xfrm>
          <a:prstGeom prst="roundRect">
            <a:avLst>
              <a:gd name="adj" fmla="val 14000"/>
            </a:avLst>
          </a:prstGeom>
          <a:solidFill>
            <a:srgbClr val="2E6CA4"/>
          </a:solidFill>
          <a:ln>
            <a:noFill/>
          </a:ln>
        </p:spPr>
        <p:txBody>
          <a:bodyPr lIns="76200" tIns="25400" rIns="76200" bIns="25400" anchor="ctr">
            <a:normAutofit/>
          </a:bodyPr>
          <a:lstStyle/>
          <a:p>
            <a:pPr algn="ctr"/>
            <a:r>
              <a:rPr lang="de-CH" sz="1300" b="1">
                <a:solidFill>
                  <a:srgbClr val="FFFFFF"/>
                </a:solidFill>
              </a:rPr>
              <a:t>5-Why-Analyse</a:t>
            </a:r>
          </a:p>
        </p:txBody>
      </p:sp>
      <p:sp>
        <p:nvSpPr>
          <p:cNvPr id="60" name="ar"/>
          <p:cNvSpPr/>
          <p:nvPr/>
        </p:nvSpPr>
        <p:spPr>
          <a:xfrm>
            <a:off x="9194800" y="3149600"/>
            <a:ext cx="330200" cy="330200"/>
          </a:xfrm>
          <a:prstGeom prst="rightArrow">
            <a:avLst/>
          </a:prstGeom>
          <a:solidFill>
            <a:srgbClr val="7FA8C9"/>
          </a:solidFill>
          <a:ln>
            <a:noFill/>
          </a:ln>
        </p:spPr>
        <p:txBody>
          <a:bodyPr/>
          <a:lstStyle/>
          <a:p>
            <a:endParaRPr/>
          </a:p>
        </p:txBody>
      </p:sp>
      <p:sp>
        <p:nvSpPr>
          <p:cNvPr id="61" name="sc"/>
          <p:cNvSpPr/>
          <p:nvPr/>
        </p:nvSpPr>
        <p:spPr>
          <a:xfrm>
            <a:off x="9601200" y="2362200"/>
            <a:ext cx="1862254" cy="1905000"/>
          </a:xfrm>
          <a:prstGeom prst="roundRect">
            <a:avLst>
              <a:gd name="adj" fmla="val 8000"/>
            </a:avLst>
          </a:prstGeom>
          <a:solidFill>
            <a:srgbClr val="FBF1E4"/>
          </a:solidFill>
          <a:ln w="19050">
            <a:solidFill>
              <a:srgbClr val="C8893A"/>
            </a:solidFill>
          </a:ln>
        </p:spPr>
        <p:txBody>
          <a:bodyPr lIns="177800" tIns="127000" rIns="152400" bIns="127000" anchor="ctr">
            <a:normAutofit/>
          </a:bodyPr>
          <a:lstStyle/>
          <a:p>
            <a:pPr algn="ctr"/>
            <a:r>
              <a:rPr lang="de-CH" sz="1400" b="1" dirty="0">
                <a:solidFill>
                  <a:srgbClr val="9A6512"/>
                </a:solidFill>
              </a:rPr>
              <a:t>Bestätigte Handlungsfelder</a:t>
            </a:r>
          </a:p>
          <a:p>
            <a:pPr algn="ctr">
              <a:spcBef>
                <a:spcPts val="400"/>
              </a:spcBef>
            </a:pPr>
            <a:r>
              <a:rPr lang="de-CH" sz="1300" dirty="0">
                <a:solidFill>
                  <a:srgbClr val="8A6A3A"/>
                </a:solidFill>
              </a:rPr>
              <a:t>Grundlage für SOLL-Konzept und Anforderungskatalog</a:t>
            </a:r>
          </a:p>
        </p:txBody>
      </p:sp>
      <p:sp>
        <p:nvSpPr>
          <p:cNvPr id="62" name="band"/>
          <p:cNvSpPr/>
          <p:nvPr/>
        </p:nvSpPr>
        <p:spPr>
          <a:xfrm>
            <a:off x="838200" y="4648200"/>
            <a:ext cx="10515600" cy="1117600"/>
          </a:xfrm>
          <a:prstGeom prst="roundRect">
            <a:avLst>
              <a:gd name="adj" fmla="val 5000"/>
            </a:avLst>
          </a:prstGeom>
          <a:solidFill>
            <a:srgbClr val="F4F7FA"/>
          </a:solidFill>
          <a:ln w="12700">
            <a:solidFill>
              <a:srgbClr val="C9D6E2"/>
            </a:solidFill>
          </a:ln>
        </p:spPr>
        <p:txBody>
          <a:bodyPr lIns="203200" tIns="127000" rIns="203200" bIns="127000" anchor="ctr">
            <a:normAutofit/>
          </a:bodyPr>
          <a:lstStyle/>
          <a:p>
            <a:r>
              <a:rPr lang="de-CH" sz="1400" b="1" dirty="0">
                <a:solidFill>
                  <a:srgbClr val="1B3A5C"/>
                </a:solidFill>
              </a:rPr>
              <a:t>Vorgehen: </a:t>
            </a:r>
          </a:p>
          <a:p>
            <a:r>
              <a:rPr lang="de-DE" sz="1400" u="sng" dirty="0">
                <a:solidFill>
                  <a:srgbClr val="1A2A38"/>
                </a:solidFill>
              </a:rPr>
              <a:t>IST-Workshop</a:t>
            </a:r>
            <a:r>
              <a:rPr lang="de-DE" sz="1400" dirty="0">
                <a:solidFill>
                  <a:srgbClr val="1A2A38"/>
                </a:solidFill>
              </a:rPr>
              <a:t>: Handlungsfelder festgelegt · </a:t>
            </a:r>
            <a:r>
              <a:rPr lang="de-DE" sz="1400" u="sng" dirty="0">
                <a:solidFill>
                  <a:srgbClr val="1A2A38"/>
                </a:solidFill>
              </a:rPr>
              <a:t>IST-Analyse</a:t>
            </a:r>
            <a:r>
              <a:rPr lang="de-DE" sz="1400" dirty="0">
                <a:solidFill>
                  <a:srgbClr val="1A2A38"/>
                </a:solidFill>
              </a:rPr>
              <a:t>: Pain Points strukturiert, methodisch geprüft und Handlungsfelder bestätigt.</a:t>
            </a:r>
            <a:endParaRPr lang="de-CH" sz="1400" dirty="0">
              <a:solidFill>
                <a:srgbClr val="1A2A38"/>
              </a:solidFill>
            </a:endParaRPr>
          </a:p>
        </p:txBody>
      </p:sp>
      <p:sp>
        <p:nvSpPr>
          <p:cNvPr id="63" name="kern"/>
          <p:cNvSpPr/>
          <p:nvPr/>
        </p:nvSpPr>
        <p:spPr>
          <a:xfrm>
            <a:off x="838200" y="6146800"/>
            <a:ext cx="10515600" cy="584200"/>
          </a:xfrm>
          <a:prstGeom prst="rect">
            <a:avLst/>
          </a:prstGeom>
          <a:solidFill>
            <a:srgbClr val="EEF2F6"/>
          </a:solidFill>
          <a:ln>
            <a:noFill/>
          </a:ln>
        </p:spPr>
        <p:txBody>
          <a:bodyPr lIns="203200" tIns="50800" rIns="203200" bIns="50800" anchor="ctr"/>
          <a:lstStyle/>
          <a:p>
            <a:r>
              <a:rPr lang="de-DE" sz="1300" dirty="0">
                <a:solidFill>
                  <a:srgbClr val="1A2A38"/>
                </a:solidFill>
              </a:rPr>
              <a:t>            Die IST-Analyse bestätigt die vier Handlungsfelder als fachliche Grundlage für das SOLL-Konzept.</a:t>
            </a:r>
            <a:endParaRPr lang="de-CH" sz="1300" dirty="0">
              <a:solidFill>
                <a:srgbClr val="1A2A38"/>
              </a:solidFill>
            </a:endParaRPr>
          </a:p>
        </p:txBody>
      </p:sp>
      <p:sp>
        <p:nvSpPr>
          <p:cNvPr id="64" name="kb"/>
          <p:cNvSpPr/>
          <p:nvPr/>
        </p:nvSpPr>
        <p:spPr>
          <a:xfrm>
            <a:off x="838200" y="6146800"/>
            <a:ext cx="63500" cy="584200"/>
          </a:xfrm>
          <a:prstGeom prst="rect">
            <a:avLst/>
          </a:prstGeom>
          <a:solidFill>
            <a:srgbClr val="C8893A"/>
          </a:solidFill>
          <a:ln>
            <a:noFill/>
          </a:ln>
        </p:spPr>
        <p:txBody>
          <a:bodyPr/>
          <a:lstStyle/>
          <a:p>
            <a:endParaRPr/>
          </a:p>
        </p:txBody>
      </p:sp>
      <p:pic>
        <p:nvPicPr>
          <p:cNvPr id="3" name="Grafik 2">
            <a:extLst>
              <a:ext uri="{FF2B5EF4-FFF2-40B4-BE49-F238E27FC236}">
                <a16:creationId xmlns:a16="http://schemas.microsoft.com/office/drawing/2014/main" id="{8B534562-BC8A-6683-721A-214260B59DD3}"/>
              </a:ext>
            </a:extLst>
          </p:cNvPr>
          <p:cNvPicPr>
            <a:picLocks noChangeAspect="1"/>
          </p:cNvPicPr>
          <p:nvPr/>
        </p:nvPicPr>
        <p:blipFill>
          <a:blip r:embed="rId3"/>
          <a:stretch/>
        </p:blipFill>
        <p:spPr>
          <a:xfrm>
            <a:off x="901700" y="6146799"/>
            <a:ext cx="591921" cy="584201"/>
          </a:xfrm>
          <a:prstGeom prst="rect">
            <a:avLst/>
          </a:prstGeom>
        </p:spPr>
      </p:pic>
      <p:sp>
        <p:nvSpPr>
          <p:cNvPr id="4" name="Foliennummernplatzhalter 3">
            <a:extLst>
              <a:ext uri="{FF2B5EF4-FFF2-40B4-BE49-F238E27FC236}">
                <a16:creationId xmlns:a16="http://schemas.microsoft.com/office/drawing/2014/main" id="{1DEDE593-4C42-4428-BD59-6A7FE4C4FFA3}"/>
              </a:ext>
            </a:extLst>
          </p:cNvPr>
          <p:cNvSpPr>
            <a:spLocks noGrp="1"/>
          </p:cNvSpPr>
          <p:nvPr>
            <p:ph type="sldNum" sz="quarter" idx="12"/>
          </p:nvPr>
        </p:nvSpPr>
        <p:spPr/>
        <p:txBody>
          <a:bodyPr/>
          <a:lstStyle/>
          <a:p>
            <a:fld id="{2AAFDC3C-A9F8-4ABD-8D8D-8DC3321B02DC}" type="slidenum">
              <a:rPr lang="de-CH" smtClean="0"/>
              <a:t>21</a:t>
            </a:fld>
            <a:endParaRPr lang="de-CH"/>
          </a:p>
        </p:txBody>
      </p:sp>
    </p:spTree>
    <p:extLst>
      <p:ext uri="{BB962C8B-B14F-4D97-AF65-F5344CB8AC3E}">
        <p14:creationId xmlns:p14="http://schemas.microsoft.com/office/powerpoint/2010/main" val="234440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131500-89DA-5A57-2F7B-ABB5FCD677CB}"/>
              </a:ext>
            </a:extLst>
          </p:cNvPr>
          <p:cNvSpPr>
            <a:spLocks noGrp="1"/>
          </p:cNvSpPr>
          <p:nvPr>
            <p:ph type="title"/>
          </p:nvPr>
        </p:nvSpPr>
        <p:spPr/>
        <p:txBody>
          <a:bodyPr/>
          <a:lstStyle/>
          <a:p>
            <a:pPr algn="l"/>
            <a:r>
              <a:rPr lang="de-CH" sz="2800" b="1" dirty="0">
                <a:solidFill>
                  <a:srgbClr val="1B3A5C"/>
                </a:solidFill>
              </a:rPr>
              <a:t>Value-</a:t>
            </a:r>
            <a:r>
              <a:rPr lang="de-CH" sz="2800" b="1" dirty="0" err="1">
                <a:solidFill>
                  <a:srgbClr val="1B3A5C"/>
                </a:solidFill>
              </a:rPr>
              <a:t>Added</a:t>
            </a:r>
            <a:r>
              <a:rPr lang="de-CH" sz="2800" b="1" dirty="0">
                <a:solidFill>
                  <a:srgbClr val="1B3A5C"/>
                </a:solidFill>
              </a:rPr>
              <a:t>-Analyse</a:t>
            </a:r>
          </a:p>
        </p:txBody>
      </p:sp>
      <p:sp>
        <p:nvSpPr>
          <p:cNvPr id="200" name="eye"/>
          <p:cNvSpPr/>
          <p:nvPr/>
        </p:nvSpPr>
        <p:spPr>
          <a:xfrm>
            <a:off x="838200" y="1473200"/>
            <a:ext cx="10515600" cy="279400"/>
          </a:xfrm>
          <a:prstGeom prst="rect">
            <a:avLst/>
          </a:prstGeom>
          <a:noFill/>
          <a:ln>
            <a:noFill/>
          </a:ln>
        </p:spPr>
        <p:txBody>
          <a:bodyPr lIns="0" tIns="0" rIns="0" bIns="0" rtlCol="0" anchor="t"/>
          <a:lstStyle/>
          <a:p>
            <a:r>
              <a:rPr lang="de-DE" sz="1400" b="1" dirty="0">
                <a:solidFill>
                  <a:srgbClr val="2E6CA4"/>
                </a:solidFill>
              </a:rPr>
              <a:t>Welche Prozessschritte erzeugen einen direkten Nutzen, welche sind nur intern notwendig, und welche erzeugen keinen sinnvollen Beitrag?</a:t>
            </a:r>
            <a:endParaRPr lang="de-CH" sz="1400" b="1" dirty="0">
              <a:solidFill>
                <a:srgbClr val="2E6CA4"/>
              </a:solidFill>
            </a:endParaRPr>
          </a:p>
        </p:txBody>
      </p:sp>
      <p:sp>
        <p:nvSpPr>
          <p:cNvPr id="201" name="sc"/>
          <p:cNvSpPr/>
          <p:nvPr/>
        </p:nvSpPr>
        <p:spPr>
          <a:xfrm>
            <a:off x="838200" y="1905000"/>
            <a:ext cx="3429000" cy="4013200"/>
          </a:xfrm>
          <a:prstGeom prst="roundRect">
            <a:avLst>
              <a:gd name="adj" fmla="val 4000"/>
            </a:avLst>
          </a:prstGeom>
          <a:solidFill>
            <a:srgbClr val="EEF2F6"/>
          </a:solidFill>
          <a:ln>
            <a:noFill/>
          </a:ln>
        </p:spPr>
        <p:txBody>
          <a:bodyPr/>
          <a:lstStyle/>
          <a:p>
            <a:endParaRPr lang="de-CH"/>
          </a:p>
        </p:txBody>
      </p:sp>
      <p:sp>
        <p:nvSpPr>
          <p:cNvPr id="202" name="tilehdr"/>
          <p:cNvSpPr/>
          <p:nvPr/>
        </p:nvSpPr>
        <p:spPr>
          <a:xfrm>
            <a:off x="838200" y="1905000"/>
            <a:ext cx="3429000" cy="431800"/>
          </a:xfrm>
          <a:prstGeom prst="roundRect">
            <a:avLst>
              <a:gd name="adj" fmla="val 4000"/>
            </a:avLst>
          </a:prstGeom>
          <a:solidFill>
            <a:srgbClr val="1B3A5C"/>
          </a:solidFill>
          <a:ln>
            <a:noFill/>
          </a:ln>
        </p:spPr>
        <p:txBody>
          <a:bodyPr lIns="114300" tIns="0" rIns="76200" bIns="0" rtlCol="0" anchor="ctr"/>
          <a:lstStyle/>
          <a:p>
            <a:pPr algn="l"/>
            <a:r>
              <a:rPr lang="de-CH" sz="1300" b="1" dirty="0">
                <a:solidFill>
                  <a:srgbClr val="FFFFFF"/>
                </a:solidFill>
              </a:rPr>
              <a:t>Methode und Anwendung</a:t>
            </a:r>
          </a:p>
        </p:txBody>
      </p:sp>
      <p:sp>
        <p:nvSpPr>
          <p:cNvPr id="203" name="tilebody"/>
          <p:cNvSpPr/>
          <p:nvPr/>
        </p:nvSpPr>
        <p:spPr>
          <a:xfrm>
            <a:off x="1016000" y="2438400"/>
            <a:ext cx="3073400" cy="3378200"/>
          </a:xfrm>
          <a:prstGeom prst="rect">
            <a:avLst/>
          </a:prstGeom>
          <a:noFill/>
          <a:ln>
            <a:noFill/>
          </a:ln>
        </p:spPr>
        <p:txBody>
          <a:bodyPr lIns="0" tIns="0" rIns="0" bIns="0" rtlCol="0" anchor="t"/>
          <a:lstStyle/>
          <a:p>
            <a:pPr>
              <a:spcAft>
                <a:spcPts val="400"/>
              </a:spcAft>
            </a:pPr>
            <a:r>
              <a:rPr lang="de-CH" sz="1200" dirty="0">
                <a:solidFill>
                  <a:srgbClr val="1A2A38"/>
                </a:solidFill>
              </a:rPr>
              <a:t>Klassifiziert Prozessschritte nach ihrem Wertbeitrag:</a:t>
            </a:r>
          </a:p>
          <a:p>
            <a:pPr marL="171450" indent="-171450">
              <a:spcAft>
                <a:spcPts val="200"/>
              </a:spcAft>
              <a:buFont typeface="Arial"/>
              <a:buChar char="•"/>
            </a:pPr>
            <a:r>
              <a:rPr lang="de-CH" sz="1200" b="1" dirty="0">
                <a:solidFill>
                  <a:srgbClr val="2E6CA4"/>
                </a:solidFill>
              </a:rPr>
              <a:t>WS </a:t>
            </a:r>
            <a:r>
              <a:rPr lang="de-CH" sz="1200" dirty="0">
                <a:solidFill>
                  <a:srgbClr val="1A2A38"/>
                </a:solidFill>
              </a:rPr>
              <a:t>– wertschöpfend (kundenseitig)</a:t>
            </a:r>
          </a:p>
          <a:p>
            <a:pPr marL="171450" indent="-171450">
              <a:spcAft>
                <a:spcPts val="200"/>
              </a:spcAft>
              <a:buFont typeface="Arial"/>
              <a:buChar char="•"/>
            </a:pPr>
            <a:r>
              <a:rPr lang="de-CH" sz="1200" b="1" dirty="0">
                <a:solidFill>
                  <a:srgbClr val="2E6CA4"/>
                </a:solidFill>
              </a:rPr>
              <a:t>GWS </a:t>
            </a:r>
            <a:r>
              <a:rPr lang="de-CH" sz="1200" dirty="0">
                <a:solidFill>
                  <a:srgbClr val="1A2A38"/>
                </a:solidFill>
              </a:rPr>
              <a:t>– geschäftswertschöpfend</a:t>
            </a:r>
          </a:p>
          <a:p>
            <a:pPr marL="171450" indent="-171450">
              <a:spcAft>
                <a:spcPts val="500"/>
              </a:spcAft>
              <a:buFont typeface="Arial"/>
              <a:buChar char="•"/>
            </a:pPr>
            <a:r>
              <a:rPr lang="de-CH" sz="1200" b="1" dirty="0">
                <a:solidFill>
                  <a:srgbClr val="2E6CA4"/>
                </a:solidFill>
              </a:rPr>
              <a:t>NWS </a:t>
            </a:r>
            <a:r>
              <a:rPr lang="de-CH" sz="1200" dirty="0">
                <a:solidFill>
                  <a:srgbClr val="1A2A38"/>
                </a:solidFill>
              </a:rPr>
              <a:t>– nicht wertschöpfend</a:t>
            </a:r>
          </a:p>
          <a:p>
            <a:pPr marL="171450" indent="-171450">
              <a:spcAft>
                <a:spcPts val="500"/>
              </a:spcAft>
              <a:buFont typeface="Arial"/>
              <a:buChar char="•"/>
            </a:pPr>
            <a:endParaRPr lang="de-CH" sz="1200" dirty="0">
              <a:solidFill>
                <a:srgbClr val="1A2A38"/>
              </a:solidFill>
            </a:endParaRPr>
          </a:p>
          <a:p>
            <a:pPr>
              <a:spcAft>
                <a:spcPts val="200"/>
              </a:spcAft>
            </a:pPr>
            <a:r>
              <a:rPr lang="de-CH" sz="1100" b="1" dirty="0">
                <a:solidFill>
                  <a:srgbClr val="9A6512"/>
                </a:solidFill>
              </a:rPr>
              <a:t>Anwendung</a:t>
            </a:r>
          </a:p>
          <a:p>
            <a:pPr>
              <a:spcAft>
                <a:spcPts val="400"/>
              </a:spcAft>
            </a:pPr>
            <a:r>
              <a:rPr lang="de-CH" sz="1200" dirty="0">
                <a:solidFill>
                  <a:srgbClr val="1A2A38"/>
                </a:solidFill>
              </a:rPr>
              <a:t>Angewendet am Referenzmodell «Vertragsablauf USB/Fonds» </a:t>
            </a:r>
          </a:p>
          <a:p>
            <a:pPr>
              <a:spcAft>
                <a:spcPts val="400"/>
              </a:spcAft>
            </a:pPr>
            <a:endParaRPr lang="de-CH" sz="1200" dirty="0">
              <a:solidFill>
                <a:srgbClr val="1A2A38"/>
              </a:solidFill>
            </a:endParaRPr>
          </a:p>
          <a:p>
            <a:pPr>
              <a:spcAft>
                <a:spcPts val="400"/>
              </a:spcAft>
            </a:pPr>
            <a:r>
              <a:rPr lang="de-CH" sz="1100" b="1" dirty="0">
                <a:solidFill>
                  <a:srgbClr val="9A6512"/>
                </a:solidFill>
              </a:rPr>
              <a:t>Annahme</a:t>
            </a:r>
          </a:p>
          <a:p>
            <a:r>
              <a:rPr lang="de-CH" sz="1200" dirty="0">
                <a:solidFill>
                  <a:srgbClr val="1A2A38"/>
                </a:solidFill>
              </a:rPr>
              <a:t>Als administrativer Pflichtprozess wurde ein hoher GWS-Anteil erwartet.</a:t>
            </a:r>
          </a:p>
        </p:txBody>
      </p:sp>
      <p:sp>
        <p:nvSpPr>
          <p:cNvPr id="204" name="sc"/>
          <p:cNvSpPr/>
          <p:nvPr/>
        </p:nvSpPr>
        <p:spPr>
          <a:xfrm>
            <a:off x="4470400" y="1905000"/>
            <a:ext cx="3251200" cy="4013200"/>
          </a:xfrm>
          <a:prstGeom prst="roundRect">
            <a:avLst>
              <a:gd name="adj" fmla="val 4000"/>
            </a:avLst>
          </a:prstGeom>
          <a:solidFill>
            <a:srgbClr val="EEF2F6"/>
          </a:solidFill>
          <a:ln>
            <a:noFill/>
          </a:ln>
        </p:spPr>
        <p:txBody>
          <a:bodyPr/>
          <a:lstStyle/>
          <a:p>
            <a:endParaRPr lang="de-CH"/>
          </a:p>
        </p:txBody>
      </p:sp>
      <p:sp>
        <p:nvSpPr>
          <p:cNvPr id="205" name="tilehdr"/>
          <p:cNvSpPr/>
          <p:nvPr/>
        </p:nvSpPr>
        <p:spPr>
          <a:xfrm>
            <a:off x="4470400" y="1905000"/>
            <a:ext cx="3251200" cy="431800"/>
          </a:xfrm>
          <a:prstGeom prst="roundRect">
            <a:avLst>
              <a:gd name="adj" fmla="val 4000"/>
            </a:avLst>
          </a:prstGeom>
          <a:solidFill>
            <a:srgbClr val="1B3A5C"/>
          </a:solidFill>
          <a:ln>
            <a:noFill/>
          </a:ln>
        </p:spPr>
        <p:txBody>
          <a:bodyPr lIns="114300" tIns="0" rIns="76200" bIns="0" rtlCol="0" anchor="ctr"/>
          <a:lstStyle/>
          <a:p>
            <a:pPr algn="l"/>
            <a:r>
              <a:rPr lang="de-CH" sz="1300" b="1" dirty="0">
                <a:solidFill>
                  <a:srgbClr val="FFFFFF"/>
                </a:solidFill>
              </a:rPr>
              <a:t>Ergebnisverteilung</a:t>
            </a:r>
          </a:p>
        </p:txBody>
      </p:sp>
      <p:sp>
        <p:nvSpPr>
          <p:cNvPr id="206" name="tot"/>
          <p:cNvSpPr/>
          <p:nvPr/>
        </p:nvSpPr>
        <p:spPr>
          <a:xfrm>
            <a:off x="4648200" y="2413000"/>
            <a:ext cx="2895600" cy="279400"/>
          </a:xfrm>
          <a:prstGeom prst="rect">
            <a:avLst/>
          </a:prstGeom>
          <a:noFill/>
          <a:ln>
            <a:noFill/>
          </a:ln>
        </p:spPr>
        <p:txBody>
          <a:bodyPr lIns="0" tIns="0" rIns="0" bIns="0" rtlCol="0" anchor="ctr"/>
          <a:lstStyle/>
          <a:p>
            <a:r>
              <a:rPr lang="de-CH" sz="1200" dirty="0">
                <a:solidFill>
                  <a:srgbClr val="5B6B79"/>
                </a:solidFill>
              </a:rPr>
              <a:t>38 Prozessschritte insgesamt</a:t>
            </a:r>
          </a:p>
        </p:txBody>
      </p:sp>
      <p:sp>
        <p:nvSpPr>
          <p:cNvPr id="207" name="kpicard"/>
          <p:cNvSpPr/>
          <p:nvPr/>
        </p:nvSpPr>
        <p:spPr>
          <a:xfrm>
            <a:off x="4648200" y="3327400"/>
            <a:ext cx="2895600" cy="812800"/>
          </a:xfrm>
          <a:prstGeom prst="roundRect">
            <a:avLst>
              <a:gd name="adj" fmla="val 6000"/>
            </a:avLst>
          </a:prstGeom>
          <a:solidFill>
            <a:srgbClr val="FFFFFF"/>
          </a:solidFill>
          <a:ln>
            <a:noFill/>
          </a:ln>
        </p:spPr>
        <p:txBody>
          <a:bodyPr/>
          <a:lstStyle/>
          <a:p>
            <a:endParaRPr lang="de-CH"/>
          </a:p>
        </p:txBody>
      </p:sp>
      <p:sp>
        <p:nvSpPr>
          <p:cNvPr id="208" name="kpibar"/>
          <p:cNvSpPr/>
          <p:nvPr/>
        </p:nvSpPr>
        <p:spPr>
          <a:xfrm>
            <a:off x="4648200" y="3327400"/>
            <a:ext cx="63500" cy="812800"/>
          </a:xfrm>
          <a:prstGeom prst="rect">
            <a:avLst/>
          </a:prstGeom>
          <a:solidFill>
            <a:srgbClr val="4A90C2"/>
          </a:solidFill>
          <a:ln>
            <a:noFill/>
          </a:ln>
        </p:spPr>
        <p:txBody>
          <a:bodyPr/>
          <a:lstStyle/>
          <a:p>
            <a:endParaRPr lang="de-CH"/>
          </a:p>
        </p:txBody>
      </p:sp>
      <p:sp>
        <p:nvSpPr>
          <p:cNvPr id="209" name="kpilbl"/>
          <p:cNvSpPr/>
          <p:nvPr/>
        </p:nvSpPr>
        <p:spPr>
          <a:xfrm>
            <a:off x="4851400" y="3327400"/>
            <a:ext cx="1505712" cy="812800"/>
          </a:xfrm>
          <a:prstGeom prst="rect">
            <a:avLst/>
          </a:prstGeom>
          <a:noFill/>
          <a:ln>
            <a:noFill/>
          </a:ln>
        </p:spPr>
        <p:txBody>
          <a:bodyPr lIns="0" tIns="0" rIns="0" bIns="0" rtlCol="0" anchor="ctr"/>
          <a:lstStyle/>
          <a:p>
            <a:r>
              <a:rPr lang="de-CH" sz="1500" b="1" dirty="0">
                <a:solidFill>
                  <a:srgbClr val="4A90C2"/>
                </a:solidFill>
              </a:rPr>
              <a:t>WS</a:t>
            </a:r>
          </a:p>
          <a:p>
            <a:pPr>
              <a:spcBef>
                <a:spcPts val="100"/>
              </a:spcBef>
            </a:pPr>
            <a:r>
              <a:rPr lang="de-CH" sz="900" dirty="0">
                <a:solidFill>
                  <a:srgbClr val="5B6B79"/>
                </a:solidFill>
              </a:rPr>
              <a:t>wertschöpfend</a:t>
            </a:r>
          </a:p>
          <a:p>
            <a:pPr>
              <a:spcBef>
                <a:spcPts val="100"/>
              </a:spcBef>
            </a:pPr>
            <a:r>
              <a:rPr lang="de-CH" sz="900" dirty="0">
                <a:solidFill>
                  <a:srgbClr val="5B6B79"/>
                </a:solidFill>
              </a:rPr>
              <a:t>(kundenseitig)</a:t>
            </a:r>
          </a:p>
        </p:txBody>
      </p:sp>
      <p:sp>
        <p:nvSpPr>
          <p:cNvPr id="210" name="kpinum"/>
          <p:cNvSpPr/>
          <p:nvPr/>
        </p:nvSpPr>
        <p:spPr>
          <a:xfrm>
            <a:off x="6096000" y="3327400"/>
            <a:ext cx="1295400" cy="812800"/>
          </a:xfrm>
          <a:prstGeom prst="rect">
            <a:avLst/>
          </a:prstGeom>
          <a:noFill/>
          <a:ln>
            <a:noFill/>
          </a:ln>
        </p:spPr>
        <p:txBody>
          <a:bodyPr lIns="0" tIns="0" rIns="0" bIns="0" rtlCol="0" anchor="ctr"/>
          <a:lstStyle/>
          <a:p>
            <a:pPr algn="r"/>
            <a:r>
              <a:rPr lang="de-CH" sz="2000" b="1" dirty="0">
                <a:solidFill>
                  <a:srgbClr val="1A2A38"/>
                </a:solidFill>
              </a:rPr>
              <a:t>3</a:t>
            </a:r>
          </a:p>
          <a:p>
            <a:pPr algn="r">
              <a:spcBef>
                <a:spcPts val="100"/>
              </a:spcBef>
            </a:pPr>
            <a:r>
              <a:rPr lang="de-CH" sz="1100" b="1" dirty="0">
                <a:solidFill>
                  <a:srgbClr val="4A90C2"/>
                </a:solidFill>
              </a:rPr>
              <a:t>7.9 %</a:t>
            </a:r>
          </a:p>
        </p:txBody>
      </p:sp>
      <p:sp>
        <p:nvSpPr>
          <p:cNvPr id="211" name="kpicard"/>
          <p:cNvSpPr/>
          <p:nvPr/>
        </p:nvSpPr>
        <p:spPr>
          <a:xfrm>
            <a:off x="4648200" y="4216400"/>
            <a:ext cx="2895600" cy="812800"/>
          </a:xfrm>
          <a:prstGeom prst="roundRect">
            <a:avLst>
              <a:gd name="adj" fmla="val 6000"/>
            </a:avLst>
          </a:prstGeom>
          <a:solidFill>
            <a:srgbClr val="FFFFFF"/>
          </a:solidFill>
          <a:ln>
            <a:noFill/>
          </a:ln>
        </p:spPr>
        <p:txBody>
          <a:bodyPr/>
          <a:lstStyle/>
          <a:p>
            <a:endParaRPr lang="de-CH"/>
          </a:p>
        </p:txBody>
      </p:sp>
      <p:sp>
        <p:nvSpPr>
          <p:cNvPr id="212" name="kpibar"/>
          <p:cNvSpPr/>
          <p:nvPr/>
        </p:nvSpPr>
        <p:spPr>
          <a:xfrm>
            <a:off x="4648200" y="4216400"/>
            <a:ext cx="63500" cy="812800"/>
          </a:xfrm>
          <a:prstGeom prst="rect">
            <a:avLst/>
          </a:prstGeom>
          <a:solidFill>
            <a:srgbClr val="1B3A5C"/>
          </a:solidFill>
          <a:ln>
            <a:noFill/>
          </a:ln>
        </p:spPr>
        <p:txBody>
          <a:bodyPr/>
          <a:lstStyle/>
          <a:p>
            <a:endParaRPr lang="de-CH"/>
          </a:p>
        </p:txBody>
      </p:sp>
      <p:sp>
        <p:nvSpPr>
          <p:cNvPr id="213" name="kpilbl"/>
          <p:cNvSpPr/>
          <p:nvPr/>
        </p:nvSpPr>
        <p:spPr>
          <a:xfrm>
            <a:off x="4851400" y="4216400"/>
            <a:ext cx="1505712" cy="812800"/>
          </a:xfrm>
          <a:prstGeom prst="rect">
            <a:avLst/>
          </a:prstGeom>
          <a:noFill/>
          <a:ln>
            <a:noFill/>
          </a:ln>
        </p:spPr>
        <p:txBody>
          <a:bodyPr lIns="0" tIns="0" rIns="0" bIns="0" rtlCol="0" anchor="ctr"/>
          <a:lstStyle/>
          <a:p>
            <a:r>
              <a:rPr lang="de-CH" sz="1500" b="1" dirty="0">
                <a:solidFill>
                  <a:srgbClr val="1B3A5C"/>
                </a:solidFill>
              </a:rPr>
              <a:t>GWS</a:t>
            </a:r>
          </a:p>
          <a:p>
            <a:pPr>
              <a:spcBef>
                <a:spcPts val="100"/>
              </a:spcBef>
            </a:pPr>
            <a:r>
              <a:rPr lang="de-CH" sz="900" dirty="0">
                <a:solidFill>
                  <a:srgbClr val="5B6B79"/>
                </a:solidFill>
              </a:rPr>
              <a:t>geschäftswert-
schöpfend</a:t>
            </a:r>
          </a:p>
        </p:txBody>
      </p:sp>
      <p:sp>
        <p:nvSpPr>
          <p:cNvPr id="214" name="kpinum"/>
          <p:cNvSpPr/>
          <p:nvPr/>
        </p:nvSpPr>
        <p:spPr>
          <a:xfrm>
            <a:off x="6096000" y="4216400"/>
            <a:ext cx="1295400" cy="812800"/>
          </a:xfrm>
          <a:prstGeom prst="rect">
            <a:avLst/>
          </a:prstGeom>
          <a:noFill/>
          <a:ln>
            <a:noFill/>
          </a:ln>
        </p:spPr>
        <p:txBody>
          <a:bodyPr lIns="0" tIns="0" rIns="0" bIns="0" rtlCol="0" anchor="ctr"/>
          <a:lstStyle/>
          <a:p>
            <a:pPr algn="r"/>
            <a:r>
              <a:rPr lang="de-CH" sz="2000" b="1" dirty="0">
                <a:solidFill>
                  <a:srgbClr val="1A2A38"/>
                </a:solidFill>
              </a:rPr>
              <a:t>29</a:t>
            </a:r>
          </a:p>
          <a:p>
            <a:pPr algn="r">
              <a:spcBef>
                <a:spcPts val="100"/>
              </a:spcBef>
            </a:pPr>
            <a:r>
              <a:rPr lang="de-CH" sz="1100" b="1" dirty="0">
                <a:solidFill>
                  <a:srgbClr val="1B3A5C"/>
                </a:solidFill>
              </a:rPr>
              <a:t>76.3 %</a:t>
            </a:r>
          </a:p>
        </p:txBody>
      </p:sp>
      <p:sp>
        <p:nvSpPr>
          <p:cNvPr id="215" name="kpicard"/>
          <p:cNvSpPr/>
          <p:nvPr/>
        </p:nvSpPr>
        <p:spPr>
          <a:xfrm>
            <a:off x="4648200" y="5105400"/>
            <a:ext cx="2895600" cy="812800"/>
          </a:xfrm>
          <a:prstGeom prst="roundRect">
            <a:avLst>
              <a:gd name="adj" fmla="val 6000"/>
            </a:avLst>
          </a:prstGeom>
          <a:solidFill>
            <a:srgbClr val="FFFFFF"/>
          </a:solidFill>
          <a:ln>
            <a:noFill/>
          </a:ln>
        </p:spPr>
        <p:txBody>
          <a:bodyPr/>
          <a:lstStyle/>
          <a:p>
            <a:endParaRPr lang="de-CH"/>
          </a:p>
        </p:txBody>
      </p:sp>
      <p:sp>
        <p:nvSpPr>
          <p:cNvPr id="216" name="kpibar"/>
          <p:cNvSpPr/>
          <p:nvPr/>
        </p:nvSpPr>
        <p:spPr>
          <a:xfrm>
            <a:off x="4648200" y="5105400"/>
            <a:ext cx="63500" cy="812800"/>
          </a:xfrm>
          <a:prstGeom prst="rect">
            <a:avLst/>
          </a:prstGeom>
          <a:solidFill>
            <a:srgbClr val="C8893A"/>
          </a:solidFill>
          <a:ln>
            <a:noFill/>
          </a:ln>
        </p:spPr>
        <p:txBody>
          <a:bodyPr/>
          <a:lstStyle/>
          <a:p>
            <a:endParaRPr lang="de-CH"/>
          </a:p>
        </p:txBody>
      </p:sp>
      <p:sp>
        <p:nvSpPr>
          <p:cNvPr id="217" name="kpilbl"/>
          <p:cNvSpPr/>
          <p:nvPr/>
        </p:nvSpPr>
        <p:spPr>
          <a:xfrm>
            <a:off x="4851400" y="5105400"/>
            <a:ext cx="1505712" cy="812800"/>
          </a:xfrm>
          <a:prstGeom prst="rect">
            <a:avLst/>
          </a:prstGeom>
          <a:noFill/>
          <a:ln>
            <a:noFill/>
          </a:ln>
        </p:spPr>
        <p:txBody>
          <a:bodyPr lIns="0" tIns="0" rIns="0" bIns="0" rtlCol="0" anchor="ctr"/>
          <a:lstStyle/>
          <a:p>
            <a:r>
              <a:rPr lang="de-CH" sz="1500" b="1" dirty="0">
                <a:solidFill>
                  <a:srgbClr val="C8893A"/>
                </a:solidFill>
              </a:rPr>
              <a:t>NWS</a:t>
            </a:r>
          </a:p>
          <a:p>
            <a:pPr>
              <a:spcBef>
                <a:spcPts val="100"/>
              </a:spcBef>
            </a:pPr>
            <a:r>
              <a:rPr lang="de-CH" sz="900" dirty="0">
                <a:solidFill>
                  <a:srgbClr val="5B6B79"/>
                </a:solidFill>
              </a:rPr>
              <a:t>nicht
wertschöpfend</a:t>
            </a:r>
          </a:p>
        </p:txBody>
      </p:sp>
      <p:sp>
        <p:nvSpPr>
          <p:cNvPr id="218" name="kpinum"/>
          <p:cNvSpPr/>
          <p:nvPr/>
        </p:nvSpPr>
        <p:spPr>
          <a:xfrm>
            <a:off x="6096000" y="5105400"/>
            <a:ext cx="1295400" cy="812800"/>
          </a:xfrm>
          <a:prstGeom prst="rect">
            <a:avLst/>
          </a:prstGeom>
          <a:noFill/>
          <a:ln>
            <a:noFill/>
          </a:ln>
        </p:spPr>
        <p:txBody>
          <a:bodyPr lIns="0" tIns="0" rIns="0" bIns="0" rtlCol="0" anchor="ctr"/>
          <a:lstStyle/>
          <a:p>
            <a:pPr algn="r"/>
            <a:r>
              <a:rPr lang="de-CH" sz="2000" b="1" dirty="0">
                <a:solidFill>
                  <a:srgbClr val="1A2A38"/>
                </a:solidFill>
              </a:rPr>
              <a:t>6</a:t>
            </a:r>
          </a:p>
          <a:p>
            <a:pPr algn="r">
              <a:spcBef>
                <a:spcPts val="100"/>
              </a:spcBef>
            </a:pPr>
            <a:r>
              <a:rPr lang="de-CH" sz="1100" b="1" dirty="0">
                <a:solidFill>
                  <a:srgbClr val="C8893A"/>
                </a:solidFill>
              </a:rPr>
              <a:t>15.8 %</a:t>
            </a:r>
          </a:p>
        </p:txBody>
      </p:sp>
      <p:sp>
        <p:nvSpPr>
          <p:cNvPr id="222" name="sc"/>
          <p:cNvSpPr/>
          <p:nvPr/>
        </p:nvSpPr>
        <p:spPr>
          <a:xfrm>
            <a:off x="7924800" y="1905000"/>
            <a:ext cx="3429000" cy="4013200"/>
          </a:xfrm>
          <a:prstGeom prst="roundRect">
            <a:avLst>
              <a:gd name="adj" fmla="val 4000"/>
            </a:avLst>
          </a:prstGeom>
          <a:solidFill>
            <a:srgbClr val="EEF2F6"/>
          </a:solidFill>
          <a:ln>
            <a:noFill/>
          </a:ln>
        </p:spPr>
        <p:txBody>
          <a:bodyPr/>
          <a:lstStyle/>
          <a:p>
            <a:endParaRPr lang="de-CH"/>
          </a:p>
        </p:txBody>
      </p:sp>
      <p:sp>
        <p:nvSpPr>
          <p:cNvPr id="223" name="tilehdr"/>
          <p:cNvSpPr/>
          <p:nvPr/>
        </p:nvSpPr>
        <p:spPr>
          <a:xfrm>
            <a:off x="7924800" y="1905000"/>
            <a:ext cx="3429000" cy="431800"/>
          </a:xfrm>
          <a:prstGeom prst="roundRect">
            <a:avLst>
              <a:gd name="adj" fmla="val 4000"/>
            </a:avLst>
          </a:prstGeom>
          <a:solidFill>
            <a:srgbClr val="1B3A5C"/>
          </a:solidFill>
          <a:ln>
            <a:noFill/>
          </a:ln>
        </p:spPr>
        <p:txBody>
          <a:bodyPr lIns="114300" tIns="0" rIns="76200" bIns="0" rtlCol="0" anchor="ctr"/>
          <a:lstStyle/>
          <a:p>
            <a:pPr algn="l"/>
            <a:r>
              <a:rPr lang="de-CH" sz="1300" b="1" dirty="0">
                <a:solidFill>
                  <a:srgbClr val="FFFFFF"/>
                </a:solidFill>
              </a:rPr>
              <a:t>Interpretation für das SOLL-Konzept</a:t>
            </a:r>
          </a:p>
        </p:txBody>
      </p:sp>
      <p:sp>
        <p:nvSpPr>
          <p:cNvPr id="224" name="tilebody"/>
          <p:cNvSpPr/>
          <p:nvPr/>
        </p:nvSpPr>
        <p:spPr>
          <a:xfrm>
            <a:off x="8102600" y="2438400"/>
            <a:ext cx="3073400" cy="3378200"/>
          </a:xfrm>
          <a:prstGeom prst="rect">
            <a:avLst/>
          </a:prstGeom>
          <a:noFill/>
          <a:ln>
            <a:noFill/>
          </a:ln>
        </p:spPr>
        <p:txBody>
          <a:bodyPr lIns="0" tIns="0" rIns="0" bIns="0" rtlCol="0" anchor="t"/>
          <a:lstStyle/>
          <a:p>
            <a:pPr>
              <a:spcAft>
                <a:spcPts val="200"/>
              </a:spcAft>
            </a:pPr>
            <a:r>
              <a:rPr lang="de-CH" sz="1100" b="1" dirty="0">
                <a:solidFill>
                  <a:srgbClr val="9A6512"/>
                </a:solidFill>
              </a:rPr>
              <a:t>Interpretation</a:t>
            </a:r>
          </a:p>
          <a:p>
            <a:pPr>
              <a:spcAft>
                <a:spcPts val="500"/>
              </a:spcAft>
            </a:pPr>
            <a:r>
              <a:rPr lang="de-CH" sz="1200" dirty="0"/>
              <a:t>Hoher GWS-Anteil, da viele Schritte für Prüfung, Dokumentation und Nachvollziehbarkeit erforderlich sind.</a:t>
            </a:r>
          </a:p>
          <a:p>
            <a:pPr>
              <a:spcAft>
                <a:spcPts val="500"/>
              </a:spcAft>
            </a:pPr>
            <a:endParaRPr lang="de-CH" sz="1200" dirty="0">
              <a:solidFill>
                <a:srgbClr val="1A2A38"/>
              </a:solidFill>
            </a:endParaRPr>
          </a:p>
          <a:p>
            <a:pPr>
              <a:spcAft>
                <a:spcPts val="200"/>
              </a:spcAft>
            </a:pPr>
            <a:r>
              <a:rPr lang="de-CH" sz="1100" b="1" dirty="0">
                <a:solidFill>
                  <a:srgbClr val="9A6512"/>
                </a:solidFill>
              </a:rPr>
              <a:t>Einordnung der Methode</a:t>
            </a:r>
          </a:p>
          <a:p>
            <a:pPr>
              <a:spcAft>
                <a:spcPts val="500"/>
              </a:spcAft>
            </a:pPr>
            <a:r>
              <a:rPr lang="de-CH" sz="1200" dirty="0">
                <a:solidFill>
                  <a:srgbClr val="1A2A38"/>
                </a:solidFill>
              </a:rPr>
              <a:t>Die NWS-Schritte verweisen auf bereits identifizierte Pain Points. </a:t>
            </a:r>
            <a:r>
              <a:rPr lang="de-CH" sz="1200" dirty="0"/>
              <a:t>Die Methode grenzt den Optimierungsfokus ein.</a:t>
            </a:r>
            <a:endParaRPr lang="de-CH" sz="1200" dirty="0">
              <a:solidFill>
                <a:srgbClr val="1A2A38"/>
              </a:solidFill>
            </a:endParaRPr>
          </a:p>
          <a:p>
            <a:pPr>
              <a:spcAft>
                <a:spcPts val="500"/>
              </a:spcAft>
            </a:pPr>
            <a:endParaRPr lang="de-CH" sz="1200" dirty="0">
              <a:solidFill>
                <a:srgbClr val="1A2A38"/>
              </a:solidFill>
            </a:endParaRPr>
          </a:p>
          <a:p>
            <a:pPr>
              <a:spcAft>
                <a:spcPts val="200"/>
              </a:spcAft>
            </a:pPr>
            <a:r>
              <a:rPr lang="de-CH" sz="1100" b="1" dirty="0">
                <a:solidFill>
                  <a:srgbClr val="9A6512"/>
                </a:solidFill>
              </a:rPr>
              <a:t>SOLL-Konsequenz</a:t>
            </a:r>
          </a:p>
          <a:p>
            <a:r>
              <a:rPr lang="de-DE" sz="1200" b="1" dirty="0">
                <a:solidFill>
                  <a:srgbClr val="1B3A5C"/>
                </a:solidFill>
              </a:rPr>
              <a:t>Fokus nicht auf Elimination, sondern auf strukturierte und systemgestützte Ausführung.</a:t>
            </a:r>
            <a:endParaRPr lang="de-CH" sz="1200" b="1" dirty="0">
              <a:solidFill>
                <a:srgbClr val="1B3A5C"/>
              </a:solidFill>
            </a:endParaRPr>
          </a:p>
        </p:txBody>
      </p:sp>
      <p:sp>
        <p:nvSpPr>
          <p:cNvPr id="226" name="kb"/>
          <p:cNvSpPr/>
          <p:nvPr/>
        </p:nvSpPr>
        <p:spPr>
          <a:xfrm>
            <a:off x="838200" y="6070600"/>
            <a:ext cx="63500" cy="584200"/>
          </a:xfrm>
          <a:prstGeom prst="rect">
            <a:avLst/>
          </a:prstGeom>
          <a:solidFill>
            <a:srgbClr val="C8893A"/>
          </a:solidFill>
          <a:ln>
            <a:noFill/>
          </a:ln>
        </p:spPr>
        <p:txBody>
          <a:bodyPr/>
          <a:lstStyle/>
          <a:p>
            <a:endParaRPr lang="de-CH"/>
          </a:p>
        </p:txBody>
      </p:sp>
      <p:sp>
        <p:nvSpPr>
          <p:cNvPr id="227" name="kerntx"/>
          <p:cNvSpPr/>
          <p:nvPr/>
        </p:nvSpPr>
        <p:spPr>
          <a:xfrm>
            <a:off x="1092200" y="6070600"/>
            <a:ext cx="10261600" cy="584200"/>
          </a:xfrm>
          <a:prstGeom prst="rect">
            <a:avLst/>
          </a:prstGeom>
          <a:noFill/>
          <a:ln>
            <a:noFill/>
          </a:ln>
        </p:spPr>
        <p:txBody>
          <a:bodyPr lIns="0" tIns="0" rIns="76200" bIns="0" rtlCol="0" anchor="ctr"/>
          <a:lstStyle/>
          <a:p>
            <a:r>
              <a:rPr lang="de-CH" sz="1300" b="1" dirty="0">
                <a:solidFill>
                  <a:srgbClr val="FFFFFF"/>
                </a:solidFill>
              </a:rPr>
              <a:t>Die Value-Added-Analyse zeigt: </a:t>
            </a:r>
            <a:r>
              <a:rPr lang="de-CH" sz="1300" dirty="0">
                <a:solidFill>
                  <a:srgbClr val="EEF2F6"/>
                </a:solidFill>
              </a:rPr>
              <a:t>Nicht die Tätigkeit an sich ist überwiegend problematisch, sondern ihre manuelle, verteilte oder nicht systemgestützte Ausführung.</a:t>
            </a:r>
          </a:p>
        </p:txBody>
      </p:sp>
      <p:sp>
        <p:nvSpPr>
          <p:cNvPr id="300" name="seg"/>
          <p:cNvSpPr/>
          <p:nvPr/>
        </p:nvSpPr>
        <p:spPr>
          <a:xfrm>
            <a:off x="4648200" y="2794000"/>
            <a:ext cx="228752" cy="203200"/>
          </a:xfrm>
          <a:prstGeom prst="rect">
            <a:avLst/>
          </a:prstGeom>
          <a:solidFill>
            <a:srgbClr val="4A90C2"/>
          </a:solidFill>
          <a:ln>
            <a:noFill/>
          </a:ln>
        </p:spPr>
        <p:txBody>
          <a:bodyPr/>
          <a:lstStyle/>
          <a:p>
            <a:endParaRPr lang="de-CH"/>
          </a:p>
        </p:txBody>
      </p:sp>
      <p:sp>
        <p:nvSpPr>
          <p:cNvPr id="301" name="seg"/>
          <p:cNvSpPr/>
          <p:nvPr/>
        </p:nvSpPr>
        <p:spPr>
          <a:xfrm>
            <a:off x="4876952" y="2794000"/>
            <a:ext cx="2209343" cy="203200"/>
          </a:xfrm>
          <a:prstGeom prst="rect">
            <a:avLst/>
          </a:prstGeom>
          <a:solidFill>
            <a:srgbClr val="1B3A5C"/>
          </a:solidFill>
          <a:ln>
            <a:noFill/>
          </a:ln>
        </p:spPr>
        <p:txBody>
          <a:bodyPr/>
          <a:lstStyle/>
          <a:p>
            <a:endParaRPr lang="de-CH"/>
          </a:p>
        </p:txBody>
      </p:sp>
      <p:sp>
        <p:nvSpPr>
          <p:cNvPr id="302" name="seg"/>
          <p:cNvSpPr/>
          <p:nvPr/>
        </p:nvSpPr>
        <p:spPr>
          <a:xfrm>
            <a:off x="7086295" y="2794000"/>
            <a:ext cx="457505" cy="203200"/>
          </a:xfrm>
          <a:prstGeom prst="rect">
            <a:avLst/>
          </a:prstGeom>
          <a:solidFill>
            <a:srgbClr val="C8893A"/>
          </a:solidFill>
          <a:ln>
            <a:noFill/>
          </a:ln>
        </p:spPr>
        <p:txBody>
          <a:bodyPr/>
          <a:lstStyle/>
          <a:p>
            <a:endParaRPr lang="de-CH"/>
          </a:p>
        </p:txBody>
      </p:sp>
      <p:sp>
        <p:nvSpPr>
          <p:cNvPr id="3" name="kern">
            <a:extLst>
              <a:ext uri="{FF2B5EF4-FFF2-40B4-BE49-F238E27FC236}">
                <a16:creationId xmlns:a16="http://schemas.microsoft.com/office/drawing/2014/main" id="{283F0FF0-C5F0-74CD-EDA5-B8BF97C1C1F8}"/>
              </a:ext>
            </a:extLst>
          </p:cNvPr>
          <p:cNvSpPr/>
          <p:nvPr/>
        </p:nvSpPr>
        <p:spPr>
          <a:xfrm>
            <a:off x="901700" y="6070600"/>
            <a:ext cx="10515600" cy="584200"/>
          </a:xfrm>
          <a:prstGeom prst="rect">
            <a:avLst/>
          </a:prstGeom>
          <a:solidFill>
            <a:srgbClr val="EEF2F6"/>
          </a:solidFill>
          <a:ln>
            <a:noFill/>
          </a:ln>
        </p:spPr>
        <p:txBody>
          <a:bodyPr lIns="203200" tIns="50800" rIns="203200" bIns="50800" anchor="ctr"/>
          <a:lstStyle/>
          <a:p>
            <a:r>
              <a:rPr lang="de-CH" sz="1300" b="1" dirty="0">
                <a:solidFill>
                  <a:schemeClr val="bg2">
                    <a:lumMod val="10000"/>
                  </a:schemeClr>
                </a:solidFill>
              </a:rPr>
              <a:t>          Die Value-</a:t>
            </a:r>
            <a:r>
              <a:rPr lang="de-CH" sz="1300" b="1" dirty="0" err="1">
                <a:solidFill>
                  <a:schemeClr val="bg2">
                    <a:lumMod val="10000"/>
                  </a:schemeClr>
                </a:solidFill>
              </a:rPr>
              <a:t>Added</a:t>
            </a:r>
            <a:r>
              <a:rPr lang="de-CH" sz="1300" b="1" dirty="0">
                <a:solidFill>
                  <a:schemeClr val="bg2">
                    <a:lumMod val="10000"/>
                  </a:schemeClr>
                </a:solidFill>
              </a:rPr>
              <a:t>-Analyse zeigt: </a:t>
            </a:r>
            <a:r>
              <a:rPr lang="de-CH" sz="1300" dirty="0">
                <a:solidFill>
                  <a:schemeClr val="bg2">
                    <a:lumMod val="10000"/>
                  </a:schemeClr>
                </a:solidFill>
              </a:rPr>
              <a:t>Nicht die Tätigkeit an sich ist überwiegend problematisch, sondern ihre manuelle, verteilte oder nicht                                         </a:t>
            </a:r>
          </a:p>
          <a:p>
            <a:r>
              <a:rPr lang="de-CH" sz="1300" dirty="0">
                <a:solidFill>
                  <a:schemeClr val="bg2">
                    <a:lumMod val="10000"/>
                  </a:schemeClr>
                </a:solidFill>
              </a:rPr>
              <a:t>          systemgestützte Ausführung.</a:t>
            </a:r>
          </a:p>
        </p:txBody>
      </p:sp>
      <p:pic>
        <p:nvPicPr>
          <p:cNvPr id="4" name="Grafik 3">
            <a:extLst>
              <a:ext uri="{FF2B5EF4-FFF2-40B4-BE49-F238E27FC236}">
                <a16:creationId xmlns:a16="http://schemas.microsoft.com/office/drawing/2014/main" id="{E4CB9E23-6B1E-DD7B-C434-089A2075C869}"/>
              </a:ext>
            </a:extLst>
          </p:cNvPr>
          <p:cNvPicPr>
            <a:picLocks noChangeAspect="1"/>
          </p:cNvPicPr>
          <p:nvPr/>
        </p:nvPicPr>
        <p:blipFill>
          <a:blip r:embed="rId3"/>
          <a:stretch/>
        </p:blipFill>
        <p:spPr>
          <a:xfrm>
            <a:off x="901700" y="6070600"/>
            <a:ext cx="591921" cy="584201"/>
          </a:xfrm>
          <a:prstGeom prst="rect">
            <a:avLst/>
          </a:prstGeom>
        </p:spPr>
      </p:pic>
      <p:sp>
        <p:nvSpPr>
          <p:cNvPr id="5" name="Foliennummernplatzhalter 4">
            <a:extLst>
              <a:ext uri="{FF2B5EF4-FFF2-40B4-BE49-F238E27FC236}">
                <a16:creationId xmlns:a16="http://schemas.microsoft.com/office/drawing/2014/main" id="{F0A62462-E935-8260-0B45-E3710A04A7C4}"/>
              </a:ext>
            </a:extLst>
          </p:cNvPr>
          <p:cNvSpPr>
            <a:spLocks noGrp="1"/>
          </p:cNvSpPr>
          <p:nvPr>
            <p:ph type="sldNum" sz="quarter" idx="12"/>
          </p:nvPr>
        </p:nvSpPr>
        <p:spPr/>
        <p:txBody>
          <a:bodyPr/>
          <a:lstStyle/>
          <a:p>
            <a:fld id="{2AAFDC3C-A9F8-4ABD-8D8D-8DC3321B02DC}" type="slidenum">
              <a:rPr lang="de-CH" smtClean="0"/>
              <a:t>22</a:t>
            </a:fld>
            <a:endParaRPr lang="de-CH"/>
          </a:p>
        </p:txBody>
      </p:sp>
    </p:spTree>
    <p:extLst>
      <p:ext uri="{BB962C8B-B14F-4D97-AF65-F5344CB8AC3E}">
        <p14:creationId xmlns:p14="http://schemas.microsoft.com/office/powerpoint/2010/main" val="2590663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390DDBC-108C-EEA0-DE06-A05A52009538}"/>
              </a:ext>
            </a:extLst>
          </p:cNvPr>
          <p:cNvSpPr>
            <a:spLocks noGrp="1"/>
          </p:cNvSpPr>
          <p:nvPr>
            <p:ph type="title"/>
          </p:nvPr>
        </p:nvSpPr>
        <p:spPr/>
        <p:txBody>
          <a:bodyPr/>
          <a:lstStyle/>
          <a:p>
            <a:pPr algn="l"/>
            <a:r>
              <a:rPr lang="de-CH" sz="2800" b="1" dirty="0" err="1">
                <a:solidFill>
                  <a:srgbClr val="1B3A5C"/>
                </a:solidFill>
              </a:rPr>
              <a:t>Muda</a:t>
            </a:r>
            <a:r>
              <a:rPr lang="de-CH" sz="2800" b="1" dirty="0">
                <a:solidFill>
                  <a:srgbClr val="1B3A5C"/>
                </a:solidFill>
              </a:rPr>
              <a:t>-</a:t>
            </a:r>
            <a:r>
              <a:rPr lang="de-CH" sz="2800" b="1" dirty="0" err="1">
                <a:solidFill>
                  <a:srgbClr val="1B3A5C"/>
                </a:solidFill>
              </a:rPr>
              <a:t>Waste</a:t>
            </a:r>
            <a:r>
              <a:rPr lang="de-CH" sz="2800" b="1" dirty="0">
                <a:solidFill>
                  <a:srgbClr val="1B3A5C"/>
                </a:solidFill>
              </a:rPr>
              <a:t>-Analyse</a:t>
            </a:r>
          </a:p>
        </p:txBody>
      </p:sp>
      <p:sp>
        <p:nvSpPr>
          <p:cNvPr id="200" name="eye"/>
          <p:cNvSpPr/>
          <p:nvPr/>
        </p:nvSpPr>
        <p:spPr>
          <a:xfrm>
            <a:off x="838200" y="1473200"/>
            <a:ext cx="10515600" cy="254000"/>
          </a:xfrm>
          <a:prstGeom prst="rect">
            <a:avLst/>
          </a:prstGeom>
          <a:noFill/>
          <a:ln>
            <a:noFill/>
          </a:ln>
        </p:spPr>
        <p:txBody>
          <a:bodyPr lIns="0" tIns="0" rIns="0" bIns="0" rtlCol="0" anchor="t"/>
          <a:lstStyle/>
          <a:p>
            <a:r>
              <a:rPr lang="de-CH" sz="1400" b="1" dirty="0">
                <a:solidFill>
                  <a:srgbClr val="2E6CA4"/>
                </a:solidFill>
              </a:rPr>
              <a:t>Einordnung der Pain Points nach dominierender Verschwendungsart</a:t>
            </a:r>
          </a:p>
        </p:txBody>
      </p:sp>
      <p:sp>
        <p:nvSpPr>
          <p:cNvPr id="202" name="sc"/>
          <p:cNvSpPr/>
          <p:nvPr/>
        </p:nvSpPr>
        <p:spPr>
          <a:xfrm>
            <a:off x="838200" y="2013525"/>
            <a:ext cx="3429000" cy="3711865"/>
          </a:xfrm>
          <a:prstGeom prst="roundRect">
            <a:avLst>
              <a:gd name="adj" fmla="val 3500"/>
            </a:avLst>
          </a:prstGeom>
          <a:solidFill>
            <a:srgbClr val="EEF2F6"/>
          </a:solidFill>
          <a:ln>
            <a:noFill/>
          </a:ln>
        </p:spPr>
        <p:txBody>
          <a:bodyPr/>
          <a:lstStyle/>
          <a:p>
            <a:endParaRPr lang="de-CH"/>
          </a:p>
        </p:txBody>
      </p:sp>
      <p:sp>
        <p:nvSpPr>
          <p:cNvPr id="203" name="tilehdr"/>
          <p:cNvSpPr/>
          <p:nvPr/>
        </p:nvSpPr>
        <p:spPr>
          <a:xfrm>
            <a:off x="838200" y="2013526"/>
            <a:ext cx="3429000" cy="584200"/>
          </a:xfrm>
          <a:prstGeom prst="roundRect">
            <a:avLst>
              <a:gd name="adj" fmla="val 3500"/>
            </a:avLst>
          </a:prstGeom>
          <a:solidFill>
            <a:srgbClr val="C8893A"/>
          </a:solidFill>
          <a:ln>
            <a:noFill/>
          </a:ln>
        </p:spPr>
        <p:txBody>
          <a:bodyPr/>
          <a:lstStyle/>
          <a:p>
            <a:endParaRPr lang="de-CH"/>
          </a:p>
        </p:txBody>
      </p:sp>
      <p:sp>
        <p:nvSpPr>
          <p:cNvPr id="204" name="tilehdrtx"/>
          <p:cNvSpPr/>
          <p:nvPr/>
        </p:nvSpPr>
        <p:spPr>
          <a:xfrm>
            <a:off x="1016000" y="2013526"/>
            <a:ext cx="2336800" cy="584200"/>
          </a:xfrm>
          <a:prstGeom prst="rect">
            <a:avLst/>
          </a:prstGeom>
          <a:noFill/>
          <a:ln>
            <a:noFill/>
          </a:ln>
        </p:spPr>
        <p:txBody>
          <a:bodyPr lIns="0" tIns="0" rIns="0" bIns="0" rtlCol="0" anchor="ctr"/>
          <a:lstStyle/>
          <a:p>
            <a:r>
              <a:rPr lang="de-CH" sz="1500" b="1" dirty="0">
                <a:solidFill>
                  <a:srgbClr val="FFFFFF"/>
                </a:solidFill>
              </a:rPr>
              <a:t>Überanstrengung</a:t>
            </a:r>
          </a:p>
          <a:p>
            <a:r>
              <a:rPr lang="de-CH" sz="1200" b="1" dirty="0">
                <a:solidFill>
                  <a:srgbClr val="FFFFFF"/>
                </a:solidFill>
              </a:rPr>
              <a:t>(Mehraufwand, Fehler)</a:t>
            </a:r>
          </a:p>
        </p:txBody>
      </p:sp>
      <p:sp>
        <p:nvSpPr>
          <p:cNvPr id="205" name="badge"/>
          <p:cNvSpPr/>
          <p:nvPr/>
        </p:nvSpPr>
        <p:spPr>
          <a:xfrm>
            <a:off x="3276600" y="2013526"/>
            <a:ext cx="812800" cy="584200"/>
          </a:xfrm>
          <a:prstGeom prst="rect">
            <a:avLst/>
          </a:prstGeom>
          <a:noFill/>
          <a:ln>
            <a:noFill/>
          </a:ln>
        </p:spPr>
        <p:txBody>
          <a:bodyPr lIns="0" tIns="0" rIns="0" bIns="0" rtlCol="0" anchor="ctr"/>
          <a:lstStyle/>
          <a:p>
            <a:pPr algn="r"/>
            <a:r>
              <a:rPr lang="de-CH" sz="2000" b="1" dirty="0">
                <a:solidFill>
                  <a:srgbClr val="FFFFFF"/>
                </a:solidFill>
              </a:rPr>
              <a:t>9</a:t>
            </a:r>
            <a:r>
              <a:rPr lang="de-CH" sz="1000" b="1" baseline="0" dirty="0">
                <a:solidFill>
                  <a:srgbClr val="FFFFFF"/>
                </a:solidFill>
              </a:rPr>
              <a:t> PP</a:t>
            </a:r>
          </a:p>
        </p:txBody>
      </p:sp>
      <p:sp>
        <p:nvSpPr>
          <p:cNvPr id="206" name="track"/>
          <p:cNvSpPr/>
          <p:nvPr/>
        </p:nvSpPr>
        <p:spPr>
          <a:xfrm>
            <a:off x="1016000" y="2699326"/>
            <a:ext cx="3073400" cy="101600"/>
          </a:xfrm>
          <a:prstGeom prst="roundRect">
            <a:avLst>
              <a:gd name="adj" fmla="val 50000"/>
            </a:avLst>
          </a:prstGeom>
          <a:solidFill>
            <a:srgbClr val="D8E0E8"/>
          </a:solidFill>
          <a:ln>
            <a:noFill/>
          </a:ln>
        </p:spPr>
        <p:txBody>
          <a:bodyPr/>
          <a:lstStyle/>
          <a:p>
            <a:endParaRPr lang="de-CH"/>
          </a:p>
        </p:txBody>
      </p:sp>
      <p:sp>
        <p:nvSpPr>
          <p:cNvPr id="207" name="fill"/>
          <p:cNvSpPr/>
          <p:nvPr/>
        </p:nvSpPr>
        <p:spPr>
          <a:xfrm>
            <a:off x="1016000" y="2699326"/>
            <a:ext cx="3073400" cy="101600"/>
          </a:xfrm>
          <a:prstGeom prst="roundRect">
            <a:avLst>
              <a:gd name="adj" fmla="val 50000"/>
            </a:avLst>
          </a:prstGeom>
          <a:solidFill>
            <a:srgbClr val="C8893A"/>
          </a:solidFill>
          <a:ln>
            <a:noFill/>
          </a:ln>
        </p:spPr>
        <p:txBody>
          <a:bodyPr/>
          <a:lstStyle/>
          <a:p>
            <a:endParaRPr lang="de-CH"/>
          </a:p>
        </p:txBody>
      </p:sp>
      <p:sp>
        <p:nvSpPr>
          <p:cNvPr id="208" name="desc"/>
          <p:cNvSpPr/>
          <p:nvPr/>
        </p:nvSpPr>
        <p:spPr>
          <a:xfrm>
            <a:off x="1016000" y="2902526"/>
            <a:ext cx="3073400" cy="584200"/>
          </a:xfrm>
          <a:prstGeom prst="rect">
            <a:avLst/>
          </a:prstGeom>
          <a:noFill/>
          <a:ln>
            <a:noFill/>
          </a:ln>
        </p:spPr>
        <p:txBody>
          <a:bodyPr lIns="0" tIns="0" rIns="0" bIns="0" rtlCol="0" anchor="t"/>
          <a:lstStyle/>
          <a:p>
            <a:r>
              <a:rPr lang="de-CH" sz="1100" dirty="0">
                <a:solidFill>
                  <a:srgbClr val="1A2A38"/>
                </a:solidFill>
              </a:rPr>
              <a:t>Zusatzaufwand durch manuelle Prüfungen, Rückfragen, Nacharbeit und redundante Bearbeitung.</a:t>
            </a:r>
          </a:p>
        </p:txBody>
      </p:sp>
      <p:sp>
        <p:nvSpPr>
          <p:cNvPr id="209" name="exlbl"/>
          <p:cNvSpPr/>
          <p:nvPr/>
        </p:nvSpPr>
        <p:spPr>
          <a:xfrm>
            <a:off x="1016000" y="3537526"/>
            <a:ext cx="3073400" cy="203200"/>
          </a:xfrm>
          <a:prstGeom prst="rect">
            <a:avLst/>
          </a:prstGeom>
          <a:noFill/>
          <a:ln>
            <a:noFill/>
          </a:ln>
        </p:spPr>
        <p:txBody>
          <a:bodyPr lIns="0" tIns="0" rIns="0" bIns="0" rtlCol="0" anchor="t"/>
          <a:lstStyle/>
          <a:p>
            <a:r>
              <a:rPr lang="de-CH" sz="1000" b="1" dirty="0">
                <a:solidFill>
                  <a:srgbClr val="9A6512"/>
                </a:solidFill>
              </a:rPr>
              <a:t>BEISPIELE</a:t>
            </a:r>
          </a:p>
        </p:txBody>
      </p:sp>
      <p:sp>
        <p:nvSpPr>
          <p:cNvPr id="210" name="ex"/>
          <p:cNvSpPr/>
          <p:nvPr/>
        </p:nvSpPr>
        <p:spPr>
          <a:xfrm>
            <a:off x="1016000" y="3766126"/>
            <a:ext cx="3073400" cy="838200"/>
          </a:xfrm>
          <a:prstGeom prst="rect">
            <a:avLst/>
          </a:prstGeom>
          <a:noFill/>
          <a:ln>
            <a:noFill/>
          </a:ln>
        </p:spPr>
        <p:txBody>
          <a:bodyPr lIns="0" tIns="0" rIns="0" bIns="0" rtlCol="0" anchor="t"/>
          <a:lstStyle/>
          <a:p>
            <a:pPr marL="0" indent="0">
              <a:spcAft>
                <a:spcPts val="200"/>
              </a:spcAft>
            </a:pPr>
            <a:r>
              <a:rPr lang="de-CH" sz="1050" b="1" dirty="0">
                <a:solidFill>
                  <a:srgbClr val="C8893A"/>
                </a:solidFill>
              </a:rPr>
              <a:t>PP-08  </a:t>
            </a:r>
            <a:r>
              <a:rPr lang="de-CH" sz="1050" dirty="0">
                <a:solidFill>
                  <a:srgbClr val="1A2A38"/>
                </a:solidFill>
              </a:rPr>
              <a:t>Späte Sonderfallprüfungen</a:t>
            </a:r>
          </a:p>
          <a:p>
            <a:pPr marL="0" indent="0">
              <a:spcAft>
                <a:spcPts val="200"/>
              </a:spcAft>
            </a:pPr>
            <a:r>
              <a:rPr lang="de-CH" sz="1050" b="1" dirty="0">
                <a:solidFill>
                  <a:srgbClr val="C8893A"/>
                </a:solidFill>
              </a:rPr>
              <a:t>PP-13  </a:t>
            </a:r>
            <a:r>
              <a:rPr lang="de-CH" sz="1050" dirty="0">
                <a:solidFill>
                  <a:srgbClr val="1A2A38"/>
                </a:solidFill>
              </a:rPr>
              <a:t>Manuelle Prüfungen mit begrenztem Nutzen</a:t>
            </a:r>
          </a:p>
          <a:p>
            <a:pPr marL="0" indent="0">
              <a:spcAft>
                <a:spcPts val="200"/>
              </a:spcAft>
            </a:pPr>
            <a:r>
              <a:rPr lang="de-CH" sz="1050" b="1" dirty="0">
                <a:solidFill>
                  <a:srgbClr val="C8893A"/>
                </a:solidFill>
              </a:rPr>
              <a:t>PP-11  </a:t>
            </a:r>
            <a:r>
              <a:rPr lang="de-CH" sz="1050" dirty="0">
                <a:solidFill>
                  <a:srgbClr val="1A2A38"/>
                </a:solidFill>
              </a:rPr>
              <a:t>Redundante Auflösung bei AuW-Nichtbestehen</a:t>
            </a:r>
          </a:p>
        </p:txBody>
      </p:sp>
      <p:sp>
        <p:nvSpPr>
          <p:cNvPr id="211" name="hflbl"/>
          <p:cNvSpPr/>
          <p:nvPr/>
        </p:nvSpPr>
        <p:spPr>
          <a:xfrm>
            <a:off x="1016000" y="4655126"/>
            <a:ext cx="3073400" cy="203200"/>
          </a:xfrm>
          <a:prstGeom prst="rect">
            <a:avLst/>
          </a:prstGeom>
          <a:noFill/>
          <a:ln>
            <a:noFill/>
          </a:ln>
        </p:spPr>
        <p:txBody>
          <a:bodyPr lIns="0" tIns="0" rIns="0" bIns="0" rtlCol="0" anchor="t"/>
          <a:lstStyle/>
          <a:p>
            <a:r>
              <a:rPr lang="de-CH" sz="1000" b="1" dirty="0">
                <a:solidFill>
                  <a:srgbClr val="9A6512"/>
                </a:solidFill>
              </a:rPr>
              <a:t>ADRESSIERT DURCH</a:t>
            </a:r>
          </a:p>
        </p:txBody>
      </p:sp>
      <p:sp>
        <p:nvSpPr>
          <p:cNvPr id="212" name="hf"/>
          <p:cNvSpPr/>
          <p:nvPr/>
        </p:nvSpPr>
        <p:spPr>
          <a:xfrm>
            <a:off x="1016000" y="4883726"/>
            <a:ext cx="3073400" cy="508000"/>
          </a:xfrm>
          <a:prstGeom prst="rect">
            <a:avLst/>
          </a:prstGeom>
          <a:noFill/>
          <a:ln>
            <a:noFill/>
          </a:ln>
        </p:spPr>
        <p:txBody>
          <a:bodyPr lIns="0" tIns="0" rIns="0" bIns="0" rtlCol="0" anchor="t"/>
          <a:lstStyle/>
          <a:p>
            <a:pPr marL="128000" indent="-128000">
              <a:spcAft>
                <a:spcPts val="100"/>
              </a:spcAft>
              <a:buFont typeface="Arial"/>
              <a:buChar char="▸"/>
            </a:pPr>
            <a:r>
              <a:rPr lang="de-CH" sz="1000" dirty="0">
                <a:solidFill>
                  <a:srgbClr val="1B3A5C"/>
                </a:solidFill>
              </a:rPr>
              <a:t>HF-03 Standardisierung &amp; Dokumentation</a:t>
            </a:r>
          </a:p>
          <a:p>
            <a:pPr marL="128000" indent="-128000">
              <a:spcAft>
                <a:spcPts val="100"/>
              </a:spcAft>
              <a:buFont typeface="Arial"/>
              <a:buChar char="▸"/>
            </a:pPr>
            <a:r>
              <a:rPr lang="de-CH" sz="1000" dirty="0">
                <a:solidFill>
                  <a:srgbClr val="1B3A5C"/>
                </a:solidFill>
              </a:rPr>
              <a:t>HF-04 Systemgestützte Prozessführung</a:t>
            </a:r>
          </a:p>
        </p:txBody>
      </p:sp>
      <p:sp>
        <p:nvSpPr>
          <p:cNvPr id="213" name="divln"/>
          <p:cNvSpPr/>
          <p:nvPr/>
        </p:nvSpPr>
        <p:spPr>
          <a:xfrm>
            <a:off x="1016000" y="5442526"/>
            <a:ext cx="3073400" cy="12700"/>
          </a:xfrm>
          <a:prstGeom prst="rect">
            <a:avLst/>
          </a:prstGeom>
          <a:solidFill>
            <a:srgbClr val="C9D4DE"/>
          </a:solidFill>
          <a:ln>
            <a:noFill/>
          </a:ln>
        </p:spPr>
        <p:txBody>
          <a:bodyPr/>
          <a:lstStyle/>
          <a:p>
            <a:endParaRPr lang="de-CH"/>
          </a:p>
        </p:txBody>
      </p:sp>
      <p:sp>
        <p:nvSpPr>
          <p:cNvPr id="215" name="sc"/>
          <p:cNvSpPr/>
          <p:nvPr/>
        </p:nvSpPr>
        <p:spPr>
          <a:xfrm>
            <a:off x="4470400" y="2013525"/>
            <a:ext cx="3251200" cy="3737265"/>
          </a:xfrm>
          <a:prstGeom prst="roundRect">
            <a:avLst>
              <a:gd name="adj" fmla="val 3500"/>
            </a:avLst>
          </a:prstGeom>
          <a:solidFill>
            <a:srgbClr val="EEF2F6"/>
          </a:solidFill>
          <a:ln>
            <a:noFill/>
          </a:ln>
        </p:spPr>
        <p:txBody>
          <a:bodyPr/>
          <a:lstStyle/>
          <a:p>
            <a:endParaRPr lang="de-CH"/>
          </a:p>
        </p:txBody>
      </p:sp>
      <p:sp>
        <p:nvSpPr>
          <p:cNvPr id="216" name="tilehdr"/>
          <p:cNvSpPr/>
          <p:nvPr/>
        </p:nvSpPr>
        <p:spPr>
          <a:xfrm>
            <a:off x="4470400" y="2013526"/>
            <a:ext cx="3251200" cy="584200"/>
          </a:xfrm>
          <a:prstGeom prst="roundRect">
            <a:avLst>
              <a:gd name="adj" fmla="val 3500"/>
            </a:avLst>
          </a:prstGeom>
          <a:solidFill>
            <a:srgbClr val="2E6CA4"/>
          </a:solidFill>
          <a:ln>
            <a:noFill/>
          </a:ln>
        </p:spPr>
        <p:txBody>
          <a:bodyPr/>
          <a:lstStyle/>
          <a:p>
            <a:endParaRPr lang="de-CH"/>
          </a:p>
        </p:txBody>
      </p:sp>
      <p:sp>
        <p:nvSpPr>
          <p:cNvPr id="217" name="tilehdrtx"/>
          <p:cNvSpPr/>
          <p:nvPr/>
        </p:nvSpPr>
        <p:spPr>
          <a:xfrm>
            <a:off x="4648200" y="2013526"/>
            <a:ext cx="2159000" cy="584200"/>
          </a:xfrm>
          <a:prstGeom prst="rect">
            <a:avLst/>
          </a:prstGeom>
          <a:noFill/>
          <a:ln>
            <a:noFill/>
          </a:ln>
        </p:spPr>
        <p:txBody>
          <a:bodyPr lIns="0" tIns="0" rIns="0" bIns="0" rtlCol="0" anchor="ctr"/>
          <a:lstStyle/>
          <a:p>
            <a:r>
              <a:rPr lang="de-CH" sz="1500" b="1" dirty="0">
                <a:solidFill>
                  <a:srgbClr val="FFFFFF"/>
                </a:solidFill>
              </a:rPr>
              <a:t>Bewegung</a:t>
            </a:r>
          </a:p>
          <a:p>
            <a:r>
              <a:rPr lang="de-CH" sz="1200" b="1" dirty="0">
                <a:solidFill>
                  <a:srgbClr val="FFFFFF"/>
                </a:solidFill>
              </a:rPr>
              <a:t>(Transport, Lange Wege)</a:t>
            </a:r>
          </a:p>
        </p:txBody>
      </p:sp>
      <p:sp>
        <p:nvSpPr>
          <p:cNvPr id="218" name="badge"/>
          <p:cNvSpPr/>
          <p:nvPr/>
        </p:nvSpPr>
        <p:spPr>
          <a:xfrm>
            <a:off x="6731000" y="2013526"/>
            <a:ext cx="812800" cy="584200"/>
          </a:xfrm>
          <a:prstGeom prst="rect">
            <a:avLst/>
          </a:prstGeom>
          <a:noFill/>
          <a:ln>
            <a:noFill/>
          </a:ln>
        </p:spPr>
        <p:txBody>
          <a:bodyPr lIns="0" tIns="0" rIns="0" bIns="0" rtlCol="0" anchor="ctr"/>
          <a:lstStyle/>
          <a:p>
            <a:pPr algn="r"/>
            <a:r>
              <a:rPr lang="de-CH" sz="2000" b="1" dirty="0">
                <a:solidFill>
                  <a:srgbClr val="FFFFFF"/>
                </a:solidFill>
              </a:rPr>
              <a:t>6</a:t>
            </a:r>
            <a:r>
              <a:rPr lang="de-CH" sz="1000" b="1" baseline="0" dirty="0">
                <a:solidFill>
                  <a:srgbClr val="FFFFFF"/>
                </a:solidFill>
              </a:rPr>
              <a:t> PP</a:t>
            </a:r>
          </a:p>
        </p:txBody>
      </p:sp>
      <p:sp>
        <p:nvSpPr>
          <p:cNvPr id="219" name="track"/>
          <p:cNvSpPr/>
          <p:nvPr/>
        </p:nvSpPr>
        <p:spPr>
          <a:xfrm>
            <a:off x="4648200" y="2699326"/>
            <a:ext cx="2895600" cy="101600"/>
          </a:xfrm>
          <a:prstGeom prst="roundRect">
            <a:avLst>
              <a:gd name="adj" fmla="val 50000"/>
            </a:avLst>
          </a:prstGeom>
          <a:solidFill>
            <a:srgbClr val="D8E0E8"/>
          </a:solidFill>
          <a:ln>
            <a:noFill/>
          </a:ln>
        </p:spPr>
        <p:txBody>
          <a:bodyPr/>
          <a:lstStyle/>
          <a:p>
            <a:endParaRPr lang="de-CH"/>
          </a:p>
        </p:txBody>
      </p:sp>
      <p:sp>
        <p:nvSpPr>
          <p:cNvPr id="220" name="fill"/>
          <p:cNvSpPr/>
          <p:nvPr/>
        </p:nvSpPr>
        <p:spPr>
          <a:xfrm>
            <a:off x="4648200" y="2699326"/>
            <a:ext cx="1930400" cy="101600"/>
          </a:xfrm>
          <a:prstGeom prst="roundRect">
            <a:avLst>
              <a:gd name="adj" fmla="val 50000"/>
            </a:avLst>
          </a:prstGeom>
          <a:solidFill>
            <a:srgbClr val="2E6CA4"/>
          </a:solidFill>
          <a:ln>
            <a:noFill/>
          </a:ln>
        </p:spPr>
        <p:txBody>
          <a:bodyPr/>
          <a:lstStyle/>
          <a:p>
            <a:endParaRPr lang="de-CH"/>
          </a:p>
        </p:txBody>
      </p:sp>
      <p:sp>
        <p:nvSpPr>
          <p:cNvPr id="221" name="desc"/>
          <p:cNvSpPr/>
          <p:nvPr/>
        </p:nvSpPr>
        <p:spPr>
          <a:xfrm>
            <a:off x="4648200" y="2902526"/>
            <a:ext cx="2895600" cy="584200"/>
          </a:xfrm>
          <a:prstGeom prst="rect">
            <a:avLst/>
          </a:prstGeom>
          <a:noFill/>
          <a:ln>
            <a:noFill/>
          </a:ln>
        </p:spPr>
        <p:txBody>
          <a:bodyPr lIns="0" tIns="0" rIns="0" bIns="0" rtlCol="0" anchor="t"/>
          <a:lstStyle/>
          <a:p>
            <a:r>
              <a:rPr lang="de-CH" sz="1100" dirty="0">
                <a:solidFill>
                  <a:srgbClr val="1A2A38"/>
                </a:solidFill>
              </a:rPr>
              <a:t>Verschwendung durch Systemwechsel, Medienbrüche, manuelle Übertragung und verteilte Datenquellen.</a:t>
            </a:r>
          </a:p>
        </p:txBody>
      </p:sp>
      <p:sp>
        <p:nvSpPr>
          <p:cNvPr id="222" name="exlbl"/>
          <p:cNvSpPr/>
          <p:nvPr/>
        </p:nvSpPr>
        <p:spPr>
          <a:xfrm>
            <a:off x="4648200" y="3537526"/>
            <a:ext cx="2895600" cy="203200"/>
          </a:xfrm>
          <a:prstGeom prst="rect">
            <a:avLst/>
          </a:prstGeom>
          <a:noFill/>
          <a:ln>
            <a:noFill/>
          </a:ln>
        </p:spPr>
        <p:txBody>
          <a:bodyPr lIns="0" tIns="0" rIns="0" bIns="0" rtlCol="0" anchor="t"/>
          <a:lstStyle/>
          <a:p>
            <a:r>
              <a:rPr lang="de-CH" sz="1000" b="1" dirty="0">
                <a:solidFill>
                  <a:srgbClr val="9A6512"/>
                </a:solidFill>
              </a:rPr>
              <a:t>BEISPIELE</a:t>
            </a:r>
          </a:p>
        </p:txBody>
      </p:sp>
      <p:sp>
        <p:nvSpPr>
          <p:cNvPr id="223" name="ex"/>
          <p:cNvSpPr/>
          <p:nvPr/>
        </p:nvSpPr>
        <p:spPr>
          <a:xfrm>
            <a:off x="4648200" y="3766126"/>
            <a:ext cx="2895600" cy="838200"/>
          </a:xfrm>
          <a:prstGeom prst="rect">
            <a:avLst/>
          </a:prstGeom>
          <a:noFill/>
          <a:ln>
            <a:noFill/>
          </a:ln>
        </p:spPr>
        <p:txBody>
          <a:bodyPr lIns="0" tIns="0" rIns="0" bIns="0" rtlCol="0" anchor="t"/>
          <a:lstStyle/>
          <a:p>
            <a:pPr marL="0" indent="0">
              <a:spcAft>
                <a:spcPts val="200"/>
              </a:spcAft>
            </a:pPr>
            <a:r>
              <a:rPr lang="de-CH" sz="1050" b="1" dirty="0">
                <a:solidFill>
                  <a:srgbClr val="2E6CA4"/>
                </a:solidFill>
              </a:rPr>
              <a:t>PP-07  </a:t>
            </a:r>
            <a:r>
              <a:rPr lang="de-CH" sz="1050" dirty="0">
                <a:solidFill>
                  <a:srgbClr val="1A2A38"/>
                </a:solidFill>
              </a:rPr>
              <a:t>SAP-Stammdaten manuell in Jira</a:t>
            </a:r>
          </a:p>
          <a:p>
            <a:pPr marL="0" indent="0">
              <a:spcAft>
                <a:spcPts val="200"/>
              </a:spcAft>
            </a:pPr>
            <a:r>
              <a:rPr lang="de-CH" sz="1050" b="1" dirty="0">
                <a:solidFill>
                  <a:srgbClr val="2E6CA4"/>
                </a:solidFill>
              </a:rPr>
              <a:t>PP-04  </a:t>
            </a:r>
            <a:r>
              <a:rPr lang="de-CH" sz="1050" dirty="0">
                <a:solidFill>
                  <a:srgbClr val="1A2A38"/>
                </a:solidFill>
              </a:rPr>
              <a:t>Austrittsschein nicht in Ticket integriert</a:t>
            </a:r>
          </a:p>
          <a:p>
            <a:pPr marL="0" indent="0">
              <a:spcAft>
                <a:spcPts val="200"/>
              </a:spcAft>
            </a:pPr>
            <a:r>
              <a:rPr lang="de-CH" sz="1050" b="1" dirty="0">
                <a:solidFill>
                  <a:srgbClr val="2E6CA4"/>
                </a:solidFill>
              </a:rPr>
              <a:t>PP-10  </a:t>
            </a:r>
            <a:r>
              <a:rPr lang="de-CH" sz="1050" dirty="0">
                <a:solidFill>
                  <a:srgbClr val="1A2A38"/>
                </a:solidFill>
              </a:rPr>
              <a:t>SharePoint-Liste ohne Jira-Anbindung</a:t>
            </a:r>
          </a:p>
        </p:txBody>
      </p:sp>
      <p:sp>
        <p:nvSpPr>
          <p:cNvPr id="224" name="hflbl"/>
          <p:cNvSpPr/>
          <p:nvPr/>
        </p:nvSpPr>
        <p:spPr>
          <a:xfrm>
            <a:off x="4648200" y="4655126"/>
            <a:ext cx="2895600" cy="203200"/>
          </a:xfrm>
          <a:prstGeom prst="rect">
            <a:avLst/>
          </a:prstGeom>
          <a:noFill/>
          <a:ln>
            <a:noFill/>
          </a:ln>
        </p:spPr>
        <p:txBody>
          <a:bodyPr lIns="0" tIns="0" rIns="0" bIns="0" rtlCol="0" anchor="t"/>
          <a:lstStyle/>
          <a:p>
            <a:r>
              <a:rPr lang="de-CH" sz="1000" b="1" dirty="0">
                <a:solidFill>
                  <a:srgbClr val="9A6512"/>
                </a:solidFill>
              </a:rPr>
              <a:t>ADRESSIERT DURCH</a:t>
            </a:r>
          </a:p>
        </p:txBody>
      </p:sp>
      <p:sp>
        <p:nvSpPr>
          <p:cNvPr id="225" name="hf"/>
          <p:cNvSpPr/>
          <p:nvPr/>
        </p:nvSpPr>
        <p:spPr>
          <a:xfrm>
            <a:off x="4648200" y="4883726"/>
            <a:ext cx="2895600" cy="508000"/>
          </a:xfrm>
          <a:prstGeom prst="rect">
            <a:avLst/>
          </a:prstGeom>
          <a:noFill/>
          <a:ln>
            <a:noFill/>
          </a:ln>
        </p:spPr>
        <p:txBody>
          <a:bodyPr lIns="0" tIns="0" rIns="0" bIns="0" rtlCol="0" anchor="t"/>
          <a:lstStyle/>
          <a:p>
            <a:pPr marL="128000" indent="-128000">
              <a:spcAft>
                <a:spcPts val="100"/>
              </a:spcAft>
              <a:buFont typeface="Arial"/>
              <a:buChar char="▸"/>
            </a:pPr>
            <a:r>
              <a:rPr lang="de-CH" sz="1000" dirty="0">
                <a:solidFill>
                  <a:srgbClr val="1B3A5C"/>
                </a:solidFill>
              </a:rPr>
              <a:t>HF-02 Konsistente Datenbasis &amp; Integration</a:t>
            </a:r>
          </a:p>
          <a:p>
            <a:pPr marL="128000" indent="-128000">
              <a:spcAft>
                <a:spcPts val="100"/>
              </a:spcAft>
              <a:buFont typeface="Arial"/>
              <a:buChar char="▸"/>
            </a:pPr>
            <a:r>
              <a:rPr lang="de-CH" sz="1000" dirty="0">
                <a:solidFill>
                  <a:srgbClr val="1B3A5C"/>
                </a:solidFill>
              </a:rPr>
              <a:t>HF-04 Systemgestützte Prozessführung</a:t>
            </a:r>
          </a:p>
        </p:txBody>
      </p:sp>
      <p:sp>
        <p:nvSpPr>
          <p:cNvPr id="226" name="divln"/>
          <p:cNvSpPr/>
          <p:nvPr/>
        </p:nvSpPr>
        <p:spPr>
          <a:xfrm>
            <a:off x="4648200" y="5442526"/>
            <a:ext cx="2895600" cy="12700"/>
          </a:xfrm>
          <a:prstGeom prst="rect">
            <a:avLst/>
          </a:prstGeom>
          <a:solidFill>
            <a:srgbClr val="C9D4DE"/>
          </a:solidFill>
          <a:ln>
            <a:noFill/>
          </a:ln>
        </p:spPr>
        <p:txBody>
          <a:bodyPr/>
          <a:lstStyle/>
          <a:p>
            <a:endParaRPr lang="de-CH"/>
          </a:p>
        </p:txBody>
      </p:sp>
      <p:sp>
        <p:nvSpPr>
          <p:cNvPr id="228" name="sc"/>
          <p:cNvSpPr/>
          <p:nvPr/>
        </p:nvSpPr>
        <p:spPr>
          <a:xfrm>
            <a:off x="7924800" y="2013526"/>
            <a:ext cx="3429000" cy="3737264"/>
          </a:xfrm>
          <a:prstGeom prst="roundRect">
            <a:avLst>
              <a:gd name="adj" fmla="val 3500"/>
            </a:avLst>
          </a:prstGeom>
          <a:solidFill>
            <a:srgbClr val="EEF2F6"/>
          </a:solidFill>
          <a:ln>
            <a:noFill/>
          </a:ln>
        </p:spPr>
        <p:txBody>
          <a:bodyPr/>
          <a:lstStyle/>
          <a:p>
            <a:endParaRPr lang="de-CH"/>
          </a:p>
        </p:txBody>
      </p:sp>
      <p:sp>
        <p:nvSpPr>
          <p:cNvPr id="229" name="tilehdr"/>
          <p:cNvSpPr/>
          <p:nvPr/>
        </p:nvSpPr>
        <p:spPr>
          <a:xfrm>
            <a:off x="7924800" y="2013526"/>
            <a:ext cx="3429000" cy="584200"/>
          </a:xfrm>
          <a:prstGeom prst="roundRect">
            <a:avLst>
              <a:gd name="adj" fmla="val 3500"/>
            </a:avLst>
          </a:prstGeom>
          <a:solidFill>
            <a:srgbClr val="6E8CA0"/>
          </a:solidFill>
          <a:ln>
            <a:noFill/>
          </a:ln>
        </p:spPr>
        <p:txBody>
          <a:bodyPr/>
          <a:lstStyle/>
          <a:p>
            <a:endParaRPr lang="de-CH"/>
          </a:p>
        </p:txBody>
      </p:sp>
      <p:sp>
        <p:nvSpPr>
          <p:cNvPr id="230" name="tilehdrtx"/>
          <p:cNvSpPr/>
          <p:nvPr/>
        </p:nvSpPr>
        <p:spPr>
          <a:xfrm>
            <a:off x="8102600" y="2013526"/>
            <a:ext cx="2336800" cy="584200"/>
          </a:xfrm>
          <a:prstGeom prst="rect">
            <a:avLst/>
          </a:prstGeom>
          <a:noFill/>
          <a:ln>
            <a:noFill/>
          </a:ln>
        </p:spPr>
        <p:txBody>
          <a:bodyPr lIns="0" tIns="0" rIns="0" bIns="0" rtlCol="0" anchor="ctr"/>
          <a:lstStyle/>
          <a:p>
            <a:r>
              <a:rPr lang="de-CH" sz="1500" b="1" dirty="0">
                <a:solidFill>
                  <a:srgbClr val="FFFFFF"/>
                </a:solidFill>
              </a:rPr>
              <a:t>Halten</a:t>
            </a:r>
          </a:p>
          <a:p>
            <a:r>
              <a:rPr lang="de-CH" sz="1200" b="1" dirty="0">
                <a:solidFill>
                  <a:srgbClr val="FFFFFF"/>
                </a:solidFill>
              </a:rPr>
              <a:t>(Inventar, Wartezeit)</a:t>
            </a:r>
          </a:p>
        </p:txBody>
      </p:sp>
      <p:sp>
        <p:nvSpPr>
          <p:cNvPr id="231" name="badge"/>
          <p:cNvSpPr/>
          <p:nvPr/>
        </p:nvSpPr>
        <p:spPr>
          <a:xfrm>
            <a:off x="10363200" y="2013526"/>
            <a:ext cx="812800" cy="584200"/>
          </a:xfrm>
          <a:prstGeom prst="rect">
            <a:avLst/>
          </a:prstGeom>
          <a:noFill/>
          <a:ln>
            <a:noFill/>
          </a:ln>
        </p:spPr>
        <p:txBody>
          <a:bodyPr lIns="0" tIns="0" rIns="0" bIns="0" rtlCol="0" anchor="ctr"/>
          <a:lstStyle/>
          <a:p>
            <a:pPr algn="r"/>
            <a:r>
              <a:rPr lang="de-CH" sz="2000" b="1" dirty="0">
                <a:solidFill>
                  <a:srgbClr val="FFFFFF"/>
                </a:solidFill>
              </a:rPr>
              <a:t>3</a:t>
            </a:r>
            <a:r>
              <a:rPr lang="de-CH" sz="1000" b="1" baseline="0" dirty="0">
                <a:solidFill>
                  <a:srgbClr val="FFFFFF"/>
                </a:solidFill>
              </a:rPr>
              <a:t> PP</a:t>
            </a:r>
          </a:p>
        </p:txBody>
      </p:sp>
      <p:sp>
        <p:nvSpPr>
          <p:cNvPr id="232" name="track"/>
          <p:cNvSpPr/>
          <p:nvPr/>
        </p:nvSpPr>
        <p:spPr>
          <a:xfrm>
            <a:off x="8102600" y="2699326"/>
            <a:ext cx="3073400" cy="101600"/>
          </a:xfrm>
          <a:prstGeom prst="roundRect">
            <a:avLst>
              <a:gd name="adj" fmla="val 50000"/>
            </a:avLst>
          </a:prstGeom>
          <a:solidFill>
            <a:srgbClr val="D8E0E8"/>
          </a:solidFill>
          <a:ln>
            <a:noFill/>
          </a:ln>
        </p:spPr>
        <p:txBody>
          <a:bodyPr/>
          <a:lstStyle/>
          <a:p>
            <a:endParaRPr lang="de-CH"/>
          </a:p>
        </p:txBody>
      </p:sp>
      <p:sp>
        <p:nvSpPr>
          <p:cNvPr id="233" name="fill"/>
          <p:cNvSpPr/>
          <p:nvPr/>
        </p:nvSpPr>
        <p:spPr>
          <a:xfrm>
            <a:off x="8102600" y="2699326"/>
            <a:ext cx="1024467" cy="101600"/>
          </a:xfrm>
          <a:prstGeom prst="roundRect">
            <a:avLst>
              <a:gd name="adj" fmla="val 50000"/>
            </a:avLst>
          </a:prstGeom>
          <a:solidFill>
            <a:srgbClr val="6E8CA0"/>
          </a:solidFill>
          <a:ln>
            <a:noFill/>
          </a:ln>
        </p:spPr>
        <p:txBody>
          <a:bodyPr/>
          <a:lstStyle/>
          <a:p>
            <a:endParaRPr lang="de-CH"/>
          </a:p>
        </p:txBody>
      </p:sp>
      <p:sp>
        <p:nvSpPr>
          <p:cNvPr id="234" name="desc"/>
          <p:cNvSpPr/>
          <p:nvPr/>
        </p:nvSpPr>
        <p:spPr>
          <a:xfrm>
            <a:off x="8102600" y="2902526"/>
            <a:ext cx="3073400" cy="584200"/>
          </a:xfrm>
          <a:prstGeom prst="rect">
            <a:avLst/>
          </a:prstGeom>
          <a:noFill/>
          <a:ln>
            <a:noFill/>
          </a:ln>
        </p:spPr>
        <p:txBody>
          <a:bodyPr lIns="0" tIns="0" rIns="0" bIns="0" rtlCol="0" anchor="t"/>
          <a:lstStyle/>
          <a:p>
            <a:r>
              <a:rPr lang="de-CH" sz="1100" dirty="0">
                <a:solidFill>
                  <a:srgbClr val="1A2A38"/>
                </a:solidFill>
              </a:rPr>
              <a:t>Verschwendung durch Wartezeiten, Pendenzen und verzögerte Weiterverarbeitung.</a:t>
            </a:r>
          </a:p>
        </p:txBody>
      </p:sp>
      <p:sp>
        <p:nvSpPr>
          <p:cNvPr id="235" name="exlbl"/>
          <p:cNvSpPr/>
          <p:nvPr/>
        </p:nvSpPr>
        <p:spPr>
          <a:xfrm>
            <a:off x="8102600" y="3537526"/>
            <a:ext cx="3073400" cy="203200"/>
          </a:xfrm>
          <a:prstGeom prst="rect">
            <a:avLst/>
          </a:prstGeom>
          <a:noFill/>
          <a:ln>
            <a:noFill/>
          </a:ln>
        </p:spPr>
        <p:txBody>
          <a:bodyPr lIns="0" tIns="0" rIns="0" bIns="0" rtlCol="0" anchor="t"/>
          <a:lstStyle/>
          <a:p>
            <a:r>
              <a:rPr lang="de-CH" sz="1000" b="1" dirty="0">
                <a:solidFill>
                  <a:srgbClr val="9A6512"/>
                </a:solidFill>
              </a:rPr>
              <a:t>BEISPIELE</a:t>
            </a:r>
          </a:p>
        </p:txBody>
      </p:sp>
      <p:sp>
        <p:nvSpPr>
          <p:cNvPr id="236" name="ex"/>
          <p:cNvSpPr/>
          <p:nvPr/>
        </p:nvSpPr>
        <p:spPr>
          <a:xfrm>
            <a:off x="8102599" y="3766126"/>
            <a:ext cx="3308927" cy="838200"/>
          </a:xfrm>
          <a:prstGeom prst="rect">
            <a:avLst/>
          </a:prstGeom>
          <a:noFill/>
          <a:ln>
            <a:noFill/>
          </a:ln>
        </p:spPr>
        <p:txBody>
          <a:bodyPr lIns="0" tIns="0" rIns="0" bIns="0" rtlCol="0" anchor="t"/>
          <a:lstStyle/>
          <a:p>
            <a:pPr>
              <a:spcAft>
                <a:spcPts val="200"/>
              </a:spcAft>
            </a:pPr>
            <a:r>
              <a:rPr lang="de-CH" sz="1050" b="1" dirty="0">
                <a:solidFill>
                  <a:srgbClr val="6E8CA0"/>
                </a:solidFill>
              </a:rPr>
              <a:t>PP-01 </a:t>
            </a:r>
            <a:r>
              <a:rPr lang="de-CH" sz="1050" dirty="0">
                <a:solidFill>
                  <a:srgbClr val="1A2A38"/>
                </a:solidFill>
              </a:rPr>
              <a:t>Fehlende zentrale Übersicht über den Bearbeitungsstand </a:t>
            </a:r>
          </a:p>
          <a:p>
            <a:pPr>
              <a:spcAft>
                <a:spcPts val="200"/>
              </a:spcAft>
            </a:pPr>
            <a:r>
              <a:rPr lang="de-CH" sz="1050" b="1" dirty="0">
                <a:solidFill>
                  <a:srgbClr val="6E8CA0"/>
                </a:solidFill>
              </a:rPr>
              <a:t>PP-06  </a:t>
            </a:r>
            <a:r>
              <a:rPr lang="de-CH" sz="1050" dirty="0">
                <a:solidFill>
                  <a:srgbClr val="1A2A38"/>
                </a:solidFill>
              </a:rPr>
              <a:t>Fehlende Frühinformation an HR Payroll</a:t>
            </a:r>
          </a:p>
          <a:p>
            <a:pPr marL="0" indent="0">
              <a:spcAft>
                <a:spcPts val="200"/>
              </a:spcAft>
            </a:pPr>
            <a:r>
              <a:rPr lang="de-CH" sz="1050" b="1" dirty="0">
                <a:solidFill>
                  <a:srgbClr val="6E8CA0"/>
                </a:solidFill>
              </a:rPr>
              <a:t>PP-05  </a:t>
            </a:r>
            <a:r>
              <a:rPr lang="de-CH" sz="1050" dirty="0">
                <a:solidFill>
                  <a:srgbClr val="1A2A38"/>
                </a:solidFill>
              </a:rPr>
              <a:t>Unklare Verantwortlichkeiten bei Rückzahlung</a:t>
            </a:r>
          </a:p>
        </p:txBody>
      </p:sp>
      <p:sp>
        <p:nvSpPr>
          <p:cNvPr id="237" name="hflbl"/>
          <p:cNvSpPr/>
          <p:nvPr/>
        </p:nvSpPr>
        <p:spPr>
          <a:xfrm>
            <a:off x="8102600" y="4655126"/>
            <a:ext cx="3073400" cy="203200"/>
          </a:xfrm>
          <a:prstGeom prst="rect">
            <a:avLst/>
          </a:prstGeom>
          <a:noFill/>
          <a:ln>
            <a:noFill/>
          </a:ln>
        </p:spPr>
        <p:txBody>
          <a:bodyPr lIns="0" tIns="0" rIns="0" bIns="0" rtlCol="0" anchor="t"/>
          <a:lstStyle/>
          <a:p>
            <a:r>
              <a:rPr lang="de-CH" sz="1000" b="1" dirty="0">
                <a:solidFill>
                  <a:srgbClr val="9A6512"/>
                </a:solidFill>
              </a:rPr>
              <a:t>ADRESSIERT DURCH</a:t>
            </a:r>
          </a:p>
        </p:txBody>
      </p:sp>
      <p:sp>
        <p:nvSpPr>
          <p:cNvPr id="238" name="hf"/>
          <p:cNvSpPr/>
          <p:nvPr/>
        </p:nvSpPr>
        <p:spPr>
          <a:xfrm>
            <a:off x="8102600" y="4883726"/>
            <a:ext cx="3073400" cy="508000"/>
          </a:xfrm>
          <a:prstGeom prst="rect">
            <a:avLst/>
          </a:prstGeom>
          <a:noFill/>
          <a:ln>
            <a:noFill/>
          </a:ln>
        </p:spPr>
        <p:txBody>
          <a:bodyPr lIns="0" tIns="0" rIns="0" bIns="0" rtlCol="0" anchor="t"/>
          <a:lstStyle/>
          <a:p>
            <a:pPr marL="128000" indent="-128000">
              <a:spcAft>
                <a:spcPts val="100"/>
              </a:spcAft>
              <a:buFont typeface="Arial"/>
              <a:buChar char="▸"/>
            </a:pPr>
            <a:r>
              <a:rPr lang="de-CH" sz="1000" dirty="0">
                <a:solidFill>
                  <a:srgbClr val="1B3A5C"/>
                </a:solidFill>
              </a:rPr>
              <a:t>HF-01 Transparenz &amp; operative Steuerung</a:t>
            </a:r>
          </a:p>
          <a:p>
            <a:pPr marL="128000" indent="-128000">
              <a:spcAft>
                <a:spcPts val="100"/>
              </a:spcAft>
              <a:buFont typeface="Arial"/>
              <a:buChar char="▸"/>
            </a:pPr>
            <a:r>
              <a:rPr lang="de-CH" sz="1000" dirty="0">
                <a:solidFill>
                  <a:srgbClr val="1B3A5C"/>
                </a:solidFill>
              </a:rPr>
              <a:t>HF-02 Konsistente Datenbasis &amp; Integration</a:t>
            </a:r>
          </a:p>
        </p:txBody>
      </p:sp>
      <p:sp>
        <p:nvSpPr>
          <p:cNvPr id="239" name="divln"/>
          <p:cNvSpPr/>
          <p:nvPr/>
        </p:nvSpPr>
        <p:spPr>
          <a:xfrm>
            <a:off x="8102600" y="5442526"/>
            <a:ext cx="3073400" cy="12700"/>
          </a:xfrm>
          <a:prstGeom prst="rect">
            <a:avLst/>
          </a:prstGeom>
          <a:solidFill>
            <a:srgbClr val="C9D4DE"/>
          </a:solidFill>
          <a:ln>
            <a:noFill/>
          </a:ln>
        </p:spPr>
        <p:txBody>
          <a:bodyPr/>
          <a:lstStyle/>
          <a:p>
            <a:endParaRPr lang="de-CH"/>
          </a:p>
        </p:txBody>
      </p:sp>
      <p:sp>
        <p:nvSpPr>
          <p:cNvPr id="241" name="ring"/>
          <p:cNvSpPr/>
          <p:nvPr/>
        </p:nvSpPr>
        <p:spPr>
          <a:xfrm>
            <a:off x="838200" y="2013526"/>
            <a:ext cx="3429000" cy="3737264"/>
          </a:xfrm>
          <a:prstGeom prst="roundRect">
            <a:avLst>
              <a:gd name="adj" fmla="val 3500"/>
            </a:avLst>
          </a:prstGeom>
          <a:noFill/>
          <a:ln w="22225">
            <a:solidFill>
              <a:srgbClr val="C8893A"/>
            </a:solidFill>
          </a:ln>
        </p:spPr>
        <p:txBody>
          <a:bodyPr/>
          <a:lstStyle/>
          <a:p>
            <a:endParaRPr lang="de-CH"/>
          </a:p>
        </p:txBody>
      </p:sp>
      <p:sp>
        <p:nvSpPr>
          <p:cNvPr id="243" name="kb"/>
          <p:cNvSpPr/>
          <p:nvPr/>
        </p:nvSpPr>
        <p:spPr>
          <a:xfrm>
            <a:off x="838200" y="6045200"/>
            <a:ext cx="63500" cy="609600"/>
          </a:xfrm>
          <a:prstGeom prst="rect">
            <a:avLst/>
          </a:prstGeom>
          <a:solidFill>
            <a:srgbClr val="C8893A"/>
          </a:solidFill>
          <a:ln>
            <a:noFill/>
          </a:ln>
        </p:spPr>
        <p:txBody>
          <a:bodyPr/>
          <a:lstStyle/>
          <a:p>
            <a:endParaRPr lang="de-CH"/>
          </a:p>
        </p:txBody>
      </p:sp>
      <p:sp>
        <p:nvSpPr>
          <p:cNvPr id="244" name="kerntx"/>
          <p:cNvSpPr/>
          <p:nvPr/>
        </p:nvSpPr>
        <p:spPr>
          <a:xfrm>
            <a:off x="1092200" y="6045200"/>
            <a:ext cx="10261600" cy="609600"/>
          </a:xfrm>
          <a:prstGeom prst="rect">
            <a:avLst/>
          </a:prstGeom>
          <a:noFill/>
          <a:ln>
            <a:noFill/>
          </a:ln>
        </p:spPr>
        <p:txBody>
          <a:bodyPr lIns="0" tIns="0" rIns="76200" bIns="0" rtlCol="0" anchor="ctr"/>
          <a:lstStyle/>
          <a:p>
            <a:r>
              <a:rPr lang="de-CH" sz="1300" b="1" dirty="0">
                <a:solidFill>
                  <a:srgbClr val="FFFFFF"/>
                </a:solidFill>
              </a:rPr>
              <a:t>Die Muda-Waste-Analyse zeigt: </a:t>
            </a:r>
            <a:r>
              <a:rPr lang="de-CH" sz="1300" dirty="0">
                <a:solidFill>
                  <a:srgbClr val="EEF2F6"/>
                </a:solidFill>
              </a:rPr>
              <a:t>Das zentrale Optimierungspotenzial liegt nicht in Wartezeiten, sondern in der Reduktion manueller Koordination, redundanter Bearbeitung und systembedingter Medienbrüche.</a:t>
            </a:r>
          </a:p>
        </p:txBody>
      </p:sp>
      <p:sp>
        <p:nvSpPr>
          <p:cNvPr id="3" name="kern">
            <a:extLst>
              <a:ext uri="{FF2B5EF4-FFF2-40B4-BE49-F238E27FC236}">
                <a16:creationId xmlns:a16="http://schemas.microsoft.com/office/drawing/2014/main" id="{DEED0D68-C85F-BFC7-A088-05DF25381737}"/>
              </a:ext>
            </a:extLst>
          </p:cNvPr>
          <p:cNvSpPr/>
          <p:nvPr/>
        </p:nvSpPr>
        <p:spPr>
          <a:xfrm>
            <a:off x="901701" y="6070600"/>
            <a:ext cx="10452099" cy="584200"/>
          </a:xfrm>
          <a:prstGeom prst="rect">
            <a:avLst/>
          </a:prstGeom>
          <a:solidFill>
            <a:srgbClr val="EEF2F6"/>
          </a:solidFill>
          <a:ln>
            <a:noFill/>
          </a:ln>
        </p:spPr>
        <p:txBody>
          <a:bodyPr lIns="203200" tIns="50800" rIns="203200" bIns="50800" anchor="ctr"/>
          <a:lstStyle/>
          <a:p>
            <a:r>
              <a:rPr lang="de-CH" sz="1300" b="1" dirty="0">
                <a:solidFill>
                  <a:schemeClr val="bg2">
                    <a:lumMod val="10000"/>
                  </a:schemeClr>
                </a:solidFill>
              </a:rPr>
              <a:t>             Die </a:t>
            </a:r>
            <a:r>
              <a:rPr lang="de-CH" sz="1300" b="1" dirty="0" err="1">
                <a:solidFill>
                  <a:schemeClr val="bg2">
                    <a:lumMod val="10000"/>
                  </a:schemeClr>
                </a:solidFill>
              </a:rPr>
              <a:t>Muda</a:t>
            </a:r>
            <a:r>
              <a:rPr lang="de-CH" sz="1300" b="1" dirty="0">
                <a:solidFill>
                  <a:schemeClr val="bg2">
                    <a:lumMod val="10000"/>
                  </a:schemeClr>
                </a:solidFill>
              </a:rPr>
              <a:t>-</a:t>
            </a:r>
            <a:r>
              <a:rPr lang="de-CH" sz="1300" b="1" dirty="0" err="1">
                <a:solidFill>
                  <a:schemeClr val="bg2">
                    <a:lumMod val="10000"/>
                  </a:schemeClr>
                </a:solidFill>
              </a:rPr>
              <a:t>Waste</a:t>
            </a:r>
            <a:r>
              <a:rPr lang="de-CH" sz="1300" b="1" dirty="0">
                <a:solidFill>
                  <a:schemeClr val="bg2">
                    <a:lumMod val="10000"/>
                  </a:schemeClr>
                </a:solidFill>
              </a:rPr>
              <a:t>-Analyse zeigt: </a:t>
            </a:r>
            <a:r>
              <a:rPr lang="de-CH" sz="1300" dirty="0">
                <a:solidFill>
                  <a:schemeClr val="bg2">
                    <a:lumMod val="10000"/>
                  </a:schemeClr>
                </a:solidFill>
              </a:rPr>
              <a:t>Das zentrale Optimierungspotenzial liegt in der Reduktion manueller Koordination, redundanter Bearbeitung               </a:t>
            </a:r>
          </a:p>
          <a:p>
            <a:r>
              <a:rPr lang="de-CH" sz="1300" dirty="0">
                <a:solidFill>
                  <a:schemeClr val="bg2">
                    <a:lumMod val="10000"/>
                  </a:schemeClr>
                </a:solidFill>
              </a:rPr>
              <a:t>             und systembedingter Medienbrüche.</a:t>
            </a:r>
          </a:p>
        </p:txBody>
      </p:sp>
      <p:pic>
        <p:nvPicPr>
          <p:cNvPr id="4" name="Grafik 3">
            <a:extLst>
              <a:ext uri="{FF2B5EF4-FFF2-40B4-BE49-F238E27FC236}">
                <a16:creationId xmlns:a16="http://schemas.microsoft.com/office/drawing/2014/main" id="{199BFBA1-9620-DD4F-056A-00E97062440A}"/>
              </a:ext>
            </a:extLst>
          </p:cNvPr>
          <p:cNvPicPr>
            <a:picLocks noChangeAspect="1"/>
          </p:cNvPicPr>
          <p:nvPr/>
        </p:nvPicPr>
        <p:blipFill>
          <a:blip r:embed="rId3"/>
          <a:stretch/>
        </p:blipFill>
        <p:spPr>
          <a:xfrm>
            <a:off x="958850" y="6045200"/>
            <a:ext cx="591921" cy="584201"/>
          </a:xfrm>
          <a:prstGeom prst="rect">
            <a:avLst/>
          </a:prstGeom>
        </p:spPr>
      </p:pic>
      <p:sp>
        <p:nvSpPr>
          <p:cNvPr id="5" name="Foliennummernplatzhalter 4">
            <a:extLst>
              <a:ext uri="{FF2B5EF4-FFF2-40B4-BE49-F238E27FC236}">
                <a16:creationId xmlns:a16="http://schemas.microsoft.com/office/drawing/2014/main" id="{C4F29AD3-9A4A-58C1-7C1F-0D2BB8550F84}"/>
              </a:ext>
            </a:extLst>
          </p:cNvPr>
          <p:cNvSpPr>
            <a:spLocks noGrp="1"/>
          </p:cNvSpPr>
          <p:nvPr>
            <p:ph type="sldNum" sz="quarter" idx="12"/>
          </p:nvPr>
        </p:nvSpPr>
        <p:spPr/>
        <p:txBody>
          <a:bodyPr/>
          <a:lstStyle/>
          <a:p>
            <a:fld id="{2AAFDC3C-A9F8-4ABD-8D8D-8DC3321B02DC}" type="slidenum">
              <a:rPr lang="de-CH" smtClean="0"/>
              <a:t>23</a:t>
            </a:fld>
            <a:endParaRPr lang="de-CH"/>
          </a:p>
        </p:txBody>
      </p:sp>
    </p:spTree>
    <p:extLst>
      <p:ext uri="{BB962C8B-B14F-4D97-AF65-F5344CB8AC3E}">
        <p14:creationId xmlns:p14="http://schemas.microsoft.com/office/powerpoint/2010/main" val="72966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12FACB-E832-F1D5-252C-B6044FCD7B57}"/>
              </a:ext>
            </a:extLst>
          </p:cNvPr>
          <p:cNvSpPr>
            <a:spLocks noGrp="1"/>
          </p:cNvSpPr>
          <p:nvPr>
            <p:ph type="title"/>
          </p:nvPr>
        </p:nvSpPr>
        <p:spPr/>
        <p:txBody>
          <a:bodyPr/>
          <a:lstStyle/>
          <a:p>
            <a:pPr algn="l"/>
            <a:r>
              <a:rPr lang="de-CH" sz="2800" b="1" dirty="0">
                <a:solidFill>
                  <a:srgbClr val="1B3A5C"/>
                </a:solidFill>
              </a:rPr>
              <a:t>Ursache-Wirkungsanalyse</a:t>
            </a:r>
            <a:endParaRPr lang="de-CH" sz="2800" b="1" dirty="0">
              <a:solidFill>
                <a:srgbClr val="1B3A5C"/>
              </a:solidFill>
              <a:highlight>
                <a:srgbClr val="FFFF00"/>
              </a:highlight>
            </a:endParaRPr>
          </a:p>
        </p:txBody>
      </p:sp>
      <p:sp>
        <p:nvSpPr>
          <p:cNvPr id="201" name="method"/>
          <p:cNvSpPr/>
          <p:nvPr/>
        </p:nvSpPr>
        <p:spPr>
          <a:xfrm>
            <a:off x="838200" y="1368425"/>
            <a:ext cx="11163300" cy="254000"/>
          </a:xfrm>
          <a:prstGeom prst="rect">
            <a:avLst/>
          </a:prstGeom>
          <a:noFill/>
          <a:ln>
            <a:noFill/>
          </a:ln>
        </p:spPr>
        <p:txBody>
          <a:bodyPr lIns="0" tIns="0" rIns="0" bIns="0" rtlCol="0" anchor="t"/>
          <a:lstStyle/>
          <a:p>
            <a:r>
              <a:rPr lang="de-DE" sz="1400" b="1" dirty="0">
                <a:solidFill>
                  <a:srgbClr val="2E6CA4"/>
                </a:solidFill>
              </a:rPr>
              <a:t>Die Analyse prüft, ob die Handlungsfelder die Ursachen der Pain-Point-Gruppen adressieren, und leitet daraus die Richtung für das SOLL-Konzept ab.</a:t>
            </a:r>
            <a:endParaRPr lang="de-CH" sz="1400" b="1" dirty="0">
              <a:solidFill>
                <a:srgbClr val="2E6CA4"/>
              </a:solidFill>
            </a:endParaRPr>
          </a:p>
        </p:txBody>
      </p:sp>
      <p:sp>
        <p:nvSpPr>
          <p:cNvPr id="202" name="sc"/>
          <p:cNvSpPr/>
          <p:nvPr/>
        </p:nvSpPr>
        <p:spPr>
          <a:xfrm>
            <a:off x="838200" y="1841501"/>
            <a:ext cx="5118100" cy="2240492"/>
          </a:xfrm>
          <a:prstGeom prst="roundRect">
            <a:avLst>
              <a:gd name="adj" fmla="val 2800"/>
            </a:avLst>
          </a:prstGeom>
          <a:solidFill>
            <a:srgbClr val="EEF2F6"/>
          </a:solidFill>
          <a:ln>
            <a:noFill/>
          </a:ln>
        </p:spPr>
        <p:txBody>
          <a:bodyPr/>
          <a:lstStyle/>
          <a:p>
            <a:endParaRPr lang="de-CH"/>
          </a:p>
        </p:txBody>
      </p:sp>
      <p:sp>
        <p:nvSpPr>
          <p:cNvPr id="203" name="acc"/>
          <p:cNvSpPr/>
          <p:nvPr/>
        </p:nvSpPr>
        <p:spPr>
          <a:xfrm>
            <a:off x="838200" y="1841501"/>
            <a:ext cx="76200" cy="2240492"/>
          </a:xfrm>
          <a:prstGeom prst="rect">
            <a:avLst/>
          </a:prstGeom>
          <a:solidFill>
            <a:srgbClr val="1B3A5C"/>
          </a:solidFill>
          <a:ln>
            <a:noFill/>
          </a:ln>
        </p:spPr>
        <p:txBody>
          <a:bodyPr/>
          <a:lstStyle/>
          <a:p>
            <a:endParaRPr lang="de-CH"/>
          </a:p>
        </p:txBody>
      </p:sp>
      <p:sp>
        <p:nvSpPr>
          <p:cNvPr id="204" name="hdr"/>
          <p:cNvSpPr/>
          <p:nvPr/>
        </p:nvSpPr>
        <p:spPr>
          <a:xfrm>
            <a:off x="1041400" y="1917700"/>
            <a:ext cx="4762500" cy="460375"/>
          </a:xfrm>
          <a:prstGeom prst="rect">
            <a:avLst/>
          </a:prstGeom>
          <a:noFill/>
          <a:ln>
            <a:noFill/>
          </a:ln>
        </p:spPr>
        <p:txBody>
          <a:bodyPr lIns="0" tIns="0" rIns="0" bIns="0" rtlCol="0" anchor="t"/>
          <a:lstStyle/>
          <a:p>
            <a:r>
              <a:rPr lang="de-CH" sz="1300" b="1" dirty="0">
                <a:solidFill>
                  <a:srgbClr val="1B3A5C"/>
                </a:solidFill>
              </a:rPr>
              <a:t>HF-01  Transparenz und operative Steuerung</a:t>
            </a:r>
          </a:p>
        </p:txBody>
      </p:sp>
      <p:sp>
        <p:nvSpPr>
          <p:cNvPr id="205" name="cause"/>
          <p:cNvSpPr/>
          <p:nvPr/>
        </p:nvSpPr>
        <p:spPr>
          <a:xfrm>
            <a:off x="1041400" y="2324101"/>
            <a:ext cx="1841500" cy="1135592"/>
          </a:xfrm>
          <a:prstGeom prst="rect">
            <a:avLst/>
          </a:prstGeom>
          <a:noFill/>
          <a:ln>
            <a:noFill/>
          </a:ln>
        </p:spPr>
        <p:txBody>
          <a:bodyPr lIns="0" tIns="0" rIns="0" bIns="0" rtlCol="0" anchor="t"/>
          <a:lstStyle/>
          <a:p>
            <a:pPr>
              <a:spcAft>
                <a:spcPts val="200"/>
              </a:spcAft>
            </a:pPr>
            <a:r>
              <a:rPr lang="de-CH" sz="900" b="1" dirty="0">
                <a:solidFill>
                  <a:srgbClr val="9A6512"/>
                </a:solidFill>
              </a:rPr>
              <a:t>URSACHE</a:t>
            </a:r>
          </a:p>
          <a:p>
            <a:r>
              <a:rPr lang="de-DE" sz="1000" dirty="0">
                <a:solidFill>
                  <a:srgbClr val="1A2A38"/>
                </a:solidFill>
              </a:rPr>
              <a:t>Status, Fristen, Prioritäten und Zuständigkeiten sind nicht durchgängig systemseitig abgebildet.</a:t>
            </a:r>
            <a:endParaRPr lang="de-CH" sz="1000" dirty="0">
              <a:solidFill>
                <a:srgbClr val="1A2A38"/>
              </a:solidFill>
            </a:endParaRPr>
          </a:p>
        </p:txBody>
      </p:sp>
      <p:sp>
        <p:nvSpPr>
          <p:cNvPr id="206" name="vd"/>
          <p:cNvSpPr/>
          <p:nvPr/>
        </p:nvSpPr>
        <p:spPr>
          <a:xfrm>
            <a:off x="2946400" y="2349501"/>
            <a:ext cx="12700" cy="1074208"/>
          </a:xfrm>
          <a:prstGeom prst="rect">
            <a:avLst/>
          </a:prstGeom>
          <a:solidFill>
            <a:srgbClr val="C9D4DE"/>
          </a:solidFill>
          <a:ln>
            <a:noFill/>
          </a:ln>
        </p:spPr>
        <p:txBody>
          <a:bodyPr/>
          <a:lstStyle/>
          <a:p>
            <a:endParaRPr lang="de-CH"/>
          </a:p>
        </p:txBody>
      </p:sp>
      <p:sp>
        <p:nvSpPr>
          <p:cNvPr id="207" name="soll"/>
          <p:cNvSpPr/>
          <p:nvPr/>
        </p:nvSpPr>
        <p:spPr>
          <a:xfrm>
            <a:off x="3035300" y="2324101"/>
            <a:ext cx="2743200" cy="1135592"/>
          </a:xfrm>
          <a:prstGeom prst="rect">
            <a:avLst/>
          </a:prstGeom>
          <a:noFill/>
          <a:ln>
            <a:noFill/>
          </a:ln>
        </p:spPr>
        <p:txBody>
          <a:bodyPr lIns="0" tIns="0" rIns="0" bIns="0" rtlCol="0" anchor="t"/>
          <a:lstStyle/>
          <a:p>
            <a:pPr>
              <a:spcAft>
                <a:spcPts val="200"/>
              </a:spcAft>
            </a:pPr>
            <a:r>
              <a:rPr lang="de-CH" sz="900" b="1" dirty="0">
                <a:solidFill>
                  <a:srgbClr val="9A6512"/>
                </a:solidFill>
              </a:rPr>
              <a:t>SOLL-FOKUS</a:t>
            </a:r>
          </a:p>
          <a:p>
            <a:pPr marL="119000" indent="-119000">
              <a:spcAft>
                <a:spcPts val="100"/>
              </a:spcAft>
              <a:buFont typeface="Arial"/>
              <a:buChar char="▸"/>
            </a:pPr>
            <a:r>
              <a:rPr lang="de-CH" sz="1000" dirty="0">
                <a:solidFill>
                  <a:srgbClr val="1A2A38"/>
                </a:solidFill>
              </a:rPr>
              <a:t>Übersicht über alle Austritte inkl. Stand, Zuständigkeit, Priorität, Fälligkeit</a:t>
            </a:r>
          </a:p>
          <a:p>
            <a:pPr marL="119000" indent="-119000">
              <a:spcAft>
                <a:spcPts val="100"/>
              </a:spcAft>
              <a:buFont typeface="Arial"/>
              <a:buChar char="▸"/>
            </a:pPr>
            <a:r>
              <a:rPr lang="de-CH" sz="1000" dirty="0">
                <a:solidFill>
                  <a:srgbClr val="1A2A38"/>
                </a:solidFill>
              </a:rPr>
              <a:t>Filter- und Priorisierungslogik für zeitkritische Fälle</a:t>
            </a:r>
          </a:p>
        </p:txBody>
      </p:sp>
      <p:grpSp>
        <p:nvGrpSpPr>
          <p:cNvPr id="4" name="Gruppieren 3">
            <a:extLst>
              <a:ext uri="{FF2B5EF4-FFF2-40B4-BE49-F238E27FC236}">
                <a16:creationId xmlns:a16="http://schemas.microsoft.com/office/drawing/2014/main" id="{A5294FBC-BAB4-9AC6-D1F6-B55008D1A757}"/>
              </a:ext>
            </a:extLst>
          </p:cNvPr>
          <p:cNvGrpSpPr/>
          <p:nvPr/>
        </p:nvGrpSpPr>
        <p:grpSpPr>
          <a:xfrm>
            <a:off x="939800" y="3599922"/>
            <a:ext cx="5016500" cy="486867"/>
            <a:chOff x="927100" y="3530599"/>
            <a:chExt cx="5016500" cy="486867"/>
          </a:xfrm>
        </p:grpSpPr>
        <p:sp>
          <p:nvSpPr>
            <p:cNvPr id="208" name="wbg"/>
            <p:cNvSpPr/>
            <p:nvPr/>
          </p:nvSpPr>
          <p:spPr>
            <a:xfrm>
              <a:off x="927100" y="3557091"/>
              <a:ext cx="5016500" cy="460375"/>
            </a:xfrm>
            <a:prstGeom prst="rect">
              <a:avLst/>
            </a:prstGeom>
            <a:solidFill>
              <a:srgbClr val="E1E8EF"/>
            </a:solidFill>
            <a:ln>
              <a:noFill/>
            </a:ln>
          </p:spPr>
          <p:txBody>
            <a:bodyPr/>
            <a:lstStyle/>
            <a:p>
              <a:endParaRPr lang="de-CH"/>
            </a:p>
          </p:txBody>
        </p:sp>
        <p:sp>
          <p:nvSpPr>
            <p:cNvPr id="209" name="wtx"/>
            <p:cNvSpPr/>
            <p:nvPr/>
          </p:nvSpPr>
          <p:spPr>
            <a:xfrm>
              <a:off x="1041400" y="3530599"/>
              <a:ext cx="4813300" cy="460375"/>
            </a:xfrm>
            <a:prstGeom prst="rect">
              <a:avLst/>
            </a:prstGeom>
            <a:noFill/>
            <a:ln>
              <a:noFill/>
            </a:ln>
          </p:spPr>
          <p:txBody>
            <a:bodyPr lIns="0" tIns="0" rIns="0" bIns="0" rtlCol="0" anchor="ctr"/>
            <a:lstStyle/>
            <a:p>
              <a:r>
                <a:rPr lang="de-CH" sz="900" b="1" dirty="0">
                  <a:solidFill>
                    <a:srgbClr val="1B3A5C"/>
                  </a:solidFill>
                </a:rPr>
                <a:t>WIRKUNG  </a:t>
              </a:r>
              <a:r>
                <a:rPr lang="de-DE" sz="950" dirty="0">
                  <a:solidFill>
                    <a:srgbClr val="1A2A38"/>
                  </a:solidFill>
                </a:rPr>
                <a:t>Adressiert fehlende Übersicht und unklare Steuerung.</a:t>
              </a:r>
              <a:endParaRPr lang="de-CH" sz="950" dirty="0">
                <a:solidFill>
                  <a:srgbClr val="1A2A38"/>
                </a:solidFill>
              </a:endParaRPr>
            </a:p>
          </p:txBody>
        </p:sp>
      </p:grpSp>
      <p:sp>
        <p:nvSpPr>
          <p:cNvPr id="210" name="sc"/>
          <p:cNvSpPr/>
          <p:nvPr/>
        </p:nvSpPr>
        <p:spPr>
          <a:xfrm>
            <a:off x="6235700" y="1841501"/>
            <a:ext cx="5118100" cy="2240492"/>
          </a:xfrm>
          <a:prstGeom prst="roundRect">
            <a:avLst>
              <a:gd name="adj" fmla="val 2800"/>
            </a:avLst>
          </a:prstGeom>
          <a:solidFill>
            <a:srgbClr val="EEF2F6"/>
          </a:solidFill>
          <a:ln>
            <a:noFill/>
          </a:ln>
        </p:spPr>
        <p:txBody>
          <a:bodyPr/>
          <a:lstStyle/>
          <a:p>
            <a:endParaRPr lang="de-CH"/>
          </a:p>
        </p:txBody>
      </p:sp>
      <p:sp>
        <p:nvSpPr>
          <p:cNvPr id="211" name="acc"/>
          <p:cNvSpPr/>
          <p:nvPr/>
        </p:nvSpPr>
        <p:spPr>
          <a:xfrm>
            <a:off x="6235700" y="1841501"/>
            <a:ext cx="76200" cy="2240492"/>
          </a:xfrm>
          <a:prstGeom prst="rect">
            <a:avLst/>
          </a:prstGeom>
          <a:solidFill>
            <a:srgbClr val="2E6CA4"/>
          </a:solidFill>
          <a:ln>
            <a:noFill/>
          </a:ln>
        </p:spPr>
        <p:txBody>
          <a:bodyPr/>
          <a:lstStyle/>
          <a:p>
            <a:endParaRPr lang="de-CH"/>
          </a:p>
        </p:txBody>
      </p:sp>
      <p:sp>
        <p:nvSpPr>
          <p:cNvPr id="212" name="hdr"/>
          <p:cNvSpPr/>
          <p:nvPr/>
        </p:nvSpPr>
        <p:spPr>
          <a:xfrm>
            <a:off x="6438900" y="1917700"/>
            <a:ext cx="4762500" cy="460375"/>
          </a:xfrm>
          <a:prstGeom prst="rect">
            <a:avLst/>
          </a:prstGeom>
          <a:noFill/>
          <a:ln>
            <a:noFill/>
          </a:ln>
        </p:spPr>
        <p:txBody>
          <a:bodyPr lIns="0" tIns="0" rIns="0" bIns="0" rtlCol="0" anchor="t"/>
          <a:lstStyle/>
          <a:p>
            <a:r>
              <a:rPr lang="de-CH" sz="1300" b="1" dirty="0">
                <a:solidFill>
                  <a:srgbClr val="2E6CA4"/>
                </a:solidFill>
              </a:rPr>
              <a:t>HF-02  </a:t>
            </a:r>
            <a:r>
              <a:rPr lang="de-CH" sz="1300" b="1" dirty="0">
                <a:solidFill>
                  <a:srgbClr val="1B3A5C"/>
                </a:solidFill>
              </a:rPr>
              <a:t>Konsistente Datenbasis und Systemintegration</a:t>
            </a:r>
          </a:p>
        </p:txBody>
      </p:sp>
      <p:sp>
        <p:nvSpPr>
          <p:cNvPr id="213" name="cause"/>
          <p:cNvSpPr/>
          <p:nvPr/>
        </p:nvSpPr>
        <p:spPr>
          <a:xfrm>
            <a:off x="6438900" y="2324101"/>
            <a:ext cx="1841500" cy="1135592"/>
          </a:xfrm>
          <a:prstGeom prst="rect">
            <a:avLst/>
          </a:prstGeom>
          <a:noFill/>
          <a:ln>
            <a:noFill/>
          </a:ln>
        </p:spPr>
        <p:txBody>
          <a:bodyPr lIns="0" tIns="0" rIns="0" bIns="0" rtlCol="0" anchor="t"/>
          <a:lstStyle/>
          <a:p>
            <a:pPr>
              <a:spcAft>
                <a:spcPts val="200"/>
              </a:spcAft>
            </a:pPr>
            <a:r>
              <a:rPr lang="de-CH" sz="900" b="1" dirty="0">
                <a:solidFill>
                  <a:srgbClr val="9A6512"/>
                </a:solidFill>
              </a:rPr>
              <a:t>URSACHE</a:t>
            </a:r>
          </a:p>
          <a:p>
            <a:r>
              <a:rPr lang="de-DE" sz="1000" dirty="0">
                <a:solidFill>
                  <a:srgbClr val="1A2A38"/>
                </a:solidFill>
              </a:rPr>
              <a:t>Prozessinformationen liegen verteilt vor; Datenquellen und Datenübernahmen sind nicht eindeutig definiert.</a:t>
            </a:r>
            <a:endParaRPr lang="de-CH" sz="1000" dirty="0">
              <a:solidFill>
                <a:srgbClr val="1A2A38"/>
              </a:solidFill>
            </a:endParaRPr>
          </a:p>
        </p:txBody>
      </p:sp>
      <p:sp>
        <p:nvSpPr>
          <p:cNvPr id="214" name="vd"/>
          <p:cNvSpPr/>
          <p:nvPr/>
        </p:nvSpPr>
        <p:spPr>
          <a:xfrm>
            <a:off x="8343900" y="2349501"/>
            <a:ext cx="12700" cy="1074208"/>
          </a:xfrm>
          <a:prstGeom prst="rect">
            <a:avLst/>
          </a:prstGeom>
          <a:solidFill>
            <a:srgbClr val="C9D4DE"/>
          </a:solidFill>
          <a:ln>
            <a:noFill/>
          </a:ln>
        </p:spPr>
        <p:txBody>
          <a:bodyPr/>
          <a:lstStyle/>
          <a:p>
            <a:endParaRPr lang="de-CH"/>
          </a:p>
        </p:txBody>
      </p:sp>
      <p:sp>
        <p:nvSpPr>
          <p:cNvPr id="215" name="soll"/>
          <p:cNvSpPr/>
          <p:nvPr/>
        </p:nvSpPr>
        <p:spPr>
          <a:xfrm>
            <a:off x="8432800" y="2324101"/>
            <a:ext cx="2743200" cy="1135592"/>
          </a:xfrm>
          <a:prstGeom prst="rect">
            <a:avLst/>
          </a:prstGeom>
          <a:noFill/>
          <a:ln>
            <a:noFill/>
          </a:ln>
        </p:spPr>
        <p:txBody>
          <a:bodyPr lIns="0" tIns="0" rIns="0" bIns="0" rtlCol="0" anchor="t"/>
          <a:lstStyle/>
          <a:p>
            <a:pPr>
              <a:spcAft>
                <a:spcPts val="200"/>
              </a:spcAft>
            </a:pPr>
            <a:r>
              <a:rPr lang="de-CH" sz="900" b="1" dirty="0">
                <a:solidFill>
                  <a:srgbClr val="9A6512"/>
                </a:solidFill>
              </a:rPr>
              <a:t>SOLL-FOKUS</a:t>
            </a:r>
          </a:p>
          <a:p>
            <a:pPr marL="119000" indent="-119000">
              <a:spcAft>
                <a:spcPts val="100"/>
              </a:spcAft>
              <a:buFont typeface="Arial"/>
              <a:buChar char="▸"/>
            </a:pPr>
            <a:r>
              <a:rPr lang="de-CH" sz="1000" dirty="0">
                <a:solidFill>
                  <a:srgbClr val="1A2A38"/>
                </a:solidFill>
              </a:rPr>
              <a:t>Zentrale Fallführung und Dokumentation je Austritt</a:t>
            </a:r>
          </a:p>
          <a:p>
            <a:pPr marL="119000" indent="-119000">
              <a:spcAft>
                <a:spcPts val="100"/>
              </a:spcAft>
              <a:buFont typeface="Arial"/>
              <a:buChar char="▸"/>
            </a:pPr>
            <a:r>
              <a:rPr lang="de-CH" sz="1000" dirty="0">
                <a:solidFill>
                  <a:srgbClr val="1A2A38"/>
                </a:solidFill>
              </a:rPr>
              <a:t>Verbindliche Datenquellen und Pflichtinfos je Falltyp</a:t>
            </a:r>
          </a:p>
          <a:p>
            <a:pPr marL="119000" indent="-119000">
              <a:spcAft>
                <a:spcPts val="100"/>
              </a:spcAft>
              <a:buFont typeface="Arial"/>
              <a:buChar char="▸"/>
            </a:pPr>
            <a:r>
              <a:rPr lang="de-CH" sz="1000" dirty="0">
                <a:solidFill>
                  <a:srgbClr val="1A2A38"/>
                </a:solidFill>
              </a:rPr>
              <a:t>Daten systemübergreifend nutzen (SAP/Umsysteme ↔ Jira)</a:t>
            </a:r>
          </a:p>
        </p:txBody>
      </p:sp>
      <p:grpSp>
        <p:nvGrpSpPr>
          <p:cNvPr id="5" name="Gruppieren 4">
            <a:extLst>
              <a:ext uri="{FF2B5EF4-FFF2-40B4-BE49-F238E27FC236}">
                <a16:creationId xmlns:a16="http://schemas.microsoft.com/office/drawing/2014/main" id="{41F66304-3EB3-AA46-EC14-898924AE549E}"/>
              </a:ext>
            </a:extLst>
          </p:cNvPr>
          <p:cNvGrpSpPr/>
          <p:nvPr/>
        </p:nvGrpSpPr>
        <p:grpSpPr>
          <a:xfrm>
            <a:off x="6337300" y="3579679"/>
            <a:ext cx="5016500" cy="497020"/>
            <a:chOff x="6324600" y="3530599"/>
            <a:chExt cx="5016500" cy="497020"/>
          </a:xfrm>
        </p:grpSpPr>
        <p:sp>
          <p:nvSpPr>
            <p:cNvPr id="216" name="wbg"/>
            <p:cNvSpPr/>
            <p:nvPr/>
          </p:nvSpPr>
          <p:spPr>
            <a:xfrm>
              <a:off x="6324600" y="3567244"/>
              <a:ext cx="5016500" cy="460375"/>
            </a:xfrm>
            <a:prstGeom prst="rect">
              <a:avLst/>
            </a:prstGeom>
            <a:solidFill>
              <a:srgbClr val="E1E8EF"/>
            </a:solidFill>
            <a:ln>
              <a:noFill/>
            </a:ln>
          </p:spPr>
          <p:txBody>
            <a:bodyPr/>
            <a:lstStyle/>
            <a:p>
              <a:endParaRPr lang="de-CH"/>
            </a:p>
          </p:txBody>
        </p:sp>
        <p:sp>
          <p:nvSpPr>
            <p:cNvPr id="217" name="wtx"/>
            <p:cNvSpPr/>
            <p:nvPr/>
          </p:nvSpPr>
          <p:spPr>
            <a:xfrm>
              <a:off x="6438900" y="3530599"/>
              <a:ext cx="4813300" cy="460375"/>
            </a:xfrm>
            <a:prstGeom prst="rect">
              <a:avLst/>
            </a:prstGeom>
            <a:noFill/>
            <a:ln>
              <a:noFill/>
            </a:ln>
          </p:spPr>
          <p:txBody>
            <a:bodyPr lIns="0" tIns="0" rIns="0" bIns="0" rtlCol="0" anchor="ctr"/>
            <a:lstStyle/>
            <a:p>
              <a:r>
                <a:rPr lang="de-CH" sz="900" b="1" dirty="0">
                  <a:solidFill>
                    <a:srgbClr val="2E6CA4"/>
                  </a:solidFill>
                </a:rPr>
                <a:t>WIRKUNG  </a:t>
              </a:r>
              <a:r>
                <a:rPr lang="de-DE" sz="950" dirty="0">
                  <a:solidFill>
                    <a:srgbClr val="1A2A38"/>
                  </a:solidFill>
                </a:rPr>
                <a:t>Adressiert Medienbrüche, Dateninkonsistenzen und redundante Erfassung.</a:t>
              </a:r>
              <a:endParaRPr lang="de-CH" sz="950" dirty="0">
                <a:solidFill>
                  <a:srgbClr val="1A2A38"/>
                </a:solidFill>
              </a:endParaRPr>
            </a:p>
          </p:txBody>
        </p:sp>
      </p:grpSp>
      <p:sp>
        <p:nvSpPr>
          <p:cNvPr id="218" name="sc"/>
          <p:cNvSpPr/>
          <p:nvPr/>
        </p:nvSpPr>
        <p:spPr>
          <a:xfrm>
            <a:off x="838200" y="4397243"/>
            <a:ext cx="5118100" cy="2095632"/>
          </a:xfrm>
          <a:prstGeom prst="roundRect">
            <a:avLst>
              <a:gd name="adj" fmla="val 2800"/>
            </a:avLst>
          </a:prstGeom>
          <a:solidFill>
            <a:srgbClr val="EEF2F6"/>
          </a:solidFill>
          <a:ln>
            <a:noFill/>
          </a:ln>
        </p:spPr>
        <p:txBody>
          <a:bodyPr/>
          <a:lstStyle/>
          <a:p>
            <a:endParaRPr lang="de-CH"/>
          </a:p>
        </p:txBody>
      </p:sp>
      <p:sp>
        <p:nvSpPr>
          <p:cNvPr id="219" name="acc"/>
          <p:cNvSpPr/>
          <p:nvPr/>
        </p:nvSpPr>
        <p:spPr>
          <a:xfrm>
            <a:off x="838200" y="4397243"/>
            <a:ext cx="76200" cy="2095632"/>
          </a:xfrm>
          <a:prstGeom prst="rect">
            <a:avLst/>
          </a:prstGeom>
          <a:solidFill>
            <a:srgbClr val="3E7CA8"/>
          </a:solidFill>
          <a:ln>
            <a:noFill/>
          </a:ln>
        </p:spPr>
        <p:txBody>
          <a:bodyPr/>
          <a:lstStyle/>
          <a:p>
            <a:endParaRPr lang="de-CH"/>
          </a:p>
        </p:txBody>
      </p:sp>
      <p:sp>
        <p:nvSpPr>
          <p:cNvPr id="220" name="hdr"/>
          <p:cNvSpPr/>
          <p:nvPr/>
        </p:nvSpPr>
        <p:spPr>
          <a:xfrm>
            <a:off x="1041400" y="4473442"/>
            <a:ext cx="4762500" cy="430609"/>
          </a:xfrm>
          <a:prstGeom prst="rect">
            <a:avLst/>
          </a:prstGeom>
          <a:noFill/>
          <a:ln>
            <a:noFill/>
          </a:ln>
        </p:spPr>
        <p:txBody>
          <a:bodyPr lIns="0" tIns="0" rIns="0" bIns="0" rtlCol="0" anchor="t"/>
          <a:lstStyle/>
          <a:p>
            <a:r>
              <a:rPr lang="de-CH" sz="1300" b="1" dirty="0">
                <a:solidFill>
                  <a:srgbClr val="3E7CA8"/>
                </a:solidFill>
              </a:rPr>
              <a:t>HF-03  </a:t>
            </a:r>
            <a:r>
              <a:rPr lang="de-CH" sz="1300" b="1" dirty="0">
                <a:solidFill>
                  <a:srgbClr val="1B3A5C"/>
                </a:solidFill>
              </a:rPr>
              <a:t>Standardisierung und Prozessdokumentation</a:t>
            </a:r>
          </a:p>
        </p:txBody>
      </p:sp>
      <p:sp>
        <p:nvSpPr>
          <p:cNvPr id="221" name="cause"/>
          <p:cNvSpPr/>
          <p:nvPr/>
        </p:nvSpPr>
        <p:spPr>
          <a:xfrm>
            <a:off x="1041400" y="4879843"/>
            <a:ext cx="1841500" cy="1062170"/>
          </a:xfrm>
          <a:prstGeom prst="rect">
            <a:avLst/>
          </a:prstGeom>
          <a:noFill/>
          <a:ln>
            <a:noFill/>
          </a:ln>
        </p:spPr>
        <p:txBody>
          <a:bodyPr lIns="0" tIns="0" rIns="0" bIns="0" rtlCol="0" anchor="t"/>
          <a:lstStyle/>
          <a:p>
            <a:pPr>
              <a:spcAft>
                <a:spcPts val="200"/>
              </a:spcAft>
            </a:pPr>
            <a:r>
              <a:rPr lang="de-CH" sz="900" b="1" dirty="0">
                <a:solidFill>
                  <a:srgbClr val="9A6512"/>
                </a:solidFill>
              </a:rPr>
              <a:t>URSACHE</a:t>
            </a:r>
          </a:p>
          <a:p>
            <a:r>
              <a:rPr lang="de-CH" sz="1000" dirty="0">
                <a:solidFill>
                  <a:srgbClr val="1A2A38"/>
                </a:solidFill>
              </a:rPr>
              <a:t>Bearbeitungsregeln, Entscheidungskriterien und Prüfungen sind nicht für alle Prozessvarianten eindeutig definiert.</a:t>
            </a:r>
          </a:p>
        </p:txBody>
      </p:sp>
      <p:sp>
        <p:nvSpPr>
          <p:cNvPr id="222" name="vd"/>
          <p:cNvSpPr/>
          <p:nvPr/>
        </p:nvSpPr>
        <p:spPr>
          <a:xfrm>
            <a:off x="2946400" y="4905242"/>
            <a:ext cx="12700" cy="1004755"/>
          </a:xfrm>
          <a:prstGeom prst="rect">
            <a:avLst/>
          </a:prstGeom>
          <a:solidFill>
            <a:srgbClr val="C9D4DE"/>
          </a:solidFill>
          <a:ln>
            <a:noFill/>
          </a:ln>
        </p:spPr>
        <p:txBody>
          <a:bodyPr/>
          <a:lstStyle/>
          <a:p>
            <a:endParaRPr lang="de-CH"/>
          </a:p>
        </p:txBody>
      </p:sp>
      <p:sp>
        <p:nvSpPr>
          <p:cNvPr id="223" name="soll"/>
          <p:cNvSpPr/>
          <p:nvPr/>
        </p:nvSpPr>
        <p:spPr>
          <a:xfrm>
            <a:off x="3035300" y="4879843"/>
            <a:ext cx="2743200" cy="1062170"/>
          </a:xfrm>
          <a:prstGeom prst="rect">
            <a:avLst/>
          </a:prstGeom>
          <a:noFill/>
          <a:ln>
            <a:noFill/>
          </a:ln>
        </p:spPr>
        <p:txBody>
          <a:bodyPr lIns="0" tIns="0" rIns="0" bIns="0" rtlCol="0" anchor="t"/>
          <a:lstStyle/>
          <a:p>
            <a:pPr>
              <a:spcAft>
                <a:spcPts val="200"/>
              </a:spcAft>
            </a:pPr>
            <a:r>
              <a:rPr lang="de-CH" sz="900" b="1" dirty="0">
                <a:solidFill>
                  <a:srgbClr val="9A6512"/>
                </a:solidFill>
              </a:rPr>
              <a:t>SOLL-FOKUS</a:t>
            </a:r>
          </a:p>
          <a:p>
            <a:pPr marL="119000" indent="-119000">
              <a:spcAft>
                <a:spcPts val="100"/>
              </a:spcAft>
              <a:buFont typeface="Arial"/>
              <a:buChar char="▸"/>
            </a:pPr>
            <a:r>
              <a:rPr lang="de-CH" sz="1000" dirty="0">
                <a:solidFill>
                  <a:srgbClr val="1A2A38"/>
                </a:solidFill>
              </a:rPr>
              <a:t>Prozessdoku inkl. Rollen, Rückfrage- und Übergabewege</a:t>
            </a:r>
          </a:p>
          <a:p>
            <a:pPr marL="119000" indent="-119000">
              <a:spcAft>
                <a:spcPts val="100"/>
              </a:spcAft>
              <a:buFont typeface="Arial"/>
              <a:buChar char="▸"/>
            </a:pPr>
            <a:r>
              <a:rPr lang="de-CH" sz="1000" dirty="0">
                <a:solidFill>
                  <a:srgbClr val="1A2A38"/>
                </a:solidFill>
              </a:rPr>
              <a:t>Prozessvarianten auf notwendige Ausnahmen begrenzen</a:t>
            </a:r>
          </a:p>
          <a:p>
            <a:pPr marL="119000" indent="-119000">
              <a:spcAft>
                <a:spcPts val="100"/>
              </a:spcAft>
              <a:buFont typeface="Arial"/>
              <a:buChar char="▸"/>
            </a:pPr>
            <a:r>
              <a:rPr lang="de-CH" sz="1000" dirty="0">
                <a:solidFill>
                  <a:srgbClr val="1A2A38"/>
                </a:solidFill>
              </a:rPr>
              <a:t>Standardkriterien und Pflichtschritte je Variante</a:t>
            </a:r>
          </a:p>
        </p:txBody>
      </p:sp>
      <p:grpSp>
        <p:nvGrpSpPr>
          <p:cNvPr id="7" name="Gruppieren 6">
            <a:extLst>
              <a:ext uri="{FF2B5EF4-FFF2-40B4-BE49-F238E27FC236}">
                <a16:creationId xmlns:a16="http://schemas.microsoft.com/office/drawing/2014/main" id="{F9D16B07-3D23-D34F-EE49-EDB423B5D0DA}"/>
              </a:ext>
            </a:extLst>
          </p:cNvPr>
          <p:cNvGrpSpPr/>
          <p:nvPr/>
        </p:nvGrpSpPr>
        <p:grpSpPr>
          <a:xfrm>
            <a:off x="914400" y="6061075"/>
            <a:ext cx="5016500" cy="430609"/>
            <a:chOff x="914400" y="5943599"/>
            <a:chExt cx="5016500" cy="430609"/>
          </a:xfrm>
        </p:grpSpPr>
        <p:sp>
          <p:nvSpPr>
            <p:cNvPr id="224" name="wbg"/>
            <p:cNvSpPr/>
            <p:nvPr/>
          </p:nvSpPr>
          <p:spPr>
            <a:xfrm>
              <a:off x="914400" y="5943599"/>
              <a:ext cx="5016500" cy="430609"/>
            </a:xfrm>
            <a:prstGeom prst="rect">
              <a:avLst/>
            </a:prstGeom>
            <a:solidFill>
              <a:srgbClr val="E1E8EF"/>
            </a:solidFill>
            <a:ln>
              <a:noFill/>
            </a:ln>
          </p:spPr>
          <p:txBody>
            <a:bodyPr/>
            <a:lstStyle/>
            <a:p>
              <a:endParaRPr lang="de-CH"/>
            </a:p>
          </p:txBody>
        </p:sp>
        <p:sp>
          <p:nvSpPr>
            <p:cNvPr id="225" name="wtx"/>
            <p:cNvSpPr/>
            <p:nvPr/>
          </p:nvSpPr>
          <p:spPr>
            <a:xfrm>
              <a:off x="1041400" y="5943599"/>
              <a:ext cx="4813300" cy="430609"/>
            </a:xfrm>
            <a:prstGeom prst="rect">
              <a:avLst/>
            </a:prstGeom>
            <a:noFill/>
            <a:ln>
              <a:noFill/>
            </a:ln>
          </p:spPr>
          <p:txBody>
            <a:bodyPr lIns="0" tIns="0" rIns="0" bIns="0" rtlCol="0" anchor="ctr"/>
            <a:lstStyle/>
            <a:p>
              <a:r>
                <a:rPr lang="de-CH" sz="900" b="1" dirty="0">
                  <a:solidFill>
                    <a:srgbClr val="3E7CA8"/>
                  </a:solidFill>
                </a:rPr>
                <a:t>WIRKUNG  </a:t>
              </a:r>
              <a:r>
                <a:rPr lang="de-DE" sz="950" dirty="0">
                  <a:solidFill>
                    <a:srgbClr val="1A2A38"/>
                  </a:solidFill>
                </a:rPr>
                <a:t>Adressiert Interpretationsspielräume und uneinheitliche Bearbeitung.</a:t>
              </a:r>
              <a:endParaRPr lang="de-CH" sz="950" dirty="0">
                <a:solidFill>
                  <a:srgbClr val="1A2A38"/>
                </a:solidFill>
              </a:endParaRPr>
            </a:p>
          </p:txBody>
        </p:sp>
      </p:grpSp>
      <p:sp>
        <p:nvSpPr>
          <p:cNvPr id="226" name="sc"/>
          <p:cNvSpPr/>
          <p:nvPr/>
        </p:nvSpPr>
        <p:spPr>
          <a:xfrm>
            <a:off x="6235700" y="4397243"/>
            <a:ext cx="5118100" cy="2095632"/>
          </a:xfrm>
          <a:prstGeom prst="roundRect">
            <a:avLst>
              <a:gd name="adj" fmla="val 2800"/>
            </a:avLst>
          </a:prstGeom>
          <a:solidFill>
            <a:srgbClr val="EEF2F6"/>
          </a:solidFill>
          <a:ln>
            <a:noFill/>
          </a:ln>
        </p:spPr>
        <p:txBody>
          <a:bodyPr/>
          <a:lstStyle/>
          <a:p>
            <a:endParaRPr lang="de-CH"/>
          </a:p>
        </p:txBody>
      </p:sp>
      <p:sp>
        <p:nvSpPr>
          <p:cNvPr id="227" name="acc"/>
          <p:cNvSpPr/>
          <p:nvPr/>
        </p:nvSpPr>
        <p:spPr>
          <a:xfrm>
            <a:off x="6235700" y="4397243"/>
            <a:ext cx="76200" cy="2095632"/>
          </a:xfrm>
          <a:prstGeom prst="rect">
            <a:avLst/>
          </a:prstGeom>
          <a:solidFill>
            <a:srgbClr val="C8893A"/>
          </a:solidFill>
          <a:ln>
            <a:noFill/>
          </a:ln>
        </p:spPr>
        <p:txBody>
          <a:bodyPr/>
          <a:lstStyle/>
          <a:p>
            <a:endParaRPr lang="de-CH"/>
          </a:p>
        </p:txBody>
      </p:sp>
      <p:sp>
        <p:nvSpPr>
          <p:cNvPr id="228" name="hdr"/>
          <p:cNvSpPr/>
          <p:nvPr/>
        </p:nvSpPr>
        <p:spPr>
          <a:xfrm>
            <a:off x="6438900" y="4473442"/>
            <a:ext cx="4762500" cy="430609"/>
          </a:xfrm>
          <a:prstGeom prst="rect">
            <a:avLst/>
          </a:prstGeom>
          <a:noFill/>
          <a:ln>
            <a:noFill/>
          </a:ln>
        </p:spPr>
        <p:txBody>
          <a:bodyPr lIns="0" tIns="0" rIns="0" bIns="0" rtlCol="0" anchor="t"/>
          <a:lstStyle/>
          <a:p>
            <a:r>
              <a:rPr lang="de-CH" sz="1300" b="1" dirty="0">
                <a:solidFill>
                  <a:srgbClr val="C8893A"/>
                </a:solidFill>
              </a:rPr>
              <a:t>HF-04  </a:t>
            </a:r>
            <a:r>
              <a:rPr lang="de-CH" sz="1300" b="1" dirty="0">
                <a:solidFill>
                  <a:srgbClr val="1B3A5C"/>
                </a:solidFill>
              </a:rPr>
              <a:t>Systemgestützte Prozessausführung</a:t>
            </a:r>
          </a:p>
        </p:txBody>
      </p:sp>
      <p:sp>
        <p:nvSpPr>
          <p:cNvPr id="229" name="cause"/>
          <p:cNvSpPr/>
          <p:nvPr/>
        </p:nvSpPr>
        <p:spPr>
          <a:xfrm>
            <a:off x="6438900" y="4879843"/>
            <a:ext cx="1841500" cy="1062170"/>
          </a:xfrm>
          <a:prstGeom prst="rect">
            <a:avLst/>
          </a:prstGeom>
          <a:noFill/>
          <a:ln>
            <a:noFill/>
          </a:ln>
        </p:spPr>
        <p:txBody>
          <a:bodyPr lIns="0" tIns="0" rIns="0" bIns="0" rtlCol="0" anchor="t"/>
          <a:lstStyle/>
          <a:p>
            <a:pPr>
              <a:spcAft>
                <a:spcPts val="200"/>
              </a:spcAft>
            </a:pPr>
            <a:r>
              <a:rPr lang="de-CH" sz="900" b="1" dirty="0">
                <a:solidFill>
                  <a:srgbClr val="9A6512"/>
                </a:solidFill>
              </a:rPr>
              <a:t>URSACHE</a:t>
            </a:r>
          </a:p>
          <a:p>
            <a:r>
              <a:rPr lang="de-CH" sz="1000" dirty="0">
                <a:solidFill>
                  <a:srgbClr val="1A2A38"/>
                </a:solidFill>
              </a:rPr>
              <a:t>Prozessschritte, Prüfungen, Informationen und Varianten sind nicht durchgängig in einer systemgestützten Workflow-Logik abgebildet.</a:t>
            </a:r>
          </a:p>
        </p:txBody>
      </p:sp>
      <p:sp>
        <p:nvSpPr>
          <p:cNvPr id="230" name="vd"/>
          <p:cNvSpPr/>
          <p:nvPr/>
        </p:nvSpPr>
        <p:spPr>
          <a:xfrm>
            <a:off x="8343900" y="4905242"/>
            <a:ext cx="12700" cy="1004755"/>
          </a:xfrm>
          <a:prstGeom prst="rect">
            <a:avLst/>
          </a:prstGeom>
          <a:solidFill>
            <a:srgbClr val="C9D4DE"/>
          </a:solidFill>
          <a:ln>
            <a:noFill/>
          </a:ln>
        </p:spPr>
        <p:txBody>
          <a:bodyPr/>
          <a:lstStyle/>
          <a:p>
            <a:endParaRPr lang="de-CH"/>
          </a:p>
        </p:txBody>
      </p:sp>
      <p:sp>
        <p:nvSpPr>
          <p:cNvPr id="231" name="soll"/>
          <p:cNvSpPr/>
          <p:nvPr/>
        </p:nvSpPr>
        <p:spPr>
          <a:xfrm>
            <a:off x="8432800" y="4879843"/>
            <a:ext cx="2743200" cy="1062170"/>
          </a:xfrm>
          <a:prstGeom prst="rect">
            <a:avLst/>
          </a:prstGeom>
          <a:noFill/>
          <a:ln>
            <a:noFill/>
          </a:ln>
        </p:spPr>
        <p:txBody>
          <a:bodyPr lIns="0" tIns="0" rIns="0" bIns="0" rtlCol="0" anchor="t"/>
          <a:lstStyle/>
          <a:p>
            <a:pPr>
              <a:spcAft>
                <a:spcPts val="200"/>
              </a:spcAft>
            </a:pPr>
            <a:r>
              <a:rPr lang="de-CH" sz="900" b="1" dirty="0">
                <a:solidFill>
                  <a:srgbClr val="9A6512"/>
                </a:solidFill>
              </a:rPr>
              <a:t>SOLL-FOKUS</a:t>
            </a:r>
          </a:p>
          <a:p>
            <a:pPr marL="119000" indent="-119000">
              <a:spcAft>
                <a:spcPts val="100"/>
              </a:spcAft>
              <a:buFont typeface="Arial"/>
              <a:buChar char="▸"/>
            </a:pPr>
            <a:r>
              <a:rPr lang="de-CH" sz="1000" dirty="0">
                <a:solidFill>
                  <a:srgbClr val="1A2A38"/>
                </a:solidFill>
              </a:rPr>
              <a:t>Aufgaben, Prüfungen, Übergaben systemgestützt führen</a:t>
            </a:r>
          </a:p>
          <a:p>
            <a:pPr marL="119000" indent="-119000">
              <a:spcAft>
                <a:spcPts val="100"/>
              </a:spcAft>
              <a:buFont typeface="Arial"/>
              <a:buChar char="▸"/>
            </a:pPr>
            <a:r>
              <a:rPr lang="de-CH" sz="1000" dirty="0">
                <a:solidFill>
                  <a:srgbClr val="1A2A38"/>
                </a:solidFill>
              </a:rPr>
              <a:t>Sinnvolle Prüfungen regelbasiert/automatisiert auslösen</a:t>
            </a:r>
          </a:p>
          <a:p>
            <a:pPr marL="119000" indent="-119000">
              <a:spcAft>
                <a:spcPts val="100"/>
              </a:spcAft>
              <a:buFont typeface="Arial"/>
              <a:buChar char="▸"/>
            </a:pPr>
            <a:r>
              <a:rPr lang="de-CH" sz="1000" dirty="0">
                <a:solidFill>
                  <a:srgbClr val="1A2A38"/>
                </a:solidFill>
              </a:rPr>
              <a:t>Varianten und Sonderfälle früh systemgestützt erkennen</a:t>
            </a:r>
          </a:p>
        </p:txBody>
      </p:sp>
      <p:grpSp>
        <p:nvGrpSpPr>
          <p:cNvPr id="9" name="Gruppieren 8">
            <a:extLst>
              <a:ext uri="{FF2B5EF4-FFF2-40B4-BE49-F238E27FC236}">
                <a16:creationId xmlns:a16="http://schemas.microsoft.com/office/drawing/2014/main" id="{2D278C80-5C6A-E49F-5DB2-F6BE0F185C02}"/>
              </a:ext>
            </a:extLst>
          </p:cNvPr>
          <p:cNvGrpSpPr/>
          <p:nvPr/>
        </p:nvGrpSpPr>
        <p:grpSpPr>
          <a:xfrm>
            <a:off x="6324600" y="6041958"/>
            <a:ext cx="5016500" cy="430609"/>
            <a:chOff x="6311900" y="5943599"/>
            <a:chExt cx="5016500" cy="430609"/>
          </a:xfrm>
        </p:grpSpPr>
        <p:sp>
          <p:nvSpPr>
            <p:cNvPr id="232" name="wbg"/>
            <p:cNvSpPr/>
            <p:nvPr/>
          </p:nvSpPr>
          <p:spPr>
            <a:xfrm>
              <a:off x="6311900" y="5943599"/>
              <a:ext cx="5016500" cy="430609"/>
            </a:xfrm>
            <a:prstGeom prst="rect">
              <a:avLst/>
            </a:prstGeom>
            <a:solidFill>
              <a:srgbClr val="E1E8EF"/>
            </a:solidFill>
            <a:ln>
              <a:noFill/>
            </a:ln>
          </p:spPr>
          <p:txBody>
            <a:bodyPr/>
            <a:lstStyle/>
            <a:p>
              <a:endParaRPr lang="de-CH"/>
            </a:p>
          </p:txBody>
        </p:sp>
        <p:sp>
          <p:nvSpPr>
            <p:cNvPr id="233" name="wtx"/>
            <p:cNvSpPr/>
            <p:nvPr/>
          </p:nvSpPr>
          <p:spPr>
            <a:xfrm>
              <a:off x="6438900" y="5943599"/>
              <a:ext cx="4813300" cy="430609"/>
            </a:xfrm>
            <a:prstGeom prst="rect">
              <a:avLst/>
            </a:prstGeom>
            <a:noFill/>
            <a:ln>
              <a:noFill/>
            </a:ln>
          </p:spPr>
          <p:txBody>
            <a:bodyPr lIns="0" tIns="0" rIns="0" bIns="0" rtlCol="0" anchor="ctr"/>
            <a:lstStyle/>
            <a:p>
              <a:r>
                <a:rPr lang="de-CH" sz="900" b="1" dirty="0">
                  <a:solidFill>
                    <a:srgbClr val="C8893A"/>
                  </a:solidFill>
                </a:rPr>
                <a:t>WIRKUNG  </a:t>
              </a:r>
              <a:r>
                <a:rPr lang="de-DE" sz="950" dirty="0">
                  <a:solidFill>
                    <a:srgbClr val="1A2A38"/>
                  </a:solidFill>
                </a:rPr>
                <a:t>Adressiert manuelle Koordination und späte Prüfungen.</a:t>
              </a:r>
              <a:endParaRPr lang="de-CH" sz="950" dirty="0">
                <a:solidFill>
                  <a:srgbClr val="1A2A38"/>
                </a:solidFill>
              </a:endParaRPr>
            </a:p>
          </p:txBody>
        </p:sp>
      </p:grpSp>
      <p:sp>
        <p:nvSpPr>
          <p:cNvPr id="236" name="kerntx"/>
          <p:cNvSpPr/>
          <p:nvPr/>
        </p:nvSpPr>
        <p:spPr>
          <a:xfrm>
            <a:off x="1092200" y="5946642"/>
            <a:ext cx="10261600" cy="688975"/>
          </a:xfrm>
          <a:prstGeom prst="rect">
            <a:avLst/>
          </a:prstGeom>
          <a:noFill/>
          <a:ln>
            <a:noFill/>
          </a:ln>
        </p:spPr>
        <p:txBody>
          <a:bodyPr lIns="0" tIns="0" rIns="76200" bIns="0" rtlCol="0" anchor="ctr"/>
          <a:lstStyle/>
          <a:p>
            <a:endParaRPr lang="de-CH" sz="1300" dirty="0">
              <a:solidFill>
                <a:srgbClr val="EEF2F6"/>
              </a:solidFill>
            </a:endParaRPr>
          </a:p>
        </p:txBody>
      </p:sp>
      <p:sp>
        <p:nvSpPr>
          <p:cNvPr id="10" name="Foliennummernplatzhalter 9">
            <a:extLst>
              <a:ext uri="{FF2B5EF4-FFF2-40B4-BE49-F238E27FC236}">
                <a16:creationId xmlns:a16="http://schemas.microsoft.com/office/drawing/2014/main" id="{87DD3294-F528-5652-472A-B12C871243DF}"/>
              </a:ext>
            </a:extLst>
          </p:cNvPr>
          <p:cNvSpPr>
            <a:spLocks noGrp="1"/>
          </p:cNvSpPr>
          <p:nvPr>
            <p:ph type="sldNum" sz="quarter" idx="12"/>
          </p:nvPr>
        </p:nvSpPr>
        <p:spPr/>
        <p:txBody>
          <a:bodyPr/>
          <a:lstStyle/>
          <a:p>
            <a:fld id="{2AAFDC3C-A9F8-4ABD-8D8D-8DC3321B02DC}" type="slidenum">
              <a:rPr lang="de-CH" smtClean="0"/>
              <a:t>24</a:t>
            </a:fld>
            <a:endParaRPr lang="de-CH"/>
          </a:p>
        </p:txBody>
      </p:sp>
    </p:spTree>
    <p:extLst>
      <p:ext uri="{BB962C8B-B14F-4D97-AF65-F5344CB8AC3E}">
        <p14:creationId xmlns:p14="http://schemas.microsoft.com/office/powerpoint/2010/main" val="272947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9BF8A6-D73B-C0D0-5DCD-B4C42BC348E4}"/>
              </a:ext>
            </a:extLst>
          </p:cNvPr>
          <p:cNvSpPr>
            <a:spLocks noGrp="1"/>
          </p:cNvSpPr>
          <p:nvPr>
            <p:ph type="title"/>
          </p:nvPr>
        </p:nvSpPr>
        <p:spPr/>
        <p:txBody>
          <a:bodyPr/>
          <a:lstStyle/>
          <a:p>
            <a:pPr algn="l"/>
            <a:r>
              <a:rPr lang="de-CH" sz="2800" b="1" dirty="0">
                <a:solidFill>
                  <a:srgbClr val="1B3A5C"/>
                </a:solidFill>
              </a:rPr>
              <a:t>5-Why-Analyse</a:t>
            </a:r>
          </a:p>
        </p:txBody>
      </p:sp>
      <p:sp>
        <p:nvSpPr>
          <p:cNvPr id="300" name="eye"/>
          <p:cNvSpPr/>
          <p:nvPr/>
        </p:nvSpPr>
        <p:spPr>
          <a:xfrm>
            <a:off x="838200" y="1447800"/>
            <a:ext cx="10515600" cy="254000"/>
          </a:xfrm>
          <a:prstGeom prst="rect">
            <a:avLst/>
          </a:prstGeom>
          <a:noFill/>
          <a:ln>
            <a:noFill/>
          </a:ln>
        </p:spPr>
        <p:txBody>
          <a:bodyPr lIns="0" tIns="0" rIns="0" bIns="0" rtlCol="0" anchor="t"/>
          <a:lstStyle/>
          <a:p>
            <a:r>
              <a:rPr lang="de-DE" sz="1400" b="1" dirty="0">
                <a:solidFill>
                  <a:srgbClr val="2E6CA4"/>
                </a:solidFill>
              </a:rPr>
              <a:t>Ausgewählte Pain Points vertiefen und Ursachenstruktur präzisieren</a:t>
            </a:r>
            <a:endParaRPr lang="de-CH" sz="1400" b="1" dirty="0">
              <a:solidFill>
                <a:srgbClr val="2E6CA4"/>
              </a:solidFill>
            </a:endParaRPr>
          </a:p>
        </p:txBody>
      </p:sp>
      <p:sp>
        <p:nvSpPr>
          <p:cNvPr id="302" name="sc"/>
          <p:cNvSpPr/>
          <p:nvPr/>
        </p:nvSpPr>
        <p:spPr>
          <a:xfrm>
            <a:off x="838200" y="1946274"/>
            <a:ext cx="5118100" cy="3463925"/>
          </a:xfrm>
          <a:prstGeom prst="roundRect">
            <a:avLst>
              <a:gd name="adj" fmla="val 2000"/>
            </a:avLst>
          </a:prstGeom>
          <a:solidFill>
            <a:srgbClr val="EEF2F6"/>
          </a:solidFill>
          <a:ln>
            <a:noFill/>
          </a:ln>
        </p:spPr>
        <p:txBody>
          <a:bodyPr/>
          <a:lstStyle/>
          <a:p>
            <a:endParaRPr lang="de-CH"/>
          </a:p>
        </p:txBody>
      </p:sp>
      <p:sp>
        <p:nvSpPr>
          <p:cNvPr id="303" name="hd"/>
          <p:cNvSpPr/>
          <p:nvPr/>
        </p:nvSpPr>
        <p:spPr>
          <a:xfrm>
            <a:off x="838200" y="1946275"/>
            <a:ext cx="5118100" cy="558800"/>
          </a:xfrm>
          <a:prstGeom prst="roundRect">
            <a:avLst>
              <a:gd name="adj" fmla="val 2000"/>
            </a:avLst>
          </a:prstGeom>
          <a:solidFill>
            <a:srgbClr val="1B3A5C"/>
          </a:solidFill>
          <a:ln>
            <a:noFill/>
          </a:ln>
        </p:spPr>
        <p:txBody>
          <a:bodyPr/>
          <a:lstStyle/>
          <a:p>
            <a:endParaRPr lang="de-CH"/>
          </a:p>
        </p:txBody>
      </p:sp>
      <p:sp>
        <p:nvSpPr>
          <p:cNvPr id="304" name="hdsq"/>
          <p:cNvSpPr/>
          <p:nvPr/>
        </p:nvSpPr>
        <p:spPr>
          <a:xfrm>
            <a:off x="838200" y="2149475"/>
            <a:ext cx="5118100" cy="355600"/>
          </a:xfrm>
          <a:prstGeom prst="rect">
            <a:avLst/>
          </a:prstGeom>
          <a:solidFill>
            <a:srgbClr val="1B3A5C"/>
          </a:solidFill>
          <a:ln>
            <a:noFill/>
          </a:ln>
        </p:spPr>
        <p:txBody>
          <a:bodyPr/>
          <a:lstStyle/>
          <a:p>
            <a:endParaRPr lang="de-CH"/>
          </a:p>
        </p:txBody>
      </p:sp>
      <p:sp>
        <p:nvSpPr>
          <p:cNvPr id="305" name="hdtx"/>
          <p:cNvSpPr/>
          <p:nvPr/>
        </p:nvSpPr>
        <p:spPr>
          <a:xfrm>
            <a:off x="1041400" y="1946275"/>
            <a:ext cx="4737100" cy="558800"/>
          </a:xfrm>
          <a:prstGeom prst="rect">
            <a:avLst/>
          </a:prstGeom>
          <a:noFill/>
          <a:ln>
            <a:noFill/>
          </a:ln>
        </p:spPr>
        <p:txBody>
          <a:bodyPr lIns="0" tIns="0" rIns="0" bIns="0" rtlCol="0" anchor="ctr"/>
          <a:lstStyle/>
          <a:p>
            <a:r>
              <a:rPr lang="de-CH" sz="1300" b="1" dirty="0">
                <a:solidFill>
                  <a:srgbClr val="C8893A"/>
                </a:solidFill>
              </a:rPr>
              <a:t>PP-07  </a:t>
            </a:r>
            <a:r>
              <a:rPr lang="de-CH" sz="1100" b="1" dirty="0">
                <a:solidFill>
                  <a:srgbClr val="FFFFFF"/>
                </a:solidFill>
              </a:rPr>
              <a:t>Manuelle Übertragung von SAP-Stammdaten in Jira</a:t>
            </a:r>
          </a:p>
        </p:txBody>
      </p:sp>
      <p:sp>
        <p:nvSpPr>
          <p:cNvPr id="306" name="plbl"/>
          <p:cNvSpPr/>
          <p:nvPr/>
        </p:nvSpPr>
        <p:spPr>
          <a:xfrm>
            <a:off x="1041400" y="2606675"/>
            <a:ext cx="4711700" cy="165100"/>
          </a:xfrm>
          <a:prstGeom prst="rect">
            <a:avLst/>
          </a:prstGeom>
          <a:noFill/>
          <a:ln>
            <a:noFill/>
          </a:ln>
        </p:spPr>
        <p:txBody>
          <a:bodyPr lIns="0" tIns="0" rIns="0" bIns="0" rtlCol="0" anchor="t"/>
          <a:lstStyle/>
          <a:p>
            <a:r>
              <a:rPr lang="de-CH" sz="900" b="1" dirty="0">
                <a:solidFill>
                  <a:srgbClr val="9A6512"/>
                </a:solidFill>
              </a:rPr>
              <a:t>PROBLEM</a:t>
            </a:r>
          </a:p>
        </p:txBody>
      </p:sp>
      <p:sp>
        <p:nvSpPr>
          <p:cNvPr id="307" name="ptx"/>
          <p:cNvSpPr/>
          <p:nvPr/>
        </p:nvSpPr>
        <p:spPr>
          <a:xfrm>
            <a:off x="1041400" y="2784475"/>
            <a:ext cx="4711700" cy="355600"/>
          </a:xfrm>
          <a:prstGeom prst="rect">
            <a:avLst/>
          </a:prstGeom>
          <a:noFill/>
          <a:ln>
            <a:noFill/>
          </a:ln>
        </p:spPr>
        <p:txBody>
          <a:bodyPr lIns="0" tIns="0" rIns="0" bIns="0" rtlCol="0" anchor="t"/>
          <a:lstStyle/>
          <a:p>
            <a:r>
              <a:rPr lang="de-CH" sz="1000" dirty="0">
                <a:solidFill>
                  <a:srgbClr val="1A2A38"/>
                </a:solidFill>
              </a:rPr>
              <a:t>SAP-Stammdaten werden manuell in Jira übertragen.</a:t>
            </a:r>
          </a:p>
        </p:txBody>
      </p:sp>
      <p:sp>
        <p:nvSpPr>
          <p:cNvPr id="308" name="clbl"/>
          <p:cNvSpPr/>
          <p:nvPr/>
        </p:nvSpPr>
        <p:spPr>
          <a:xfrm>
            <a:off x="1041400" y="3165475"/>
            <a:ext cx="4711700" cy="165100"/>
          </a:xfrm>
          <a:prstGeom prst="rect">
            <a:avLst/>
          </a:prstGeom>
          <a:noFill/>
          <a:ln>
            <a:noFill/>
          </a:ln>
        </p:spPr>
        <p:txBody>
          <a:bodyPr lIns="0" tIns="0" rIns="0" bIns="0" rtlCol="0" anchor="t"/>
          <a:lstStyle/>
          <a:p>
            <a:r>
              <a:rPr lang="de-CH" sz="900" b="1" dirty="0">
                <a:solidFill>
                  <a:srgbClr val="9A6512"/>
                </a:solidFill>
              </a:rPr>
              <a:t>VERTIEFTE URSACHE</a:t>
            </a:r>
          </a:p>
        </p:txBody>
      </p:sp>
      <p:sp>
        <p:nvSpPr>
          <p:cNvPr id="309" name="ctx"/>
          <p:cNvSpPr/>
          <p:nvPr/>
        </p:nvSpPr>
        <p:spPr>
          <a:xfrm>
            <a:off x="1041400" y="3343275"/>
            <a:ext cx="4711700" cy="685800"/>
          </a:xfrm>
          <a:prstGeom prst="rect">
            <a:avLst/>
          </a:prstGeom>
          <a:noFill/>
          <a:ln>
            <a:noFill/>
          </a:ln>
        </p:spPr>
        <p:txBody>
          <a:bodyPr lIns="0" tIns="0" rIns="0" bIns="0" rtlCol="0" anchor="t"/>
          <a:lstStyle/>
          <a:p>
            <a:r>
              <a:rPr lang="de-DE" sz="1000" dirty="0">
                <a:solidFill>
                  <a:srgbClr val="1A2A38"/>
                </a:solidFill>
              </a:rPr>
              <a:t>SAP-Stammdaten sind im Austrittsprozess nicht systemgestützt mit dem Jira-Ticket verknüpft. Dadurch fehlt eine definierte Datenübernahme für relevante Personen- und Anstellungsdaten.</a:t>
            </a:r>
            <a:endParaRPr lang="de-CH" sz="1000" dirty="0">
              <a:solidFill>
                <a:srgbClr val="1A2A38"/>
              </a:solidFill>
            </a:endParaRPr>
          </a:p>
        </p:txBody>
      </p:sp>
      <p:sp>
        <p:nvSpPr>
          <p:cNvPr id="310" name="prbg"/>
          <p:cNvSpPr/>
          <p:nvPr/>
        </p:nvSpPr>
        <p:spPr>
          <a:xfrm>
            <a:off x="939800" y="4054475"/>
            <a:ext cx="4914900" cy="482600"/>
          </a:xfrm>
          <a:prstGeom prst="roundRect">
            <a:avLst>
              <a:gd name="adj" fmla="val 12000"/>
            </a:avLst>
          </a:prstGeom>
          <a:solidFill>
            <a:srgbClr val="E1E8EF"/>
          </a:solidFill>
          <a:ln>
            <a:noFill/>
          </a:ln>
        </p:spPr>
        <p:txBody>
          <a:bodyPr/>
          <a:lstStyle/>
          <a:p>
            <a:endParaRPr lang="de-CH"/>
          </a:p>
        </p:txBody>
      </p:sp>
      <p:sp>
        <p:nvSpPr>
          <p:cNvPr id="311" name="prbar"/>
          <p:cNvSpPr/>
          <p:nvPr/>
        </p:nvSpPr>
        <p:spPr>
          <a:xfrm>
            <a:off x="939800" y="4054475"/>
            <a:ext cx="50800" cy="482600"/>
          </a:xfrm>
          <a:prstGeom prst="rect">
            <a:avLst/>
          </a:prstGeom>
          <a:solidFill>
            <a:srgbClr val="C8893A"/>
          </a:solidFill>
          <a:ln>
            <a:noFill/>
          </a:ln>
        </p:spPr>
        <p:txBody>
          <a:bodyPr/>
          <a:lstStyle/>
          <a:p>
            <a:endParaRPr lang="de-CH"/>
          </a:p>
        </p:txBody>
      </p:sp>
      <p:sp>
        <p:nvSpPr>
          <p:cNvPr id="312" name="prtx"/>
          <p:cNvSpPr/>
          <p:nvPr/>
        </p:nvSpPr>
        <p:spPr>
          <a:xfrm>
            <a:off x="1092200" y="4054475"/>
            <a:ext cx="4686300" cy="482600"/>
          </a:xfrm>
          <a:prstGeom prst="rect">
            <a:avLst/>
          </a:prstGeom>
          <a:noFill/>
          <a:ln>
            <a:noFill/>
          </a:ln>
        </p:spPr>
        <p:txBody>
          <a:bodyPr lIns="0" tIns="0" rIns="0" bIns="0" rtlCol="0" anchor="ctr"/>
          <a:lstStyle/>
          <a:p>
            <a:r>
              <a:rPr lang="de-CH" sz="950" b="1" dirty="0">
                <a:solidFill>
                  <a:srgbClr val="9A6512"/>
                </a:solidFill>
              </a:rPr>
              <a:t>PRÄZISIERUNG  </a:t>
            </a:r>
            <a:r>
              <a:rPr lang="de-DE" sz="950" dirty="0">
                <a:solidFill>
                  <a:srgbClr val="1A2A38"/>
                </a:solidFill>
              </a:rPr>
              <a:t>Fehlende Schnittstelle bzw. fehlende automatisierte Datenübernahme zwischen SAP und Jira.</a:t>
            </a:r>
            <a:endParaRPr lang="de-CH" sz="950" dirty="0">
              <a:solidFill>
                <a:srgbClr val="1A2A38"/>
              </a:solidFill>
            </a:endParaRPr>
          </a:p>
        </p:txBody>
      </p:sp>
      <p:sp>
        <p:nvSpPr>
          <p:cNvPr id="313" name="hflbl"/>
          <p:cNvSpPr/>
          <p:nvPr/>
        </p:nvSpPr>
        <p:spPr>
          <a:xfrm>
            <a:off x="1041400" y="4935538"/>
            <a:ext cx="2540000" cy="279400"/>
          </a:xfrm>
          <a:prstGeom prst="rect">
            <a:avLst/>
          </a:prstGeom>
          <a:noFill/>
          <a:ln>
            <a:noFill/>
          </a:ln>
        </p:spPr>
        <p:txBody>
          <a:bodyPr lIns="0" tIns="0" rIns="0" bIns="0" rtlCol="0" anchor="ctr"/>
          <a:lstStyle/>
          <a:p>
            <a:r>
              <a:rPr lang="de-CH" sz="900" b="1" dirty="0">
                <a:solidFill>
                  <a:srgbClr val="9A6512"/>
                </a:solidFill>
              </a:rPr>
              <a:t>BESTÄTIGTE HANDLUNGSFELDER</a:t>
            </a:r>
          </a:p>
        </p:txBody>
      </p:sp>
      <p:grpSp>
        <p:nvGrpSpPr>
          <p:cNvPr id="5" name="Gruppieren 4">
            <a:extLst>
              <a:ext uri="{FF2B5EF4-FFF2-40B4-BE49-F238E27FC236}">
                <a16:creationId xmlns:a16="http://schemas.microsoft.com/office/drawing/2014/main" id="{A47E2553-59BE-12F4-13FB-67F9A3E08DD8}"/>
              </a:ext>
            </a:extLst>
          </p:cNvPr>
          <p:cNvGrpSpPr/>
          <p:nvPr/>
        </p:nvGrpSpPr>
        <p:grpSpPr>
          <a:xfrm>
            <a:off x="2794000" y="4933950"/>
            <a:ext cx="736600" cy="279400"/>
            <a:chOff x="2260600" y="4638675"/>
            <a:chExt cx="736600" cy="279400"/>
          </a:xfrm>
        </p:grpSpPr>
        <p:sp>
          <p:nvSpPr>
            <p:cNvPr id="314" name="chip"/>
            <p:cNvSpPr/>
            <p:nvPr/>
          </p:nvSpPr>
          <p:spPr>
            <a:xfrm>
              <a:off x="2260600" y="4638675"/>
              <a:ext cx="736600" cy="279400"/>
            </a:xfrm>
            <a:prstGeom prst="roundRect">
              <a:avLst>
                <a:gd name="adj" fmla="val 50000"/>
              </a:avLst>
            </a:prstGeom>
            <a:solidFill>
              <a:srgbClr val="2E6CA4"/>
            </a:solidFill>
            <a:ln>
              <a:noFill/>
            </a:ln>
          </p:spPr>
          <p:txBody>
            <a:bodyPr/>
            <a:lstStyle/>
            <a:p>
              <a:endParaRPr lang="de-CH"/>
            </a:p>
          </p:txBody>
        </p:sp>
        <p:sp>
          <p:nvSpPr>
            <p:cNvPr id="315" name="chiptx"/>
            <p:cNvSpPr/>
            <p:nvPr/>
          </p:nvSpPr>
          <p:spPr>
            <a:xfrm>
              <a:off x="2260600" y="4638675"/>
              <a:ext cx="736600" cy="279400"/>
            </a:xfrm>
            <a:prstGeom prst="rect">
              <a:avLst/>
            </a:prstGeom>
            <a:noFill/>
            <a:ln>
              <a:noFill/>
            </a:ln>
          </p:spPr>
          <p:txBody>
            <a:bodyPr lIns="0" tIns="0" rIns="0" bIns="0" rtlCol="0" anchor="ctr"/>
            <a:lstStyle/>
            <a:p>
              <a:pPr algn="ctr"/>
              <a:r>
                <a:rPr lang="de-CH" sz="1000" b="1" dirty="0">
                  <a:solidFill>
                    <a:srgbClr val="FFFFFF"/>
                  </a:solidFill>
                </a:rPr>
                <a:t>HF-02</a:t>
              </a:r>
            </a:p>
          </p:txBody>
        </p:sp>
      </p:grpSp>
      <p:grpSp>
        <p:nvGrpSpPr>
          <p:cNvPr id="6" name="Gruppieren 5">
            <a:extLst>
              <a:ext uri="{FF2B5EF4-FFF2-40B4-BE49-F238E27FC236}">
                <a16:creationId xmlns:a16="http://schemas.microsoft.com/office/drawing/2014/main" id="{7DA0DB4D-AE56-104C-0DE7-28696D54F866}"/>
              </a:ext>
            </a:extLst>
          </p:cNvPr>
          <p:cNvGrpSpPr/>
          <p:nvPr/>
        </p:nvGrpSpPr>
        <p:grpSpPr>
          <a:xfrm>
            <a:off x="3790950" y="4933950"/>
            <a:ext cx="736600" cy="279400"/>
            <a:chOff x="3098800" y="4638675"/>
            <a:chExt cx="736600" cy="279400"/>
          </a:xfrm>
        </p:grpSpPr>
        <p:sp>
          <p:nvSpPr>
            <p:cNvPr id="316" name="chip"/>
            <p:cNvSpPr/>
            <p:nvPr/>
          </p:nvSpPr>
          <p:spPr>
            <a:xfrm>
              <a:off x="3098800" y="4638675"/>
              <a:ext cx="736600" cy="279400"/>
            </a:xfrm>
            <a:prstGeom prst="roundRect">
              <a:avLst>
                <a:gd name="adj" fmla="val 50000"/>
              </a:avLst>
            </a:prstGeom>
            <a:solidFill>
              <a:srgbClr val="C8893A"/>
            </a:solidFill>
            <a:ln>
              <a:noFill/>
            </a:ln>
          </p:spPr>
          <p:txBody>
            <a:bodyPr/>
            <a:lstStyle/>
            <a:p>
              <a:endParaRPr lang="de-CH"/>
            </a:p>
          </p:txBody>
        </p:sp>
        <p:sp>
          <p:nvSpPr>
            <p:cNvPr id="317" name="chiptx"/>
            <p:cNvSpPr/>
            <p:nvPr/>
          </p:nvSpPr>
          <p:spPr>
            <a:xfrm>
              <a:off x="3098800" y="4638675"/>
              <a:ext cx="736600" cy="279400"/>
            </a:xfrm>
            <a:prstGeom prst="rect">
              <a:avLst/>
            </a:prstGeom>
            <a:noFill/>
            <a:ln>
              <a:noFill/>
            </a:ln>
          </p:spPr>
          <p:txBody>
            <a:bodyPr lIns="0" tIns="0" rIns="0" bIns="0" rtlCol="0" anchor="ctr"/>
            <a:lstStyle/>
            <a:p>
              <a:pPr algn="ctr"/>
              <a:r>
                <a:rPr lang="de-CH" sz="1000" b="1" dirty="0">
                  <a:solidFill>
                    <a:srgbClr val="FFFFFF"/>
                  </a:solidFill>
                </a:rPr>
                <a:t>HF-04</a:t>
              </a:r>
            </a:p>
          </p:txBody>
        </p:sp>
      </p:grpSp>
      <p:sp>
        <p:nvSpPr>
          <p:cNvPr id="318" name="sc"/>
          <p:cNvSpPr/>
          <p:nvPr/>
        </p:nvSpPr>
        <p:spPr>
          <a:xfrm>
            <a:off x="6235700" y="1946275"/>
            <a:ext cx="5118100" cy="3463924"/>
          </a:xfrm>
          <a:prstGeom prst="roundRect">
            <a:avLst>
              <a:gd name="adj" fmla="val 2000"/>
            </a:avLst>
          </a:prstGeom>
          <a:solidFill>
            <a:srgbClr val="EEF2F6"/>
          </a:solidFill>
          <a:ln>
            <a:noFill/>
          </a:ln>
        </p:spPr>
        <p:txBody>
          <a:bodyPr/>
          <a:lstStyle/>
          <a:p>
            <a:endParaRPr lang="de-CH"/>
          </a:p>
        </p:txBody>
      </p:sp>
      <p:sp>
        <p:nvSpPr>
          <p:cNvPr id="319" name="hd"/>
          <p:cNvSpPr/>
          <p:nvPr/>
        </p:nvSpPr>
        <p:spPr>
          <a:xfrm>
            <a:off x="6235700" y="1946275"/>
            <a:ext cx="5118100" cy="558800"/>
          </a:xfrm>
          <a:prstGeom prst="roundRect">
            <a:avLst>
              <a:gd name="adj" fmla="val 2000"/>
            </a:avLst>
          </a:prstGeom>
          <a:solidFill>
            <a:srgbClr val="1B3A5C"/>
          </a:solidFill>
          <a:ln>
            <a:noFill/>
          </a:ln>
        </p:spPr>
        <p:txBody>
          <a:bodyPr/>
          <a:lstStyle/>
          <a:p>
            <a:endParaRPr lang="de-CH"/>
          </a:p>
        </p:txBody>
      </p:sp>
      <p:sp>
        <p:nvSpPr>
          <p:cNvPr id="320" name="hdsq"/>
          <p:cNvSpPr/>
          <p:nvPr/>
        </p:nvSpPr>
        <p:spPr>
          <a:xfrm>
            <a:off x="6235700" y="2149475"/>
            <a:ext cx="5118100" cy="355600"/>
          </a:xfrm>
          <a:prstGeom prst="rect">
            <a:avLst/>
          </a:prstGeom>
          <a:solidFill>
            <a:srgbClr val="1B3A5C"/>
          </a:solidFill>
          <a:ln>
            <a:noFill/>
          </a:ln>
        </p:spPr>
        <p:txBody>
          <a:bodyPr/>
          <a:lstStyle/>
          <a:p>
            <a:endParaRPr lang="de-CH"/>
          </a:p>
        </p:txBody>
      </p:sp>
      <p:sp>
        <p:nvSpPr>
          <p:cNvPr id="321" name="hdtx"/>
          <p:cNvSpPr/>
          <p:nvPr/>
        </p:nvSpPr>
        <p:spPr>
          <a:xfrm>
            <a:off x="6438900" y="1946275"/>
            <a:ext cx="4737100" cy="558800"/>
          </a:xfrm>
          <a:prstGeom prst="rect">
            <a:avLst/>
          </a:prstGeom>
          <a:noFill/>
          <a:ln>
            <a:noFill/>
          </a:ln>
        </p:spPr>
        <p:txBody>
          <a:bodyPr lIns="0" tIns="0" rIns="0" bIns="0" rtlCol="0" anchor="ctr"/>
          <a:lstStyle/>
          <a:p>
            <a:r>
              <a:rPr lang="de-CH" sz="1300" b="1" dirty="0">
                <a:solidFill>
                  <a:srgbClr val="C8893A"/>
                </a:solidFill>
              </a:rPr>
              <a:t>PP-14  </a:t>
            </a:r>
            <a:r>
              <a:rPr lang="de-CH" sz="1100" b="1" dirty="0">
                <a:solidFill>
                  <a:srgbClr val="FFFFFF"/>
                </a:solidFill>
              </a:rPr>
              <a:t>Fehlende strukturierte Abbildung von Varianten und Sonderfällen</a:t>
            </a:r>
          </a:p>
        </p:txBody>
      </p:sp>
      <p:sp>
        <p:nvSpPr>
          <p:cNvPr id="322" name="plbl"/>
          <p:cNvSpPr/>
          <p:nvPr/>
        </p:nvSpPr>
        <p:spPr>
          <a:xfrm>
            <a:off x="6438900" y="2606675"/>
            <a:ext cx="4711700" cy="165100"/>
          </a:xfrm>
          <a:prstGeom prst="rect">
            <a:avLst/>
          </a:prstGeom>
          <a:noFill/>
          <a:ln>
            <a:noFill/>
          </a:ln>
        </p:spPr>
        <p:txBody>
          <a:bodyPr lIns="0" tIns="0" rIns="0" bIns="0" rtlCol="0" anchor="t"/>
          <a:lstStyle/>
          <a:p>
            <a:r>
              <a:rPr lang="de-CH" sz="900" b="1" dirty="0">
                <a:solidFill>
                  <a:srgbClr val="9A6512"/>
                </a:solidFill>
              </a:rPr>
              <a:t>PROBLEM</a:t>
            </a:r>
          </a:p>
        </p:txBody>
      </p:sp>
      <p:sp>
        <p:nvSpPr>
          <p:cNvPr id="323" name="ptx"/>
          <p:cNvSpPr/>
          <p:nvPr/>
        </p:nvSpPr>
        <p:spPr>
          <a:xfrm>
            <a:off x="6438900" y="2784475"/>
            <a:ext cx="4711700" cy="355600"/>
          </a:xfrm>
          <a:prstGeom prst="rect">
            <a:avLst/>
          </a:prstGeom>
          <a:noFill/>
          <a:ln>
            <a:noFill/>
          </a:ln>
        </p:spPr>
        <p:txBody>
          <a:bodyPr lIns="0" tIns="0" rIns="0" bIns="0" rtlCol="0" anchor="t"/>
          <a:lstStyle/>
          <a:p>
            <a:r>
              <a:rPr lang="de-CH" sz="1000" dirty="0">
                <a:solidFill>
                  <a:srgbClr val="1A2A38"/>
                </a:solidFill>
              </a:rPr>
              <a:t>Varianten und Sonderfälle werden nicht durchgängig strukturiert im Austrittsticket abgebildet.</a:t>
            </a:r>
          </a:p>
        </p:txBody>
      </p:sp>
      <p:sp>
        <p:nvSpPr>
          <p:cNvPr id="324" name="clbl"/>
          <p:cNvSpPr/>
          <p:nvPr/>
        </p:nvSpPr>
        <p:spPr>
          <a:xfrm>
            <a:off x="6438900" y="3203575"/>
            <a:ext cx="4711700" cy="165100"/>
          </a:xfrm>
          <a:prstGeom prst="rect">
            <a:avLst/>
          </a:prstGeom>
          <a:noFill/>
          <a:ln>
            <a:noFill/>
          </a:ln>
        </p:spPr>
        <p:txBody>
          <a:bodyPr lIns="0" tIns="0" rIns="0" bIns="0" rtlCol="0" anchor="t"/>
          <a:lstStyle/>
          <a:p>
            <a:r>
              <a:rPr lang="de-CH" sz="900" b="1" dirty="0">
                <a:solidFill>
                  <a:srgbClr val="9A6512"/>
                </a:solidFill>
              </a:rPr>
              <a:t>VERTIEFTE URSACHE</a:t>
            </a:r>
          </a:p>
        </p:txBody>
      </p:sp>
      <p:sp>
        <p:nvSpPr>
          <p:cNvPr id="325" name="ctx"/>
          <p:cNvSpPr/>
          <p:nvPr/>
        </p:nvSpPr>
        <p:spPr>
          <a:xfrm>
            <a:off x="6438900" y="3371850"/>
            <a:ext cx="4711700" cy="685800"/>
          </a:xfrm>
          <a:prstGeom prst="rect">
            <a:avLst/>
          </a:prstGeom>
          <a:noFill/>
          <a:ln>
            <a:noFill/>
          </a:ln>
        </p:spPr>
        <p:txBody>
          <a:bodyPr lIns="0" tIns="0" rIns="0" bIns="0" rtlCol="0" anchor="t"/>
          <a:lstStyle/>
          <a:p>
            <a:r>
              <a:rPr lang="de-DE" sz="1000" dirty="0">
                <a:solidFill>
                  <a:srgbClr val="1A2A38"/>
                </a:solidFill>
              </a:rPr>
              <a:t>Varianten und Sonderfälle sind im Ticketdesign nicht als steuernde Prozesslogik abgebildet. Dadurch werden notwendige Prüfungen und Folgeaufgaben nicht regelbasiert ausgelöst.</a:t>
            </a:r>
            <a:endParaRPr lang="de-CH" sz="1000" dirty="0">
              <a:solidFill>
                <a:srgbClr val="1A2A38"/>
              </a:solidFill>
            </a:endParaRPr>
          </a:p>
        </p:txBody>
      </p:sp>
      <p:sp>
        <p:nvSpPr>
          <p:cNvPr id="326" name="prbg"/>
          <p:cNvSpPr/>
          <p:nvPr/>
        </p:nvSpPr>
        <p:spPr>
          <a:xfrm>
            <a:off x="6337300" y="4054475"/>
            <a:ext cx="4914900" cy="482600"/>
          </a:xfrm>
          <a:prstGeom prst="roundRect">
            <a:avLst>
              <a:gd name="adj" fmla="val 12000"/>
            </a:avLst>
          </a:prstGeom>
          <a:solidFill>
            <a:srgbClr val="E1E8EF"/>
          </a:solidFill>
          <a:ln>
            <a:noFill/>
          </a:ln>
        </p:spPr>
        <p:txBody>
          <a:bodyPr/>
          <a:lstStyle/>
          <a:p>
            <a:endParaRPr lang="de-CH"/>
          </a:p>
        </p:txBody>
      </p:sp>
      <p:sp>
        <p:nvSpPr>
          <p:cNvPr id="327" name="prbar"/>
          <p:cNvSpPr/>
          <p:nvPr/>
        </p:nvSpPr>
        <p:spPr>
          <a:xfrm>
            <a:off x="6337300" y="4054475"/>
            <a:ext cx="50800" cy="482600"/>
          </a:xfrm>
          <a:prstGeom prst="rect">
            <a:avLst/>
          </a:prstGeom>
          <a:solidFill>
            <a:srgbClr val="C8893A"/>
          </a:solidFill>
          <a:ln>
            <a:noFill/>
          </a:ln>
        </p:spPr>
        <p:txBody>
          <a:bodyPr/>
          <a:lstStyle/>
          <a:p>
            <a:endParaRPr lang="de-CH"/>
          </a:p>
        </p:txBody>
      </p:sp>
      <p:sp>
        <p:nvSpPr>
          <p:cNvPr id="328" name="prtx"/>
          <p:cNvSpPr/>
          <p:nvPr/>
        </p:nvSpPr>
        <p:spPr>
          <a:xfrm>
            <a:off x="6489700" y="4054475"/>
            <a:ext cx="4686300" cy="482600"/>
          </a:xfrm>
          <a:prstGeom prst="rect">
            <a:avLst/>
          </a:prstGeom>
          <a:noFill/>
          <a:ln>
            <a:noFill/>
          </a:ln>
        </p:spPr>
        <p:txBody>
          <a:bodyPr lIns="0" tIns="0" rIns="0" bIns="0" rtlCol="0" anchor="ctr"/>
          <a:lstStyle/>
          <a:p>
            <a:r>
              <a:rPr lang="de-CH" sz="950" b="1" dirty="0">
                <a:solidFill>
                  <a:srgbClr val="9A6512"/>
                </a:solidFill>
              </a:rPr>
              <a:t>PRÄZISIERUNG  </a:t>
            </a:r>
            <a:r>
              <a:rPr lang="de-DE" sz="950" dirty="0">
                <a:solidFill>
                  <a:srgbClr val="1A2A38"/>
                </a:solidFill>
              </a:rPr>
              <a:t>Fehlende regelbasierte Varianten-, Prüf- und Aufgabensteuerung im Prozess- und Ticketdesign.</a:t>
            </a:r>
            <a:endParaRPr lang="de-CH" sz="950" dirty="0">
              <a:solidFill>
                <a:srgbClr val="1A2A38"/>
              </a:solidFill>
            </a:endParaRPr>
          </a:p>
        </p:txBody>
      </p:sp>
      <p:sp>
        <p:nvSpPr>
          <p:cNvPr id="329" name="hflbl"/>
          <p:cNvSpPr/>
          <p:nvPr/>
        </p:nvSpPr>
        <p:spPr>
          <a:xfrm>
            <a:off x="6438900" y="4933950"/>
            <a:ext cx="2540000" cy="279400"/>
          </a:xfrm>
          <a:prstGeom prst="rect">
            <a:avLst/>
          </a:prstGeom>
          <a:noFill/>
          <a:ln>
            <a:noFill/>
          </a:ln>
        </p:spPr>
        <p:txBody>
          <a:bodyPr lIns="0" tIns="0" rIns="0" bIns="0" rtlCol="0" anchor="ctr"/>
          <a:lstStyle/>
          <a:p>
            <a:r>
              <a:rPr lang="de-CH" sz="900" b="1" dirty="0">
                <a:solidFill>
                  <a:srgbClr val="9A6512"/>
                </a:solidFill>
              </a:rPr>
              <a:t>BESTÄTIGTE HANDLUNGSFELDER</a:t>
            </a:r>
          </a:p>
        </p:txBody>
      </p:sp>
      <p:grpSp>
        <p:nvGrpSpPr>
          <p:cNvPr id="7" name="Gruppieren 6">
            <a:extLst>
              <a:ext uri="{FF2B5EF4-FFF2-40B4-BE49-F238E27FC236}">
                <a16:creationId xmlns:a16="http://schemas.microsoft.com/office/drawing/2014/main" id="{A188DE7E-2644-C63A-3051-B8E6121126B4}"/>
              </a:ext>
            </a:extLst>
          </p:cNvPr>
          <p:cNvGrpSpPr/>
          <p:nvPr/>
        </p:nvGrpSpPr>
        <p:grpSpPr>
          <a:xfrm>
            <a:off x="8242300" y="4905375"/>
            <a:ext cx="736600" cy="279400"/>
            <a:chOff x="7658100" y="4638675"/>
            <a:chExt cx="736600" cy="279400"/>
          </a:xfrm>
        </p:grpSpPr>
        <p:sp>
          <p:nvSpPr>
            <p:cNvPr id="330" name="chip"/>
            <p:cNvSpPr/>
            <p:nvPr/>
          </p:nvSpPr>
          <p:spPr>
            <a:xfrm>
              <a:off x="7658100" y="4638675"/>
              <a:ext cx="736600" cy="279400"/>
            </a:xfrm>
            <a:prstGeom prst="roundRect">
              <a:avLst>
                <a:gd name="adj" fmla="val 50000"/>
              </a:avLst>
            </a:prstGeom>
            <a:solidFill>
              <a:srgbClr val="3E7CA8"/>
            </a:solidFill>
            <a:ln>
              <a:noFill/>
            </a:ln>
          </p:spPr>
          <p:txBody>
            <a:bodyPr/>
            <a:lstStyle/>
            <a:p>
              <a:endParaRPr lang="de-CH"/>
            </a:p>
          </p:txBody>
        </p:sp>
        <p:sp>
          <p:nvSpPr>
            <p:cNvPr id="331" name="chiptx"/>
            <p:cNvSpPr/>
            <p:nvPr/>
          </p:nvSpPr>
          <p:spPr>
            <a:xfrm>
              <a:off x="7658100" y="4638675"/>
              <a:ext cx="736600" cy="279400"/>
            </a:xfrm>
            <a:prstGeom prst="rect">
              <a:avLst/>
            </a:prstGeom>
            <a:noFill/>
            <a:ln>
              <a:noFill/>
            </a:ln>
          </p:spPr>
          <p:txBody>
            <a:bodyPr lIns="0" tIns="0" rIns="0" bIns="0" rtlCol="0" anchor="ctr"/>
            <a:lstStyle/>
            <a:p>
              <a:pPr algn="ctr"/>
              <a:r>
                <a:rPr lang="de-CH" sz="1000" b="1" dirty="0">
                  <a:solidFill>
                    <a:srgbClr val="FFFFFF"/>
                  </a:solidFill>
                </a:rPr>
                <a:t>HF-03</a:t>
              </a:r>
            </a:p>
          </p:txBody>
        </p:sp>
      </p:grpSp>
      <p:grpSp>
        <p:nvGrpSpPr>
          <p:cNvPr id="8" name="Gruppieren 7">
            <a:extLst>
              <a:ext uri="{FF2B5EF4-FFF2-40B4-BE49-F238E27FC236}">
                <a16:creationId xmlns:a16="http://schemas.microsoft.com/office/drawing/2014/main" id="{F53E2459-1BF5-8286-4DC4-6B4B4639B780}"/>
              </a:ext>
            </a:extLst>
          </p:cNvPr>
          <p:cNvGrpSpPr/>
          <p:nvPr/>
        </p:nvGrpSpPr>
        <p:grpSpPr>
          <a:xfrm>
            <a:off x="9245600" y="4905375"/>
            <a:ext cx="736600" cy="279400"/>
            <a:chOff x="8496300" y="4638675"/>
            <a:chExt cx="736600" cy="279400"/>
          </a:xfrm>
        </p:grpSpPr>
        <p:sp>
          <p:nvSpPr>
            <p:cNvPr id="332" name="chip"/>
            <p:cNvSpPr/>
            <p:nvPr/>
          </p:nvSpPr>
          <p:spPr>
            <a:xfrm>
              <a:off x="8496300" y="4638675"/>
              <a:ext cx="736600" cy="279400"/>
            </a:xfrm>
            <a:prstGeom prst="roundRect">
              <a:avLst>
                <a:gd name="adj" fmla="val 50000"/>
              </a:avLst>
            </a:prstGeom>
            <a:solidFill>
              <a:srgbClr val="C8893A"/>
            </a:solidFill>
            <a:ln>
              <a:noFill/>
            </a:ln>
          </p:spPr>
          <p:txBody>
            <a:bodyPr/>
            <a:lstStyle/>
            <a:p>
              <a:endParaRPr lang="de-CH"/>
            </a:p>
          </p:txBody>
        </p:sp>
        <p:sp>
          <p:nvSpPr>
            <p:cNvPr id="333" name="chiptx"/>
            <p:cNvSpPr/>
            <p:nvPr/>
          </p:nvSpPr>
          <p:spPr>
            <a:xfrm>
              <a:off x="8496300" y="4638675"/>
              <a:ext cx="736600" cy="279400"/>
            </a:xfrm>
            <a:prstGeom prst="rect">
              <a:avLst/>
            </a:prstGeom>
            <a:noFill/>
            <a:ln>
              <a:noFill/>
            </a:ln>
          </p:spPr>
          <p:txBody>
            <a:bodyPr lIns="0" tIns="0" rIns="0" bIns="0" rtlCol="0" anchor="ctr"/>
            <a:lstStyle/>
            <a:p>
              <a:pPr algn="ctr"/>
              <a:r>
                <a:rPr lang="de-CH" sz="1000" b="1" dirty="0">
                  <a:solidFill>
                    <a:srgbClr val="FFFFFF"/>
                  </a:solidFill>
                </a:rPr>
                <a:t>HF-04</a:t>
              </a:r>
            </a:p>
          </p:txBody>
        </p:sp>
      </p:grpSp>
      <p:sp>
        <p:nvSpPr>
          <p:cNvPr id="338" name="kb"/>
          <p:cNvSpPr/>
          <p:nvPr/>
        </p:nvSpPr>
        <p:spPr>
          <a:xfrm>
            <a:off x="838200" y="5768975"/>
            <a:ext cx="63500" cy="635000"/>
          </a:xfrm>
          <a:prstGeom prst="rect">
            <a:avLst/>
          </a:prstGeom>
          <a:solidFill>
            <a:srgbClr val="C8893A"/>
          </a:solidFill>
          <a:ln>
            <a:noFill/>
          </a:ln>
        </p:spPr>
        <p:txBody>
          <a:bodyPr/>
          <a:lstStyle/>
          <a:p>
            <a:endParaRPr lang="de-CH"/>
          </a:p>
        </p:txBody>
      </p:sp>
      <p:sp>
        <p:nvSpPr>
          <p:cNvPr id="339" name="kerntx"/>
          <p:cNvSpPr/>
          <p:nvPr/>
        </p:nvSpPr>
        <p:spPr>
          <a:xfrm>
            <a:off x="1092200" y="5768975"/>
            <a:ext cx="10261600" cy="635000"/>
          </a:xfrm>
          <a:prstGeom prst="rect">
            <a:avLst/>
          </a:prstGeom>
          <a:noFill/>
          <a:ln>
            <a:noFill/>
          </a:ln>
        </p:spPr>
        <p:txBody>
          <a:bodyPr lIns="0" tIns="0" rIns="76200" bIns="0" rtlCol="0" anchor="ctr"/>
          <a:lstStyle/>
          <a:p>
            <a:r>
              <a:rPr lang="de-CH" sz="1300" b="1" dirty="0">
                <a:solidFill>
                  <a:srgbClr val="FFFFFF"/>
                </a:solidFill>
              </a:rPr>
              <a:t>Die 5-Why-Analyse bestätigt: </a:t>
            </a:r>
            <a:r>
              <a:rPr lang="de-CH" sz="1300" dirty="0">
                <a:solidFill>
                  <a:srgbClr val="EEF2F6"/>
                </a:solidFill>
              </a:rPr>
              <a:t>Die zentralen Ursachen liegen im Prozess- und Systemdesign – die bestehenden Handlungsfelder bleiben als Grundlage für das SOLL-Konzept geeignet.</a:t>
            </a:r>
          </a:p>
        </p:txBody>
      </p:sp>
      <p:sp>
        <p:nvSpPr>
          <p:cNvPr id="3" name="kern">
            <a:extLst>
              <a:ext uri="{FF2B5EF4-FFF2-40B4-BE49-F238E27FC236}">
                <a16:creationId xmlns:a16="http://schemas.microsoft.com/office/drawing/2014/main" id="{2645BA7E-D7B5-3D14-47F0-8C07586FC46E}"/>
              </a:ext>
            </a:extLst>
          </p:cNvPr>
          <p:cNvSpPr/>
          <p:nvPr/>
        </p:nvSpPr>
        <p:spPr>
          <a:xfrm>
            <a:off x="908049" y="5768975"/>
            <a:ext cx="10445751" cy="635000"/>
          </a:xfrm>
          <a:prstGeom prst="rect">
            <a:avLst/>
          </a:prstGeom>
          <a:solidFill>
            <a:srgbClr val="EEF2F6"/>
          </a:solidFill>
          <a:ln>
            <a:noFill/>
          </a:ln>
        </p:spPr>
        <p:txBody>
          <a:bodyPr lIns="203200" tIns="50800" rIns="203200" bIns="50800" anchor="ctr"/>
          <a:lstStyle/>
          <a:p>
            <a:r>
              <a:rPr lang="de-CH" sz="1300" dirty="0"/>
              <a:t>            </a:t>
            </a:r>
            <a:r>
              <a:rPr lang="de-DE" sz="1300" dirty="0"/>
              <a:t>Die 5-Why-Analyse bestätigt die Ursachenlogik der Handlungsfelder. Eine Ausweitung auf alle Pain Points ist deshalb nicht erforderlich.</a:t>
            </a:r>
            <a:endParaRPr lang="de-DE" sz="1300" dirty="0">
              <a:solidFill>
                <a:schemeClr val="bg2">
                  <a:lumMod val="10000"/>
                </a:schemeClr>
              </a:solidFill>
            </a:endParaRPr>
          </a:p>
        </p:txBody>
      </p:sp>
      <p:pic>
        <p:nvPicPr>
          <p:cNvPr id="4" name="Grafik 3">
            <a:extLst>
              <a:ext uri="{FF2B5EF4-FFF2-40B4-BE49-F238E27FC236}">
                <a16:creationId xmlns:a16="http://schemas.microsoft.com/office/drawing/2014/main" id="{24149747-C6E0-3956-FD5C-53EB30CE6FF6}"/>
              </a:ext>
            </a:extLst>
          </p:cNvPr>
          <p:cNvPicPr>
            <a:picLocks noChangeAspect="1"/>
          </p:cNvPicPr>
          <p:nvPr/>
        </p:nvPicPr>
        <p:blipFill>
          <a:blip r:embed="rId3"/>
          <a:stretch/>
        </p:blipFill>
        <p:spPr>
          <a:xfrm>
            <a:off x="939800" y="5743574"/>
            <a:ext cx="591921" cy="584201"/>
          </a:xfrm>
          <a:prstGeom prst="rect">
            <a:avLst/>
          </a:prstGeom>
        </p:spPr>
      </p:pic>
      <p:sp>
        <p:nvSpPr>
          <p:cNvPr id="9" name="Foliennummernplatzhalter 8">
            <a:extLst>
              <a:ext uri="{FF2B5EF4-FFF2-40B4-BE49-F238E27FC236}">
                <a16:creationId xmlns:a16="http://schemas.microsoft.com/office/drawing/2014/main" id="{9A88770E-7B62-3ADC-3209-31D927ED5FCC}"/>
              </a:ext>
            </a:extLst>
          </p:cNvPr>
          <p:cNvSpPr>
            <a:spLocks noGrp="1"/>
          </p:cNvSpPr>
          <p:nvPr>
            <p:ph type="sldNum" sz="quarter" idx="12"/>
          </p:nvPr>
        </p:nvSpPr>
        <p:spPr/>
        <p:txBody>
          <a:bodyPr/>
          <a:lstStyle/>
          <a:p>
            <a:fld id="{2AAFDC3C-A9F8-4ABD-8D8D-8DC3321B02DC}" type="slidenum">
              <a:rPr lang="de-CH" smtClean="0"/>
              <a:t>25</a:t>
            </a:fld>
            <a:endParaRPr lang="de-CH"/>
          </a:p>
        </p:txBody>
      </p:sp>
      <p:sp>
        <p:nvSpPr>
          <p:cNvPr id="10" name="Datumsplatzhalter 9">
            <a:extLst>
              <a:ext uri="{FF2B5EF4-FFF2-40B4-BE49-F238E27FC236}">
                <a16:creationId xmlns:a16="http://schemas.microsoft.com/office/drawing/2014/main" id="{9D00A902-9179-E5C6-7C33-5BB481932A0A}"/>
              </a:ext>
            </a:extLst>
          </p:cNvPr>
          <p:cNvSpPr>
            <a:spLocks noGrp="1"/>
          </p:cNvSpPr>
          <p:nvPr>
            <p:ph type="dt" sz="half" idx="10"/>
          </p:nvPr>
        </p:nvSpPr>
        <p:spPr/>
        <p:txBody>
          <a:bodyPr/>
          <a:lstStyle/>
          <a:p>
            <a:r>
              <a:rPr lang="de-CH"/>
              <a:t>11.06.2026</a:t>
            </a:r>
          </a:p>
        </p:txBody>
      </p:sp>
    </p:spTree>
    <p:extLst>
      <p:ext uri="{BB962C8B-B14F-4D97-AF65-F5344CB8AC3E}">
        <p14:creationId xmlns:p14="http://schemas.microsoft.com/office/powerpoint/2010/main" val="742885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D9E65-A530-B9C7-F477-08116761F41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6DF7661-4B8D-DC42-B8D9-4293B4F3E22E}"/>
              </a:ext>
            </a:extLst>
          </p:cNvPr>
          <p:cNvSpPr>
            <a:spLocks noGrp="1"/>
          </p:cNvSpPr>
          <p:nvPr>
            <p:ph type="title"/>
          </p:nvPr>
        </p:nvSpPr>
        <p:spPr/>
        <p:txBody>
          <a:bodyPr/>
          <a:lstStyle/>
          <a:p>
            <a:pPr algn="l"/>
            <a:r>
              <a:rPr lang="de-CH" sz="2800" b="1">
                <a:solidFill>
                  <a:srgbClr val="1B3A5C"/>
                </a:solidFill>
              </a:rPr>
              <a:t>Projektstand und Vorgehen</a:t>
            </a:r>
          </a:p>
        </p:txBody>
      </p:sp>
      <p:sp>
        <p:nvSpPr>
          <p:cNvPr id="50" name="kicker">
            <a:extLst>
              <a:ext uri="{FF2B5EF4-FFF2-40B4-BE49-F238E27FC236}">
                <a16:creationId xmlns:a16="http://schemas.microsoft.com/office/drawing/2014/main" id="{6DC62105-D354-31F2-C832-345C468C50DB}"/>
              </a:ext>
            </a:extLst>
          </p:cNvPr>
          <p:cNvSpPr/>
          <p:nvPr/>
        </p:nvSpPr>
        <p:spPr>
          <a:xfrm>
            <a:off x="838200" y="1574800"/>
            <a:ext cx="9906000" cy="279400"/>
          </a:xfrm>
          <a:prstGeom prst="rect">
            <a:avLst/>
          </a:prstGeom>
          <a:noFill/>
        </p:spPr>
        <p:txBody>
          <a:bodyPr lIns="0" tIns="0" rIns="0" bIns="0"/>
          <a:lstStyle/>
          <a:p>
            <a:r>
              <a:rPr lang="de-DE" sz="1400" b="1" dirty="0">
                <a:solidFill>
                  <a:srgbClr val="2E6CA4"/>
                </a:solidFill>
              </a:rPr>
              <a:t>Phase 3 · Von erhobenen Pain Points zu bestätigten Handlungsfeldern</a:t>
            </a:r>
          </a:p>
        </p:txBody>
      </p:sp>
      <p:sp>
        <p:nvSpPr>
          <p:cNvPr id="51" name="track">
            <a:extLst>
              <a:ext uri="{FF2B5EF4-FFF2-40B4-BE49-F238E27FC236}">
                <a16:creationId xmlns:a16="http://schemas.microsoft.com/office/drawing/2014/main" id="{1495FB28-7F2F-4B2B-0C77-ABBA3A1DC5CE}"/>
              </a:ext>
            </a:extLst>
          </p:cNvPr>
          <p:cNvSpPr/>
          <p:nvPr/>
        </p:nvSpPr>
        <p:spPr>
          <a:xfrm>
            <a:off x="1651000" y="2692401"/>
            <a:ext cx="8890000" cy="50800"/>
          </a:xfrm>
          <a:prstGeom prst="rect">
            <a:avLst/>
          </a:prstGeom>
          <a:solidFill>
            <a:srgbClr val="C9D6E2"/>
          </a:solidFill>
          <a:ln>
            <a:noFill/>
          </a:ln>
        </p:spPr>
        <p:txBody>
          <a:bodyPr/>
          <a:lstStyle/>
          <a:p>
            <a:endParaRPr/>
          </a:p>
        </p:txBody>
      </p:sp>
      <p:sp>
        <p:nvSpPr>
          <p:cNvPr id="53" name="c0">
            <a:extLst>
              <a:ext uri="{FF2B5EF4-FFF2-40B4-BE49-F238E27FC236}">
                <a16:creationId xmlns:a16="http://schemas.microsoft.com/office/drawing/2014/main" id="{475CED27-C504-9E79-D487-49ADD6CD7675}"/>
              </a:ext>
            </a:extLst>
          </p:cNvPr>
          <p:cNvSpPr/>
          <p:nvPr/>
        </p:nvSpPr>
        <p:spPr>
          <a:xfrm>
            <a:off x="838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a:solidFill>
                  <a:srgbClr val="1B3A5C"/>
                </a:solidFill>
              </a:rPr>
              <a:t>Kick-off</a:t>
            </a:r>
          </a:p>
          <a:p>
            <a:pPr algn="ctr">
              <a:spcBef>
                <a:spcPts val="400"/>
              </a:spcBef>
            </a:pPr>
            <a:r>
              <a:rPr lang="de-CH" sz="1100">
                <a:solidFill>
                  <a:srgbClr val="5B6B79"/>
                </a:solidFill>
              </a:rPr>
              <a:t>Auftrag und Rahmen geklärt</a:t>
            </a:r>
          </a:p>
        </p:txBody>
      </p:sp>
      <p:sp>
        <p:nvSpPr>
          <p:cNvPr id="55" name="c1">
            <a:extLst>
              <a:ext uri="{FF2B5EF4-FFF2-40B4-BE49-F238E27FC236}">
                <a16:creationId xmlns:a16="http://schemas.microsoft.com/office/drawing/2014/main" id="{3244037D-CFC3-3C36-5DF7-CAF99EF439E2}"/>
              </a:ext>
            </a:extLst>
          </p:cNvPr>
          <p:cNvSpPr/>
          <p:nvPr/>
        </p:nvSpPr>
        <p:spPr>
          <a:xfrm>
            <a:off x="2616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dirty="0">
                <a:solidFill>
                  <a:srgbClr val="1B3A5C"/>
                </a:solidFill>
              </a:rPr>
              <a:t>Literatur und Disposition</a:t>
            </a:r>
          </a:p>
          <a:p>
            <a:pPr algn="ctr">
              <a:spcBef>
                <a:spcPts val="400"/>
              </a:spcBef>
            </a:pPr>
            <a:r>
              <a:rPr lang="de-CH" sz="1100" dirty="0">
                <a:solidFill>
                  <a:srgbClr val="5B6B79"/>
                </a:solidFill>
              </a:rPr>
              <a:t>Theoretische und methodische Grundlagen</a:t>
            </a:r>
          </a:p>
        </p:txBody>
      </p:sp>
      <p:sp>
        <p:nvSpPr>
          <p:cNvPr id="57" name="c2">
            <a:extLst>
              <a:ext uri="{FF2B5EF4-FFF2-40B4-BE49-F238E27FC236}">
                <a16:creationId xmlns:a16="http://schemas.microsoft.com/office/drawing/2014/main" id="{EF367857-413F-00DF-F83C-014D57EC07E8}"/>
              </a:ext>
            </a:extLst>
          </p:cNvPr>
          <p:cNvSpPr/>
          <p:nvPr/>
        </p:nvSpPr>
        <p:spPr>
          <a:xfrm>
            <a:off x="4394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dirty="0">
                <a:solidFill>
                  <a:srgbClr val="1B3A5C"/>
                </a:solidFill>
              </a:rPr>
              <a:t>IST-Erhebung</a:t>
            </a:r>
          </a:p>
          <a:p>
            <a:pPr algn="ctr">
              <a:spcBef>
                <a:spcPts val="400"/>
              </a:spcBef>
            </a:pPr>
            <a:r>
              <a:rPr lang="de-CH" sz="1100" dirty="0">
                <a:solidFill>
                  <a:srgbClr val="5B6B79"/>
                </a:solidFill>
              </a:rPr>
              <a:t>Dokumentenanalyse, Interviews, IST-Modellierung und Validierungsworkshop</a:t>
            </a:r>
          </a:p>
        </p:txBody>
      </p:sp>
      <p:sp>
        <p:nvSpPr>
          <p:cNvPr id="58" name="b3">
            <a:extLst>
              <a:ext uri="{FF2B5EF4-FFF2-40B4-BE49-F238E27FC236}">
                <a16:creationId xmlns:a16="http://schemas.microsoft.com/office/drawing/2014/main" id="{D104F175-26E0-CA2C-85D8-A153C70A1F65}"/>
              </a:ext>
            </a:extLst>
          </p:cNvPr>
          <p:cNvSpPr/>
          <p:nvPr/>
        </p:nvSpPr>
        <p:spPr>
          <a:xfrm>
            <a:off x="6832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4</a:t>
            </a:r>
          </a:p>
        </p:txBody>
      </p:sp>
      <p:sp>
        <p:nvSpPr>
          <p:cNvPr id="59" name="c3">
            <a:extLst>
              <a:ext uri="{FF2B5EF4-FFF2-40B4-BE49-F238E27FC236}">
                <a16:creationId xmlns:a16="http://schemas.microsoft.com/office/drawing/2014/main" id="{660FBE60-857B-F174-9EC3-B76AE0247EB0}"/>
              </a:ext>
            </a:extLst>
          </p:cNvPr>
          <p:cNvSpPr/>
          <p:nvPr/>
        </p:nvSpPr>
        <p:spPr>
          <a:xfrm>
            <a:off x="6172200" y="3098801"/>
            <a:ext cx="1625600" cy="1905000"/>
          </a:xfrm>
          <a:prstGeom prst="roundRect">
            <a:avLst>
              <a:gd name="adj" fmla="val 6000"/>
            </a:avLst>
          </a:prstGeom>
          <a:solidFill>
            <a:schemeClr val="accent1">
              <a:lumMod val="20000"/>
              <a:lumOff val="80000"/>
            </a:schemeClr>
          </a:solidFill>
          <a:ln w="12700">
            <a:solidFill>
              <a:srgbClr val="C9D6E2"/>
            </a:solidFill>
          </a:ln>
        </p:spPr>
        <p:txBody>
          <a:bodyPr lIns="101600" tIns="127000" rIns="101600" bIns="101600" anchor="t">
            <a:normAutofit/>
          </a:bodyPr>
          <a:lstStyle/>
          <a:p>
            <a:pPr algn="ctr"/>
            <a:r>
              <a:rPr lang="de-CH" sz="1300" b="1" dirty="0">
                <a:solidFill>
                  <a:srgbClr val="1B3A5C"/>
                </a:solidFill>
              </a:rPr>
              <a:t>IST-Analyse</a:t>
            </a:r>
          </a:p>
          <a:p>
            <a:pPr algn="ctr">
              <a:spcBef>
                <a:spcPts val="400"/>
              </a:spcBef>
            </a:pPr>
            <a:r>
              <a:rPr lang="de-CH" sz="1100" dirty="0" err="1">
                <a:solidFill>
                  <a:srgbClr val="5B6B79"/>
                </a:solidFill>
              </a:rPr>
              <a:t>Issue</a:t>
            </a:r>
            <a:r>
              <a:rPr lang="de-CH" sz="1100" dirty="0">
                <a:solidFill>
                  <a:srgbClr val="5B6B79"/>
                </a:solidFill>
              </a:rPr>
              <a:t> Register, Value-</a:t>
            </a:r>
            <a:r>
              <a:rPr lang="de-CH" sz="1100" dirty="0" err="1">
                <a:solidFill>
                  <a:srgbClr val="5B6B79"/>
                </a:solidFill>
              </a:rPr>
              <a:t>Added</a:t>
            </a:r>
            <a:r>
              <a:rPr lang="de-CH" sz="1100" dirty="0">
                <a:solidFill>
                  <a:srgbClr val="5B6B79"/>
                </a:solidFill>
              </a:rPr>
              <a:t>-Analyse, </a:t>
            </a:r>
            <a:r>
              <a:rPr lang="de-CH" sz="1100" dirty="0" err="1">
                <a:solidFill>
                  <a:srgbClr val="5B6B79"/>
                </a:solidFill>
              </a:rPr>
              <a:t>Muda</a:t>
            </a:r>
            <a:r>
              <a:rPr lang="de-CH" sz="1100" dirty="0">
                <a:solidFill>
                  <a:srgbClr val="5B6B79"/>
                </a:solidFill>
              </a:rPr>
              <a:t>-</a:t>
            </a:r>
            <a:r>
              <a:rPr lang="de-CH" sz="1100" dirty="0" err="1">
                <a:solidFill>
                  <a:srgbClr val="5B6B79"/>
                </a:solidFill>
              </a:rPr>
              <a:t>Waste</a:t>
            </a:r>
            <a:r>
              <a:rPr lang="de-CH" sz="1100" dirty="0">
                <a:solidFill>
                  <a:srgbClr val="5B6B79"/>
                </a:solidFill>
              </a:rPr>
              <a:t>-Analyse und Ursachenanalyse </a:t>
            </a:r>
          </a:p>
        </p:txBody>
      </p:sp>
      <p:sp>
        <p:nvSpPr>
          <p:cNvPr id="60" name="b4">
            <a:extLst>
              <a:ext uri="{FF2B5EF4-FFF2-40B4-BE49-F238E27FC236}">
                <a16:creationId xmlns:a16="http://schemas.microsoft.com/office/drawing/2014/main" id="{9A07D59D-6A0A-2089-78F7-8E74EC0FF0DF}"/>
              </a:ext>
            </a:extLst>
          </p:cNvPr>
          <p:cNvSpPr/>
          <p:nvPr/>
        </p:nvSpPr>
        <p:spPr>
          <a:xfrm>
            <a:off x="8610600" y="2565401"/>
            <a:ext cx="304800" cy="304800"/>
          </a:xfrm>
          <a:prstGeom prst="ellipse">
            <a:avLst/>
          </a:prstGeom>
          <a:solidFill>
            <a:srgbClr val="C8893A"/>
          </a:solidFill>
          <a:ln w="19050">
            <a:solidFill>
              <a:srgbClr val="C8893A"/>
            </a:solidFill>
          </a:ln>
        </p:spPr>
        <p:txBody>
          <a:bodyPr lIns="0" tIns="0" rIns="0" bIns="0" anchor="ctr"/>
          <a:lstStyle/>
          <a:p>
            <a:pPr algn="ctr"/>
            <a:r>
              <a:rPr lang="de-CH" sz="1300" b="1" dirty="0">
                <a:solidFill>
                  <a:srgbClr val="FFFFFF"/>
                </a:solidFill>
              </a:rPr>
              <a:t>5</a:t>
            </a:r>
          </a:p>
        </p:txBody>
      </p:sp>
      <p:sp>
        <p:nvSpPr>
          <p:cNvPr id="61" name="c4">
            <a:extLst>
              <a:ext uri="{FF2B5EF4-FFF2-40B4-BE49-F238E27FC236}">
                <a16:creationId xmlns:a16="http://schemas.microsoft.com/office/drawing/2014/main" id="{2E5A4E84-4D44-B22F-26D3-2965B2D0D9BF}"/>
              </a:ext>
            </a:extLst>
          </p:cNvPr>
          <p:cNvSpPr/>
          <p:nvPr/>
        </p:nvSpPr>
        <p:spPr>
          <a:xfrm>
            <a:off x="7950200" y="3098801"/>
            <a:ext cx="1625600" cy="1905000"/>
          </a:xfrm>
          <a:prstGeom prst="roundRect">
            <a:avLst>
              <a:gd name="adj" fmla="val 6000"/>
            </a:avLst>
          </a:prstGeom>
          <a:solidFill>
            <a:schemeClr val="bg1"/>
          </a:solidFill>
          <a:ln w="22225">
            <a:solidFill>
              <a:schemeClr val="bg2"/>
            </a:solidFill>
          </a:ln>
        </p:spPr>
        <p:txBody>
          <a:bodyPr lIns="101600" tIns="127000" rIns="101600" bIns="101600" anchor="t">
            <a:normAutofit/>
          </a:bodyPr>
          <a:lstStyle/>
          <a:p>
            <a:pPr algn="ctr"/>
            <a:r>
              <a:rPr lang="de-CH" sz="1300" b="1" dirty="0">
                <a:solidFill>
                  <a:srgbClr val="1B3A5C"/>
                </a:solidFill>
              </a:rPr>
              <a:t>SOLL-Konzept</a:t>
            </a:r>
          </a:p>
          <a:p>
            <a:pPr algn="ctr">
              <a:spcBef>
                <a:spcPts val="400"/>
              </a:spcBef>
            </a:pPr>
            <a:r>
              <a:rPr lang="de-CH" sz="1100" dirty="0">
                <a:solidFill>
                  <a:srgbClr val="5B6B79"/>
                </a:solidFill>
              </a:rPr>
              <a:t>Ziel-Konzept im SOLL-Workshop entwickeln und Anforderungen erheben</a:t>
            </a:r>
          </a:p>
        </p:txBody>
      </p:sp>
      <p:sp>
        <p:nvSpPr>
          <p:cNvPr id="63" name="b5">
            <a:extLst>
              <a:ext uri="{FF2B5EF4-FFF2-40B4-BE49-F238E27FC236}">
                <a16:creationId xmlns:a16="http://schemas.microsoft.com/office/drawing/2014/main" id="{593000D2-99AF-F402-8205-D6FCD8B82E40}"/>
              </a:ext>
            </a:extLst>
          </p:cNvPr>
          <p:cNvSpPr/>
          <p:nvPr/>
        </p:nvSpPr>
        <p:spPr>
          <a:xfrm>
            <a:off x="10388600" y="2565401"/>
            <a:ext cx="304800" cy="304800"/>
          </a:xfrm>
          <a:prstGeom prst="ellipse">
            <a:avLst/>
          </a:prstGeom>
          <a:solidFill>
            <a:srgbClr val="1B3A5C"/>
          </a:solidFill>
          <a:ln w="19050">
            <a:solidFill>
              <a:srgbClr val="7FA8C9"/>
            </a:solidFill>
          </a:ln>
        </p:spPr>
        <p:txBody>
          <a:bodyPr lIns="0" tIns="0" rIns="0" bIns="0" anchor="ctr"/>
          <a:lstStyle/>
          <a:p>
            <a:pPr algn="ctr"/>
            <a:r>
              <a:rPr lang="de-CH" sz="1300" b="1" dirty="0">
                <a:solidFill>
                  <a:srgbClr val="FFFFFF"/>
                </a:solidFill>
              </a:rPr>
              <a:t>6</a:t>
            </a:r>
          </a:p>
        </p:txBody>
      </p:sp>
      <p:sp>
        <p:nvSpPr>
          <p:cNvPr id="64" name="c5">
            <a:extLst>
              <a:ext uri="{FF2B5EF4-FFF2-40B4-BE49-F238E27FC236}">
                <a16:creationId xmlns:a16="http://schemas.microsoft.com/office/drawing/2014/main" id="{94AD4626-5AE6-CC67-3A01-D5FF14AC5CD5}"/>
              </a:ext>
            </a:extLst>
          </p:cNvPr>
          <p:cNvSpPr/>
          <p:nvPr/>
        </p:nvSpPr>
        <p:spPr>
          <a:xfrm>
            <a:off x="9728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Detailspezifikation und Abnahme</a:t>
            </a:r>
          </a:p>
          <a:p>
            <a:pPr algn="ctr">
              <a:spcBef>
                <a:spcPts val="400"/>
              </a:spcBef>
            </a:pPr>
            <a:r>
              <a:rPr lang="de-CH" sz="1100" dirty="0">
                <a:solidFill>
                  <a:srgbClr val="5B6B79"/>
                </a:solidFill>
              </a:rPr>
              <a:t>Anforderungskatalog inkl. User Stories und Use Cases, Projektabnahme</a:t>
            </a:r>
          </a:p>
        </p:txBody>
      </p:sp>
      <p:sp>
        <p:nvSpPr>
          <p:cNvPr id="3" name="b0">
            <a:extLst>
              <a:ext uri="{FF2B5EF4-FFF2-40B4-BE49-F238E27FC236}">
                <a16:creationId xmlns:a16="http://schemas.microsoft.com/office/drawing/2014/main" id="{73FAB6E2-C523-F073-074E-347758642D3D}"/>
              </a:ext>
            </a:extLst>
          </p:cNvPr>
          <p:cNvSpPr/>
          <p:nvPr/>
        </p:nvSpPr>
        <p:spPr>
          <a:xfrm>
            <a:off x="8610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5</a:t>
            </a:r>
          </a:p>
        </p:txBody>
      </p:sp>
      <p:sp>
        <p:nvSpPr>
          <p:cNvPr id="4" name="b0">
            <a:extLst>
              <a:ext uri="{FF2B5EF4-FFF2-40B4-BE49-F238E27FC236}">
                <a16:creationId xmlns:a16="http://schemas.microsoft.com/office/drawing/2014/main" id="{4CA7E2D9-E246-E7D3-609A-07F0013FB9A1}"/>
              </a:ext>
            </a:extLst>
          </p:cNvPr>
          <p:cNvSpPr/>
          <p:nvPr/>
        </p:nvSpPr>
        <p:spPr>
          <a:xfrm>
            <a:off x="1346200" y="2565401"/>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5" name="Grafik 4" descr="Häkchen mit einfarbiger Füllung">
            <a:extLst>
              <a:ext uri="{FF2B5EF4-FFF2-40B4-BE49-F238E27FC236}">
                <a16:creationId xmlns:a16="http://schemas.microsoft.com/office/drawing/2014/main" id="{7EF87FDE-5A94-901C-FED4-B06CC83A4A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90650" y="2609851"/>
            <a:ext cx="215900" cy="215900"/>
          </a:xfrm>
          <a:prstGeom prst="rect">
            <a:avLst/>
          </a:prstGeom>
        </p:spPr>
      </p:pic>
      <p:sp>
        <p:nvSpPr>
          <p:cNvPr id="6" name="b0">
            <a:extLst>
              <a:ext uri="{FF2B5EF4-FFF2-40B4-BE49-F238E27FC236}">
                <a16:creationId xmlns:a16="http://schemas.microsoft.com/office/drawing/2014/main" id="{8884348A-63A1-76F6-6E2B-281BD95C3673}"/>
              </a:ext>
            </a:extLst>
          </p:cNvPr>
          <p:cNvSpPr/>
          <p:nvPr/>
        </p:nvSpPr>
        <p:spPr>
          <a:xfrm>
            <a:off x="3200400" y="2580988"/>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7" name="Grafik 6" descr="Häkchen mit einfarbiger Füllung">
            <a:extLst>
              <a:ext uri="{FF2B5EF4-FFF2-40B4-BE49-F238E27FC236}">
                <a16:creationId xmlns:a16="http://schemas.microsoft.com/office/drawing/2014/main" id="{AEF6C428-D544-77E9-20E9-281F1D479D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244850" y="2625438"/>
            <a:ext cx="215900" cy="215900"/>
          </a:xfrm>
          <a:prstGeom prst="rect">
            <a:avLst/>
          </a:prstGeom>
        </p:spPr>
      </p:pic>
      <p:sp>
        <p:nvSpPr>
          <p:cNvPr id="8" name="b0">
            <a:extLst>
              <a:ext uri="{FF2B5EF4-FFF2-40B4-BE49-F238E27FC236}">
                <a16:creationId xmlns:a16="http://schemas.microsoft.com/office/drawing/2014/main" id="{74B8465D-9213-E7A1-C916-558835FBD8CB}"/>
              </a:ext>
            </a:extLst>
          </p:cNvPr>
          <p:cNvSpPr/>
          <p:nvPr/>
        </p:nvSpPr>
        <p:spPr>
          <a:xfrm>
            <a:off x="5032664" y="2580988"/>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9" name="Grafik 8" descr="Häkchen mit einfarbiger Füllung">
            <a:extLst>
              <a:ext uri="{FF2B5EF4-FFF2-40B4-BE49-F238E27FC236}">
                <a16:creationId xmlns:a16="http://schemas.microsoft.com/office/drawing/2014/main" id="{580B18CE-E7D5-3AF7-3843-62B9B68DA94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77114" y="2625438"/>
            <a:ext cx="215900" cy="215900"/>
          </a:xfrm>
          <a:prstGeom prst="rect">
            <a:avLst/>
          </a:prstGeom>
        </p:spPr>
      </p:pic>
      <p:sp>
        <p:nvSpPr>
          <p:cNvPr id="10" name="Foliennummernplatzhalter 9">
            <a:extLst>
              <a:ext uri="{FF2B5EF4-FFF2-40B4-BE49-F238E27FC236}">
                <a16:creationId xmlns:a16="http://schemas.microsoft.com/office/drawing/2014/main" id="{931A2487-BCA5-FD38-F89A-1D2C44806F49}"/>
              </a:ext>
            </a:extLst>
          </p:cNvPr>
          <p:cNvSpPr>
            <a:spLocks noGrp="1"/>
          </p:cNvSpPr>
          <p:nvPr>
            <p:ph type="sldNum" sz="quarter" idx="12"/>
          </p:nvPr>
        </p:nvSpPr>
        <p:spPr/>
        <p:txBody>
          <a:bodyPr/>
          <a:lstStyle/>
          <a:p>
            <a:fld id="{2AAFDC3C-A9F8-4ABD-8D8D-8DC3321B02DC}" type="slidenum">
              <a:rPr lang="de-CH" smtClean="0"/>
              <a:t>26</a:t>
            </a:fld>
            <a:endParaRPr lang="de-CH"/>
          </a:p>
        </p:txBody>
      </p:sp>
      <p:sp>
        <p:nvSpPr>
          <p:cNvPr id="11" name="Datumsplatzhalter 10">
            <a:extLst>
              <a:ext uri="{FF2B5EF4-FFF2-40B4-BE49-F238E27FC236}">
                <a16:creationId xmlns:a16="http://schemas.microsoft.com/office/drawing/2014/main" id="{C21A1706-5083-0FE7-D5E1-4E1F85B23038}"/>
              </a:ext>
            </a:extLst>
          </p:cNvPr>
          <p:cNvSpPr>
            <a:spLocks noGrp="1"/>
          </p:cNvSpPr>
          <p:nvPr>
            <p:ph type="dt" sz="half" idx="10"/>
          </p:nvPr>
        </p:nvSpPr>
        <p:spPr/>
        <p:txBody>
          <a:bodyPr/>
          <a:lstStyle/>
          <a:p>
            <a:r>
              <a:rPr lang="de-CH"/>
              <a:t>11.06.2026</a:t>
            </a:r>
          </a:p>
        </p:txBody>
      </p:sp>
    </p:spTree>
    <p:extLst>
      <p:ext uri="{BB962C8B-B14F-4D97-AF65-F5344CB8AC3E}">
        <p14:creationId xmlns:p14="http://schemas.microsoft.com/office/powerpoint/2010/main" val="246641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FB012-B874-FD28-F89B-BBE98C0B2F6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AC4E1E7-7612-5285-214A-3D912B2213BF}"/>
              </a:ext>
            </a:extLst>
          </p:cNvPr>
          <p:cNvSpPr>
            <a:spLocks noGrp="1"/>
          </p:cNvSpPr>
          <p:nvPr>
            <p:ph type="title"/>
          </p:nvPr>
        </p:nvSpPr>
        <p:spPr/>
        <p:txBody>
          <a:bodyPr/>
          <a:lstStyle/>
          <a:p>
            <a:pPr algn="l"/>
            <a:r>
              <a:rPr lang="de-CH" sz="2800" b="1">
                <a:solidFill>
                  <a:srgbClr val="1B3A5C"/>
                </a:solidFill>
              </a:rPr>
              <a:t>Projektstand und Vorgehen</a:t>
            </a:r>
          </a:p>
        </p:txBody>
      </p:sp>
      <p:sp>
        <p:nvSpPr>
          <p:cNvPr id="50" name="kicker">
            <a:extLst>
              <a:ext uri="{FF2B5EF4-FFF2-40B4-BE49-F238E27FC236}">
                <a16:creationId xmlns:a16="http://schemas.microsoft.com/office/drawing/2014/main" id="{5459CF4B-2F70-0F06-B188-B47A6C3FAB3F}"/>
              </a:ext>
            </a:extLst>
          </p:cNvPr>
          <p:cNvSpPr/>
          <p:nvPr/>
        </p:nvSpPr>
        <p:spPr>
          <a:xfrm>
            <a:off x="838200" y="1574800"/>
            <a:ext cx="9906000" cy="279400"/>
          </a:xfrm>
          <a:prstGeom prst="rect">
            <a:avLst/>
          </a:prstGeom>
          <a:noFill/>
        </p:spPr>
        <p:txBody>
          <a:bodyPr lIns="0" tIns="0" rIns="0" bIns="0"/>
          <a:lstStyle/>
          <a:p>
            <a:r>
              <a:rPr lang="de-DE" sz="1400" b="1" dirty="0">
                <a:solidFill>
                  <a:srgbClr val="2E6CA4"/>
                </a:solidFill>
              </a:rPr>
              <a:t>Phase 3 · Von erhobenen Pain Points zu bestätigten Handlungsfeldern</a:t>
            </a:r>
          </a:p>
        </p:txBody>
      </p:sp>
      <p:sp>
        <p:nvSpPr>
          <p:cNvPr id="51" name="track">
            <a:extLst>
              <a:ext uri="{FF2B5EF4-FFF2-40B4-BE49-F238E27FC236}">
                <a16:creationId xmlns:a16="http://schemas.microsoft.com/office/drawing/2014/main" id="{F51A7E69-5926-B317-E670-1DD9013FED47}"/>
              </a:ext>
            </a:extLst>
          </p:cNvPr>
          <p:cNvSpPr/>
          <p:nvPr/>
        </p:nvSpPr>
        <p:spPr>
          <a:xfrm>
            <a:off x="1651000" y="2692401"/>
            <a:ext cx="8890000" cy="50800"/>
          </a:xfrm>
          <a:prstGeom prst="rect">
            <a:avLst/>
          </a:prstGeom>
          <a:solidFill>
            <a:srgbClr val="C9D6E2"/>
          </a:solidFill>
          <a:ln>
            <a:noFill/>
          </a:ln>
        </p:spPr>
        <p:txBody>
          <a:bodyPr/>
          <a:lstStyle/>
          <a:p>
            <a:endParaRPr/>
          </a:p>
        </p:txBody>
      </p:sp>
      <p:sp>
        <p:nvSpPr>
          <p:cNvPr id="53" name="c0">
            <a:extLst>
              <a:ext uri="{FF2B5EF4-FFF2-40B4-BE49-F238E27FC236}">
                <a16:creationId xmlns:a16="http://schemas.microsoft.com/office/drawing/2014/main" id="{2D1711E1-86AC-3C1B-A596-CB92C7DC5069}"/>
              </a:ext>
            </a:extLst>
          </p:cNvPr>
          <p:cNvSpPr/>
          <p:nvPr/>
        </p:nvSpPr>
        <p:spPr>
          <a:xfrm>
            <a:off x="838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dirty="0">
                <a:solidFill>
                  <a:srgbClr val="1B3A5C"/>
                </a:solidFill>
              </a:rPr>
              <a:t>Kick-off</a:t>
            </a:r>
          </a:p>
          <a:p>
            <a:pPr algn="ctr">
              <a:spcBef>
                <a:spcPts val="400"/>
              </a:spcBef>
            </a:pPr>
            <a:r>
              <a:rPr lang="de-CH" sz="1100" dirty="0">
                <a:solidFill>
                  <a:srgbClr val="5B6B79"/>
                </a:solidFill>
              </a:rPr>
              <a:t>Auftrag und Rahmen geklärt</a:t>
            </a:r>
          </a:p>
        </p:txBody>
      </p:sp>
      <p:sp>
        <p:nvSpPr>
          <p:cNvPr id="55" name="c1">
            <a:extLst>
              <a:ext uri="{FF2B5EF4-FFF2-40B4-BE49-F238E27FC236}">
                <a16:creationId xmlns:a16="http://schemas.microsoft.com/office/drawing/2014/main" id="{9C5B6EC6-AC19-7FE6-FBDE-11E8A92D9A44}"/>
              </a:ext>
            </a:extLst>
          </p:cNvPr>
          <p:cNvSpPr/>
          <p:nvPr/>
        </p:nvSpPr>
        <p:spPr>
          <a:xfrm>
            <a:off x="2616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dirty="0">
                <a:solidFill>
                  <a:srgbClr val="1B3A5C"/>
                </a:solidFill>
              </a:rPr>
              <a:t>Literatur und Disposition</a:t>
            </a:r>
          </a:p>
          <a:p>
            <a:pPr algn="ctr">
              <a:spcBef>
                <a:spcPts val="400"/>
              </a:spcBef>
            </a:pPr>
            <a:r>
              <a:rPr lang="de-CH" sz="1100" dirty="0">
                <a:solidFill>
                  <a:srgbClr val="5B6B79"/>
                </a:solidFill>
              </a:rPr>
              <a:t>Theoretische und methodische Grundlagen</a:t>
            </a:r>
          </a:p>
        </p:txBody>
      </p:sp>
      <p:sp>
        <p:nvSpPr>
          <p:cNvPr id="57" name="c2">
            <a:extLst>
              <a:ext uri="{FF2B5EF4-FFF2-40B4-BE49-F238E27FC236}">
                <a16:creationId xmlns:a16="http://schemas.microsoft.com/office/drawing/2014/main" id="{A998B3F9-16FF-407D-B3E6-BEC383463F51}"/>
              </a:ext>
            </a:extLst>
          </p:cNvPr>
          <p:cNvSpPr/>
          <p:nvPr/>
        </p:nvSpPr>
        <p:spPr>
          <a:xfrm>
            <a:off x="4394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dirty="0">
                <a:solidFill>
                  <a:srgbClr val="1B3A5C"/>
                </a:solidFill>
              </a:rPr>
              <a:t>IST-Erhebung</a:t>
            </a:r>
          </a:p>
          <a:p>
            <a:pPr algn="ctr">
              <a:spcBef>
                <a:spcPts val="400"/>
              </a:spcBef>
            </a:pPr>
            <a:r>
              <a:rPr lang="de-CH" sz="1100" dirty="0">
                <a:solidFill>
                  <a:srgbClr val="5B6B79"/>
                </a:solidFill>
              </a:rPr>
              <a:t>Dokumentenanalyse, Interviews, IST-Modellierung und Validierungsworkshop</a:t>
            </a:r>
          </a:p>
        </p:txBody>
      </p:sp>
      <p:sp>
        <p:nvSpPr>
          <p:cNvPr id="59" name="c3">
            <a:extLst>
              <a:ext uri="{FF2B5EF4-FFF2-40B4-BE49-F238E27FC236}">
                <a16:creationId xmlns:a16="http://schemas.microsoft.com/office/drawing/2014/main" id="{07A8936A-4B5F-5DDB-E33E-1A5618680C75}"/>
              </a:ext>
            </a:extLst>
          </p:cNvPr>
          <p:cNvSpPr/>
          <p:nvPr/>
        </p:nvSpPr>
        <p:spPr>
          <a:xfrm>
            <a:off x="6172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dirty="0">
                <a:solidFill>
                  <a:srgbClr val="1B3A5C"/>
                </a:solidFill>
              </a:rPr>
              <a:t>IST-Analyse</a:t>
            </a:r>
          </a:p>
          <a:p>
            <a:pPr algn="ctr">
              <a:spcBef>
                <a:spcPts val="400"/>
              </a:spcBef>
            </a:pPr>
            <a:r>
              <a:rPr lang="de-CH" sz="1100" dirty="0" err="1">
                <a:solidFill>
                  <a:srgbClr val="5B6B79"/>
                </a:solidFill>
              </a:rPr>
              <a:t>Issue</a:t>
            </a:r>
            <a:r>
              <a:rPr lang="de-CH" sz="1100" dirty="0">
                <a:solidFill>
                  <a:srgbClr val="5B6B79"/>
                </a:solidFill>
              </a:rPr>
              <a:t> Register, Value-</a:t>
            </a:r>
            <a:r>
              <a:rPr lang="de-CH" sz="1100" dirty="0" err="1">
                <a:solidFill>
                  <a:srgbClr val="5B6B79"/>
                </a:solidFill>
              </a:rPr>
              <a:t>Added</a:t>
            </a:r>
            <a:r>
              <a:rPr lang="de-CH" sz="1100" dirty="0">
                <a:solidFill>
                  <a:srgbClr val="5B6B79"/>
                </a:solidFill>
              </a:rPr>
              <a:t>-Analyse, </a:t>
            </a:r>
            <a:r>
              <a:rPr lang="de-CH" sz="1100" dirty="0" err="1">
                <a:solidFill>
                  <a:srgbClr val="5B6B79"/>
                </a:solidFill>
              </a:rPr>
              <a:t>Muda</a:t>
            </a:r>
            <a:r>
              <a:rPr lang="de-CH" sz="1100" dirty="0">
                <a:solidFill>
                  <a:srgbClr val="5B6B79"/>
                </a:solidFill>
              </a:rPr>
              <a:t>-</a:t>
            </a:r>
            <a:r>
              <a:rPr lang="de-CH" sz="1100" dirty="0" err="1">
                <a:solidFill>
                  <a:srgbClr val="5B6B79"/>
                </a:solidFill>
              </a:rPr>
              <a:t>Waste</a:t>
            </a:r>
            <a:r>
              <a:rPr lang="de-CH" sz="1100" dirty="0">
                <a:solidFill>
                  <a:srgbClr val="5B6B79"/>
                </a:solidFill>
              </a:rPr>
              <a:t>-Analyse und Ursachenanalyse </a:t>
            </a:r>
          </a:p>
        </p:txBody>
      </p:sp>
      <p:sp>
        <p:nvSpPr>
          <p:cNvPr id="60" name="b4">
            <a:extLst>
              <a:ext uri="{FF2B5EF4-FFF2-40B4-BE49-F238E27FC236}">
                <a16:creationId xmlns:a16="http://schemas.microsoft.com/office/drawing/2014/main" id="{DD5C99F0-80E2-1FFE-44FA-1D86893AEB65}"/>
              </a:ext>
            </a:extLst>
          </p:cNvPr>
          <p:cNvSpPr/>
          <p:nvPr/>
        </p:nvSpPr>
        <p:spPr>
          <a:xfrm>
            <a:off x="8610600" y="2565401"/>
            <a:ext cx="304800" cy="304800"/>
          </a:xfrm>
          <a:prstGeom prst="ellipse">
            <a:avLst/>
          </a:prstGeom>
          <a:solidFill>
            <a:srgbClr val="C8893A"/>
          </a:solidFill>
          <a:ln w="19050">
            <a:solidFill>
              <a:srgbClr val="C8893A"/>
            </a:solidFill>
          </a:ln>
        </p:spPr>
        <p:txBody>
          <a:bodyPr lIns="0" tIns="0" rIns="0" bIns="0" anchor="ctr"/>
          <a:lstStyle/>
          <a:p>
            <a:pPr algn="ctr"/>
            <a:r>
              <a:rPr lang="de-CH" sz="1300" b="1" dirty="0">
                <a:solidFill>
                  <a:srgbClr val="FFFFFF"/>
                </a:solidFill>
              </a:rPr>
              <a:t>5</a:t>
            </a:r>
          </a:p>
        </p:txBody>
      </p:sp>
      <p:sp>
        <p:nvSpPr>
          <p:cNvPr id="61" name="c4">
            <a:extLst>
              <a:ext uri="{FF2B5EF4-FFF2-40B4-BE49-F238E27FC236}">
                <a16:creationId xmlns:a16="http://schemas.microsoft.com/office/drawing/2014/main" id="{A860DBD9-1776-EADD-F830-E7FDBA24EC1E}"/>
              </a:ext>
            </a:extLst>
          </p:cNvPr>
          <p:cNvSpPr/>
          <p:nvPr/>
        </p:nvSpPr>
        <p:spPr>
          <a:xfrm>
            <a:off x="7950200" y="3098801"/>
            <a:ext cx="1625600" cy="1905000"/>
          </a:xfrm>
          <a:prstGeom prst="roundRect">
            <a:avLst>
              <a:gd name="adj" fmla="val 6000"/>
            </a:avLst>
          </a:prstGeom>
          <a:solidFill>
            <a:schemeClr val="bg1"/>
          </a:solidFill>
          <a:ln w="22225">
            <a:solidFill>
              <a:schemeClr val="bg2"/>
            </a:solidFill>
          </a:ln>
        </p:spPr>
        <p:txBody>
          <a:bodyPr lIns="101600" tIns="127000" rIns="101600" bIns="101600" anchor="t">
            <a:normAutofit/>
          </a:bodyPr>
          <a:lstStyle/>
          <a:p>
            <a:pPr algn="ctr"/>
            <a:r>
              <a:rPr lang="de-CH" sz="1300" b="1" dirty="0">
                <a:solidFill>
                  <a:srgbClr val="1B3A5C"/>
                </a:solidFill>
              </a:rPr>
              <a:t>SOLL-Konzept</a:t>
            </a:r>
          </a:p>
          <a:p>
            <a:pPr algn="ctr">
              <a:spcBef>
                <a:spcPts val="400"/>
              </a:spcBef>
            </a:pPr>
            <a:r>
              <a:rPr lang="de-CH" sz="1100" dirty="0">
                <a:solidFill>
                  <a:srgbClr val="5B6B79"/>
                </a:solidFill>
              </a:rPr>
              <a:t>Ziel-Konzept im SOLL-Workshop entwickeln und Anforderungen erheben</a:t>
            </a:r>
          </a:p>
        </p:txBody>
      </p:sp>
      <p:sp>
        <p:nvSpPr>
          <p:cNvPr id="63" name="b5">
            <a:extLst>
              <a:ext uri="{FF2B5EF4-FFF2-40B4-BE49-F238E27FC236}">
                <a16:creationId xmlns:a16="http://schemas.microsoft.com/office/drawing/2014/main" id="{050153FA-2984-3AE7-70B9-B00BADCF6CC1}"/>
              </a:ext>
            </a:extLst>
          </p:cNvPr>
          <p:cNvSpPr/>
          <p:nvPr/>
        </p:nvSpPr>
        <p:spPr>
          <a:xfrm>
            <a:off x="10388600" y="2565401"/>
            <a:ext cx="304800" cy="304800"/>
          </a:xfrm>
          <a:prstGeom prst="ellipse">
            <a:avLst/>
          </a:prstGeom>
          <a:solidFill>
            <a:srgbClr val="1B3A5C"/>
          </a:solidFill>
          <a:ln w="19050">
            <a:solidFill>
              <a:srgbClr val="7FA8C9"/>
            </a:solidFill>
          </a:ln>
        </p:spPr>
        <p:txBody>
          <a:bodyPr lIns="0" tIns="0" rIns="0" bIns="0" anchor="ctr"/>
          <a:lstStyle/>
          <a:p>
            <a:pPr algn="ctr"/>
            <a:r>
              <a:rPr lang="de-CH" sz="1300" b="1" dirty="0">
                <a:solidFill>
                  <a:srgbClr val="FFFFFF"/>
                </a:solidFill>
              </a:rPr>
              <a:t>6</a:t>
            </a:r>
          </a:p>
        </p:txBody>
      </p:sp>
      <p:sp>
        <p:nvSpPr>
          <p:cNvPr id="64" name="c5">
            <a:extLst>
              <a:ext uri="{FF2B5EF4-FFF2-40B4-BE49-F238E27FC236}">
                <a16:creationId xmlns:a16="http://schemas.microsoft.com/office/drawing/2014/main" id="{FE7B9B43-FF19-2B85-0788-AABC87E8A5A8}"/>
              </a:ext>
            </a:extLst>
          </p:cNvPr>
          <p:cNvSpPr/>
          <p:nvPr/>
        </p:nvSpPr>
        <p:spPr>
          <a:xfrm>
            <a:off x="9728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Detailspezifikation und Abnahme</a:t>
            </a:r>
          </a:p>
          <a:p>
            <a:pPr algn="ctr">
              <a:spcBef>
                <a:spcPts val="400"/>
              </a:spcBef>
            </a:pPr>
            <a:r>
              <a:rPr lang="de-CH" sz="1100" dirty="0">
                <a:solidFill>
                  <a:srgbClr val="5B6B79"/>
                </a:solidFill>
              </a:rPr>
              <a:t>Anforderungskatalog inkl. User Stories und Use Cases, Projektabnahme</a:t>
            </a:r>
          </a:p>
        </p:txBody>
      </p:sp>
      <p:sp>
        <p:nvSpPr>
          <p:cNvPr id="3" name="b0">
            <a:extLst>
              <a:ext uri="{FF2B5EF4-FFF2-40B4-BE49-F238E27FC236}">
                <a16:creationId xmlns:a16="http://schemas.microsoft.com/office/drawing/2014/main" id="{BDF244D1-AAD7-BFA0-4D6D-38C9BDFC1D19}"/>
              </a:ext>
            </a:extLst>
          </p:cNvPr>
          <p:cNvSpPr/>
          <p:nvPr/>
        </p:nvSpPr>
        <p:spPr>
          <a:xfrm>
            <a:off x="8610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5</a:t>
            </a:r>
          </a:p>
        </p:txBody>
      </p:sp>
      <p:sp>
        <p:nvSpPr>
          <p:cNvPr id="4" name="b0">
            <a:extLst>
              <a:ext uri="{FF2B5EF4-FFF2-40B4-BE49-F238E27FC236}">
                <a16:creationId xmlns:a16="http://schemas.microsoft.com/office/drawing/2014/main" id="{B8E56DF6-2FFE-7CFF-A177-9F93167442EE}"/>
              </a:ext>
            </a:extLst>
          </p:cNvPr>
          <p:cNvSpPr/>
          <p:nvPr/>
        </p:nvSpPr>
        <p:spPr>
          <a:xfrm>
            <a:off x="1346200" y="2565401"/>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5" name="Grafik 4" descr="Häkchen mit einfarbiger Füllung">
            <a:extLst>
              <a:ext uri="{FF2B5EF4-FFF2-40B4-BE49-F238E27FC236}">
                <a16:creationId xmlns:a16="http://schemas.microsoft.com/office/drawing/2014/main" id="{493D8A10-ED15-A51B-FD23-B78542008A8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90650" y="2609851"/>
            <a:ext cx="215900" cy="215900"/>
          </a:xfrm>
          <a:prstGeom prst="rect">
            <a:avLst/>
          </a:prstGeom>
        </p:spPr>
      </p:pic>
      <p:sp>
        <p:nvSpPr>
          <p:cNvPr id="6" name="b0">
            <a:extLst>
              <a:ext uri="{FF2B5EF4-FFF2-40B4-BE49-F238E27FC236}">
                <a16:creationId xmlns:a16="http://schemas.microsoft.com/office/drawing/2014/main" id="{4EC2269C-7CCC-5D2B-E515-41B414C56621}"/>
              </a:ext>
            </a:extLst>
          </p:cNvPr>
          <p:cNvSpPr/>
          <p:nvPr/>
        </p:nvSpPr>
        <p:spPr>
          <a:xfrm>
            <a:off x="3200400" y="2580988"/>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7" name="Grafik 6" descr="Häkchen mit einfarbiger Füllung">
            <a:extLst>
              <a:ext uri="{FF2B5EF4-FFF2-40B4-BE49-F238E27FC236}">
                <a16:creationId xmlns:a16="http://schemas.microsoft.com/office/drawing/2014/main" id="{D801733F-5262-9B60-8CAF-208D9DFD1DC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244850" y="2625438"/>
            <a:ext cx="215900" cy="215900"/>
          </a:xfrm>
          <a:prstGeom prst="rect">
            <a:avLst/>
          </a:prstGeom>
        </p:spPr>
      </p:pic>
      <p:sp>
        <p:nvSpPr>
          <p:cNvPr id="8" name="b0">
            <a:extLst>
              <a:ext uri="{FF2B5EF4-FFF2-40B4-BE49-F238E27FC236}">
                <a16:creationId xmlns:a16="http://schemas.microsoft.com/office/drawing/2014/main" id="{0D180817-6D80-6C57-404D-AA609100B831}"/>
              </a:ext>
            </a:extLst>
          </p:cNvPr>
          <p:cNvSpPr/>
          <p:nvPr/>
        </p:nvSpPr>
        <p:spPr>
          <a:xfrm>
            <a:off x="5016500" y="2580988"/>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9" name="Grafik 8" descr="Häkchen mit einfarbiger Füllung">
            <a:extLst>
              <a:ext uri="{FF2B5EF4-FFF2-40B4-BE49-F238E27FC236}">
                <a16:creationId xmlns:a16="http://schemas.microsoft.com/office/drawing/2014/main" id="{43BCB00C-DD49-A033-BC4A-4A5B9A92DCA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60950" y="2625438"/>
            <a:ext cx="215900" cy="215900"/>
          </a:xfrm>
          <a:prstGeom prst="rect">
            <a:avLst/>
          </a:prstGeom>
        </p:spPr>
      </p:pic>
      <p:sp>
        <p:nvSpPr>
          <p:cNvPr id="10" name="b0">
            <a:extLst>
              <a:ext uri="{FF2B5EF4-FFF2-40B4-BE49-F238E27FC236}">
                <a16:creationId xmlns:a16="http://schemas.microsoft.com/office/drawing/2014/main" id="{ECB8B69D-8C13-B00C-CC63-0A79C9D1ACD6}"/>
              </a:ext>
            </a:extLst>
          </p:cNvPr>
          <p:cNvSpPr/>
          <p:nvPr/>
        </p:nvSpPr>
        <p:spPr>
          <a:xfrm>
            <a:off x="6826252" y="2559630"/>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11" name="Grafik 10" descr="Häkchen mit einfarbiger Füllung">
            <a:extLst>
              <a:ext uri="{FF2B5EF4-FFF2-40B4-BE49-F238E27FC236}">
                <a16:creationId xmlns:a16="http://schemas.microsoft.com/office/drawing/2014/main" id="{54D563A4-94D0-5F16-23B2-0CCFE1E3A1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70702" y="2604080"/>
            <a:ext cx="215900" cy="215900"/>
          </a:xfrm>
          <a:prstGeom prst="rect">
            <a:avLst/>
          </a:prstGeom>
        </p:spPr>
      </p:pic>
      <p:sp>
        <p:nvSpPr>
          <p:cNvPr id="12" name="Foliennummernplatzhalter 11">
            <a:extLst>
              <a:ext uri="{FF2B5EF4-FFF2-40B4-BE49-F238E27FC236}">
                <a16:creationId xmlns:a16="http://schemas.microsoft.com/office/drawing/2014/main" id="{50DDAD2B-28E8-7B6A-FB9B-4687AA0FF903}"/>
              </a:ext>
            </a:extLst>
          </p:cNvPr>
          <p:cNvSpPr>
            <a:spLocks noGrp="1"/>
          </p:cNvSpPr>
          <p:nvPr>
            <p:ph type="sldNum" sz="quarter" idx="12"/>
          </p:nvPr>
        </p:nvSpPr>
        <p:spPr/>
        <p:txBody>
          <a:bodyPr/>
          <a:lstStyle/>
          <a:p>
            <a:fld id="{2AAFDC3C-A9F8-4ABD-8D8D-8DC3321B02DC}" type="slidenum">
              <a:rPr lang="de-CH" smtClean="0"/>
              <a:t>27</a:t>
            </a:fld>
            <a:endParaRPr lang="de-CH"/>
          </a:p>
        </p:txBody>
      </p:sp>
      <p:sp>
        <p:nvSpPr>
          <p:cNvPr id="13" name="Datumsplatzhalter 12">
            <a:extLst>
              <a:ext uri="{FF2B5EF4-FFF2-40B4-BE49-F238E27FC236}">
                <a16:creationId xmlns:a16="http://schemas.microsoft.com/office/drawing/2014/main" id="{2CA20076-5B7E-4C21-6153-8BD5415E3302}"/>
              </a:ext>
            </a:extLst>
          </p:cNvPr>
          <p:cNvSpPr>
            <a:spLocks noGrp="1"/>
          </p:cNvSpPr>
          <p:nvPr>
            <p:ph type="dt" sz="half" idx="10"/>
          </p:nvPr>
        </p:nvSpPr>
        <p:spPr/>
        <p:txBody>
          <a:bodyPr/>
          <a:lstStyle/>
          <a:p>
            <a:r>
              <a:rPr lang="de-CH"/>
              <a:t>11.06.2026</a:t>
            </a:r>
          </a:p>
        </p:txBody>
      </p:sp>
    </p:spTree>
    <p:extLst>
      <p:ext uri="{BB962C8B-B14F-4D97-AF65-F5344CB8AC3E}">
        <p14:creationId xmlns:p14="http://schemas.microsoft.com/office/powerpoint/2010/main" val="27890769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F9210-E9C1-C9DD-1D15-AC92FF91F2D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6F92B0B-8530-CBA4-9FB2-1522EB979C44}"/>
              </a:ext>
            </a:extLst>
          </p:cNvPr>
          <p:cNvSpPr>
            <a:spLocks noGrp="1"/>
          </p:cNvSpPr>
          <p:nvPr>
            <p:ph type="title"/>
          </p:nvPr>
        </p:nvSpPr>
        <p:spPr/>
        <p:txBody>
          <a:bodyPr/>
          <a:lstStyle/>
          <a:p>
            <a:pPr algn="l"/>
            <a:r>
              <a:rPr lang="de-CH" sz="2800" b="1">
                <a:solidFill>
                  <a:srgbClr val="1B3A5C"/>
                </a:solidFill>
              </a:rPr>
              <a:t>Projektstand und Vorgehen</a:t>
            </a:r>
          </a:p>
        </p:txBody>
      </p:sp>
      <p:sp>
        <p:nvSpPr>
          <p:cNvPr id="50" name="kicker">
            <a:extLst>
              <a:ext uri="{FF2B5EF4-FFF2-40B4-BE49-F238E27FC236}">
                <a16:creationId xmlns:a16="http://schemas.microsoft.com/office/drawing/2014/main" id="{A2978E8B-CB06-91DC-5FFA-4E6DB31EB835}"/>
              </a:ext>
            </a:extLst>
          </p:cNvPr>
          <p:cNvSpPr/>
          <p:nvPr/>
        </p:nvSpPr>
        <p:spPr>
          <a:xfrm>
            <a:off x="838200" y="1574800"/>
            <a:ext cx="9906000" cy="279400"/>
          </a:xfrm>
          <a:prstGeom prst="rect">
            <a:avLst/>
          </a:prstGeom>
          <a:noFill/>
        </p:spPr>
        <p:txBody>
          <a:bodyPr lIns="0" tIns="0" rIns="0" bIns="0"/>
          <a:lstStyle/>
          <a:p>
            <a:r>
              <a:rPr lang="de-DE" sz="1400" b="1" dirty="0">
                <a:solidFill>
                  <a:srgbClr val="2E6CA4"/>
                </a:solidFill>
              </a:rPr>
              <a:t>Nächster Schritt: Überführung der Handlungsfelder in das SOLL-Konzept</a:t>
            </a:r>
            <a:endParaRPr lang="de-CH" sz="1400" b="1" dirty="0">
              <a:solidFill>
                <a:srgbClr val="2E6CA4"/>
              </a:solidFill>
            </a:endParaRPr>
          </a:p>
        </p:txBody>
      </p:sp>
      <p:sp>
        <p:nvSpPr>
          <p:cNvPr id="51" name="track">
            <a:extLst>
              <a:ext uri="{FF2B5EF4-FFF2-40B4-BE49-F238E27FC236}">
                <a16:creationId xmlns:a16="http://schemas.microsoft.com/office/drawing/2014/main" id="{3FA5E2CD-C37D-CB3A-A1A3-A763463181FB}"/>
              </a:ext>
            </a:extLst>
          </p:cNvPr>
          <p:cNvSpPr/>
          <p:nvPr/>
        </p:nvSpPr>
        <p:spPr>
          <a:xfrm>
            <a:off x="1651000" y="2692401"/>
            <a:ext cx="8890000" cy="50800"/>
          </a:xfrm>
          <a:prstGeom prst="rect">
            <a:avLst/>
          </a:prstGeom>
          <a:solidFill>
            <a:srgbClr val="C9D6E2"/>
          </a:solidFill>
          <a:ln>
            <a:noFill/>
          </a:ln>
        </p:spPr>
        <p:txBody>
          <a:bodyPr/>
          <a:lstStyle/>
          <a:p>
            <a:endParaRPr/>
          </a:p>
        </p:txBody>
      </p:sp>
      <p:sp>
        <p:nvSpPr>
          <p:cNvPr id="53" name="c0">
            <a:extLst>
              <a:ext uri="{FF2B5EF4-FFF2-40B4-BE49-F238E27FC236}">
                <a16:creationId xmlns:a16="http://schemas.microsoft.com/office/drawing/2014/main" id="{2D5ECB14-2FBB-6090-2627-DAB3B73E4CFF}"/>
              </a:ext>
            </a:extLst>
          </p:cNvPr>
          <p:cNvSpPr/>
          <p:nvPr/>
        </p:nvSpPr>
        <p:spPr>
          <a:xfrm>
            <a:off x="838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a:solidFill>
                  <a:srgbClr val="1B3A5C"/>
                </a:solidFill>
              </a:rPr>
              <a:t>Kick-off</a:t>
            </a:r>
          </a:p>
          <a:p>
            <a:pPr algn="ctr">
              <a:spcBef>
                <a:spcPts val="400"/>
              </a:spcBef>
            </a:pPr>
            <a:r>
              <a:rPr lang="de-CH" sz="1100">
                <a:solidFill>
                  <a:srgbClr val="5B6B79"/>
                </a:solidFill>
              </a:rPr>
              <a:t>Auftrag und Rahmen geklärt</a:t>
            </a:r>
          </a:p>
        </p:txBody>
      </p:sp>
      <p:sp>
        <p:nvSpPr>
          <p:cNvPr id="55" name="c1">
            <a:extLst>
              <a:ext uri="{FF2B5EF4-FFF2-40B4-BE49-F238E27FC236}">
                <a16:creationId xmlns:a16="http://schemas.microsoft.com/office/drawing/2014/main" id="{8AAC175C-D191-91AB-F83B-A33EE064890A}"/>
              </a:ext>
            </a:extLst>
          </p:cNvPr>
          <p:cNvSpPr/>
          <p:nvPr/>
        </p:nvSpPr>
        <p:spPr>
          <a:xfrm>
            <a:off x="2616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dirty="0">
                <a:solidFill>
                  <a:srgbClr val="1B3A5C"/>
                </a:solidFill>
              </a:rPr>
              <a:t>Literatur und Disposition</a:t>
            </a:r>
          </a:p>
          <a:p>
            <a:pPr algn="ctr">
              <a:spcBef>
                <a:spcPts val="400"/>
              </a:spcBef>
            </a:pPr>
            <a:r>
              <a:rPr lang="de-CH" sz="1100" dirty="0">
                <a:solidFill>
                  <a:srgbClr val="5B6B79"/>
                </a:solidFill>
              </a:rPr>
              <a:t>Theoretische und methodische Grundlagen</a:t>
            </a:r>
          </a:p>
        </p:txBody>
      </p:sp>
      <p:sp>
        <p:nvSpPr>
          <p:cNvPr id="57" name="c2">
            <a:extLst>
              <a:ext uri="{FF2B5EF4-FFF2-40B4-BE49-F238E27FC236}">
                <a16:creationId xmlns:a16="http://schemas.microsoft.com/office/drawing/2014/main" id="{A39725E8-475F-B5CF-48D0-F7B10AC97190}"/>
              </a:ext>
            </a:extLst>
          </p:cNvPr>
          <p:cNvSpPr/>
          <p:nvPr/>
        </p:nvSpPr>
        <p:spPr>
          <a:xfrm>
            <a:off x="4394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dirty="0">
                <a:solidFill>
                  <a:srgbClr val="1B3A5C"/>
                </a:solidFill>
              </a:rPr>
              <a:t>IST-Erhebung</a:t>
            </a:r>
          </a:p>
          <a:p>
            <a:pPr algn="ctr">
              <a:spcBef>
                <a:spcPts val="400"/>
              </a:spcBef>
            </a:pPr>
            <a:r>
              <a:rPr lang="de-CH" sz="1100" dirty="0">
                <a:solidFill>
                  <a:srgbClr val="5B6B79"/>
                </a:solidFill>
              </a:rPr>
              <a:t>Dokumentenanalyse, Interviews, IST-Modellierung und Validierungsworkshop</a:t>
            </a:r>
          </a:p>
        </p:txBody>
      </p:sp>
      <p:sp>
        <p:nvSpPr>
          <p:cNvPr id="59" name="c3">
            <a:extLst>
              <a:ext uri="{FF2B5EF4-FFF2-40B4-BE49-F238E27FC236}">
                <a16:creationId xmlns:a16="http://schemas.microsoft.com/office/drawing/2014/main" id="{AE9F0128-74FC-2BC5-7FE4-115772736140}"/>
              </a:ext>
            </a:extLst>
          </p:cNvPr>
          <p:cNvSpPr/>
          <p:nvPr/>
        </p:nvSpPr>
        <p:spPr>
          <a:xfrm>
            <a:off x="6172200" y="3098801"/>
            <a:ext cx="1625600" cy="1905000"/>
          </a:xfrm>
          <a:prstGeom prst="roundRect">
            <a:avLst>
              <a:gd name="adj" fmla="val 6000"/>
            </a:avLst>
          </a:prstGeom>
          <a:solidFill>
            <a:srgbClr val="92D050"/>
          </a:solidFill>
          <a:ln w="12700">
            <a:solidFill>
              <a:srgbClr val="C9D6E2"/>
            </a:solidFill>
          </a:ln>
        </p:spPr>
        <p:txBody>
          <a:bodyPr lIns="101600" tIns="127000" rIns="101600" bIns="101600" anchor="t">
            <a:normAutofit/>
          </a:bodyPr>
          <a:lstStyle/>
          <a:p>
            <a:pPr algn="ctr"/>
            <a:r>
              <a:rPr lang="de-CH" sz="1300" b="1" dirty="0">
                <a:solidFill>
                  <a:srgbClr val="1B3A5C"/>
                </a:solidFill>
              </a:rPr>
              <a:t>IST-Analyse</a:t>
            </a:r>
          </a:p>
          <a:p>
            <a:pPr algn="ctr">
              <a:spcBef>
                <a:spcPts val="400"/>
              </a:spcBef>
            </a:pPr>
            <a:r>
              <a:rPr lang="de-CH" sz="1100" dirty="0" err="1">
                <a:solidFill>
                  <a:srgbClr val="5B6B79"/>
                </a:solidFill>
              </a:rPr>
              <a:t>Issue</a:t>
            </a:r>
            <a:r>
              <a:rPr lang="de-CH" sz="1100" dirty="0">
                <a:solidFill>
                  <a:srgbClr val="5B6B79"/>
                </a:solidFill>
              </a:rPr>
              <a:t> Register, Value-</a:t>
            </a:r>
            <a:r>
              <a:rPr lang="de-CH" sz="1100" dirty="0" err="1">
                <a:solidFill>
                  <a:srgbClr val="5B6B79"/>
                </a:solidFill>
              </a:rPr>
              <a:t>Added</a:t>
            </a:r>
            <a:r>
              <a:rPr lang="de-CH" sz="1100" dirty="0">
                <a:solidFill>
                  <a:srgbClr val="5B6B79"/>
                </a:solidFill>
              </a:rPr>
              <a:t>-Analyse, </a:t>
            </a:r>
            <a:r>
              <a:rPr lang="de-CH" sz="1100" dirty="0" err="1">
                <a:solidFill>
                  <a:srgbClr val="5B6B79"/>
                </a:solidFill>
              </a:rPr>
              <a:t>Muda</a:t>
            </a:r>
            <a:r>
              <a:rPr lang="de-CH" sz="1100" dirty="0">
                <a:solidFill>
                  <a:srgbClr val="5B6B79"/>
                </a:solidFill>
              </a:rPr>
              <a:t>-</a:t>
            </a:r>
            <a:r>
              <a:rPr lang="de-CH" sz="1100" dirty="0" err="1">
                <a:solidFill>
                  <a:srgbClr val="5B6B79"/>
                </a:solidFill>
              </a:rPr>
              <a:t>Waste</a:t>
            </a:r>
            <a:r>
              <a:rPr lang="de-CH" sz="1100" dirty="0">
                <a:solidFill>
                  <a:srgbClr val="5B6B79"/>
                </a:solidFill>
              </a:rPr>
              <a:t>-Analyse und Ursachenanalyse </a:t>
            </a:r>
          </a:p>
        </p:txBody>
      </p:sp>
      <p:sp>
        <p:nvSpPr>
          <p:cNvPr id="60" name="b4">
            <a:extLst>
              <a:ext uri="{FF2B5EF4-FFF2-40B4-BE49-F238E27FC236}">
                <a16:creationId xmlns:a16="http://schemas.microsoft.com/office/drawing/2014/main" id="{44EC6041-FE34-13BC-1B1B-2664DC68BF2B}"/>
              </a:ext>
            </a:extLst>
          </p:cNvPr>
          <p:cNvSpPr/>
          <p:nvPr/>
        </p:nvSpPr>
        <p:spPr>
          <a:xfrm>
            <a:off x="8610600" y="2565401"/>
            <a:ext cx="304800" cy="304800"/>
          </a:xfrm>
          <a:prstGeom prst="ellipse">
            <a:avLst/>
          </a:prstGeom>
          <a:solidFill>
            <a:srgbClr val="C8893A"/>
          </a:solidFill>
          <a:ln w="19050">
            <a:solidFill>
              <a:srgbClr val="C8893A"/>
            </a:solidFill>
          </a:ln>
        </p:spPr>
        <p:txBody>
          <a:bodyPr lIns="0" tIns="0" rIns="0" bIns="0" anchor="ctr"/>
          <a:lstStyle/>
          <a:p>
            <a:pPr algn="ctr"/>
            <a:r>
              <a:rPr lang="de-CH" sz="1300" b="1" dirty="0">
                <a:solidFill>
                  <a:srgbClr val="FFFFFF"/>
                </a:solidFill>
              </a:rPr>
              <a:t>5</a:t>
            </a:r>
          </a:p>
        </p:txBody>
      </p:sp>
      <p:sp>
        <p:nvSpPr>
          <p:cNvPr id="61" name="c4">
            <a:extLst>
              <a:ext uri="{FF2B5EF4-FFF2-40B4-BE49-F238E27FC236}">
                <a16:creationId xmlns:a16="http://schemas.microsoft.com/office/drawing/2014/main" id="{2F7251F3-226F-C368-08FA-66C481C9CEBE}"/>
              </a:ext>
            </a:extLst>
          </p:cNvPr>
          <p:cNvSpPr/>
          <p:nvPr/>
        </p:nvSpPr>
        <p:spPr>
          <a:xfrm>
            <a:off x="7950200" y="3098801"/>
            <a:ext cx="1625600" cy="1905000"/>
          </a:xfrm>
          <a:prstGeom prst="roundRect">
            <a:avLst>
              <a:gd name="adj" fmla="val 6000"/>
            </a:avLst>
          </a:prstGeom>
          <a:solidFill>
            <a:srgbClr val="FBF1E4"/>
          </a:solidFill>
          <a:ln w="25400">
            <a:solidFill>
              <a:srgbClr val="C8893A"/>
            </a:solidFill>
          </a:ln>
        </p:spPr>
        <p:txBody>
          <a:bodyPr lIns="101600" tIns="127000" rIns="101600" bIns="101600" anchor="t">
            <a:normAutofit/>
          </a:bodyPr>
          <a:lstStyle/>
          <a:p>
            <a:pPr algn="ctr"/>
            <a:r>
              <a:rPr lang="de-CH" sz="1300" b="1" dirty="0">
                <a:solidFill>
                  <a:srgbClr val="1B3A5C"/>
                </a:solidFill>
              </a:rPr>
              <a:t>SOLL-Konzept</a:t>
            </a:r>
          </a:p>
          <a:p>
            <a:pPr algn="ctr">
              <a:spcBef>
                <a:spcPts val="400"/>
              </a:spcBef>
            </a:pPr>
            <a:r>
              <a:rPr lang="de-CH" sz="1100" dirty="0">
                <a:solidFill>
                  <a:srgbClr val="5B6B79"/>
                </a:solidFill>
              </a:rPr>
              <a:t>Ziel-Konzept im SOLL-Workshop entwickeln und Anforderungen erheben</a:t>
            </a:r>
          </a:p>
        </p:txBody>
      </p:sp>
      <p:sp>
        <p:nvSpPr>
          <p:cNvPr id="63" name="b5">
            <a:extLst>
              <a:ext uri="{FF2B5EF4-FFF2-40B4-BE49-F238E27FC236}">
                <a16:creationId xmlns:a16="http://schemas.microsoft.com/office/drawing/2014/main" id="{797788C6-35A7-1D65-EFD1-5003EB17C17A}"/>
              </a:ext>
            </a:extLst>
          </p:cNvPr>
          <p:cNvSpPr/>
          <p:nvPr/>
        </p:nvSpPr>
        <p:spPr>
          <a:xfrm>
            <a:off x="10388600" y="2565401"/>
            <a:ext cx="304800" cy="304800"/>
          </a:xfrm>
          <a:prstGeom prst="ellipse">
            <a:avLst/>
          </a:prstGeom>
          <a:solidFill>
            <a:srgbClr val="1B3A5C"/>
          </a:solidFill>
          <a:ln w="19050">
            <a:solidFill>
              <a:srgbClr val="7FA8C9"/>
            </a:solidFill>
          </a:ln>
        </p:spPr>
        <p:txBody>
          <a:bodyPr lIns="0" tIns="0" rIns="0" bIns="0" anchor="ctr"/>
          <a:lstStyle/>
          <a:p>
            <a:pPr algn="ctr"/>
            <a:r>
              <a:rPr lang="de-CH" sz="1300" b="1" dirty="0">
                <a:solidFill>
                  <a:srgbClr val="FFFFFF"/>
                </a:solidFill>
              </a:rPr>
              <a:t>6</a:t>
            </a:r>
          </a:p>
        </p:txBody>
      </p:sp>
      <p:sp>
        <p:nvSpPr>
          <p:cNvPr id="64" name="c5">
            <a:extLst>
              <a:ext uri="{FF2B5EF4-FFF2-40B4-BE49-F238E27FC236}">
                <a16:creationId xmlns:a16="http://schemas.microsoft.com/office/drawing/2014/main" id="{9677F38E-7E1C-27E9-A3E1-1E818DE11FE1}"/>
              </a:ext>
            </a:extLst>
          </p:cNvPr>
          <p:cNvSpPr/>
          <p:nvPr/>
        </p:nvSpPr>
        <p:spPr>
          <a:xfrm>
            <a:off x="9728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Detailspezifikation und Abnahme</a:t>
            </a:r>
          </a:p>
          <a:p>
            <a:pPr algn="ctr">
              <a:spcBef>
                <a:spcPts val="400"/>
              </a:spcBef>
            </a:pPr>
            <a:r>
              <a:rPr lang="de-CH" sz="1100" dirty="0">
                <a:solidFill>
                  <a:srgbClr val="5B6B79"/>
                </a:solidFill>
              </a:rPr>
              <a:t>Anforderungskatalog inkl. User Stories und Use Cases, Projektabnahme</a:t>
            </a:r>
          </a:p>
          <a:p>
            <a:pPr algn="ctr">
              <a:spcBef>
                <a:spcPts val="400"/>
              </a:spcBef>
            </a:pPr>
            <a:endParaRPr lang="de-CH" sz="1100" dirty="0">
              <a:solidFill>
                <a:srgbClr val="5B6B79"/>
              </a:solidFill>
            </a:endParaRPr>
          </a:p>
        </p:txBody>
      </p:sp>
      <p:sp>
        <p:nvSpPr>
          <p:cNvPr id="3" name="b0">
            <a:extLst>
              <a:ext uri="{FF2B5EF4-FFF2-40B4-BE49-F238E27FC236}">
                <a16:creationId xmlns:a16="http://schemas.microsoft.com/office/drawing/2014/main" id="{582BB6F5-E720-D215-9DAB-BA7A0643FCE3}"/>
              </a:ext>
            </a:extLst>
          </p:cNvPr>
          <p:cNvSpPr/>
          <p:nvPr/>
        </p:nvSpPr>
        <p:spPr>
          <a:xfrm>
            <a:off x="8610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5</a:t>
            </a:r>
          </a:p>
        </p:txBody>
      </p:sp>
      <p:sp>
        <p:nvSpPr>
          <p:cNvPr id="4" name="b0">
            <a:extLst>
              <a:ext uri="{FF2B5EF4-FFF2-40B4-BE49-F238E27FC236}">
                <a16:creationId xmlns:a16="http://schemas.microsoft.com/office/drawing/2014/main" id="{798916E6-86A8-C96B-ABAD-E00BFC887D80}"/>
              </a:ext>
            </a:extLst>
          </p:cNvPr>
          <p:cNvSpPr/>
          <p:nvPr/>
        </p:nvSpPr>
        <p:spPr>
          <a:xfrm>
            <a:off x="1346200" y="2565401"/>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5" name="Grafik 4" descr="Häkchen mit einfarbiger Füllung">
            <a:extLst>
              <a:ext uri="{FF2B5EF4-FFF2-40B4-BE49-F238E27FC236}">
                <a16:creationId xmlns:a16="http://schemas.microsoft.com/office/drawing/2014/main" id="{77F12B8E-97D0-708D-43BB-DC09FD1AD7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0650" y="2609851"/>
            <a:ext cx="215900" cy="215900"/>
          </a:xfrm>
          <a:prstGeom prst="rect">
            <a:avLst/>
          </a:prstGeom>
        </p:spPr>
      </p:pic>
      <p:sp>
        <p:nvSpPr>
          <p:cNvPr id="6" name="b0">
            <a:extLst>
              <a:ext uri="{FF2B5EF4-FFF2-40B4-BE49-F238E27FC236}">
                <a16:creationId xmlns:a16="http://schemas.microsoft.com/office/drawing/2014/main" id="{C9D79A72-0B0C-031D-C9B7-02974F0D6438}"/>
              </a:ext>
            </a:extLst>
          </p:cNvPr>
          <p:cNvSpPr/>
          <p:nvPr/>
        </p:nvSpPr>
        <p:spPr>
          <a:xfrm>
            <a:off x="3200400" y="2580988"/>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7" name="Grafik 6" descr="Häkchen mit einfarbiger Füllung">
            <a:extLst>
              <a:ext uri="{FF2B5EF4-FFF2-40B4-BE49-F238E27FC236}">
                <a16:creationId xmlns:a16="http://schemas.microsoft.com/office/drawing/2014/main" id="{AD78F3C0-0C5A-A9AA-2423-271CDA537E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44850" y="2625438"/>
            <a:ext cx="215900" cy="215900"/>
          </a:xfrm>
          <a:prstGeom prst="rect">
            <a:avLst/>
          </a:prstGeom>
        </p:spPr>
      </p:pic>
      <p:sp>
        <p:nvSpPr>
          <p:cNvPr id="8" name="b0">
            <a:extLst>
              <a:ext uri="{FF2B5EF4-FFF2-40B4-BE49-F238E27FC236}">
                <a16:creationId xmlns:a16="http://schemas.microsoft.com/office/drawing/2014/main" id="{A9FD530D-9E85-88E5-93CE-68F3335320F9}"/>
              </a:ext>
            </a:extLst>
          </p:cNvPr>
          <p:cNvSpPr/>
          <p:nvPr/>
        </p:nvSpPr>
        <p:spPr>
          <a:xfrm>
            <a:off x="5016500" y="2580988"/>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9" name="Grafik 8" descr="Häkchen mit einfarbiger Füllung">
            <a:extLst>
              <a:ext uri="{FF2B5EF4-FFF2-40B4-BE49-F238E27FC236}">
                <a16:creationId xmlns:a16="http://schemas.microsoft.com/office/drawing/2014/main" id="{47440D5F-9582-130E-5D89-630DA5FE18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60950" y="2625438"/>
            <a:ext cx="215900" cy="215900"/>
          </a:xfrm>
          <a:prstGeom prst="rect">
            <a:avLst/>
          </a:prstGeom>
        </p:spPr>
      </p:pic>
      <p:sp>
        <p:nvSpPr>
          <p:cNvPr id="10" name="b0">
            <a:extLst>
              <a:ext uri="{FF2B5EF4-FFF2-40B4-BE49-F238E27FC236}">
                <a16:creationId xmlns:a16="http://schemas.microsoft.com/office/drawing/2014/main" id="{C590369D-B93B-5C84-0058-566E3C2E80A2}"/>
              </a:ext>
            </a:extLst>
          </p:cNvPr>
          <p:cNvSpPr/>
          <p:nvPr/>
        </p:nvSpPr>
        <p:spPr>
          <a:xfrm>
            <a:off x="6826252" y="2559630"/>
            <a:ext cx="304800" cy="304800"/>
          </a:xfrm>
          <a:prstGeom prst="ellipse">
            <a:avLst/>
          </a:prstGeom>
          <a:solidFill>
            <a:srgbClr val="1B3A5C"/>
          </a:solidFill>
          <a:ln w="19050">
            <a:solidFill>
              <a:srgbClr val="1B3A5C"/>
            </a:solidFill>
          </a:ln>
        </p:spPr>
        <p:txBody>
          <a:bodyPr lIns="0" tIns="0" rIns="0" bIns="0" anchor="ctr"/>
          <a:lstStyle/>
          <a:p>
            <a:pPr algn="ctr"/>
            <a:endParaRPr lang="de-CH" sz="1300" b="1" dirty="0">
              <a:solidFill>
                <a:srgbClr val="FFFFFF"/>
              </a:solidFill>
            </a:endParaRPr>
          </a:p>
        </p:txBody>
      </p:sp>
      <p:pic>
        <p:nvPicPr>
          <p:cNvPr id="11" name="Grafik 10" descr="Häkchen mit einfarbiger Füllung">
            <a:extLst>
              <a:ext uri="{FF2B5EF4-FFF2-40B4-BE49-F238E27FC236}">
                <a16:creationId xmlns:a16="http://schemas.microsoft.com/office/drawing/2014/main" id="{25AB763A-7AED-52E2-17FD-22C713A6B8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70702" y="2604080"/>
            <a:ext cx="215900" cy="215900"/>
          </a:xfrm>
          <a:prstGeom prst="rect">
            <a:avLst/>
          </a:prstGeom>
        </p:spPr>
      </p:pic>
      <p:sp>
        <p:nvSpPr>
          <p:cNvPr id="90" name="here_pill"/>
          <p:cNvSpPr/>
          <p:nvPr/>
        </p:nvSpPr>
        <p:spPr>
          <a:xfrm>
            <a:off x="7797800" y="2032000"/>
            <a:ext cx="1930400" cy="355600"/>
          </a:xfrm>
          <a:prstGeom prst="roundRect">
            <a:avLst>
              <a:gd name="adj" fmla="val 50000"/>
            </a:avLst>
          </a:prstGeom>
          <a:solidFill>
            <a:srgbClr val="C8893A"/>
          </a:solidFill>
          <a:ln>
            <a:noFill/>
          </a:ln>
        </p:spPr>
        <p:txBody>
          <a:bodyPr lIns="76200" tIns="0" rIns="76200" bIns="0" anchor="ctr"/>
          <a:lstStyle/>
          <a:p>
            <a:pPr algn="ctr"/>
            <a:r>
              <a:rPr lang="de-CH" sz="1100" b="1" dirty="0">
                <a:solidFill>
                  <a:srgbClr val="FFFFFF"/>
                </a:solidFill>
              </a:rPr>
              <a:t>WIR SIND HIER</a:t>
            </a:r>
          </a:p>
        </p:txBody>
      </p:sp>
      <p:sp>
        <p:nvSpPr>
          <p:cNvPr id="91" name="here_arrow"/>
          <p:cNvSpPr/>
          <p:nvPr/>
        </p:nvSpPr>
        <p:spPr>
          <a:xfrm>
            <a:off x="8737600" y="2387600"/>
            <a:ext cx="50800" cy="152400"/>
          </a:xfrm>
          <a:prstGeom prst="rect">
            <a:avLst/>
          </a:prstGeom>
          <a:solidFill>
            <a:srgbClr val="C8893A"/>
          </a:solidFill>
          <a:ln>
            <a:noFill/>
          </a:ln>
        </p:spPr>
        <p:txBody>
          <a:bodyPr/>
          <a:lstStyle/>
          <a:p>
            <a:endParaRPr/>
          </a:p>
        </p:txBody>
      </p:sp>
      <p:sp>
        <p:nvSpPr>
          <p:cNvPr id="12" name="Foliennummernplatzhalter 11">
            <a:extLst>
              <a:ext uri="{FF2B5EF4-FFF2-40B4-BE49-F238E27FC236}">
                <a16:creationId xmlns:a16="http://schemas.microsoft.com/office/drawing/2014/main" id="{5CDF25F7-084E-598F-0687-E94E5CC9C1F4}"/>
              </a:ext>
            </a:extLst>
          </p:cNvPr>
          <p:cNvSpPr>
            <a:spLocks noGrp="1"/>
          </p:cNvSpPr>
          <p:nvPr>
            <p:ph type="sldNum" sz="quarter" idx="12"/>
          </p:nvPr>
        </p:nvSpPr>
        <p:spPr/>
        <p:txBody>
          <a:bodyPr/>
          <a:lstStyle/>
          <a:p>
            <a:fld id="{2AAFDC3C-A9F8-4ABD-8D8D-8DC3321B02DC}" type="slidenum">
              <a:rPr lang="de-CH" smtClean="0"/>
              <a:t>28</a:t>
            </a:fld>
            <a:endParaRPr lang="de-CH"/>
          </a:p>
        </p:txBody>
      </p:sp>
      <p:sp>
        <p:nvSpPr>
          <p:cNvPr id="13" name="Datumsplatzhalter 12">
            <a:extLst>
              <a:ext uri="{FF2B5EF4-FFF2-40B4-BE49-F238E27FC236}">
                <a16:creationId xmlns:a16="http://schemas.microsoft.com/office/drawing/2014/main" id="{A5CA6351-7996-D6EA-8C2B-5B2E555BE216}"/>
              </a:ext>
            </a:extLst>
          </p:cNvPr>
          <p:cNvSpPr>
            <a:spLocks noGrp="1"/>
          </p:cNvSpPr>
          <p:nvPr>
            <p:ph type="dt" sz="half" idx="10"/>
          </p:nvPr>
        </p:nvSpPr>
        <p:spPr/>
        <p:txBody>
          <a:bodyPr/>
          <a:lstStyle/>
          <a:p>
            <a:r>
              <a:rPr lang="de-CH"/>
              <a:t>11.06.2026</a:t>
            </a:r>
          </a:p>
        </p:txBody>
      </p:sp>
    </p:spTree>
    <p:extLst>
      <p:ext uri="{BB962C8B-B14F-4D97-AF65-F5344CB8AC3E}">
        <p14:creationId xmlns:p14="http://schemas.microsoft.com/office/powerpoint/2010/main" val="20745673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BB8D83B-2133-98A4-1151-941DDB88C44B}"/>
              </a:ext>
            </a:extLst>
          </p:cNvPr>
          <p:cNvSpPr>
            <a:spLocks noGrp="1"/>
          </p:cNvSpPr>
          <p:nvPr>
            <p:ph type="title"/>
          </p:nvPr>
        </p:nvSpPr>
        <p:spPr/>
        <p:txBody>
          <a:bodyPr/>
          <a:lstStyle/>
          <a:p>
            <a:pPr algn="l"/>
            <a:r>
              <a:rPr lang="de-CH" sz="2800" b="1" dirty="0">
                <a:solidFill>
                  <a:srgbClr val="1B3A5C"/>
                </a:solidFill>
              </a:rPr>
              <a:t>Ausblick</a:t>
            </a:r>
          </a:p>
        </p:txBody>
      </p:sp>
      <p:sp>
        <p:nvSpPr>
          <p:cNvPr id="50" name="eb"/>
          <p:cNvSpPr/>
          <p:nvPr/>
        </p:nvSpPr>
        <p:spPr>
          <a:xfrm>
            <a:off x="838200" y="1574800"/>
            <a:ext cx="10515600" cy="279400"/>
          </a:xfrm>
          <a:prstGeom prst="rect">
            <a:avLst/>
          </a:prstGeom>
          <a:noFill/>
        </p:spPr>
        <p:txBody>
          <a:bodyPr lIns="0" tIns="0" rIns="0" bIns="0"/>
          <a:lstStyle/>
          <a:p>
            <a:r>
              <a:rPr lang="de-CH" sz="1400" b="1">
                <a:solidFill>
                  <a:srgbClr val="2E6CA4"/>
                </a:solidFill>
              </a:rPr>
              <a:t>NÄCHSTE SCHRITTE BIS ZUR PROJEKTABNAHME</a:t>
            </a:r>
          </a:p>
        </p:txBody>
      </p:sp>
      <p:sp>
        <p:nvSpPr>
          <p:cNvPr id="51" name="c"/>
          <p:cNvSpPr/>
          <p:nvPr/>
        </p:nvSpPr>
        <p:spPr>
          <a:xfrm>
            <a:off x="838200" y="2108200"/>
            <a:ext cx="3352800" cy="2946400"/>
          </a:xfrm>
          <a:prstGeom prst="roundRect">
            <a:avLst>
              <a:gd name="adj" fmla="val 5000"/>
            </a:avLst>
          </a:prstGeom>
          <a:solidFill>
            <a:srgbClr val="FFFFFF"/>
          </a:solidFill>
          <a:ln w="12700">
            <a:solidFill>
              <a:srgbClr val="C9D6E2"/>
            </a:solidFill>
          </a:ln>
        </p:spPr>
        <p:txBody>
          <a:bodyPr/>
          <a:lstStyle/>
          <a:p>
            <a:endParaRPr/>
          </a:p>
        </p:txBody>
      </p:sp>
      <p:sp>
        <p:nvSpPr>
          <p:cNvPr id="52" name="bd"/>
          <p:cNvSpPr/>
          <p:nvPr/>
        </p:nvSpPr>
        <p:spPr>
          <a:xfrm>
            <a:off x="1041400" y="2311400"/>
            <a:ext cx="431800" cy="431800"/>
          </a:xfrm>
          <a:prstGeom prst="ellipse">
            <a:avLst/>
          </a:prstGeom>
          <a:solidFill>
            <a:srgbClr val="2E6CA4"/>
          </a:solidFill>
          <a:ln>
            <a:noFill/>
          </a:ln>
        </p:spPr>
        <p:txBody>
          <a:bodyPr lIns="0" tIns="0" rIns="0" bIns="0" anchor="ctr"/>
          <a:lstStyle/>
          <a:p>
            <a:pPr algn="ctr"/>
            <a:r>
              <a:rPr lang="de-CH" sz="1500" b="1">
                <a:solidFill>
                  <a:srgbClr val="FFFFFF"/>
                </a:solidFill>
              </a:rPr>
              <a:t>1</a:t>
            </a:r>
          </a:p>
        </p:txBody>
      </p:sp>
      <p:sp>
        <p:nvSpPr>
          <p:cNvPr id="53" name="hd"/>
          <p:cNvSpPr/>
          <p:nvPr/>
        </p:nvSpPr>
        <p:spPr>
          <a:xfrm>
            <a:off x="1600200" y="2336800"/>
            <a:ext cx="2438400" cy="406400"/>
          </a:xfrm>
          <a:prstGeom prst="rect">
            <a:avLst/>
          </a:prstGeom>
          <a:noFill/>
        </p:spPr>
        <p:txBody>
          <a:bodyPr lIns="0" tIns="0" rIns="0" bIns="0" anchor="ctr"/>
          <a:lstStyle/>
          <a:p>
            <a:r>
              <a:rPr lang="de-CH" sz="1700" b="1">
                <a:solidFill>
                  <a:srgbClr val="1B3A5C"/>
                </a:solidFill>
              </a:rPr>
              <a:t>SOLL-Konzept</a:t>
            </a:r>
          </a:p>
        </p:txBody>
      </p:sp>
      <p:sp>
        <p:nvSpPr>
          <p:cNvPr id="54" name="dv"/>
          <p:cNvSpPr/>
          <p:nvPr/>
        </p:nvSpPr>
        <p:spPr>
          <a:xfrm>
            <a:off x="1041400" y="2895600"/>
            <a:ext cx="2946400" cy="12700"/>
          </a:xfrm>
          <a:prstGeom prst="rect">
            <a:avLst/>
          </a:prstGeom>
          <a:solidFill>
            <a:srgbClr val="E2E9F0"/>
          </a:solidFill>
          <a:ln>
            <a:noFill/>
          </a:ln>
        </p:spPr>
        <p:txBody>
          <a:bodyPr/>
          <a:lstStyle/>
          <a:p>
            <a:endParaRPr/>
          </a:p>
        </p:txBody>
      </p:sp>
      <p:sp>
        <p:nvSpPr>
          <p:cNvPr id="55" name="bt"/>
          <p:cNvSpPr/>
          <p:nvPr/>
        </p:nvSpPr>
        <p:spPr>
          <a:xfrm>
            <a:off x="1016000" y="3048000"/>
            <a:ext cx="3022600" cy="1854200"/>
          </a:xfrm>
          <a:prstGeom prst="rect">
            <a:avLst/>
          </a:prstGeom>
          <a:noFill/>
        </p:spPr>
        <p:txBody>
          <a:bodyPr lIns="76200" tIns="0" rIns="50800" bIns="0">
            <a:normAutofit fontScale="92500" lnSpcReduction="20000"/>
          </a:bodyPr>
          <a:lstStyle/>
          <a:p>
            <a:pPr marL="203200" indent="-203200">
              <a:spcBef>
                <a:spcPts val="700"/>
              </a:spcBef>
              <a:buFont typeface="Arial"/>
              <a:buChar char="–"/>
            </a:pPr>
            <a:r>
              <a:rPr lang="de-CH" sz="1400" dirty="0">
                <a:solidFill>
                  <a:srgbClr val="1A2A38"/>
                </a:solidFill>
              </a:rPr>
              <a:t>Konzept gemeinsam im 2. Workshop erarbeiten</a:t>
            </a:r>
          </a:p>
          <a:p>
            <a:pPr marL="203200" indent="-203200">
              <a:spcBef>
                <a:spcPts val="700"/>
              </a:spcBef>
              <a:buFont typeface="Arial"/>
              <a:buChar char="–"/>
            </a:pPr>
            <a:r>
              <a:rPr lang="de-CH" sz="1400" dirty="0">
                <a:solidFill>
                  <a:srgbClr val="1A2A38"/>
                </a:solidFill>
              </a:rPr>
              <a:t>Benötigte Informationen für die Übergaben festlegen</a:t>
            </a:r>
          </a:p>
          <a:p>
            <a:pPr marL="203200" indent="-203200">
              <a:spcBef>
                <a:spcPts val="700"/>
              </a:spcBef>
              <a:buFont typeface="Arial"/>
              <a:buChar char="–"/>
            </a:pPr>
            <a:r>
              <a:rPr lang="de-CH" sz="1400" dirty="0"/>
              <a:t>Zielbild: zentrale Fallführung in Jira, systemgestützte Übergaben und standardisierte Sonderfalllogik</a:t>
            </a:r>
            <a:endParaRPr lang="de-CH" sz="1400" dirty="0">
              <a:solidFill>
                <a:srgbClr val="1A2A38"/>
              </a:solidFill>
            </a:endParaRPr>
          </a:p>
          <a:p>
            <a:pPr marL="203200" indent="-203200">
              <a:spcBef>
                <a:spcPts val="700"/>
              </a:spcBef>
              <a:buFont typeface="Arial"/>
              <a:buChar char="–"/>
            </a:pPr>
            <a:r>
              <a:rPr lang="de-CH" sz="1400" dirty="0">
                <a:solidFill>
                  <a:srgbClr val="1A2A38"/>
                </a:solidFill>
              </a:rPr>
              <a:t>Anforderungen an den SOLL-Prozess definieren</a:t>
            </a:r>
          </a:p>
        </p:txBody>
      </p:sp>
      <p:sp>
        <p:nvSpPr>
          <p:cNvPr id="56" name="ar"/>
          <p:cNvSpPr/>
          <p:nvPr/>
        </p:nvSpPr>
        <p:spPr>
          <a:xfrm>
            <a:off x="4216400" y="3467100"/>
            <a:ext cx="177800" cy="228600"/>
          </a:xfrm>
          <a:prstGeom prst="rightArrow">
            <a:avLst/>
          </a:prstGeom>
          <a:solidFill>
            <a:srgbClr val="7FA8C9"/>
          </a:solidFill>
          <a:ln>
            <a:noFill/>
          </a:ln>
        </p:spPr>
        <p:txBody>
          <a:bodyPr/>
          <a:lstStyle/>
          <a:p>
            <a:endParaRPr/>
          </a:p>
        </p:txBody>
      </p:sp>
      <p:sp>
        <p:nvSpPr>
          <p:cNvPr id="57" name="c"/>
          <p:cNvSpPr/>
          <p:nvPr/>
        </p:nvSpPr>
        <p:spPr>
          <a:xfrm>
            <a:off x="4419600" y="2108200"/>
            <a:ext cx="3352800" cy="2946400"/>
          </a:xfrm>
          <a:prstGeom prst="roundRect">
            <a:avLst>
              <a:gd name="adj" fmla="val 5000"/>
            </a:avLst>
          </a:prstGeom>
          <a:solidFill>
            <a:srgbClr val="FFFFFF"/>
          </a:solidFill>
          <a:ln w="12700">
            <a:solidFill>
              <a:srgbClr val="C9D6E2"/>
            </a:solidFill>
          </a:ln>
        </p:spPr>
        <p:txBody>
          <a:bodyPr/>
          <a:lstStyle/>
          <a:p>
            <a:endParaRPr/>
          </a:p>
        </p:txBody>
      </p:sp>
      <p:sp>
        <p:nvSpPr>
          <p:cNvPr id="58" name="bd"/>
          <p:cNvSpPr/>
          <p:nvPr/>
        </p:nvSpPr>
        <p:spPr>
          <a:xfrm>
            <a:off x="4622800" y="2311400"/>
            <a:ext cx="431800" cy="431800"/>
          </a:xfrm>
          <a:prstGeom prst="ellipse">
            <a:avLst/>
          </a:prstGeom>
          <a:solidFill>
            <a:srgbClr val="2E6CA4"/>
          </a:solidFill>
          <a:ln>
            <a:noFill/>
          </a:ln>
        </p:spPr>
        <p:txBody>
          <a:bodyPr lIns="0" tIns="0" rIns="0" bIns="0" anchor="ctr"/>
          <a:lstStyle/>
          <a:p>
            <a:pPr algn="ctr"/>
            <a:r>
              <a:rPr lang="de-CH" sz="1500" b="1">
                <a:solidFill>
                  <a:srgbClr val="FFFFFF"/>
                </a:solidFill>
              </a:rPr>
              <a:t>2</a:t>
            </a:r>
          </a:p>
        </p:txBody>
      </p:sp>
      <p:sp>
        <p:nvSpPr>
          <p:cNvPr id="59" name="hd"/>
          <p:cNvSpPr/>
          <p:nvPr/>
        </p:nvSpPr>
        <p:spPr>
          <a:xfrm>
            <a:off x="5181600" y="2336800"/>
            <a:ext cx="2438400" cy="406400"/>
          </a:xfrm>
          <a:prstGeom prst="rect">
            <a:avLst/>
          </a:prstGeom>
          <a:noFill/>
        </p:spPr>
        <p:txBody>
          <a:bodyPr lIns="0" tIns="0" rIns="0" bIns="0" anchor="ctr"/>
          <a:lstStyle/>
          <a:p>
            <a:r>
              <a:rPr lang="de-CH" sz="1700" b="1">
                <a:solidFill>
                  <a:srgbClr val="1B3A5C"/>
                </a:solidFill>
              </a:rPr>
              <a:t>Detailspezifikation</a:t>
            </a:r>
          </a:p>
        </p:txBody>
      </p:sp>
      <p:sp>
        <p:nvSpPr>
          <p:cNvPr id="60" name="dv"/>
          <p:cNvSpPr/>
          <p:nvPr/>
        </p:nvSpPr>
        <p:spPr>
          <a:xfrm>
            <a:off x="4622800" y="2895600"/>
            <a:ext cx="2946400" cy="12700"/>
          </a:xfrm>
          <a:prstGeom prst="rect">
            <a:avLst/>
          </a:prstGeom>
          <a:solidFill>
            <a:srgbClr val="E2E9F0"/>
          </a:solidFill>
          <a:ln>
            <a:noFill/>
          </a:ln>
        </p:spPr>
        <p:txBody>
          <a:bodyPr/>
          <a:lstStyle/>
          <a:p>
            <a:endParaRPr/>
          </a:p>
        </p:txBody>
      </p:sp>
      <p:sp>
        <p:nvSpPr>
          <p:cNvPr id="61" name="bt"/>
          <p:cNvSpPr/>
          <p:nvPr/>
        </p:nvSpPr>
        <p:spPr>
          <a:xfrm>
            <a:off x="4597400" y="3048000"/>
            <a:ext cx="3022600" cy="1854200"/>
          </a:xfrm>
          <a:prstGeom prst="rect">
            <a:avLst/>
          </a:prstGeom>
          <a:noFill/>
        </p:spPr>
        <p:txBody>
          <a:bodyPr lIns="76200" tIns="0" rIns="50800" bIns="0">
            <a:normAutofit/>
          </a:bodyPr>
          <a:lstStyle/>
          <a:p>
            <a:pPr marL="203200" indent="-203200">
              <a:spcBef>
                <a:spcPts val="700"/>
              </a:spcBef>
              <a:buFont typeface="Arial"/>
              <a:buChar char="–"/>
            </a:pPr>
            <a:r>
              <a:rPr lang="de-CH" sz="1400" dirty="0">
                <a:solidFill>
                  <a:srgbClr val="1A2A38"/>
                </a:solidFill>
              </a:rPr>
              <a:t>Anforderungskatalog inkl. User Stories und Use Cases</a:t>
            </a:r>
          </a:p>
          <a:p>
            <a:pPr marL="203200" indent="-203200">
              <a:spcBef>
                <a:spcPts val="700"/>
              </a:spcBef>
              <a:buFont typeface="Arial"/>
              <a:buChar char="–"/>
            </a:pPr>
            <a:r>
              <a:rPr lang="de-CH" sz="1400" u="sng" dirty="0">
                <a:solidFill>
                  <a:schemeClr val="accent6">
                    <a:lumMod val="60000"/>
                    <a:lumOff val="40000"/>
                  </a:schemeClr>
                </a:solidFill>
              </a:rPr>
              <a:t>Vertiefendes Interview mit der IT-Abteilung</a:t>
            </a:r>
          </a:p>
          <a:p>
            <a:pPr marL="203200" indent="-203200">
              <a:spcBef>
                <a:spcPts val="700"/>
              </a:spcBef>
              <a:buFont typeface="Arial"/>
              <a:buChar char="–"/>
            </a:pPr>
            <a:r>
              <a:rPr lang="de-CH" sz="1400" u="sng" dirty="0">
                <a:solidFill>
                  <a:schemeClr val="accent6">
                    <a:lumMod val="60000"/>
                    <a:lumOff val="40000"/>
                  </a:schemeClr>
                </a:solidFill>
              </a:rPr>
              <a:t>Spezifikation fürs Ticketing-System (Jira)</a:t>
            </a:r>
          </a:p>
        </p:txBody>
      </p:sp>
      <p:sp>
        <p:nvSpPr>
          <p:cNvPr id="62" name="ar"/>
          <p:cNvSpPr/>
          <p:nvPr/>
        </p:nvSpPr>
        <p:spPr>
          <a:xfrm>
            <a:off x="7797800" y="3467100"/>
            <a:ext cx="177800" cy="228600"/>
          </a:xfrm>
          <a:prstGeom prst="rightArrow">
            <a:avLst/>
          </a:prstGeom>
          <a:solidFill>
            <a:srgbClr val="7FA8C9"/>
          </a:solidFill>
          <a:ln>
            <a:noFill/>
          </a:ln>
        </p:spPr>
        <p:txBody>
          <a:bodyPr/>
          <a:lstStyle/>
          <a:p>
            <a:endParaRPr/>
          </a:p>
        </p:txBody>
      </p:sp>
      <p:sp>
        <p:nvSpPr>
          <p:cNvPr id="63" name="c"/>
          <p:cNvSpPr/>
          <p:nvPr/>
        </p:nvSpPr>
        <p:spPr>
          <a:xfrm>
            <a:off x="8001000" y="2108200"/>
            <a:ext cx="3352800" cy="2946400"/>
          </a:xfrm>
          <a:prstGeom prst="roundRect">
            <a:avLst>
              <a:gd name="adj" fmla="val 5000"/>
            </a:avLst>
          </a:prstGeom>
          <a:solidFill>
            <a:srgbClr val="1B3A5C"/>
          </a:solidFill>
          <a:ln w="25400">
            <a:solidFill>
              <a:srgbClr val="1B3A5C"/>
            </a:solidFill>
          </a:ln>
        </p:spPr>
        <p:txBody>
          <a:bodyPr/>
          <a:lstStyle/>
          <a:p>
            <a:endParaRPr/>
          </a:p>
        </p:txBody>
      </p:sp>
      <p:sp>
        <p:nvSpPr>
          <p:cNvPr id="64" name="bd"/>
          <p:cNvSpPr/>
          <p:nvPr/>
        </p:nvSpPr>
        <p:spPr>
          <a:xfrm>
            <a:off x="8204200" y="2311400"/>
            <a:ext cx="431800" cy="431800"/>
          </a:xfrm>
          <a:prstGeom prst="ellipse">
            <a:avLst/>
          </a:prstGeom>
          <a:solidFill>
            <a:srgbClr val="C8893A"/>
          </a:solidFill>
          <a:ln>
            <a:noFill/>
          </a:ln>
        </p:spPr>
        <p:txBody>
          <a:bodyPr lIns="0" tIns="0" rIns="0" bIns="0" anchor="ctr"/>
          <a:lstStyle/>
          <a:p>
            <a:pPr algn="ctr"/>
            <a:r>
              <a:rPr lang="de-CH" sz="1500" b="1">
                <a:solidFill>
                  <a:srgbClr val="FFFFFF"/>
                </a:solidFill>
              </a:rPr>
              <a:t>3</a:t>
            </a:r>
          </a:p>
        </p:txBody>
      </p:sp>
      <p:sp>
        <p:nvSpPr>
          <p:cNvPr id="65" name="hd"/>
          <p:cNvSpPr/>
          <p:nvPr/>
        </p:nvSpPr>
        <p:spPr>
          <a:xfrm>
            <a:off x="8763000" y="2336800"/>
            <a:ext cx="2438400" cy="406400"/>
          </a:xfrm>
          <a:prstGeom prst="rect">
            <a:avLst/>
          </a:prstGeom>
          <a:noFill/>
        </p:spPr>
        <p:txBody>
          <a:bodyPr lIns="0" tIns="0" rIns="0" bIns="0" anchor="ctr"/>
          <a:lstStyle/>
          <a:p>
            <a:r>
              <a:rPr lang="de-CH" sz="1700" b="1" dirty="0">
                <a:solidFill>
                  <a:srgbClr val="FFFFFF"/>
                </a:solidFill>
              </a:rPr>
              <a:t>Projektabnahme</a:t>
            </a:r>
          </a:p>
        </p:txBody>
      </p:sp>
      <p:sp>
        <p:nvSpPr>
          <p:cNvPr id="66" name="dv"/>
          <p:cNvSpPr/>
          <p:nvPr/>
        </p:nvSpPr>
        <p:spPr>
          <a:xfrm>
            <a:off x="8204200" y="2895600"/>
            <a:ext cx="2946400" cy="12700"/>
          </a:xfrm>
          <a:prstGeom prst="rect">
            <a:avLst/>
          </a:prstGeom>
          <a:solidFill>
            <a:srgbClr val="3A5878"/>
          </a:solidFill>
          <a:ln>
            <a:noFill/>
          </a:ln>
        </p:spPr>
        <p:txBody>
          <a:bodyPr/>
          <a:lstStyle/>
          <a:p>
            <a:endParaRPr/>
          </a:p>
        </p:txBody>
      </p:sp>
      <p:sp>
        <p:nvSpPr>
          <p:cNvPr id="67" name="bt"/>
          <p:cNvSpPr/>
          <p:nvPr/>
        </p:nvSpPr>
        <p:spPr>
          <a:xfrm>
            <a:off x="8178800" y="3048000"/>
            <a:ext cx="3022600" cy="1854200"/>
          </a:xfrm>
          <a:prstGeom prst="rect">
            <a:avLst/>
          </a:prstGeom>
          <a:noFill/>
        </p:spPr>
        <p:txBody>
          <a:bodyPr lIns="76200" tIns="0" rIns="50800" bIns="0">
            <a:normAutofit/>
          </a:bodyPr>
          <a:lstStyle/>
          <a:p>
            <a:pPr marL="203200" indent="-203200">
              <a:spcBef>
                <a:spcPts val="700"/>
              </a:spcBef>
              <a:buFont typeface="Arial"/>
              <a:buChar char="–"/>
            </a:pPr>
            <a:r>
              <a:rPr lang="de-CH" sz="1400" dirty="0">
                <a:solidFill>
                  <a:srgbClr val="D7E4F0"/>
                </a:solidFill>
              </a:rPr>
              <a:t>Finales SOLL-Konzept übergeben</a:t>
            </a:r>
          </a:p>
          <a:p>
            <a:pPr marL="203200" indent="-203200">
              <a:spcBef>
                <a:spcPts val="700"/>
              </a:spcBef>
              <a:buFont typeface="Arial"/>
              <a:buChar char="–"/>
            </a:pPr>
            <a:r>
              <a:rPr lang="de-CH" sz="1400" dirty="0">
                <a:solidFill>
                  <a:srgbClr val="D7E4F0"/>
                </a:solidFill>
              </a:rPr>
              <a:t>Ergebnisse mit Auftraggeberseite abnehmen</a:t>
            </a:r>
          </a:p>
          <a:p>
            <a:pPr marL="203200" indent="-203200">
              <a:spcBef>
                <a:spcPts val="700"/>
              </a:spcBef>
              <a:buFont typeface="Arial"/>
              <a:buChar char="–"/>
            </a:pPr>
            <a:r>
              <a:rPr lang="de-CH" sz="1400" dirty="0">
                <a:solidFill>
                  <a:srgbClr val="D7E4F0"/>
                </a:solidFill>
              </a:rPr>
              <a:t>Abschluss der Bachelorarbeit</a:t>
            </a:r>
          </a:p>
          <a:p>
            <a:pPr marL="203200" indent="-203200">
              <a:spcBef>
                <a:spcPts val="700"/>
              </a:spcBef>
              <a:buFont typeface="Arial"/>
              <a:buChar char="–"/>
            </a:pPr>
            <a:r>
              <a:rPr lang="de-CH" sz="1400" dirty="0">
                <a:solidFill>
                  <a:srgbClr val="D7E4F0"/>
                </a:solidFill>
              </a:rPr>
              <a:t>Abschlusspräsentation</a:t>
            </a:r>
          </a:p>
          <a:p>
            <a:pPr marL="203200" indent="-203200">
              <a:spcBef>
                <a:spcPts val="700"/>
              </a:spcBef>
              <a:buFont typeface="Arial"/>
              <a:buChar char="–"/>
            </a:pPr>
            <a:r>
              <a:rPr lang="de-CH" sz="1400" dirty="0">
                <a:solidFill>
                  <a:srgbClr val="D7E4F0"/>
                </a:solidFill>
              </a:rPr>
              <a:t>Management Summary</a:t>
            </a:r>
          </a:p>
        </p:txBody>
      </p:sp>
      <p:sp>
        <p:nvSpPr>
          <p:cNvPr id="68" name="take"/>
          <p:cNvSpPr/>
          <p:nvPr/>
        </p:nvSpPr>
        <p:spPr>
          <a:xfrm>
            <a:off x="838200" y="5334000"/>
            <a:ext cx="10515600" cy="838200"/>
          </a:xfrm>
          <a:prstGeom prst="roundRect">
            <a:avLst>
              <a:gd name="adj" fmla="val 8000"/>
            </a:avLst>
          </a:prstGeom>
          <a:solidFill>
            <a:srgbClr val="1B3A5C"/>
          </a:solidFill>
          <a:ln>
            <a:noFill/>
          </a:ln>
        </p:spPr>
        <p:txBody>
          <a:bodyPr lIns="254000" tIns="101600" rIns="254000" bIns="101600" anchor="ctr"/>
          <a:lstStyle/>
          <a:p>
            <a:r>
              <a:rPr lang="de-CH" sz="1400" b="1" dirty="0">
                <a:solidFill>
                  <a:srgbClr val="C8893A"/>
                </a:solidFill>
              </a:rPr>
              <a:t>TAKE-AWAY   </a:t>
            </a:r>
            <a:r>
              <a:rPr lang="de-DE" sz="1500" dirty="0">
                <a:solidFill>
                  <a:srgbClr val="FFFFFF"/>
                </a:solidFill>
              </a:rPr>
              <a:t>Die IST-Prozesse sind erhoben, mit den Fachbereichen validiert und analysiert. Die vier Handlungsfelder zeigen klar, worauf das SOLL-Konzept ausgerichtet werden muss: weniger Medienbrüche, weniger manuelle Aufwände und mehr Transparenz im Austrittsprozess.</a:t>
            </a:r>
            <a:endParaRPr lang="de-CH" sz="1500" dirty="0">
              <a:solidFill>
                <a:srgbClr val="FFFFFF"/>
              </a:solidFill>
            </a:endParaRPr>
          </a:p>
        </p:txBody>
      </p:sp>
      <p:sp>
        <p:nvSpPr>
          <p:cNvPr id="3" name="Foliennummernplatzhalter 2">
            <a:extLst>
              <a:ext uri="{FF2B5EF4-FFF2-40B4-BE49-F238E27FC236}">
                <a16:creationId xmlns:a16="http://schemas.microsoft.com/office/drawing/2014/main" id="{09F123A0-3ECD-2188-42F6-26FA0608B330}"/>
              </a:ext>
            </a:extLst>
          </p:cNvPr>
          <p:cNvSpPr>
            <a:spLocks noGrp="1"/>
          </p:cNvSpPr>
          <p:nvPr>
            <p:ph type="sldNum" sz="quarter" idx="12"/>
          </p:nvPr>
        </p:nvSpPr>
        <p:spPr/>
        <p:txBody>
          <a:bodyPr/>
          <a:lstStyle/>
          <a:p>
            <a:fld id="{2AAFDC3C-A9F8-4ABD-8D8D-8DC3321B02DC}" type="slidenum">
              <a:rPr lang="de-CH" smtClean="0"/>
              <a:t>29</a:t>
            </a:fld>
            <a:endParaRPr lang="de-CH"/>
          </a:p>
        </p:txBody>
      </p:sp>
      <p:sp>
        <p:nvSpPr>
          <p:cNvPr id="4" name="Datumsplatzhalter 3">
            <a:extLst>
              <a:ext uri="{FF2B5EF4-FFF2-40B4-BE49-F238E27FC236}">
                <a16:creationId xmlns:a16="http://schemas.microsoft.com/office/drawing/2014/main" id="{542A2936-CAF4-57D0-C6FE-A1B38BF3C8C3}"/>
              </a:ext>
            </a:extLst>
          </p:cNvPr>
          <p:cNvSpPr>
            <a:spLocks noGrp="1"/>
          </p:cNvSpPr>
          <p:nvPr>
            <p:ph type="dt" sz="half" idx="10"/>
          </p:nvPr>
        </p:nvSpPr>
        <p:spPr/>
        <p:txBody>
          <a:bodyPr/>
          <a:lstStyle/>
          <a:p>
            <a:r>
              <a:rPr lang="de-CH"/>
              <a:t>11.06.2026</a:t>
            </a:r>
          </a:p>
        </p:txBody>
      </p:sp>
    </p:spTree>
    <p:extLst>
      <p:ext uri="{BB962C8B-B14F-4D97-AF65-F5344CB8AC3E}">
        <p14:creationId xmlns:p14="http://schemas.microsoft.com/office/powerpoint/2010/main" val="1969951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36EAD-E042-728C-5720-E623DCBBEDE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5F37163-244D-6993-C92B-F78FC90151ED}"/>
              </a:ext>
            </a:extLst>
          </p:cNvPr>
          <p:cNvSpPr>
            <a:spLocks noGrp="1"/>
          </p:cNvSpPr>
          <p:nvPr>
            <p:ph type="title"/>
          </p:nvPr>
        </p:nvSpPr>
        <p:spPr/>
        <p:txBody>
          <a:bodyPr/>
          <a:lstStyle/>
          <a:p>
            <a:pPr algn="l"/>
            <a:r>
              <a:rPr lang="de-CH" sz="2800" b="1" dirty="0">
                <a:solidFill>
                  <a:srgbClr val="1B3A5C"/>
                </a:solidFill>
              </a:rPr>
              <a:t>Ausblick</a:t>
            </a:r>
          </a:p>
        </p:txBody>
      </p:sp>
      <p:sp>
        <p:nvSpPr>
          <p:cNvPr id="65" name="hd">
            <a:extLst>
              <a:ext uri="{FF2B5EF4-FFF2-40B4-BE49-F238E27FC236}">
                <a16:creationId xmlns:a16="http://schemas.microsoft.com/office/drawing/2014/main" id="{0C523F75-3213-6BEE-E9EB-3A49E56020D5}"/>
              </a:ext>
            </a:extLst>
          </p:cNvPr>
          <p:cNvSpPr/>
          <p:nvPr/>
        </p:nvSpPr>
        <p:spPr>
          <a:xfrm>
            <a:off x="8763000" y="2336800"/>
            <a:ext cx="2438400" cy="406400"/>
          </a:xfrm>
          <a:prstGeom prst="rect">
            <a:avLst/>
          </a:prstGeom>
          <a:noFill/>
        </p:spPr>
        <p:txBody>
          <a:bodyPr lIns="0" tIns="0" rIns="0" bIns="0" anchor="ctr"/>
          <a:lstStyle/>
          <a:p>
            <a:r>
              <a:rPr lang="de-CH" sz="1700" b="1">
                <a:solidFill>
                  <a:srgbClr val="FFFFFF"/>
                </a:solidFill>
              </a:rPr>
              <a:t>Projektabnahme</a:t>
            </a:r>
          </a:p>
        </p:txBody>
      </p:sp>
      <p:sp>
        <p:nvSpPr>
          <p:cNvPr id="68" name="take">
            <a:extLst>
              <a:ext uri="{FF2B5EF4-FFF2-40B4-BE49-F238E27FC236}">
                <a16:creationId xmlns:a16="http://schemas.microsoft.com/office/drawing/2014/main" id="{698A831C-2BA9-8064-41F7-AFD27A3D6540}"/>
              </a:ext>
            </a:extLst>
          </p:cNvPr>
          <p:cNvSpPr/>
          <p:nvPr/>
        </p:nvSpPr>
        <p:spPr>
          <a:xfrm>
            <a:off x="838200" y="2120900"/>
            <a:ext cx="10515600" cy="2316018"/>
          </a:xfrm>
          <a:prstGeom prst="roundRect">
            <a:avLst>
              <a:gd name="adj" fmla="val 8000"/>
            </a:avLst>
          </a:prstGeom>
          <a:solidFill>
            <a:srgbClr val="1B3A5C"/>
          </a:solidFill>
          <a:ln>
            <a:noFill/>
          </a:ln>
        </p:spPr>
        <p:txBody>
          <a:bodyPr lIns="254000" tIns="101600" rIns="254000" bIns="101600" anchor="ctr"/>
          <a:lstStyle/>
          <a:p>
            <a:r>
              <a:rPr lang="de-CH" sz="2000" b="1" dirty="0">
                <a:solidFill>
                  <a:srgbClr val="C8893A"/>
                </a:solidFill>
              </a:rPr>
              <a:t>TAKE-AWAY   </a:t>
            </a:r>
            <a:r>
              <a:rPr lang="de-DE" sz="2000" dirty="0">
                <a:solidFill>
                  <a:srgbClr val="FFFFFF"/>
                </a:solidFill>
              </a:rPr>
              <a:t>Die IST-Prozesse sind erhoben, mit den Fachbereichen validiert und analysiert. Die vier Handlungsfelder zeigen klar, worauf das SOLL-Konzept ausgerichtet werden muss: weniger Medienbrüche, weniger manuelle Aufwände und mehr Transparenz im Austrittsprozess.</a:t>
            </a:r>
            <a:endParaRPr lang="de-CH" sz="2000" dirty="0">
              <a:solidFill>
                <a:srgbClr val="FFFFFF"/>
              </a:solidFill>
            </a:endParaRPr>
          </a:p>
        </p:txBody>
      </p:sp>
      <p:sp>
        <p:nvSpPr>
          <p:cNvPr id="69" name="kern"/>
          <p:cNvSpPr/>
          <p:nvPr/>
        </p:nvSpPr>
        <p:spPr>
          <a:xfrm>
            <a:off x="904875" y="4851977"/>
            <a:ext cx="10515600" cy="431800"/>
          </a:xfrm>
          <a:prstGeom prst="rect">
            <a:avLst/>
          </a:prstGeom>
          <a:noFill/>
        </p:spPr>
        <p:txBody>
          <a:bodyPr lIns="50800" tIns="25400" rIns="50800" bIns="25400" anchor="ctr"/>
          <a:lstStyle/>
          <a:p>
            <a:endParaRPr lang="de-CH" sz="1300" i="1" dirty="0">
              <a:solidFill>
                <a:srgbClr val="5B6B79"/>
              </a:solidFill>
            </a:endParaRPr>
          </a:p>
        </p:txBody>
      </p:sp>
      <p:sp>
        <p:nvSpPr>
          <p:cNvPr id="3" name="kern">
            <a:extLst>
              <a:ext uri="{FF2B5EF4-FFF2-40B4-BE49-F238E27FC236}">
                <a16:creationId xmlns:a16="http://schemas.microsoft.com/office/drawing/2014/main" id="{45DEC146-D140-D28C-75F7-6B5B316BD51B}"/>
              </a:ext>
            </a:extLst>
          </p:cNvPr>
          <p:cNvSpPr/>
          <p:nvPr/>
        </p:nvSpPr>
        <p:spPr>
          <a:xfrm>
            <a:off x="838200" y="4867130"/>
            <a:ext cx="10515600" cy="584200"/>
          </a:xfrm>
          <a:prstGeom prst="rect">
            <a:avLst/>
          </a:prstGeom>
          <a:solidFill>
            <a:srgbClr val="EEF2F6"/>
          </a:solidFill>
          <a:ln>
            <a:noFill/>
          </a:ln>
        </p:spPr>
        <p:txBody>
          <a:bodyPr lIns="203200" tIns="50800" rIns="203200" bIns="50800" anchor="ctr"/>
          <a:lstStyle/>
          <a:p>
            <a:r>
              <a:rPr lang="de-CH" sz="1400" dirty="0">
                <a:solidFill>
                  <a:srgbClr val="5B6B79"/>
                </a:solidFill>
              </a:rPr>
              <a:t>              Der nächste Meilenstein ist der gemeinsame SOLL-Workshop zur Erarbeitung des Grobkonzepts.</a:t>
            </a:r>
          </a:p>
        </p:txBody>
      </p:sp>
      <p:sp>
        <p:nvSpPr>
          <p:cNvPr id="4" name="kb">
            <a:extLst>
              <a:ext uri="{FF2B5EF4-FFF2-40B4-BE49-F238E27FC236}">
                <a16:creationId xmlns:a16="http://schemas.microsoft.com/office/drawing/2014/main" id="{CC8BAB1A-8E08-AF90-0A8B-5AF6C2386CC7}"/>
              </a:ext>
            </a:extLst>
          </p:cNvPr>
          <p:cNvSpPr/>
          <p:nvPr/>
        </p:nvSpPr>
        <p:spPr>
          <a:xfrm>
            <a:off x="841375" y="4882283"/>
            <a:ext cx="63500" cy="584200"/>
          </a:xfrm>
          <a:prstGeom prst="rect">
            <a:avLst/>
          </a:prstGeom>
          <a:solidFill>
            <a:srgbClr val="C8893A"/>
          </a:solidFill>
          <a:ln>
            <a:noFill/>
          </a:ln>
        </p:spPr>
        <p:txBody>
          <a:bodyPr/>
          <a:lstStyle/>
          <a:p>
            <a:endParaRPr/>
          </a:p>
        </p:txBody>
      </p:sp>
      <p:pic>
        <p:nvPicPr>
          <p:cNvPr id="6" name="Grafik 5" descr="Man Climbing Stairs icons for free download | Freepik | Free icons ...">
            <a:extLst>
              <a:ext uri="{FF2B5EF4-FFF2-40B4-BE49-F238E27FC236}">
                <a16:creationId xmlns:a16="http://schemas.microsoft.com/office/drawing/2014/main" id="{AB1268D2-10F8-8642-AD08-0EBB9E9824EE}"/>
              </a:ext>
            </a:extLst>
          </p:cNvPr>
          <p:cNvPicPr>
            <a:picLocks noChangeAspect="1"/>
          </p:cNvPicPr>
          <p:nvPr/>
        </p:nvPicPr>
        <p:blipFill>
          <a:blip r:embed="rId3"/>
          <a:stretch/>
        </p:blipFill>
        <p:spPr>
          <a:xfrm>
            <a:off x="969962" y="4912445"/>
            <a:ext cx="523875" cy="523875"/>
          </a:xfrm>
          <a:prstGeom prst="rect">
            <a:avLst/>
          </a:prstGeom>
        </p:spPr>
      </p:pic>
      <p:sp>
        <p:nvSpPr>
          <p:cNvPr id="7" name="Foliennummernplatzhalter 6">
            <a:extLst>
              <a:ext uri="{FF2B5EF4-FFF2-40B4-BE49-F238E27FC236}">
                <a16:creationId xmlns:a16="http://schemas.microsoft.com/office/drawing/2014/main" id="{F62695FB-2209-648C-1BA4-A4FBBFAED101}"/>
              </a:ext>
            </a:extLst>
          </p:cNvPr>
          <p:cNvSpPr>
            <a:spLocks noGrp="1"/>
          </p:cNvSpPr>
          <p:nvPr>
            <p:ph type="sldNum" sz="quarter" idx="12"/>
          </p:nvPr>
        </p:nvSpPr>
        <p:spPr/>
        <p:txBody>
          <a:bodyPr/>
          <a:lstStyle/>
          <a:p>
            <a:fld id="{2AAFDC3C-A9F8-4ABD-8D8D-8DC3321B02DC}" type="slidenum">
              <a:rPr lang="de-CH" smtClean="0"/>
              <a:t>30</a:t>
            </a:fld>
            <a:endParaRPr lang="de-CH"/>
          </a:p>
        </p:txBody>
      </p:sp>
      <p:sp>
        <p:nvSpPr>
          <p:cNvPr id="8" name="Datumsplatzhalter 7">
            <a:extLst>
              <a:ext uri="{FF2B5EF4-FFF2-40B4-BE49-F238E27FC236}">
                <a16:creationId xmlns:a16="http://schemas.microsoft.com/office/drawing/2014/main" id="{655DA6B8-D2DD-4A4F-DEDB-B5489F99B45D}"/>
              </a:ext>
            </a:extLst>
          </p:cNvPr>
          <p:cNvSpPr>
            <a:spLocks noGrp="1"/>
          </p:cNvSpPr>
          <p:nvPr>
            <p:ph type="dt" sz="half" idx="10"/>
          </p:nvPr>
        </p:nvSpPr>
        <p:spPr/>
        <p:txBody>
          <a:bodyPr/>
          <a:lstStyle/>
          <a:p>
            <a:r>
              <a:rPr lang="de-CH"/>
              <a:t>11.06.2026</a:t>
            </a:r>
          </a:p>
        </p:txBody>
      </p:sp>
    </p:spTree>
    <p:extLst>
      <p:ext uri="{BB962C8B-B14F-4D97-AF65-F5344CB8AC3E}">
        <p14:creationId xmlns:p14="http://schemas.microsoft.com/office/powerpoint/2010/main" val="7049399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4667C08-89FF-2C43-1560-250802B4205A}"/>
              </a:ext>
            </a:extLst>
          </p:cNvPr>
          <p:cNvSpPr>
            <a:spLocks noGrp="1"/>
          </p:cNvSpPr>
          <p:nvPr>
            <p:ph type="title"/>
          </p:nvPr>
        </p:nvSpPr>
        <p:spPr/>
        <p:txBody>
          <a:bodyPr/>
          <a:lstStyle/>
          <a:p>
            <a:pPr algn="l"/>
            <a:r>
              <a:rPr lang="de-CH" sz="2800" b="1" dirty="0">
                <a:solidFill>
                  <a:srgbClr val="1B3A5C"/>
                </a:solidFill>
              </a:rPr>
              <a:t>Herausforderungen im Projektverlauf</a:t>
            </a:r>
          </a:p>
        </p:txBody>
      </p:sp>
      <p:sp>
        <p:nvSpPr>
          <p:cNvPr id="50" name="eb"/>
          <p:cNvSpPr/>
          <p:nvPr/>
        </p:nvSpPr>
        <p:spPr>
          <a:xfrm>
            <a:off x="838200" y="1574800"/>
            <a:ext cx="10515600" cy="279400"/>
          </a:xfrm>
          <a:prstGeom prst="rect">
            <a:avLst/>
          </a:prstGeom>
          <a:noFill/>
        </p:spPr>
        <p:txBody>
          <a:bodyPr lIns="0" tIns="0" rIns="0" bIns="0"/>
          <a:lstStyle/>
          <a:p>
            <a:r>
              <a:rPr lang="de-CH" sz="1400" b="1" dirty="0">
                <a:solidFill>
                  <a:srgbClr val="2E6CA4"/>
                </a:solidFill>
              </a:rPr>
              <a:t>Zentrale Herausforderungen und Lerneffekte</a:t>
            </a:r>
          </a:p>
        </p:txBody>
      </p:sp>
      <p:sp>
        <p:nvSpPr>
          <p:cNvPr id="51" name="c"/>
          <p:cNvSpPr/>
          <p:nvPr/>
        </p:nvSpPr>
        <p:spPr>
          <a:xfrm>
            <a:off x="825500" y="2164662"/>
            <a:ext cx="3390900" cy="3881226"/>
          </a:xfrm>
          <a:prstGeom prst="roundRect">
            <a:avLst>
              <a:gd name="adj" fmla="val 4000"/>
            </a:avLst>
          </a:prstGeom>
          <a:solidFill>
            <a:srgbClr val="FFFFFF"/>
          </a:solidFill>
          <a:ln w="12700">
            <a:solidFill>
              <a:srgbClr val="C9D6E2"/>
            </a:solidFill>
          </a:ln>
        </p:spPr>
        <p:txBody>
          <a:bodyPr/>
          <a:lstStyle/>
          <a:p>
            <a:endParaRPr dirty="0"/>
          </a:p>
        </p:txBody>
      </p:sp>
      <p:sp>
        <p:nvSpPr>
          <p:cNvPr id="52" name="ch"/>
          <p:cNvSpPr/>
          <p:nvPr/>
        </p:nvSpPr>
        <p:spPr>
          <a:xfrm>
            <a:off x="825500" y="2164663"/>
            <a:ext cx="3390900" cy="1771977"/>
          </a:xfrm>
          <a:prstGeom prst="round2SameRect">
            <a:avLst>
              <a:gd name="adj1" fmla="val 8000"/>
              <a:gd name="adj2" fmla="val 0"/>
            </a:avLst>
          </a:prstGeom>
          <a:solidFill>
            <a:srgbClr val="1B3A5C"/>
          </a:solidFill>
          <a:ln>
            <a:noFill/>
          </a:ln>
        </p:spPr>
        <p:txBody>
          <a:bodyPr lIns="203200" tIns="152400" rIns="177800" bIns="127000">
            <a:normAutofit/>
          </a:bodyPr>
          <a:lstStyle/>
          <a:p>
            <a:r>
              <a:rPr lang="de-CH" sz="1100" b="1" dirty="0">
                <a:solidFill>
                  <a:srgbClr val="C8893A"/>
                </a:solidFill>
              </a:rPr>
              <a:t>HERAUSFORDERUNG 1</a:t>
            </a:r>
          </a:p>
          <a:p>
            <a:pPr>
              <a:spcBef>
                <a:spcPts val="300"/>
              </a:spcBef>
            </a:pPr>
            <a:r>
              <a:rPr lang="de-CH" sz="1400" b="1" dirty="0">
                <a:solidFill>
                  <a:srgbClr val="FFFFFF"/>
                </a:solidFill>
              </a:rPr>
              <a:t>Iterative Konkretisierung des IST-Prozesses</a:t>
            </a:r>
          </a:p>
          <a:p>
            <a:pPr>
              <a:spcBef>
                <a:spcPts val="300"/>
              </a:spcBef>
            </a:pPr>
            <a:r>
              <a:rPr lang="de-DE" sz="1200" dirty="0">
                <a:solidFill>
                  <a:srgbClr val="C8DCEC"/>
                </a:solidFill>
              </a:rPr>
              <a:t>Prozesswissen wurde nicht immer vollständig in einem Schritt sichtbar.</a:t>
            </a:r>
          </a:p>
        </p:txBody>
      </p:sp>
      <p:sp>
        <p:nvSpPr>
          <p:cNvPr id="54" name="c"/>
          <p:cNvSpPr/>
          <p:nvPr/>
        </p:nvSpPr>
        <p:spPr>
          <a:xfrm>
            <a:off x="4394200" y="2164662"/>
            <a:ext cx="3390900" cy="3881225"/>
          </a:xfrm>
          <a:prstGeom prst="roundRect">
            <a:avLst>
              <a:gd name="adj" fmla="val 4000"/>
            </a:avLst>
          </a:prstGeom>
          <a:solidFill>
            <a:srgbClr val="FFFFFF"/>
          </a:solidFill>
          <a:ln w="12700">
            <a:solidFill>
              <a:srgbClr val="C9D6E2"/>
            </a:solidFill>
          </a:ln>
        </p:spPr>
        <p:txBody>
          <a:bodyPr/>
          <a:lstStyle/>
          <a:p>
            <a:endParaRPr/>
          </a:p>
        </p:txBody>
      </p:sp>
      <p:sp>
        <p:nvSpPr>
          <p:cNvPr id="55" name="ch"/>
          <p:cNvSpPr/>
          <p:nvPr/>
        </p:nvSpPr>
        <p:spPr>
          <a:xfrm>
            <a:off x="4394200" y="2164662"/>
            <a:ext cx="3390900" cy="1771977"/>
          </a:xfrm>
          <a:prstGeom prst="round2SameRect">
            <a:avLst>
              <a:gd name="adj1" fmla="val 8000"/>
              <a:gd name="adj2" fmla="val 0"/>
            </a:avLst>
          </a:prstGeom>
          <a:solidFill>
            <a:srgbClr val="1B3A5C"/>
          </a:solidFill>
          <a:ln>
            <a:noFill/>
          </a:ln>
        </p:spPr>
        <p:txBody>
          <a:bodyPr lIns="203200" tIns="152400" rIns="177800" bIns="127000">
            <a:normAutofit/>
          </a:bodyPr>
          <a:lstStyle/>
          <a:p>
            <a:r>
              <a:rPr lang="de-CH" sz="1100" b="1" dirty="0">
                <a:solidFill>
                  <a:srgbClr val="C8893A"/>
                </a:solidFill>
              </a:rPr>
              <a:t>HERAUSFORDERUNG 2</a:t>
            </a:r>
          </a:p>
          <a:p>
            <a:pPr>
              <a:spcBef>
                <a:spcPts val="300"/>
              </a:spcBef>
            </a:pPr>
            <a:r>
              <a:rPr lang="de-CH" sz="1400" b="1" dirty="0">
                <a:solidFill>
                  <a:srgbClr val="FFFFFF"/>
                </a:solidFill>
              </a:rPr>
              <a:t>Widersprüchliche Interviewaussagen</a:t>
            </a:r>
          </a:p>
          <a:p>
            <a:pPr>
              <a:spcBef>
                <a:spcPts val="300"/>
              </a:spcBef>
            </a:pPr>
            <a:r>
              <a:rPr lang="de-DE" sz="1200" dirty="0">
                <a:solidFill>
                  <a:srgbClr val="C8DCEC"/>
                </a:solidFill>
              </a:rPr>
              <a:t>Unterschiedliche Rollen beschrieben den Prozess aus ihrer jeweiligen Zuständigkeit. Dadurch entstanden abweichende Aussagen zu Übergabe und Verantwortlichkeiten.</a:t>
            </a:r>
            <a:endParaRPr lang="de-CH" sz="1200" dirty="0">
              <a:solidFill>
                <a:srgbClr val="C8DCEC"/>
              </a:solidFill>
            </a:endParaRPr>
          </a:p>
        </p:txBody>
      </p:sp>
      <p:sp>
        <p:nvSpPr>
          <p:cNvPr id="57" name="c"/>
          <p:cNvSpPr/>
          <p:nvPr/>
        </p:nvSpPr>
        <p:spPr>
          <a:xfrm>
            <a:off x="7950200" y="2198789"/>
            <a:ext cx="3390900" cy="3847098"/>
          </a:xfrm>
          <a:prstGeom prst="roundRect">
            <a:avLst>
              <a:gd name="adj" fmla="val 4000"/>
            </a:avLst>
          </a:prstGeom>
          <a:solidFill>
            <a:srgbClr val="FFFFFF"/>
          </a:solidFill>
          <a:ln w="12700">
            <a:solidFill>
              <a:srgbClr val="C9D6E2"/>
            </a:solidFill>
          </a:ln>
        </p:spPr>
        <p:txBody>
          <a:bodyPr/>
          <a:lstStyle/>
          <a:p>
            <a:endParaRPr/>
          </a:p>
        </p:txBody>
      </p:sp>
      <p:sp>
        <p:nvSpPr>
          <p:cNvPr id="58" name="ch"/>
          <p:cNvSpPr/>
          <p:nvPr/>
        </p:nvSpPr>
        <p:spPr>
          <a:xfrm>
            <a:off x="7962900" y="2164663"/>
            <a:ext cx="3390900" cy="1771976"/>
          </a:xfrm>
          <a:prstGeom prst="round2SameRect">
            <a:avLst>
              <a:gd name="adj1" fmla="val 8000"/>
              <a:gd name="adj2" fmla="val 0"/>
            </a:avLst>
          </a:prstGeom>
          <a:solidFill>
            <a:srgbClr val="1B3A5C"/>
          </a:solidFill>
          <a:ln>
            <a:noFill/>
          </a:ln>
        </p:spPr>
        <p:txBody>
          <a:bodyPr lIns="203200" tIns="152400" rIns="177800" bIns="127000">
            <a:normAutofit/>
          </a:bodyPr>
          <a:lstStyle/>
          <a:p>
            <a:r>
              <a:rPr lang="de-CH" sz="1100" b="1" dirty="0">
                <a:solidFill>
                  <a:srgbClr val="C8893A"/>
                </a:solidFill>
              </a:rPr>
              <a:t>HERAUSFORDERUNG 3</a:t>
            </a:r>
          </a:p>
          <a:p>
            <a:pPr>
              <a:spcBef>
                <a:spcPts val="300"/>
              </a:spcBef>
            </a:pPr>
            <a:r>
              <a:rPr lang="de-CH" sz="1400" b="1" dirty="0">
                <a:solidFill>
                  <a:srgbClr val="FFFFFF"/>
                </a:solidFill>
              </a:rPr>
              <a:t>Gemeinsame Terminfindung</a:t>
            </a:r>
          </a:p>
          <a:p>
            <a:pPr>
              <a:spcBef>
                <a:spcPts val="300"/>
              </a:spcBef>
            </a:pPr>
            <a:r>
              <a:rPr lang="de-CH" sz="1200" dirty="0">
                <a:solidFill>
                  <a:srgbClr val="C8DCEC"/>
                </a:solidFill>
              </a:rPr>
              <a:t>Abstimmung über viele Beteiligte und Fachbereiche hinweg war anspruchsvoll.</a:t>
            </a:r>
          </a:p>
        </p:txBody>
      </p:sp>
      <p:sp>
        <p:nvSpPr>
          <p:cNvPr id="3" name="Foliennummernplatzhalter 2">
            <a:extLst>
              <a:ext uri="{FF2B5EF4-FFF2-40B4-BE49-F238E27FC236}">
                <a16:creationId xmlns:a16="http://schemas.microsoft.com/office/drawing/2014/main" id="{42872CE3-11BF-A342-7B0D-5437A1B0F9D7}"/>
              </a:ext>
            </a:extLst>
          </p:cNvPr>
          <p:cNvSpPr>
            <a:spLocks noGrp="1"/>
          </p:cNvSpPr>
          <p:nvPr>
            <p:ph type="sldNum" sz="quarter" idx="12"/>
          </p:nvPr>
        </p:nvSpPr>
        <p:spPr/>
        <p:txBody>
          <a:bodyPr/>
          <a:lstStyle/>
          <a:p>
            <a:fld id="{2AAFDC3C-A9F8-4ABD-8D8D-8DC3321B02DC}" type="slidenum">
              <a:rPr lang="de-CH" smtClean="0"/>
              <a:t>31</a:t>
            </a:fld>
            <a:endParaRPr lang="de-CH"/>
          </a:p>
        </p:txBody>
      </p:sp>
      <p:sp>
        <p:nvSpPr>
          <p:cNvPr id="4" name="Datumsplatzhalter 3">
            <a:extLst>
              <a:ext uri="{FF2B5EF4-FFF2-40B4-BE49-F238E27FC236}">
                <a16:creationId xmlns:a16="http://schemas.microsoft.com/office/drawing/2014/main" id="{1BE17EF8-045C-1A7E-B8DD-7EB7CCF2545F}"/>
              </a:ext>
            </a:extLst>
          </p:cNvPr>
          <p:cNvSpPr>
            <a:spLocks noGrp="1"/>
          </p:cNvSpPr>
          <p:nvPr>
            <p:ph type="dt" sz="half" idx="10"/>
          </p:nvPr>
        </p:nvSpPr>
        <p:spPr/>
        <p:txBody>
          <a:bodyPr/>
          <a:lstStyle/>
          <a:p>
            <a:r>
              <a:rPr lang="de-CH"/>
              <a:t>11.06.2026</a:t>
            </a:r>
          </a:p>
        </p:txBody>
      </p:sp>
      <p:sp>
        <p:nvSpPr>
          <p:cNvPr id="6" name="Textfeld 5">
            <a:extLst>
              <a:ext uri="{FF2B5EF4-FFF2-40B4-BE49-F238E27FC236}">
                <a16:creationId xmlns:a16="http://schemas.microsoft.com/office/drawing/2014/main" id="{0AC2E3CD-C6C6-1592-02D0-649122519D42}"/>
              </a:ext>
            </a:extLst>
          </p:cNvPr>
          <p:cNvSpPr txBox="1"/>
          <p:nvPr/>
        </p:nvSpPr>
        <p:spPr>
          <a:xfrm>
            <a:off x="968375" y="3978095"/>
            <a:ext cx="2952750" cy="1384995"/>
          </a:xfrm>
          <a:prstGeom prst="rect">
            <a:avLst/>
          </a:prstGeom>
          <a:noFill/>
        </p:spPr>
        <p:txBody>
          <a:bodyPr wrap="square" rtlCol="0">
            <a:spAutoFit/>
          </a:bodyPr>
          <a:lstStyle/>
          <a:p>
            <a:r>
              <a:rPr lang="de-CH" sz="1200" b="1" dirty="0"/>
              <a:t>Retrospektive:</a:t>
            </a:r>
          </a:p>
          <a:p>
            <a:r>
              <a:rPr lang="de-DE" sz="1200" dirty="0"/>
              <a:t>Eine gemeinsame Prozesslandkarte in einer frühen Projektphase hätte Schnittstellen und offene Punkte früher sichtbar gemacht. Interviews könnten darauf aufbauend gezielter auf Übergaben und Abhängigkeiten ausgerichtet werden.</a:t>
            </a:r>
            <a:endParaRPr lang="de-CH" sz="1200" dirty="0"/>
          </a:p>
        </p:txBody>
      </p:sp>
      <p:sp>
        <p:nvSpPr>
          <p:cNvPr id="7" name="Textfeld 6">
            <a:extLst>
              <a:ext uri="{FF2B5EF4-FFF2-40B4-BE49-F238E27FC236}">
                <a16:creationId xmlns:a16="http://schemas.microsoft.com/office/drawing/2014/main" id="{29735305-766E-B219-0445-F16CFEEFB3FD}"/>
              </a:ext>
            </a:extLst>
          </p:cNvPr>
          <p:cNvSpPr txBox="1"/>
          <p:nvPr/>
        </p:nvSpPr>
        <p:spPr>
          <a:xfrm>
            <a:off x="4521200" y="3978094"/>
            <a:ext cx="2952750" cy="1200329"/>
          </a:xfrm>
          <a:prstGeom prst="rect">
            <a:avLst/>
          </a:prstGeom>
          <a:noFill/>
        </p:spPr>
        <p:txBody>
          <a:bodyPr wrap="square" rtlCol="0">
            <a:spAutoFit/>
          </a:bodyPr>
          <a:lstStyle/>
          <a:p>
            <a:r>
              <a:rPr lang="de-CH" sz="1200" b="1" dirty="0"/>
              <a:t>Retrospektive:</a:t>
            </a:r>
          </a:p>
          <a:p>
            <a:r>
              <a:rPr lang="de-DE" sz="1200" dirty="0"/>
              <a:t>Prozessdetails waren nicht bei allen Rollen gleich präsent. Eine vorgängige Groberhebung hätte geholfen, abweichende Aussagen gezielter einzuordnen und nachzufragen.</a:t>
            </a:r>
            <a:endParaRPr lang="de-CH" sz="1200" dirty="0"/>
          </a:p>
        </p:txBody>
      </p:sp>
      <p:sp>
        <p:nvSpPr>
          <p:cNvPr id="9" name="Textfeld 8">
            <a:extLst>
              <a:ext uri="{FF2B5EF4-FFF2-40B4-BE49-F238E27FC236}">
                <a16:creationId xmlns:a16="http://schemas.microsoft.com/office/drawing/2014/main" id="{CA03A2CC-3CA2-3187-2EDA-49D3A1DD7D3C}"/>
              </a:ext>
            </a:extLst>
          </p:cNvPr>
          <p:cNvSpPr txBox="1"/>
          <p:nvPr/>
        </p:nvSpPr>
        <p:spPr>
          <a:xfrm>
            <a:off x="8054975" y="3978094"/>
            <a:ext cx="2952750" cy="1015663"/>
          </a:xfrm>
          <a:prstGeom prst="rect">
            <a:avLst/>
          </a:prstGeom>
          <a:noFill/>
        </p:spPr>
        <p:txBody>
          <a:bodyPr wrap="square" rtlCol="0">
            <a:spAutoFit/>
          </a:bodyPr>
          <a:lstStyle/>
          <a:p>
            <a:r>
              <a:rPr lang="de-CH" sz="1200" b="1" dirty="0"/>
              <a:t>Retrospektive:</a:t>
            </a:r>
          </a:p>
          <a:p>
            <a:r>
              <a:rPr lang="de-DE" sz="1200" dirty="0"/>
              <a:t>Zentrale Termine hätten früher verbindlich blockiert werden sollen. Bei Workshops mit mehreren Fachbereichen wären zusätzliche Ausweichtermine sinnvoll gewesen.</a:t>
            </a:r>
            <a:endParaRPr lang="de-CH" sz="1200" dirty="0"/>
          </a:p>
        </p:txBody>
      </p:sp>
    </p:spTree>
    <p:extLst>
      <p:ext uri="{BB962C8B-B14F-4D97-AF65-F5344CB8AC3E}">
        <p14:creationId xmlns:p14="http://schemas.microsoft.com/office/powerpoint/2010/main" val="1780142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1DA0E53-9893-C4A2-F9CE-316A8183C0FE}"/>
              </a:ext>
            </a:extLst>
          </p:cNvPr>
          <p:cNvSpPr>
            <a:spLocks noGrp="1"/>
          </p:cNvSpPr>
          <p:nvPr>
            <p:ph type="title"/>
          </p:nvPr>
        </p:nvSpPr>
        <p:spPr/>
        <p:txBody>
          <a:bodyPr/>
          <a:lstStyle/>
          <a:p>
            <a:pPr algn="l"/>
            <a:r>
              <a:rPr lang="de-CH" sz="2800" b="1" dirty="0">
                <a:solidFill>
                  <a:srgbClr val="1B3A5C"/>
                </a:solidFill>
              </a:rPr>
              <a:t>Projektsteuerung und Zusammenarbeit</a:t>
            </a:r>
          </a:p>
        </p:txBody>
      </p:sp>
      <p:sp>
        <p:nvSpPr>
          <p:cNvPr id="50" name="eye"/>
          <p:cNvSpPr/>
          <p:nvPr/>
        </p:nvSpPr>
        <p:spPr>
          <a:xfrm>
            <a:off x="838200" y="1574800"/>
            <a:ext cx="10515600" cy="279400"/>
          </a:xfrm>
          <a:prstGeom prst="rect">
            <a:avLst/>
          </a:prstGeom>
          <a:noFill/>
        </p:spPr>
        <p:txBody>
          <a:bodyPr lIns="0" tIns="0" rIns="0" bIns="0"/>
          <a:lstStyle/>
          <a:p>
            <a:r>
              <a:rPr lang="de-CH" sz="1400" b="1">
                <a:solidFill>
                  <a:srgbClr val="2E6CA4"/>
                </a:solidFill>
              </a:rPr>
              <a:t>ENGE BEGLEITUNG DURCH AUFTRAGGEBERSEITE UND FHNW</a:t>
            </a:r>
          </a:p>
        </p:txBody>
      </p:sp>
      <p:sp>
        <p:nvSpPr>
          <p:cNvPr id="51" name="ll"/>
          <p:cNvSpPr/>
          <p:nvPr/>
        </p:nvSpPr>
        <p:spPr>
          <a:xfrm>
            <a:off x="838200" y="2032000"/>
            <a:ext cx="5080000" cy="279400"/>
          </a:xfrm>
          <a:prstGeom prst="rect">
            <a:avLst/>
          </a:prstGeom>
          <a:noFill/>
        </p:spPr>
        <p:txBody>
          <a:bodyPr lIns="0" tIns="0" rIns="0" bIns="0"/>
          <a:lstStyle/>
          <a:p>
            <a:r>
              <a:rPr lang="de-CH" sz="1500" b="1" dirty="0">
                <a:solidFill>
                  <a:srgbClr val="1B3A5C"/>
                </a:solidFill>
              </a:rPr>
              <a:t>Projektsteuerung und Rollen</a:t>
            </a:r>
          </a:p>
        </p:txBody>
      </p:sp>
      <p:sp>
        <p:nvSpPr>
          <p:cNvPr id="52" name="pc"/>
          <p:cNvSpPr/>
          <p:nvPr/>
        </p:nvSpPr>
        <p:spPr>
          <a:xfrm>
            <a:off x="838200" y="2413000"/>
            <a:ext cx="5080000" cy="1092200"/>
          </a:xfrm>
          <a:prstGeom prst="roundRect">
            <a:avLst>
              <a:gd name="adj" fmla="val 6000"/>
            </a:avLst>
          </a:prstGeom>
          <a:solidFill>
            <a:srgbClr val="FFFFFF"/>
          </a:solidFill>
          <a:ln w="12700">
            <a:solidFill>
              <a:srgbClr val="C9D6E2"/>
            </a:solidFill>
          </a:ln>
        </p:spPr>
        <p:txBody>
          <a:bodyPr/>
          <a:lstStyle/>
          <a:p>
            <a:endParaRPr/>
          </a:p>
        </p:txBody>
      </p:sp>
      <p:sp>
        <p:nvSpPr>
          <p:cNvPr id="53" name="av"/>
          <p:cNvSpPr/>
          <p:nvPr/>
        </p:nvSpPr>
        <p:spPr>
          <a:xfrm>
            <a:off x="1016000" y="2692400"/>
            <a:ext cx="533400" cy="533400"/>
          </a:xfrm>
          <a:prstGeom prst="ellipse">
            <a:avLst/>
          </a:prstGeom>
          <a:solidFill>
            <a:srgbClr val="2E6CA4"/>
          </a:solidFill>
          <a:ln>
            <a:noFill/>
          </a:ln>
        </p:spPr>
        <p:txBody>
          <a:bodyPr lIns="0" tIns="0" rIns="0" bIns="0" anchor="ctr"/>
          <a:lstStyle/>
          <a:p>
            <a:pPr algn="ctr"/>
            <a:r>
              <a:rPr lang="de-CH" sz="1500" b="1">
                <a:solidFill>
                  <a:srgbClr val="FFFFFF"/>
                </a:solidFill>
              </a:rPr>
              <a:t>KK</a:t>
            </a:r>
          </a:p>
        </p:txBody>
      </p:sp>
      <p:sp>
        <p:nvSpPr>
          <p:cNvPr id="54" name="pt"/>
          <p:cNvSpPr/>
          <p:nvPr/>
        </p:nvSpPr>
        <p:spPr>
          <a:xfrm>
            <a:off x="1727200" y="2565400"/>
            <a:ext cx="4064000" cy="812800"/>
          </a:xfrm>
          <a:prstGeom prst="rect">
            <a:avLst/>
          </a:prstGeom>
          <a:noFill/>
        </p:spPr>
        <p:txBody>
          <a:bodyPr lIns="0" tIns="0" rIns="0" bIns="0" anchor="ctr">
            <a:normAutofit/>
          </a:bodyPr>
          <a:lstStyle/>
          <a:p>
            <a:r>
              <a:rPr lang="de-CH" sz="1500" b="1" dirty="0">
                <a:solidFill>
                  <a:srgbClr val="1B3A5C"/>
                </a:solidFill>
              </a:rPr>
              <a:t>Kathrin Kühnle</a:t>
            </a:r>
          </a:p>
          <a:p>
            <a:pPr>
              <a:spcBef>
                <a:spcPts val="100"/>
              </a:spcBef>
            </a:pPr>
            <a:r>
              <a:rPr lang="de-CH" sz="1200" b="1" dirty="0">
                <a:solidFill>
                  <a:srgbClr val="2E6CA4"/>
                </a:solidFill>
              </a:rPr>
              <a:t>Leiterin HR Administration und </a:t>
            </a:r>
            <a:r>
              <a:rPr lang="de-CH" sz="1200" b="1" dirty="0" err="1">
                <a:solidFill>
                  <a:srgbClr val="2E6CA4"/>
                </a:solidFill>
              </a:rPr>
              <a:t>Process</a:t>
            </a:r>
            <a:r>
              <a:rPr lang="de-CH" sz="1200" b="1" dirty="0">
                <a:solidFill>
                  <a:srgbClr val="2E6CA4"/>
                </a:solidFill>
              </a:rPr>
              <a:t> Owner</a:t>
            </a:r>
          </a:p>
          <a:p>
            <a:pPr>
              <a:spcBef>
                <a:spcPts val="200"/>
              </a:spcBef>
            </a:pPr>
            <a:r>
              <a:rPr lang="de-CH" sz="1200" dirty="0">
                <a:solidFill>
                  <a:srgbClr val="5B6B79"/>
                </a:solidFill>
              </a:rPr>
              <a:t>Fachliche Steuerung und Abnahme der Arbeit.</a:t>
            </a:r>
          </a:p>
        </p:txBody>
      </p:sp>
      <p:sp>
        <p:nvSpPr>
          <p:cNvPr id="55" name="pc"/>
          <p:cNvSpPr/>
          <p:nvPr/>
        </p:nvSpPr>
        <p:spPr>
          <a:xfrm>
            <a:off x="838200" y="3632200"/>
            <a:ext cx="5080000" cy="1092200"/>
          </a:xfrm>
          <a:prstGeom prst="roundRect">
            <a:avLst>
              <a:gd name="adj" fmla="val 6000"/>
            </a:avLst>
          </a:prstGeom>
          <a:solidFill>
            <a:srgbClr val="FFFFFF"/>
          </a:solidFill>
          <a:ln w="12700">
            <a:solidFill>
              <a:srgbClr val="C9D6E2"/>
            </a:solidFill>
          </a:ln>
        </p:spPr>
        <p:txBody>
          <a:bodyPr/>
          <a:lstStyle/>
          <a:p>
            <a:endParaRPr/>
          </a:p>
        </p:txBody>
      </p:sp>
      <p:sp>
        <p:nvSpPr>
          <p:cNvPr id="56" name="av"/>
          <p:cNvSpPr/>
          <p:nvPr/>
        </p:nvSpPr>
        <p:spPr>
          <a:xfrm>
            <a:off x="1016000" y="3911600"/>
            <a:ext cx="533400" cy="533400"/>
          </a:xfrm>
          <a:prstGeom prst="ellipse">
            <a:avLst/>
          </a:prstGeom>
          <a:solidFill>
            <a:srgbClr val="2E6CA4"/>
          </a:solidFill>
          <a:ln>
            <a:noFill/>
          </a:ln>
        </p:spPr>
        <p:txBody>
          <a:bodyPr lIns="0" tIns="0" rIns="0" bIns="0" anchor="ctr"/>
          <a:lstStyle/>
          <a:p>
            <a:pPr algn="ctr"/>
            <a:r>
              <a:rPr lang="de-CH" sz="1500" b="1">
                <a:solidFill>
                  <a:srgbClr val="FFFFFF"/>
                </a:solidFill>
              </a:rPr>
              <a:t>SH</a:t>
            </a:r>
          </a:p>
        </p:txBody>
      </p:sp>
      <p:sp>
        <p:nvSpPr>
          <p:cNvPr id="57" name="pt"/>
          <p:cNvSpPr/>
          <p:nvPr/>
        </p:nvSpPr>
        <p:spPr>
          <a:xfrm>
            <a:off x="1727200" y="3784600"/>
            <a:ext cx="4064000" cy="812800"/>
          </a:xfrm>
          <a:prstGeom prst="rect">
            <a:avLst/>
          </a:prstGeom>
          <a:noFill/>
        </p:spPr>
        <p:txBody>
          <a:bodyPr lIns="0" tIns="0" rIns="0" bIns="0" anchor="ctr">
            <a:normAutofit/>
          </a:bodyPr>
          <a:lstStyle/>
          <a:p>
            <a:r>
              <a:rPr lang="de-CH" sz="1500" b="1">
                <a:solidFill>
                  <a:srgbClr val="1B3A5C"/>
                </a:solidFill>
              </a:rPr>
              <a:t>Sarah Haefliger</a:t>
            </a:r>
          </a:p>
          <a:p>
            <a:pPr>
              <a:spcBef>
                <a:spcPts val="100"/>
              </a:spcBef>
            </a:pPr>
            <a:r>
              <a:rPr lang="de-CH" sz="1200" b="1">
                <a:solidFill>
                  <a:srgbClr val="2E6CA4"/>
                </a:solidFill>
              </a:rPr>
              <a:t>Projektleiterin HR Digitalisierung</a:t>
            </a:r>
          </a:p>
          <a:p>
            <a:pPr>
              <a:spcBef>
                <a:spcPts val="200"/>
              </a:spcBef>
            </a:pPr>
            <a:r>
              <a:rPr lang="de-CH" sz="1200">
                <a:solidFill>
                  <a:srgbClr val="5B6B79"/>
                </a:solidFill>
              </a:rPr>
              <a:t>Zentrale Ansprechperson der Auftraggeberschaft.</a:t>
            </a:r>
          </a:p>
        </p:txBody>
      </p:sp>
      <p:sp>
        <p:nvSpPr>
          <p:cNvPr id="58" name="pc"/>
          <p:cNvSpPr/>
          <p:nvPr/>
        </p:nvSpPr>
        <p:spPr>
          <a:xfrm>
            <a:off x="838200" y="4851400"/>
            <a:ext cx="5080000" cy="1092200"/>
          </a:xfrm>
          <a:prstGeom prst="roundRect">
            <a:avLst>
              <a:gd name="adj" fmla="val 6000"/>
            </a:avLst>
          </a:prstGeom>
          <a:solidFill>
            <a:srgbClr val="FFFFFF"/>
          </a:solidFill>
          <a:ln w="12700">
            <a:solidFill>
              <a:srgbClr val="C9D6E2"/>
            </a:solidFill>
          </a:ln>
        </p:spPr>
        <p:txBody>
          <a:bodyPr/>
          <a:lstStyle/>
          <a:p>
            <a:endParaRPr/>
          </a:p>
        </p:txBody>
      </p:sp>
      <p:sp>
        <p:nvSpPr>
          <p:cNvPr id="59" name="av"/>
          <p:cNvSpPr/>
          <p:nvPr/>
        </p:nvSpPr>
        <p:spPr>
          <a:xfrm>
            <a:off x="1016000" y="5130800"/>
            <a:ext cx="533400" cy="533400"/>
          </a:xfrm>
          <a:prstGeom prst="ellipse">
            <a:avLst/>
          </a:prstGeom>
          <a:solidFill>
            <a:srgbClr val="2E6CA4"/>
          </a:solidFill>
          <a:ln>
            <a:noFill/>
          </a:ln>
        </p:spPr>
        <p:txBody>
          <a:bodyPr lIns="0" tIns="0" rIns="0" bIns="0" anchor="ctr"/>
          <a:lstStyle/>
          <a:p>
            <a:pPr algn="ctr"/>
            <a:r>
              <a:rPr lang="de-CH" sz="1300" b="1">
                <a:solidFill>
                  <a:srgbClr val="FFFFFF"/>
                </a:solidFill>
              </a:rPr>
              <a:t>FH</a:t>
            </a:r>
          </a:p>
        </p:txBody>
      </p:sp>
      <p:sp>
        <p:nvSpPr>
          <p:cNvPr id="60" name="pt"/>
          <p:cNvSpPr/>
          <p:nvPr/>
        </p:nvSpPr>
        <p:spPr>
          <a:xfrm>
            <a:off x="1727200" y="5003800"/>
            <a:ext cx="4064000" cy="812800"/>
          </a:xfrm>
          <a:prstGeom prst="rect">
            <a:avLst/>
          </a:prstGeom>
          <a:noFill/>
        </p:spPr>
        <p:txBody>
          <a:bodyPr lIns="0" tIns="0" rIns="0" bIns="0" anchor="ctr">
            <a:normAutofit/>
          </a:bodyPr>
          <a:lstStyle/>
          <a:p>
            <a:r>
              <a:rPr lang="de-CH" sz="1500" b="1" dirty="0">
                <a:solidFill>
                  <a:srgbClr val="1B3A5C"/>
                </a:solidFill>
              </a:rPr>
              <a:t>Dr. Felix </a:t>
            </a:r>
            <a:r>
              <a:rPr lang="de-CH" sz="1500" b="1" dirty="0" err="1">
                <a:solidFill>
                  <a:srgbClr val="1B3A5C"/>
                </a:solidFill>
              </a:rPr>
              <a:t>Härer</a:t>
            </a:r>
            <a:endParaRPr lang="de-CH" sz="1500" b="1" dirty="0">
              <a:solidFill>
                <a:srgbClr val="1B3A5C"/>
              </a:solidFill>
            </a:endParaRPr>
          </a:p>
          <a:p>
            <a:pPr>
              <a:spcBef>
                <a:spcPts val="100"/>
              </a:spcBef>
            </a:pPr>
            <a:r>
              <a:rPr lang="de-CH" sz="1200" b="1" dirty="0">
                <a:solidFill>
                  <a:srgbClr val="2E6CA4"/>
                </a:solidFill>
              </a:rPr>
              <a:t>Fachdozent FHNW</a:t>
            </a:r>
          </a:p>
          <a:p>
            <a:pPr>
              <a:spcBef>
                <a:spcPts val="200"/>
              </a:spcBef>
            </a:pPr>
            <a:r>
              <a:rPr lang="de-CH" sz="1200" dirty="0">
                <a:solidFill>
                  <a:srgbClr val="5B6B79"/>
                </a:solidFill>
              </a:rPr>
              <a:t>Wissenschaftliche Betreuung der Arbeit.</a:t>
            </a:r>
          </a:p>
        </p:txBody>
      </p:sp>
      <p:sp>
        <p:nvSpPr>
          <p:cNvPr id="61" name="rl"/>
          <p:cNvSpPr/>
          <p:nvPr/>
        </p:nvSpPr>
        <p:spPr>
          <a:xfrm>
            <a:off x="6172200" y="2032000"/>
            <a:ext cx="5181600" cy="279400"/>
          </a:xfrm>
          <a:prstGeom prst="rect">
            <a:avLst/>
          </a:prstGeom>
          <a:noFill/>
        </p:spPr>
        <p:txBody>
          <a:bodyPr lIns="0" tIns="0" rIns="0" bIns="0"/>
          <a:lstStyle/>
          <a:p>
            <a:r>
              <a:rPr lang="de-CH" sz="1500" b="1">
                <a:solidFill>
                  <a:srgbClr val="1B3A5C"/>
                </a:solidFill>
              </a:rPr>
              <a:t>Zusammenarbeit</a:t>
            </a:r>
          </a:p>
        </p:txBody>
      </p:sp>
      <p:sp>
        <p:nvSpPr>
          <p:cNvPr id="62" name="rp"/>
          <p:cNvSpPr/>
          <p:nvPr/>
        </p:nvSpPr>
        <p:spPr>
          <a:xfrm>
            <a:off x="6172200" y="2413000"/>
            <a:ext cx="5181600" cy="3530600"/>
          </a:xfrm>
          <a:prstGeom prst="roundRect">
            <a:avLst>
              <a:gd name="adj" fmla="val 4000"/>
            </a:avLst>
          </a:prstGeom>
          <a:solidFill>
            <a:srgbClr val="EEF2F6"/>
          </a:solidFill>
          <a:ln>
            <a:noFill/>
          </a:ln>
        </p:spPr>
        <p:txBody>
          <a:bodyPr/>
          <a:lstStyle/>
          <a:p>
            <a:endParaRPr/>
          </a:p>
        </p:txBody>
      </p:sp>
      <p:sp>
        <p:nvSpPr>
          <p:cNvPr id="63" name="rd"/>
          <p:cNvSpPr/>
          <p:nvPr/>
        </p:nvSpPr>
        <p:spPr>
          <a:xfrm>
            <a:off x="6400800" y="2654300"/>
            <a:ext cx="139700" cy="139700"/>
          </a:xfrm>
          <a:prstGeom prst="ellipse">
            <a:avLst/>
          </a:prstGeom>
          <a:solidFill>
            <a:srgbClr val="C8893A"/>
          </a:solidFill>
          <a:ln>
            <a:noFill/>
          </a:ln>
        </p:spPr>
        <p:txBody>
          <a:bodyPr/>
          <a:lstStyle/>
          <a:p>
            <a:endParaRPr/>
          </a:p>
        </p:txBody>
      </p:sp>
      <p:sp>
        <p:nvSpPr>
          <p:cNvPr id="64" name="rt"/>
          <p:cNvSpPr/>
          <p:nvPr/>
        </p:nvSpPr>
        <p:spPr>
          <a:xfrm>
            <a:off x="6654800" y="2590800"/>
            <a:ext cx="4521200" cy="1016000"/>
          </a:xfrm>
          <a:prstGeom prst="rect">
            <a:avLst/>
          </a:prstGeom>
          <a:noFill/>
        </p:spPr>
        <p:txBody>
          <a:bodyPr lIns="0" tIns="0" rIns="0" bIns="0">
            <a:normAutofit/>
          </a:bodyPr>
          <a:lstStyle/>
          <a:p>
            <a:r>
              <a:rPr lang="de-CH" sz="1400" b="1">
                <a:solidFill>
                  <a:srgbClr val="1B3A5C"/>
                </a:solidFill>
              </a:rPr>
              <a:t>Sehr starke Unterstützung</a:t>
            </a:r>
          </a:p>
          <a:p>
            <a:pPr>
              <a:spcBef>
                <a:spcPts val="200"/>
              </a:spcBef>
            </a:pPr>
            <a:r>
              <a:rPr lang="de-CH" sz="1300">
                <a:solidFill>
                  <a:srgbClr val="1A2A38"/>
                </a:solidFill>
              </a:rPr>
              <a:t>Kontinuierliche fachliche und organisatorische Begleitung durch Kathrin Kühnle und Sarah Haefliger.</a:t>
            </a:r>
          </a:p>
        </p:txBody>
      </p:sp>
      <p:sp>
        <p:nvSpPr>
          <p:cNvPr id="65" name="rd"/>
          <p:cNvSpPr/>
          <p:nvPr/>
        </p:nvSpPr>
        <p:spPr>
          <a:xfrm>
            <a:off x="6400800" y="3771900"/>
            <a:ext cx="139700" cy="139700"/>
          </a:xfrm>
          <a:prstGeom prst="ellipse">
            <a:avLst/>
          </a:prstGeom>
          <a:solidFill>
            <a:srgbClr val="C8893A"/>
          </a:solidFill>
          <a:ln>
            <a:noFill/>
          </a:ln>
        </p:spPr>
        <p:txBody>
          <a:bodyPr/>
          <a:lstStyle/>
          <a:p>
            <a:endParaRPr/>
          </a:p>
        </p:txBody>
      </p:sp>
      <p:sp>
        <p:nvSpPr>
          <p:cNvPr id="66" name="rt"/>
          <p:cNvSpPr/>
          <p:nvPr/>
        </p:nvSpPr>
        <p:spPr>
          <a:xfrm>
            <a:off x="6654800" y="3708400"/>
            <a:ext cx="4521200" cy="1016000"/>
          </a:xfrm>
          <a:prstGeom prst="rect">
            <a:avLst/>
          </a:prstGeom>
          <a:noFill/>
        </p:spPr>
        <p:txBody>
          <a:bodyPr lIns="0" tIns="0" rIns="0" bIns="0">
            <a:normAutofit/>
          </a:bodyPr>
          <a:lstStyle/>
          <a:p>
            <a:r>
              <a:rPr lang="de-CH" sz="1400" b="1">
                <a:solidFill>
                  <a:srgbClr val="1B3A5C"/>
                </a:solidFill>
              </a:rPr>
              <a:t>Hohe Mitwirkungsbereitschaft</a:t>
            </a:r>
          </a:p>
          <a:p>
            <a:pPr>
              <a:spcBef>
                <a:spcPts val="200"/>
              </a:spcBef>
            </a:pPr>
            <a:r>
              <a:rPr lang="de-CH" sz="1300">
                <a:solidFill>
                  <a:srgbClr val="1A2A38"/>
                </a:solidFill>
              </a:rPr>
              <a:t>Alle Interview- und Workshop-Partner waren stets motiviert und hilfsbereit.</a:t>
            </a:r>
          </a:p>
        </p:txBody>
      </p:sp>
      <p:sp>
        <p:nvSpPr>
          <p:cNvPr id="67" name="rd"/>
          <p:cNvSpPr/>
          <p:nvPr/>
        </p:nvSpPr>
        <p:spPr>
          <a:xfrm>
            <a:off x="6400800" y="4889500"/>
            <a:ext cx="139700" cy="139700"/>
          </a:xfrm>
          <a:prstGeom prst="ellipse">
            <a:avLst/>
          </a:prstGeom>
          <a:solidFill>
            <a:srgbClr val="C8893A"/>
          </a:solidFill>
          <a:ln>
            <a:noFill/>
          </a:ln>
        </p:spPr>
        <p:txBody>
          <a:bodyPr/>
          <a:lstStyle/>
          <a:p>
            <a:endParaRPr/>
          </a:p>
        </p:txBody>
      </p:sp>
      <p:sp>
        <p:nvSpPr>
          <p:cNvPr id="68" name="rt"/>
          <p:cNvSpPr/>
          <p:nvPr/>
        </p:nvSpPr>
        <p:spPr>
          <a:xfrm>
            <a:off x="6654800" y="4826000"/>
            <a:ext cx="4521200" cy="1016000"/>
          </a:xfrm>
          <a:prstGeom prst="rect">
            <a:avLst/>
          </a:prstGeom>
          <a:noFill/>
        </p:spPr>
        <p:txBody>
          <a:bodyPr lIns="0" tIns="0" rIns="0" bIns="0">
            <a:normAutofit/>
          </a:bodyPr>
          <a:lstStyle/>
          <a:p>
            <a:r>
              <a:rPr lang="de-CH" sz="1400" b="1" dirty="0">
                <a:solidFill>
                  <a:srgbClr val="1B3A5C"/>
                </a:solidFill>
              </a:rPr>
              <a:t>Regelmässiger Austausch mit Fachdozenten</a:t>
            </a:r>
          </a:p>
          <a:p>
            <a:pPr>
              <a:spcBef>
                <a:spcPts val="200"/>
              </a:spcBef>
            </a:pPr>
            <a:r>
              <a:rPr lang="de-DE" sz="1300" dirty="0" err="1">
                <a:solidFill>
                  <a:srgbClr val="1A2A38"/>
                </a:solidFill>
              </a:rPr>
              <a:t>Regelmässige</a:t>
            </a:r>
            <a:r>
              <a:rPr lang="de-DE" sz="1300" dirty="0">
                <a:solidFill>
                  <a:srgbClr val="1A2A38"/>
                </a:solidFill>
              </a:rPr>
              <a:t> Abstimmungen mit Felix dienten der Überprüfung des Vorgehens, der methodischen Einordnung und der wissenschaftlichen Qualität.</a:t>
            </a:r>
            <a:endParaRPr lang="de-CH" sz="1300" dirty="0">
              <a:solidFill>
                <a:srgbClr val="1A2A38"/>
              </a:solidFill>
            </a:endParaRPr>
          </a:p>
        </p:txBody>
      </p:sp>
      <p:sp>
        <p:nvSpPr>
          <p:cNvPr id="3" name="Foliennummernplatzhalter 2">
            <a:extLst>
              <a:ext uri="{FF2B5EF4-FFF2-40B4-BE49-F238E27FC236}">
                <a16:creationId xmlns:a16="http://schemas.microsoft.com/office/drawing/2014/main" id="{8F3B6BF4-EF24-3082-8D82-CFC40355D3BA}"/>
              </a:ext>
            </a:extLst>
          </p:cNvPr>
          <p:cNvSpPr>
            <a:spLocks noGrp="1"/>
          </p:cNvSpPr>
          <p:nvPr>
            <p:ph type="sldNum" sz="quarter" idx="12"/>
          </p:nvPr>
        </p:nvSpPr>
        <p:spPr/>
        <p:txBody>
          <a:bodyPr/>
          <a:lstStyle/>
          <a:p>
            <a:fld id="{2AAFDC3C-A9F8-4ABD-8D8D-8DC3321B02DC}" type="slidenum">
              <a:rPr lang="de-CH" smtClean="0"/>
              <a:t>32</a:t>
            </a:fld>
            <a:endParaRPr lang="de-CH"/>
          </a:p>
        </p:txBody>
      </p:sp>
      <p:sp>
        <p:nvSpPr>
          <p:cNvPr id="4" name="Datumsplatzhalter 3">
            <a:extLst>
              <a:ext uri="{FF2B5EF4-FFF2-40B4-BE49-F238E27FC236}">
                <a16:creationId xmlns:a16="http://schemas.microsoft.com/office/drawing/2014/main" id="{D4AF8CF9-00B9-B176-9881-23DEF9645AC4}"/>
              </a:ext>
            </a:extLst>
          </p:cNvPr>
          <p:cNvSpPr>
            <a:spLocks noGrp="1"/>
          </p:cNvSpPr>
          <p:nvPr>
            <p:ph type="dt" sz="half" idx="10"/>
          </p:nvPr>
        </p:nvSpPr>
        <p:spPr/>
        <p:txBody>
          <a:bodyPr/>
          <a:lstStyle/>
          <a:p>
            <a:r>
              <a:rPr lang="de-CH" dirty="0"/>
              <a:t>11.06.2026</a:t>
            </a:r>
          </a:p>
        </p:txBody>
      </p:sp>
    </p:spTree>
    <p:extLst>
      <p:ext uri="{BB962C8B-B14F-4D97-AF65-F5344CB8AC3E}">
        <p14:creationId xmlns:p14="http://schemas.microsoft.com/office/powerpoint/2010/main" val="532868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B3A5C">
            <a:alpha val="100000"/>
          </a:srgbClr>
        </a:solidFill>
        <a:effectLst/>
      </p:bgPr>
    </p:bg>
    <p:spTree>
      <p:nvGrpSpPr>
        <p:cNvPr id="1" name=""/>
        <p:cNvGrpSpPr/>
        <p:nvPr/>
      </p:nvGrpSpPr>
      <p:grpSpPr>
        <a:xfrm>
          <a:off x="0" y="0"/>
          <a:ext cx="0" cy="0"/>
          <a:chOff x="0" y="0"/>
          <a:chExt cx="0" cy="0"/>
        </a:xfrm>
      </p:grpSpPr>
      <p:sp>
        <p:nvSpPr>
          <p:cNvPr id="50" name="eye"/>
          <p:cNvSpPr/>
          <p:nvPr/>
        </p:nvSpPr>
        <p:spPr>
          <a:xfrm>
            <a:off x="1524000" y="742950"/>
            <a:ext cx="9144000" cy="330200"/>
          </a:xfrm>
          <a:prstGeom prst="rect">
            <a:avLst/>
          </a:prstGeom>
          <a:noFill/>
        </p:spPr>
        <p:txBody>
          <a:bodyPr lIns="0" tIns="0" rIns="0" bIns="0" anchor="ctr"/>
          <a:lstStyle/>
          <a:p>
            <a:pPr algn="ctr"/>
            <a:r>
              <a:rPr lang="de-CH" sz="1400" b="1" dirty="0">
                <a:solidFill>
                  <a:srgbClr val="9FC3DF"/>
                </a:solidFill>
              </a:rPr>
              <a:t>ZWISCHENPRÄSENTATION · DIGITALISIERUNG AUSTRITTSPROZESS USB</a:t>
            </a:r>
          </a:p>
        </p:txBody>
      </p:sp>
      <p:sp>
        <p:nvSpPr>
          <p:cNvPr id="51" name="thx"/>
          <p:cNvSpPr/>
          <p:nvPr/>
        </p:nvSpPr>
        <p:spPr>
          <a:xfrm>
            <a:off x="1524000" y="1285875"/>
            <a:ext cx="9144000" cy="889000"/>
          </a:xfrm>
          <a:prstGeom prst="rect">
            <a:avLst/>
          </a:prstGeom>
          <a:noFill/>
        </p:spPr>
        <p:txBody>
          <a:bodyPr lIns="0" tIns="0" rIns="0" bIns="0" anchor="ctr"/>
          <a:lstStyle/>
          <a:p>
            <a:pPr algn="ctr"/>
            <a:r>
              <a:rPr lang="de-CH" sz="4000" b="1" dirty="0">
                <a:solidFill>
                  <a:srgbClr val="FFFFFF"/>
                </a:solidFill>
              </a:rPr>
              <a:t>Feedback und Diskussion</a:t>
            </a:r>
          </a:p>
        </p:txBody>
      </p:sp>
      <p:sp>
        <p:nvSpPr>
          <p:cNvPr id="52" name="rule"/>
          <p:cNvSpPr/>
          <p:nvPr/>
        </p:nvSpPr>
        <p:spPr>
          <a:xfrm>
            <a:off x="5715000" y="2174875"/>
            <a:ext cx="762000" cy="50800"/>
          </a:xfrm>
          <a:prstGeom prst="rect">
            <a:avLst/>
          </a:prstGeom>
          <a:solidFill>
            <a:srgbClr val="C8893A"/>
          </a:solidFill>
          <a:ln>
            <a:noFill/>
          </a:ln>
        </p:spPr>
        <p:txBody>
          <a:bodyPr/>
          <a:lstStyle/>
          <a:p>
            <a:endParaRPr/>
          </a:p>
        </p:txBody>
      </p:sp>
      <p:sp>
        <p:nvSpPr>
          <p:cNvPr id="53" name="sub"/>
          <p:cNvSpPr/>
          <p:nvPr/>
        </p:nvSpPr>
        <p:spPr>
          <a:xfrm>
            <a:off x="2032000" y="2357437"/>
            <a:ext cx="8128000" cy="355600"/>
          </a:xfrm>
          <a:prstGeom prst="rect">
            <a:avLst/>
          </a:prstGeom>
          <a:noFill/>
        </p:spPr>
        <p:txBody>
          <a:bodyPr lIns="0" tIns="0" rIns="0" bIns="0" anchor="ctr"/>
          <a:lstStyle/>
          <a:p>
            <a:pPr algn="ctr"/>
            <a:r>
              <a:rPr lang="de-CH" sz="1600" dirty="0">
                <a:solidFill>
                  <a:srgbClr val="C8DCEC"/>
                </a:solidFill>
                <a:latin typeface="Calibri"/>
              </a:rPr>
              <a:t>Rückmeldungen zu folgenden Punkten sind besonders hilfreich:</a:t>
            </a:r>
          </a:p>
        </p:txBody>
      </p:sp>
      <p:sp>
        <p:nvSpPr>
          <p:cNvPr id="54" name="ch"/>
          <p:cNvSpPr/>
          <p:nvPr/>
        </p:nvSpPr>
        <p:spPr>
          <a:xfrm>
            <a:off x="4546600" y="2955925"/>
            <a:ext cx="3098800" cy="1219200"/>
          </a:xfrm>
          <a:prstGeom prst="roundRect">
            <a:avLst>
              <a:gd name="adj" fmla="val 8000"/>
            </a:avLst>
          </a:prstGeom>
          <a:solidFill>
            <a:schemeClr val="bg2">
              <a:lumMod val="50000"/>
            </a:schemeClr>
          </a:solidFill>
          <a:ln w="12700">
            <a:solidFill>
              <a:srgbClr val="4A6F94"/>
            </a:solidFill>
          </a:ln>
        </p:spPr>
        <p:txBody>
          <a:bodyPr lIns="203200" tIns="127000" rIns="203200" bIns="127000" anchor="ctr">
            <a:normAutofit/>
          </a:bodyPr>
          <a:lstStyle/>
          <a:p>
            <a:pPr algn="ctr">
              <a:spcBef>
                <a:spcPts val="300"/>
              </a:spcBef>
            </a:pPr>
            <a:r>
              <a:rPr lang="de-CH" sz="1400" b="1" dirty="0">
                <a:solidFill>
                  <a:srgbClr val="F0C87A"/>
                </a:solidFill>
                <a:latin typeface="Calibri"/>
              </a:rPr>
              <a:t>PROJEKTKURS UND VORGEHEN</a:t>
            </a:r>
          </a:p>
          <a:p>
            <a:pPr algn="ctr">
              <a:spcBef>
                <a:spcPts val="250"/>
              </a:spcBef>
            </a:pPr>
            <a:r>
              <a:rPr lang="de-CH" sz="1400" dirty="0">
                <a:solidFill>
                  <a:srgbClr val="FFFFFF"/>
                </a:solidFill>
                <a:latin typeface="Calibri"/>
              </a:rPr>
              <a:t>Bin ich aus eurer Sicht fachlich und methodisch auf dem richtigen Weg?</a:t>
            </a:r>
          </a:p>
        </p:txBody>
      </p:sp>
      <p:sp>
        <p:nvSpPr>
          <p:cNvPr id="55" name="ch"/>
          <p:cNvSpPr/>
          <p:nvPr/>
        </p:nvSpPr>
        <p:spPr>
          <a:xfrm>
            <a:off x="8610600" y="3568700"/>
            <a:ext cx="3098800" cy="1219200"/>
          </a:xfrm>
          <a:prstGeom prst="roundRect">
            <a:avLst>
              <a:gd name="adj" fmla="val 8000"/>
            </a:avLst>
          </a:prstGeom>
          <a:solidFill>
            <a:schemeClr val="tx1">
              <a:lumMod val="90000"/>
              <a:lumOff val="10000"/>
            </a:schemeClr>
          </a:solidFill>
          <a:ln w="12700">
            <a:solidFill>
              <a:srgbClr val="4A6F94"/>
            </a:solidFill>
          </a:ln>
        </p:spPr>
        <p:txBody>
          <a:bodyPr lIns="203200" tIns="127000" rIns="203200" bIns="127000" anchor="ctr">
            <a:normAutofit fontScale="92500" lnSpcReduction="20000"/>
          </a:bodyPr>
          <a:lstStyle/>
          <a:p>
            <a:pPr algn="ctr">
              <a:spcBef>
                <a:spcPts val="300"/>
              </a:spcBef>
            </a:pPr>
            <a:r>
              <a:rPr lang="de-CH" sz="1500" b="1" dirty="0">
                <a:solidFill>
                  <a:srgbClr val="F0C87A"/>
                </a:solidFill>
                <a:latin typeface="Calibri"/>
              </a:rPr>
              <a:t>KOMMUNIKATION UND ZUSAMMENARBEIT</a:t>
            </a:r>
          </a:p>
          <a:p>
            <a:pPr algn="ctr">
              <a:spcBef>
                <a:spcPts val="250"/>
              </a:spcBef>
            </a:pPr>
            <a:r>
              <a:rPr lang="de-CH" sz="1400" dirty="0">
                <a:solidFill>
                  <a:srgbClr val="FFFFFF"/>
                </a:solidFill>
                <a:latin typeface="Calibri"/>
              </a:rPr>
              <a:t>Sind Abstimmung, Kommunikation und Informationsstand für euch ausreichend und hilfreich?</a:t>
            </a:r>
          </a:p>
        </p:txBody>
      </p:sp>
      <p:sp>
        <p:nvSpPr>
          <p:cNvPr id="56" name="ch"/>
          <p:cNvSpPr/>
          <p:nvPr/>
        </p:nvSpPr>
        <p:spPr>
          <a:xfrm>
            <a:off x="559954" y="3568700"/>
            <a:ext cx="3299692" cy="1219200"/>
          </a:xfrm>
          <a:prstGeom prst="roundRect">
            <a:avLst>
              <a:gd name="adj" fmla="val 8000"/>
            </a:avLst>
          </a:prstGeom>
          <a:solidFill>
            <a:srgbClr val="2E6CA4"/>
          </a:solidFill>
          <a:ln w="12700">
            <a:solidFill>
              <a:srgbClr val="4A6F94"/>
            </a:solidFill>
          </a:ln>
        </p:spPr>
        <p:txBody>
          <a:bodyPr lIns="203200" tIns="127000" rIns="203200" bIns="127000" anchor="ctr">
            <a:normAutofit/>
          </a:bodyPr>
          <a:lstStyle/>
          <a:p>
            <a:pPr algn="ctr">
              <a:spcBef>
                <a:spcPts val="300"/>
              </a:spcBef>
            </a:pPr>
            <a:r>
              <a:rPr lang="de-CH" sz="1400" b="1" dirty="0">
                <a:solidFill>
                  <a:srgbClr val="F0C87A"/>
                </a:solidFill>
                <a:latin typeface="Calibri"/>
              </a:rPr>
              <a:t>PRÄSENTATION UND PROJEKTSTAND</a:t>
            </a:r>
          </a:p>
          <a:p>
            <a:pPr algn="ctr">
              <a:spcBef>
                <a:spcPts val="300"/>
              </a:spcBef>
            </a:pPr>
            <a:r>
              <a:rPr lang="de-DE" sz="1400" dirty="0">
                <a:solidFill>
                  <a:srgbClr val="FFFFFF"/>
                </a:solidFill>
                <a:latin typeface="Calibri"/>
              </a:rPr>
              <a:t>Wird aus der Präsentation klar, was bisher erarbeitet wurde und wo das Projekt aktuell steht?</a:t>
            </a:r>
            <a:endParaRPr lang="de-CH" sz="1400" dirty="0">
              <a:solidFill>
                <a:srgbClr val="FFFFFF"/>
              </a:solidFill>
              <a:latin typeface="Calibri"/>
            </a:endParaRPr>
          </a:p>
        </p:txBody>
      </p:sp>
      <p:sp>
        <p:nvSpPr>
          <p:cNvPr id="2" name="Foliennummernplatzhalter 1">
            <a:extLst>
              <a:ext uri="{FF2B5EF4-FFF2-40B4-BE49-F238E27FC236}">
                <a16:creationId xmlns:a16="http://schemas.microsoft.com/office/drawing/2014/main" id="{8F2A6EB6-1D04-9B8E-4FFB-B831B72C5300}"/>
              </a:ext>
            </a:extLst>
          </p:cNvPr>
          <p:cNvSpPr>
            <a:spLocks noGrp="1"/>
          </p:cNvSpPr>
          <p:nvPr>
            <p:ph type="sldNum" sz="quarter" idx="12"/>
          </p:nvPr>
        </p:nvSpPr>
        <p:spPr/>
        <p:txBody>
          <a:bodyPr/>
          <a:lstStyle/>
          <a:p>
            <a:fld id="{2AAFDC3C-A9F8-4ABD-8D8D-8DC3321B02DC}" type="slidenum">
              <a:rPr lang="de-CH" smtClean="0"/>
              <a:t>33</a:t>
            </a:fld>
            <a:endParaRPr lang="de-CH"/>
          </a:p>
        </p:txBody>
      </p:sp>
      <p:sp>
        <p:nvSpPr>
          <p:cNvPr id="3" name="Datumsplatzhalter 2">
            <a:extLst>
              <a:ext uri="{FF2B5EF4-FFF2-40B4-BE49-F238E27FC236}">
                <a16:creationId xmlns:a16="http://schemas.microsoft.com/office/drawing/2014/main" id="{5C33FBBA-8C1E-F8FA-EFF1-667AFF8E14C2}"/>
              </a:ext>
            </a:extLst>
          </p:cNvPr>
          <p:cNvSpPr>
            <a:spLocks noGrp="1"/>
          </p:cNvSpPr>
          <p:nvPr>
            <p:ph type="dt" sz="half" idx="10"/>
          </p:nvPr>
        </p:nvSpPr>
        <p:spPr/>
        <p:txBody>
          <a:bodyPr/>
          <a:lstStyle/>
          <a:p>
            <a:r>
              <a:rPr lang="de-CH"/>
              <a:t>11.06.2026</a:t>
            </a:r>
          </a:p>
        </p:txBody>
      </p:sp>
      <p:sp>
        <p:nvSpPr>
          <p:cNvPr id="4" name="ch">
            <a:extLst>
              <a:ext uri="{FF2B5EF4-FFF2-40B4-BE49-F238E27FC236}">
                <a16:creationId xmlns:a16="http://schemas.microsoft.com/office/drawing/2014/main" id="{4BA66EBA-3EB0-49FE-FC67-9CC15A81C778}"/>
              </a:ext>
            </a:extLst>
          </p:cNvPr>
          <p:cNvSpPr/>
          <p:nvPr/>
        </p:nvSpPr>
        <p:spPr>
          <a:xfrm>
            <a:off x="4546600" y="4895850"/>
            <a:ext cx="3098800" cy="1219200"/>
          </a:xfrm>
          <a:prstGeom prst="roundRect">
            <a:avLst>
              <a:gd name="adj" fmla="val 8000"/>
            </a:avLst>
          </a:prstGeom>
          <a:solidFill>
            <a:schemeClr val="accent5">
              <a:lumMod val="75000"/>
            </a:schemeClr>
          </a:solidFill>
          <a:ln w="12700">
            <a:solidFill>
              <a:srgbClr val="4A6F94"/>
            </a:solidFill>
          </a:ln>
        </p:spPr>
        <p:txBody>
          <a:bodyPr lIns="203200" tIns="127000" rIns="203200" bIns="127000" anchor="ctr">
            <a:normAutofit/>
          </a:bodyPr>
          <a:lstStyle/>
          <a:p>
            <a:pPr algn="ctr">
              <a:spcBef>
                <a:spcPts val="300"/>
              </a:spcBef>
            </a:pPr>
            <a:r>
              <a:rPr lang="de-DE" sz="1400" b="1" dirty="0">
                <a:solidFill>
                  <a:srgbClr val="F0C87A"/>
                </a:solidFill>
                <a:latin typeface="Calibri"/>
              </a:rPr>
              <a:t>WEITERES VORGEHEN BIS ZUM SOLL-WORKSHOP</a:t>
            </a:r>
          </a:p>
          <a:p>
            <a:pPr algn="ctr">
              <a:spcBef>
                <a:spcPts val="300"/>
              </a:spcBef>
            </a:pPr>
            <a:r>
              <a:rPr lang="de-DE" sz="1400" dirty="0">
                <a:solidFill>
                  <a:srgbClr val="FFFFFF"/>
                </a:solidFill>
                <a:latin typeface="Calibri"/>
              </a:rPr>
              <a:t>Vorschläge zur Vorbereitung von SOLL-Varianten und Anforderungen</a:t>
            </a:r>
            <a:endParaRPr lang="de-CH" sz="1400" dirty="0">
              <a:solidFill>
                <a:srgbClr val="FFFFFF"/>
              </a:solidFill>
              <a:latin typeface="Calibri"/>
            </a:endParaRPr>
          </a:p>
        </p:txBody>
      </p:sp>
    </p:spTree>
    <p:extLst>
      <p:ext uri="{BB962C8B-B14F-4D97-AF65-F5344CB8AC3E}">
        <p14:creationId xmlns:p14="http://schemas.microsoft.com/office/powerpoint/2010/main" val="207459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74" name="Rectangle 1044">
            <a:extLst>
              <a:ext uri="{FF2B5EF4-FFF2-40B4-BE49-F238E27FC236}">
                <a16:creationId xmlns:a16="http://schemas.microsoft.com/office/drawing/2014/main" id="{F0AED851-54B9-4765-92D2-F0BE443BE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el 1">
            <a:extLst>
              <a:ext uri="{FF2B5EF4-FFF2-40B4-BE49-F238E27FC236}">
                <a16:creationId xmlns:a16="http://schemas.microsoft.com/office/drawing/2014/main" id="{99035857-1909-25A0-2027-8AD336338350}"/>
              </a:ext>
            </a:extLst>
          </p:cNvPr>
          <p:cNvSpPr>
            <a:spLocks noGrp="1"/>
          </p:cNvSpPr>
          <p:nvPr>
            <p:ph type="ctrTitle"/>
          </p:nvPr>
        </p:nvSpPr>
        <p:spPr>
          <a:xfrm>
            <a:off x="6578168" y="2101086"/>
            <a:ext cx="5150145" cy="3832989"/>
          </a:xfrm>
        </p:spPr>
        <p:txBody>
          <a:bodyPr anchor="t">
            <a:noAutofit/>
          </a:bodyPr>
          <a:lstStyle/>
          <a:p>
            <a:pPr algn="l"/>
            <a:r>
              <a:rPr lang="de-CH" sz="4800" dirty="0"/>
              <a:t>Vielen Dank für eure Aufmerksamkeit und die bisherige Zusammenarbeit!</a:t>
            </a:r>
          </a:p>
        </p:txBody>
      </p:sp>
      <p:sp>
        <p:nvSpPr>
          <p:cNvPr id="1075" name="Rectangle 1046">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76" name="Rectangle 104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6824"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026" name="Picture 2" descr="Smiley Face Cute Simple Smiling Happy Face Art Print By, 51% OFF">
            <a:extLst>
              <a:ext uri="{FF2B5EF4-FFF2-40B4-BE49-F238E27FC236}">
                <a16:creationId xmlns:a16="http://schemas.microsoft.com/office/drawing/2014/main" id="{331B25AE-14EB-0D9F-5CEF-5BADBA8095E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339278" y="1286546"/>
            <a:ext cx="4284908" cy="4284908"/>
          </a:xfrm>
          <a:prstGeom prst="rect">
            <a:avLst/>
          </a:prstGeom>
          <a:noFill/>
          <a:extLst>
            <a:ext uri="{909E8E84-426E-40DD-AFC4-6F175D3DCCD1}">
              <a14:hiddenFill xmlns:a14="http://schemas.microsoft.com/office/drawing/2010/main">
                <a:solidFill>
                  <a:srgbClr val="FFFFFF"/>
                </a:solidFill>
              </a14:hiddenFill>
            </a:ext>
          </a:extLst>
        </p:spPr>
      </p:pic>
      <p:grpSp>
        <p:nvGrpSpPr>
          <p:cNvPr id="1077" name="Group 1050">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60480" y="2984992"/>
            <a:ext cx="731521" cy="673460"/>
            <a:chOff x="3940602" y="308034"/>
            <a:chExt cx="2116791" cy="3428999"/>
          </a:xfrm>
          <a:solidFill>
            <a:schemeClr val="accent4"/>
          </a:solidFill>
        </p:grpSpPr>
        <p:sp>
          <p:nvSpPr>
            <p:cNvPr id="1052" name="Rectangle 1051">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53" name="Rectangle 105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78" name="Rectangle 105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16483667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440093-6496-7D44-CE44-8652C10ABCDE}"/>
              </a:ext>
            </a:extLst>
          </p:cNvPr>
          <p:cNvSpPr>
            <a:spLocks noGrp="1"/>
          </p:cNvSpPr>
          <p:nvPr>
            <p:ph type="title"/>
          </p:nvPr>
        </p:nvSpPr>
        <p:spPr/>
        <p:txBody>
          <a:bodyPr/>
          <a:lstStyle/>
          <a:p>
            <a:pPr algn="l"/>
            <a:r>
              <a:rPr lang="de-CH" sz="2800" b="1" dirty="0">
                <a:solidFill>
                  <a:srgbClr val="1B3A5C"/>
                </a:solidFill>
              </a:rPr>
              <a:t>Projektstand und Vorgehen</a:t>
            </a:r>
          </a:p>
        </p:txBody>
      </p:sp>
      <p:sp>
        <p:nvSpPr>
          <p:cNvPr id="50" name="kicker"/>
          <p:cNvSpPr/>
          <p:nvPr/>
        </p:nvSpPr>
        <p:spPr>
          <a:xfrm>
            <a:off x="838200" y="1574800"/>
            <a:ext cx="9906000" cy="279400"/>
          </a:xfrm>
          <a:prstGeom prst="rect">
            <a:avLst/>
          </a:prstGeom>
          <a:noFill/>
        </p:spPr>
        <p:txBody>
          <a:bodyPr lIns="0" tIns="0" rIns="0" bIns="0"/>
          <a:lstStyle/>
          <a:p>
            <a:r>
              <a:rPr lang="de-CH" sz="1400" b="1" dirty="0">
                <a:solidFill>
                  <a:srgbClr val="2E6CA4"/>
                </a:solidFill>
              </a:rPr>
              <a:t>ROADMAP</a:t>
            </a:r>
          </a:p>
        </p:txBody>
      </p:sp>
      <p:sp>
        <p:nvSpPr>
          <p:cNvPr id="51" name="track"/>
          <p:cNvSpPr/>
          <p:nvPr/>
        </p:nvSpPr>
        <p:spPr>
          <a:xfrm>
            <a:off x="1651000" y="2692401"/>
            <a:ext cx="8890000" cy="50800"/>
          </a:xfrm>
          <a:prstGeom prst="rect">
            <a:avLst/>
          </a:prstGeom>
          <a:solidFill>
            <a:srgbClr val="C9D6E2"/>
          </a:solidFill>
          <a:ln>
            <a:noFill/>
          </a:ln>
        </p:spPr>
        <p:txBody>
          <a:bodyPr/>
          <a:lstStyle/>
          <a:p>
            <a:endParaRPr/>
          </a:p>
        </p:txBody>
      </p:sp>
      <p:sp>
        <p:nvSpPr>
          <p:cNvPr id="52" name="b0"/>
          <p:cNvSpPr/>
          <p:nvPr/>
        </p:nvSpPr>
        <p:spPr>
          <a:xfrm>
            <a:off x="1498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1</a:t>
            </a:r>
          </a:p>
        </p:txBody>
      </p:sp>
      <p:sp>
        <p:nvSpPr>
          <p:cNvPr id="53" name="c0"/>
          <p:cNvSpPr/>
          <p:nvPr/>
        </p:nvSpPr>
        <p:spPr>
          <a:xfrm>
            <a:off x="838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Kick-off</a:t>
            </a:r>
          </a:p>
          <a:p>
            <a:pPr algn="ctr">
              <a:spcBef>
                <a:spcPts val="400"/>
              </a:spcBef>
            </a:pPr>
            <a:r>
              <a:rPr lang="de-CH" sz="1100" dirty="0">
                <a:solidFill>
                  <a:srgbClr val="5B6B79"/>
                </a:solidFill>
              </a:rPr>
              <a:t>Auftrag und Rahmen geklärt</a:t>
            </a:r>
          </a:p>
        </p:txBody>
      </p:sp>
      <p:sp>
        <p:nvSpPr>
          <p:cNvPr id="54" name="b1"/>
          <p:cNvSpPr/>
          <p:nvPr/>
        </p:nvSpPr>
        <p:spPr>
          <a:xfrm>
            <a:off x="3276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2</a:t>
            </a:r>
          </a:p>
        </p:txBody>
      </p:sp>
      <p:sp>
        <p:nvSpPr>
          <p:cNvPr id="55" name="c1"/>
          <p:cNvSpPr/>
          <p:nvPr/>
        </p:nvSpPr>
        <p:spPr>
          <a:xfrm>
            <a:off x="2616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Literatur und Disposition</a:t>
            </a:r>
          </a:p>
          <a:p>
            <a:pPr algn="ctr">
              <a:spcBef>
                <a:spcPts val="400"/>
              </a:spcBef>
            </a:pPr>
            <a:r>
              <a:rPr lang="de-CH" sz="1100" dirty="0">
                <a:solidFill>
                  <a:srgbClr val="5B6B79"/>
                </a:solidFill>
              </a:rPr>
              <a:t>Theoretische und methodische Grundlagen</a:t>
            </a:r>
          </a:p>
        </p:txBody>
      </p:sp>
      <p:sp>
        <p:nvSpPr>
          <p:cNvPr id="56" name="b2"/>
          <p:cNvSpPr/>
          <p:nvPr/>
        </p:nvSpPr>
        <p:spPr>
          <a:xfrm>
            <a:off x="5054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3</a:t>
            </a:r>
          </a:p>
        </p:txBody>
      </p:sp>
      <p:sp>
        <p:nvSpPr>
          <p:cNvPr id="57" name="c2"/>
          <p:cNvSpPr/>
          <p:nvPr/>
        </p:nvSpPr>
        <p:spPr>
          <a:xfrm>
            <a:off x="4394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IST-Erhebung</a:t>
            </a:r>
          </a:p>
          <a:p>
            <a:pPr algn="ctr">
              <a:spcBef>
                <a:spcPts val="400"/>
              </a:spcBef>
            </a:pPr>
            <a:r>
              <a:rPr lang="de-CH" sz="1100" dirty="0">
                <a:solidFill>
                  <a:srgbClr val="5B6B79"/>
                </a:solidFill>
              </a:rPr>
              <a:t>Dokumentenanalyse, Interviews, IST-Modellierung und Validierungsworkshop</a:t>
            </a:r>
          </a:p>
        </p:txBody>
      </p:sp>
      <p:sp>
        <p:nvSpPr>
          <p:cNvPr id="58" name="b3"/>
          <p:cNvSpPr/>
          <p:nvPr/>
        </p:nvSpPr>
        <p:spPr>
          <a:xfrm>
            <a:off x="6832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4</a:t>
            </a:r>
          </a:p>
        </p:txBody>
      </p:sp>
      <p:sp>
        <p:nvSpPr>
          <p:cNvPr id="59" name="c3"/>
          <p:cNvSpPr/>
          <p:nvPr/>
        </p:nvSpPr>
        <p:spPr>
          <a:xfrm>
            <a:off x="6172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IST-Analyse</a:t>
            </a:r>
          </a:p>
          <a:p>
            <a:pPr algn="ctr">
              <a:spcBef>
                <a:spcPts val="400"/>
              </a:spcBef>
            </a:pPr>
            <a:r>
              <a:rPr lang="de-CH" sz="1100" dirty="0" err="1">
                <a:solidFill>
                  <a:srgbClr val="5B6B79"/>
                </a:solidFill>
              </a:rPr>
              <a:t>Issue</a:t>
            </a:r>
            <a:r>
              <a:rPr lang="de-CH" sz="1100" dirty="0">
                <a:solidFill>
                  <a:srgbClr val="5B6B79"/>
                </a:solidFill>
              </a:rPr>
              <a:t> Register, Value-</a:t>
            </a:r>
            <a:r>
              <a:rPr lang="de-CH" sz="1100" dirty="0" err="1">
                <a:solidFill>
                  <a:srgbClr val="5B6B79"/>
                </a:solidFill>
              </a:rPr>
              <a:t>Added</a:t>
            </a:r>
            <a:r>
              <a:rPr lang="de-CH" sz="1100" dirty="0">
                <a:solidFill>
                  <a:srgbClr val="5B6B79"/>
                </a:solidFill>
              </a:rPr>
              <a:t>-Analyse, </a:t>
            </a:r>
            <a:r>
              <a:rPr lang="de-CH" sz="1100" dirty="0" err="1">
                <a:solidFill>
                  <a:srgbClr val="5B6B79"/>
                </a:solidFill>
              </a:rPr>
              <a:t>Muda</a:t>
            </a:r>
            <a:r>
              <a:rPr lang="de-CH" sz="1100" dirty="0">
                <a:solidFill>
                  <a:srgbClr val="5B6B79"/>
                </a:solidFill>
              </a:rPr>
              <a:t>-</a:t>
            </a:r>
            <a:r>
              <a:rPr lang="de-CH" sz="1100" dirty="0" err="1">
                <a:solidFill>
                  <a:srgbClr val="5B6B79"/>
                </a:solidFill>
              </a:rPr>
              <a:t>Waste</a:t>
            </a:r>
            <a:r>
              <a:rPr lang="de-CH" sz="1100" dirty="0">
                <a:solidFill>
                  <a:srgbClr val="5B6B79"/>
                </a:solidFill>
              </a:rPr>
              <a:t>-Analyse und Ursachenanalyse </a:t>
            </a:r>
          </a:p>
        </p:txBody>
      </p:sp>
      <p:sp>
        <p:nvSpPr>
          <p:cNvPr id="60" name="b4"/>
          <p:cNvSpPr/>
          <p:nvPr/>
        </p:nvSpPr>
        <p:spPr>
          <a:xfrm>
            <a:off x="8610600" y="2565401"/>
            <a:ext cx="304800" cy="304800"/>
          </a:xfrm>
          <a:prstGeom prst="ellipse">
            <a:avLst/>
          </a:prstGeom>
          <a:solidFill>
            <a:srgbClr val="C8893A"/>
          </a:solidFill>
          <a:ln w="19050">
            <a:solidFill>
              <a:srgbClr val="C8893A"/>
            </a:solidFill>
          </a:ln>
        </p:spPr>
        <p:txBody>
          <a:bodyPr lIns="0" tIns="0" rIns="0" bIns="0" anchor="ctr"/>
          <a:lstStyle/>
          <a:p>
            <a:pPr algn="ctr"/>
            <a:r>
              <a:rPr lang="de-CH" sz="1300" b="1" dirty="0">
                <a:solidFill>
                  <a:srgbClr val="FFFFFF"/>
                </a:solidFill>
              </a:rPr>
              <a:t>5</a:t>
            </a:r>
          </a:p>
        </p:txBody>
      </p:sp>
      <p:sp>
        <p:nvSpPr>
          <p:cNvPr id="61" name="c4"/>
          <p:cNvSpPr/>
          <p:nvPr/>
        </p:nvSpPr>
        <p:spPr>
          <a:xfrm>
            <a:off x="7950200" y="3098801"/>
            <a:ext cx="1625600" cy="1905000"/>
          </a:xfrm>
          <a:prstGeom prst="roundRect">
            <a:avLst>
              <a:gd name="adj" fmla="val 6000"/>
            </a:avLst>
          </a:prstGeom>
          <a:solidFill>
            <a:schemeClr val="bg1"/>
          </a:solidFill>
          <a:ln w="22225">
            <a:solidFill>
              <a:schemeClr val="bg2"/>
            </a:solidFill>
          </a:ln>
        </p:spPr>
        <p:txBody>
          <a:bodyPr lIns="101600" tIns="127000" rIns="101600" bIns="101600" anchor="t">
            <a:normAutofit/>
          </a:bodyPr>
          <a:lstStyle/>
          <a:p>
            <a:pPr algn="ctr"/>
            <a:r>
              <a:rPr lang="de-CH" sz="1300" b="1" dirty="0">
                <a:solidFill>
                  <a:srgbClr val="1B3A5C"/>
                </a:solidFill>
              </a:rPr>
              <a:t>SOLL-Konzept</a:t>
            </a:r>
          </a:p>
          <a:p>
            <a:pPr algn="ctr">
              <a:spcBef>
                <a:spcPts val="400"/>
              </a:spcBef>
            </a:pPr>
            <a:r>
              <a:rPr lang="de-CH" sz="1100" dirty="0">
                <a:solidFill>
                  <a:srgbClr val="5B6B79"/>
                </a:solidFill>
              </a:rPr>
              <a:t>Ziel-Konzept im SOLL-Workshop entwickeln und Anforderungen erheben</a:t>
            </a:r>
          </a:p>
        </p:txBody>
      </p:sp>
      <p:sp>
        <p:nvSpPr>
          <p:cNvPr id="63" name="b5"/>
          <p:cNvSpPr/>
          <p:nvPr/>
        </p:nvSpPr>
        <p:spPr>
          <a:xfrm>
            <a:off x="10388600" y="2565401"/>
            <a:ext cx="304800" cy="304800"/>
          </a:xfrm>
          <a:prstGeom prst="ellipse">
            <a:avLst/>
          </a:prstGeom>
          <a:solidFill>
            <a:srgbClr val="1B3A5C"/>
          </a:solidFill>
          <a:ln w="19050">
            <a:solidFill>
              <a:srgbClr val="7FA8C9"/>
            </a:solidFill>
          </a:ln>
        </p:spPr>
        <p:txBody>
          <a:bodyPr lIns="0" tIns="0" rIns="0" bIns="0" anchor="ctr"/>
          <a:lstStyle/>
          <a:p>
            <a:pPr algn="ctr"/>
            <a:r>
              <a:rPr lang="de-CH" sz="1300" b="1" dirty="0">
                <a:solidFill>
                  <a:srgbClr val="FFFFFF"/>
                </a:solidFill>
              </a:rPr>
              <a:t>6</a:t>
            </a:r>
          </a:p>
        </p:txBody>
      </p:sp>
      <p:sp>
        <p:nvSpPr>
          <p:cNvPr id="64" name="c5"/>
          <p:cNvSpPr/>
          <p:nvPr/>
        </p:nvSpPr>
        <p:spPr>
          <a:xfrm>
            <a:off x="9728200" y="3098801"/>
            <a:ext cx="1625600" cy="1905000"/>
          </a:xfrm>
          <a:prstGeom prst="roundRect">
            <a:avLst>
              <a:gd name="adj" fmla="val 6000"/>
            </a:avLst>
          </a:prstGeom>
          <a:solidFill>
            <a:srgbClr val="FFFFFF"/>
          </a:solidFill>
          <a:ln w="12700">
            <a:solidFill>
              <a:srgbClr val="C9D6E2"/>
            </a:solidFill>
          </a:ln>
        </p:spPr>
        <p:txBody>
          <a:bodyPr lIns="101600" tIns="127000" rIns="101600" bIns="101600" anchor="t">
            <a:normAutofit/>
          </a:bodyPr>
          <a:lstStyle/>
          <a:p>
            <a:pPr algn="ctr"/>
            <a:r>
              <a:rPr lang="de-CH" sz="1300" b="1" dirty="0">
                <a:solidFill>
                  <a:srgbClr val="1B3A5C"/>
                </a:solidFill>
              </a:rPr>
              <a:t>Detailspezifikation und Abnahme</a:t>
            </a:r>
          </a:p>
          <a:p>
            <a:pPr algn="ctr">
              <a:spcBef>
                <a:spcPts val="400"/>
              </a:spcBef>
            </a:pPr>
            <a:r>
              <a:rPr lang="de-CH" sz="1100" dirty="0">
                <a:solidFill>
                  <a:srgbClr val="5B6B79"/>
                </a:solidFill>
              </a:rPr>
              <a:t>Anforderungskatalog inkl. User Stories und Use Cases, Projektabnahme</a:t>
            </a:r>
          </a:p>
        </p:txBody>
      </p:sp>
      <p:sp>
        <p:nvSpPr>
          <p:cNvPr id="3" name="b0">
            <a:extLst>
              <a:ext uri="{FF2B5EF4-FFF2-40B4-BE49-F238E27FC236}">
                <a16:creationId xmlns:a16="http://schemas.microsoft.com/office/drawing/2014/main" id="{D43CBDCE-704E-68BF-B2E9-69FC4DE3406B}"/>
              </a:ext>
            </a:extLst>
          </p:cNvPr>
          <p:cNvSpPr/>
          <p:nvPr/>
        </p:nvSpPr>
        <p:spPr>
          <a:xfrm>
            <a:off x="8610600" y="2565401"/>
            <a:ext cx="304800" cy="304800"/>
          </a:xfrm>
          <a:prstGeom prst="ellipse">
            <a:avLst/>
          </a:prstGeom>
          <a:solidFill>
            <a:srgbClr val="1B3A5C"/>
          </a:solidFill>
          <a:ln w="19050">
            <a:solidFill>
              <a:srgbClr val="1B3A5C"/>
            </a:solidFill>
          </a:ln>
        </p:spPr>
        <p:txBody>
          <a:bodyPr lIns="0" tIns="0" rIns="0" bIns="0" anchor="ctr"/>
          <a:lstStyle/>
          <a:p>
            <a:pPr algn="ctr"/>
            <a:r>
              <a:rPr lang="de-CH" sz="1300" b="1" dirty="0">
                <a:solidFill>
                  <a:srgbClr val="FFFFFF"/>
                </a:solidFill>
              </a:rPr>
              <a:t>5</a:t>
            </a:r>
          </a:p>
        </p:txBody>
      </p:sp>
      <p:sp>
        <p:nvSpPr>
          <p:cNvPr id="4" name="Foliennummernplatzhalter 3">
            <a:extLst>
              <a:ext uri="{FF2B5EF4-FFF2-40B4-BE49-F238E27FC236}">
                <a16:creationId xmlns:a16="http://schemas.microsoft.com/office/drawing/2014/main" id="{C3C34CC3-EB7F-A171-55F8-D87FA4BA09BE}"/>
              </a:ext>
            </a:extLst>
          </p:cNvPr>
          <p:cNvSpPr>
            <a:spLocks noGrp="1"/>
          </p:cNvSpPr>
          <p:nvPr>
            <p:ph type="sldNum" sz="quarter" idx="12"/>
          </p:nvPr>
        </p:nvSpPr>
        <p:spPr/>
        <p:txBody>
          <a:bodyPr/>
          <a:lstStyle/>
          <a:p>
            <a:fld id="{2AAFDC3C-A9F8-4ABD-8D8D-8DC3321B02DC}" type="slidenum">
              <a:rPr lang="de-CH" smtClean="0"/>
              <a:t>35</a:t>
            </a:fld>
            <a:endParaRPr lang="de-CH"/>
          </a:p>
        </p:txBody>
      </p:sp>
      <p:sp>
        <p:nvSpPr>
          <p:cNvPr id="5" name="Datumsplatzhalter 4">
            <a:extLst>
              <a:ext uri="{FF2B5EF4-FFF2-40B4-BE49-F238E27FC236}">
                <a16:creationId xmlns:a16="http://schemas.microsoft.com/office/drawing/2014/main" id="{4CE6CBDC-3932-0CDB-0DF2-13EA2E02D29D}"/>
              </a:ext>
            </a:extLst>
          </p:cNvPr>
          <p:cNvSpPr>
            <a:spLocks noGrp="1"/>
          </p:cNvSpPr>
          <p:nvPr>
            <p:ph type="dt" sz="half" idx="10"/>
          </p:nvPr>
        </p:nvSpPr>
        <p:spPr/>
        <p:txBody>
          <a:bodyPr/>
          <a:lstStyle/>
          <a:p>
            <a:r>
              <a:rPr lang="de-CH"/>
              <a:t>11.06.2026</a:t>
            </a:r>
          </a:p>
        </p:txBody>
      </p:sp>
    </p:spTree>
    <p:extLst>
      <p:ext uri="{BB962C8B-B14F-4D97-AF65-F5344CB8AC3E}">
        <p14:creationId xmlns:p14="http://schemas.microsoft.com/office/powerpoint/2010/main" val="41008608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1780595762022]">
  <a:themeElements>
    <a:clrScheme name="Office">
      <a:dk1>
        <a:srgbClr val="1A2A38"/>
      </a:dk1>
      <a:lt1>
        <a:srgbClr val="FFFFFF"/>
      </a:lt1>
      <a:dk2>
        <a:srgbClr val="1B3A5C"/>
      </a:dk2>
      <a:lt2>
        <a:srgbClr val="EEF2F6"/>
      </a:lt2>
      <a:accent1>
        <a:srgbClr val="1B3A5C"/>
      </a:accent1>
      <a:accent2>
        <a:srgbClr val="2E6CA4"/>
      </a:accent2>
      <a:accent3>
        <a:srgbClr val="4A90C2"/>
      </a:accent3>
      <a:accent4>
        <a:srgbClr val="7FA8C9"/>
      </a:accent4>
      <a:accent5>
        <a:srgbClr val="C8893A"/>
      </a:accent5>
      <a:accent6>
        <a:srgbClr val="5B6B79"/>
      </a:accent6>
      <a:hlink>
        <a:srgbClr val="467886"/>
      </a:hlink>
      <a:folHlink>
        <a:srgbClr val="96607D"/>
      </a:folHlink>
    </a:clrScheme>
    <a:fontScheme name="Office">
      <a:majorFont>
        <a:latin typeface="Calibri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74B9BAE-86B1-49AE-8811-FFC94C2EEA93}">
  <we:reference id="wa200010001" version="1.0.0.1" store="de-DE" storeType="OMEX"/>
  <we:alternateReferences>
    <we:reference id="WA200010001" version="1.0.0.1" store="" storeType="OMEX"/>
  </we:alternateReferences>
  <we:properties>
    <we:property name="claude.fileId" value="&quot;5b1361b9-507d-4a3a-98a1-1ff4e226a5e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4512</Words>
  <Application>Microsoft Office PowerPoint</Application>
  <PresentationFormat>Breitbild</PresentationFormat>
  <Paragraphs>828</Paragraphs>
  <Slides>35</Slides>
  <Notes>23</Notes>
  <HiddenSlides>1</HiddenSlides>
  <MMClips>0</MMClips>
  <ScaleCrop>false</ScaleCrop>
  <HeadingPairs>
    <vt:vector size="6" baseType="variant">
      <vt:variant>
        <vt:lpstr>Verwendete Schriftarten</vt:lpstr>
      </vt:variant>
      <vt:variant>
        <vt:i4>5</vt:i4>
      </vt:variant>
      <vt:variant>
        <vt:lpstr>Design</vt:lpstr>
      </vt:variant>
      <vt:variant>
        <vt:i4>2</vt:i4>
      </vt:variant>
      <vt:variant>
        <vt:lpstr>Folientitel</vt:lpstr>
      </vt:variant>
      <vt:variant>
        <vt:i4>35</vt:i4>
      </vt:variant>
    </vt:vector>
  </HeadingPairs>
  <TitlesOfParts>
    <vt:vector size="42" baseType="lpstr">
      <vt:lpstr>Aptos</vt:lpstr>
      <vt:lpstr>Aptos Display</vt:lpstr>
      <vt:lpstr>Arial</vt:lpstr>
      <vt:lpstr>Calibri</vt:lpstr>
      <vt:lpstr>Calibri Light</vt:lpstr>
      <vt:lpstr>Office [1780595762022]</vt:lpstr>
      <vt:lpstr>Office</vt:lpstr>
      <vt:lpstr>Digitalisierung Austrittsprozess USB</vt:lpstr>
      <vt:lpstr>Projektstand und Vorgehen</vt:lpstr>
      <vt:lpstr>Projektstand und Vorgehen</vt:lpstr>
      <vt:lpstr>Ausgangslage und Relevanz</vt:lpstr>
      <vt:lpstr>Zielsetzung und Abgrenzung der Arbeit</vt:lpstr>
      <vt:lpstr>Zielsetzung und Abgrenzung der Arbeit</vt:lpstr>
      <vt:lpstr>Projektstand und Vorgehen</vt:lpstr>
      <vt:lpstr>Projektstand und Vorgehen</vt:lpstr>
      <vt:lpstr>Forschungslogik und methodischer Rahmen</vt:lpstr>
      <vt:lpstr>Projektstand und Vorgehen</vt:lpstr>
      <vt:lpstr>Projektstand und Vorgehen</vt:lpstr>
      <vt:lpstr>Evidenzbasis der IST-Erhebung</vt:lpstr>
      <vt:lpstr>Erkenntnisse aus Interviews und Modellierung</vt:lpstr>
      <vt:lpstr>Erkenntnisse aus Interviews und Modellierung</vt:lpstr>
      <vt:lpstr>IST-Konzept</vt:lpstr>
      <vt:lpstr>IST-Workshop</vt:lpstr>
      <vt:lpstr>Vier identifizierte Handlungsfelder</vt:lpstr>
      <vt:lpstr>18 konsolidierte Pain Points aus der IST-Erhebung</vt:lpstr>
      <vt:lpstr>Projektstand und Vorgehen</vt:lpstr>
      <vt:lpstr>Projektstand und Vorgehen</vt:lpstr>
      <vt:lpstr>IST-Analyse</vt:lpstr>
      <vt:lpstr>Value-Added-Analyse</vt:lpstr>
      <vt:lpstr>Muda-Waste-Analyse</vt:lpstr>
      <vt:lpstr>Ursache-Wirkungsanalyse</vt:lpstr>
      <vt:lpstr>5-Why-Analyse</vt:lpstr>
      <vt:lpstr>Projektstand und Vorgehen</vt:lpstr>
      <vt:lpstr>Projektstand und Vorgehen</vt:lpstr>
      <vt:lpstr>Projektstand und Vorgehen</vt:lpstr>
      <vt:lpstr>Ausblick</vt:lpstr>
      <vt:lpstr>Ausblick</vt:lpstr>
      <vt:lpstr>Herausforderungen im Projektverlauf</vt:lpstr>
      <vt:lpstr>Projektsteuerung und Zusammenarbeit</vt:lpstr>
      <vt:lpstr>PowerPoint-Präsentation</vt:lpstr>
      <vt:lpstr>Vielen Dank für eure Aufmerksamkeit und die bisherige Zusammenarbeit!</vt:lpstr>
      <vt:lpstr>Projektstand und Vorgehen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Kapischan Sriganthan</dc:creator>
  <cp:lastModifiedBy>Kapischan Sriganthan</cp:lastModifiedBy>
  <cp:revision>2</cp:revision>
  <dcterms:created xsi:type="dcterms:W3CDTF">2026-06-04T17:56:01Z</dcterms:created>
  <dcterms:modified xsi:type="dcterms:W3CDTF">2026-06-12T23:40:59Z</dcterms:modified>
</cp:coreProperties>
</file>