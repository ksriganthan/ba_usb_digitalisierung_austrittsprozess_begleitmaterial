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4" r:id="rId4"/>
  </p:sldMasterIdLst>
  <p:notesMasterIdLst>
    <p:notesMasterId r:id="rId37"/>
  </p:notesMasterIdLst>
  <p:handoutMasterIdLst>
    <p:handoutMasterId r:id="rId38"/>
  </p:handoutMasterIdLst>
  <p:sldIdLst>
    <p:sldId id="269" r:id="rId5"/>
    <p:sldId id="275" r:id="rId6"/>
    <p:sldId id="306" r:id="rId7"/>
    <p:sldId id="310" r:id="rId8"/>
    <p:sldId id="295" r:id="rId9"/>
    <p:sldId id="327" r:id="rId10"/>
    <p:sldId id="326" r:id="rId11"/>
    <p:sldId id="274" r:id="rId12"/>
    <p:sldId id="291" r:id="rId13"/>
    <p:sldId id="279" r:id="rId14"/>
    <p:sldId id="280" r:id="rId15"/>
    <p:sldId id="271" r:id="rId16"/>
    <p:sldId id="272" r:id="rId17"/>
    <p:sldId id="284" r:id="rId18"/>
    <p:sldId id="285" r:id="rId19"/>
    <p:sldId id="286" r:id="rId20"/>
    <p:sldId id="287" r:id="rId21"/>
    <p:sldId id="289" r:id="rId22"/>
    <p:sldId id="288" r:id="rId23"/>
    <p:sldId id="312" r:id="rId24"/>
    <p:sldId id="296" r:id="rId25"/>
    <p:sldId id="297" r:id="rId26"/>
    <p:sldId id="318" r:id="rId27"/>
    <p:sldId id="304" r:id="rId28"/>
    <p:sldId id="319" r:id="rId29"/>
    <p:sldId id="323" r:id="rId30"/>
    <p:sldId id="298" r:id="rId31"/>
    <p:sldId id="303" r:id="rId32"/>
    <p:sldId id="305" r:id="rId33"/>
    <p:sldId id="309" r:id="rId34"/>
    <p:sldId id="313" r:id="rId35"/>
    <p:sldId id="322" r:id="rId36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C833298-3BBA-E901-59FD-230171EBDB42}" name="Haefliger Sarah" initials="SH" userId="S::Sarah.Haefliger@usb.ch::7b19c8f1-d2a3-482c-bf07-d9ca17db6803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aefliger Sarah" initials="HS" lastIdx="1" clrIdx="0">
    <p:extLst>
      <p:ext uri="{19B8F6BF-5375-455C-9EA6-DF929625EA0E}">
        <p15:presenceInfo xmlns:p15="http://schemas.microsoft.com/office/powerpoint/2012/main" userId="S-1-5-21-2908198854-538845383-240637774-77464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4EBDB"/>
    <a:srgbClr val="E4D5E4"/>
    <a:srgbClr val="C6D0C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9E7B0BD-86B1-43F2-A9D1-CB31B5E9B769}" v="13" dt="2026-07-06T17:41:35.807"/>
    <p1510:client id="{9C900D70-A179-4832-8C6F-737C5D8EC440}" v="2" dt="2026-07-07T07:51:48.959"/>
    <p1510:client id="{C099F782-C2C1-820F-C13C-15A4D2745AC2}" v="258" dt="2026-07-08T06:33:32.346"/>
    <p1510:client id="{D21C4E62-2A85-F277-F701-FFF4EE24F49F}" v="147" dt="2026-07-07T12:27:02.45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ittlere Formatvorlage 1 - Akz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Helle Formatvorlage 2 - Akz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E3FDE45-AF77-4B5C-9715-49D594BDF05E}" styleName="Helle Formatvorlage 1 - Akz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384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commentAuthors" Target="commentAuthor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5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tableStyles" Target="tableStyle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handoutMaster" Target="handoutMasters/handoutMaster1.xml"/><Relationship Id="rId46" Type="http://schemas.microsoft.com/office/2018/10/relationships/authors" Target="authors.xml"/><Relationship Id="rId20" Type="http://schemas.openxmlformats.org/officeDocument/2006/relationships/slide" Target="slides/slide16.xml"/><Relationship Id="rId41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efliger Sarah" userId="S::sarah.haefliger@usb.ch::7b19c8f1-d2a3-482c-bf07-d9ca17db6803" providerId="AD" clId="Web-{D21C4E62-2A85-F277-F701-FFF4EE24F49F}"/>
    <pc:docChg chg="modSld">
      <pc:chgData name="Haefliger Sarah" userId="S::sarah.haefliger@usb.ch::7b19c8f1-d2a3-482c-bf07-d9ca17db6803" providerId="AD" clId="Web-{D21C4E62-2A85-F277-F701-FFF4EE24F49F}" dt="2026-07-07T12:27:00.021" v="65" actId="20577"/>
      <pc:docMkLst>
        <pc:docMk/>
      </pc:docMkLst>
      <pc:sldChg chg="modSp">
        <pc:chgData name="Haefliger Sarah" userId="S::sarah.haefliger@usb.ch::7b19c8f1-d2a3-482c-bf07-d9ca17db6803" providerId="AD" clId="Web-{D21C4E62-2A85-F277-F701-FFF4EE24F49F}" dt="2026-07-07T12:27:00.021" v="65" actId="20577"/>
        <pc:sldMkLst>
          <pc:docMk/>
          <pc:sldMk cId="1104254051" sldId="326"/>
        </pc:sldMkLst>
        <pc:spChg chg="mod">
          <ac:chgData name="Haefliger Sarah" userId="S::sarah.haefliger@usb.ch::7b19c8f1-d2a3-482c-bf07-d9ca17db6803" providerId="AD" clId="Web-{D21C4E62-2A85-F277-F701-FFF4EE24F49F}" dt="2026-07-07T12:27:00.021" v="65" actId="20577"/>
          <ac:spMkLst>
            <pc:docMk/>
            <pc:sldMk cId="1104254051" sldId="326"/>
            <ac:spMk id="15" creationId="{0FA9A963-18CC-CFCB-B847-626B4ABA6275}"/>
          </ac:spMkLst>
        </pc:spChg>
        <pc:spChg chg="mod">
          <ac:chgData name="Haefliger Sarah" userId="S::sarah.haefliger@usb.ch::7b19c8f1-d2a3-482c-bf07-d9ca17db6803" providerId="AD" clId="Web-{D21C4E62-2A85-F277-F701-FFF4EE24F49F}" dt="2026-07-07T12:26:10.490" v="30" actId="20577"/>
          <ac:spMkLst>
            <pc:docMk/>
            <pc:sldMk cId="1104254051" sldId="326"/>
            <ac:spMk id="19" creationId="{118ED885-6FC5-00A7-1372-EAD3EA7C3FE9}"/>
          </ac:spMkLst>
        </pc:spChg>
        <pc:spChg chg="mod">
          <ac:chgData name="Haefliger Sarah" userId="S::sarah.haefliger@usb.ch::7b19c8f1-d2a3-482c-bf07-d9ca17db6803" providerId="AD" clId="Web-{D21C4E62-2A85-F277-F701-FFF4EE24F49F}" dt="2026-07-07T12:25:30.224" v="8" actId="20577"/>
          <ac:spMkLst>
            <pc:docMk/>
            <pc:sldMk cId="1104254051" sldId="326"/>
            <ac:spMk id="20" creationId="{520CB8E0-8C9B-38DC-8F5F-B286FD656C32}"/>
          </ac:spMkLst>
        </pc:spChg>
        <pc:grpChg chg="mod">
          <ac:chgData name="Haefliger Sarah" userId="S::sarah.haefliger@usb.ch::7b19c8f1-d2a3-482c-bf07-d9ca17db6803" providerId="AD" clId="Web-{D21C4E62-2A85-F277-F701-FFF4EE24F49F}" dt="2026-07-07T12:26:20.568" v="31" actId="1076"/>
          <ac:grpSpMkLst>
            <pc:docMk/>
            <pc:sldMk cId="1104254051" sldId="326"/>
            <ac:grpSpMk id="16" creationId="{5EC8BD27-C992-FB35-15A1-85362D4F1367}"/>
          </ac:grpSpMkLst>
        </pc:grpChg>
      </pc:sldChg>
      <pc:sldChg chg="modSp">
        <pc:chgData name="Haefliger Sarah" userId="S::sarah.haefliger@usb.ch::7b19c8f1-d2a3-482c-bf07-d9ca17db6803" providerId="AD" clId="Web-{D21C4E62-2A85-F277-F701-FFF4EE24F49F}" dt="2026-07-07T12:21:53.709" v="5" actId="20577"/>
        <pc:sldMkLst>
          <pc:docMk/>
          <pc:sldMk cId="2393772348" sldId="327"/>
        </pc:sldMkLst>
        <pc:spChg chg="mod">
          <ac:chgData name="Haefliger Sarah" userId="S::sarah.haefliger@usb.ch::7b19c8f1-d2a3-482c-bf07-d9ca17db6803" providerId="AD" clId="Web-{D21C4E62-2A85-F277-F701-FFF4EE24F49F}" dt="2026-07-07T12:21:53.709" v="5" actId="20577"/>
          <ac:spMkLst>
            <pc:docMk/>
            <pc:sldMk cId="2393772348" sldId="327"/>
            <ac:spMk id="35" creationId="{88586412-58E1-261B-E537-AA150785FBF1}"/>
          </ac:spMkLst>
        </pc:spChg>
      </pc:sldChg>
    </pc:docChg>
  </pc:docChgLst>
  <pc:docChgLst>
    <pc:chgData name="Haefliger Sarah" userId="S::sarah.haefliger@usb.ch::7b19c8f1-d2a3-482c-bf07-d9ca17db6803" providerId="AD" clId="Web-{C099F782-C2C1-820F-C13C-15A4D2745AC2}"/>
    <pc:docChg chg="modSld">
      <pc:chgData name="Haefliger Sarah" userId="S::sarah.haefliger@usb.ch::7b19c8f1-d2a3-482c-bf07-d9ca17db6803" providerId="AD" clId="Web-{C099F782-C2C1-820F-C13C-15A4D2745AC2}" dt="2026-07-08T06:33:27.017" v="126" actId="20577"/>
      <pc:docMkLst>
        <pc:docMk/>
      </pc:docMkLst>
      <pc:sldChg chg="modSp">
        <pc:chgData name="Haefliger Sarah" userId="S::sarah.haefliger@usb.ch::7b19c8f1-d2a3-482c-bf07-d9ca17db6803" providerId="AD" clId="Web-{C099F782-C2C1-820F-C13C-15A4D2745AC2}" dt="2026-07-08T06:33:27.017" v="126" actId="20577"/>
        <pc:sldMkLst>
          <pc:docMk/>
          <pc:sldMk cId="2393772348" sldId="327"/>
        </pc:sldMkLst>
        <pc:spChg chg="mod">
          <ac:chgData name="Haefliger Sarah" userId="S::sarah.haefliger@usb.ch::7b19c8f1-d2a3-482c-bf07-d9ca17db6803" providerId="AD" clId="Web-{C099F782-C2C1-820F-C13C-15A4D2745AC2}" dt="2026-07-08T06:31:14.969" v="13" actId="14100"/>
          <ac:spMkLst>
            <pc:docMk/>
            <pc:sldMk cId="2393772348" sldId="327"/>
            <ac:spMk id="33" creationId="{31EB1430-503A-51EF-DE66-1A0BF535259D}"/>
          </ac:spMkLst>
        </pc:spChg>
        <pc:spChg chg="mod">
          <ac:chgData name="Haefliger Sarah" userId="S::sarah.haefliger@usb.ch::7b19c8f1-d2a3-482c-bf07-d9ca17db6803" providerId="AD" clId="Web-{C099F782-C2C1-820F-C13C-15A4D2745AC2}" dt="2026-07-08T06:33:27.017" v="126" actId="20577"/>
          <ac:spMkLst>
            <pc:docMk/>
            <pc:sldMk cId="2393772348" sldId="327"/>
            <ac:spMk id="35" creationId="{88586412-58E1-261B-E537-AA150785FBF1}"/>
          </ac:spMkLst>
        </pc:spChg>
      </pc:sldChg>
    </pc:docChg>
  </pc:docChgLst>
  <pc:docChgLst>
    <pc:chgData name="Haefliger Sarah" userId="7b19c8f1-d2a3-482c-bf07-d9ca17db6803" providerId="ADAL" clId="{0FFACC9B-419B-47E9-BB97-7F729AB0B2A7}"/>
    <pc:docChg chg="undo custSel modSld">
      <pc:chgData name="Haefliger Sarah" userId="7b19c8f1-d2a3-482c-bf07-d9ca17db6803" providerId="ADAL" clId="{0FFACC9B-419B-47E9-BB97-7F729AB0B2A7}" dt="2026-07-07T07:52:36.657" v="1219" actId="20577"/>
      <pc:docMkLst>
        <pc:docMk/>
      </pc:docMkLst>
      <pc:sldChg chg="modSp mod">
        <pc:chgData name="Haefliger Sarah" userId="7b19c8f1-d2a3-482c-bf07-d9ca17db6803" providerId="ADAL" clId="{0FFACC9B-419B-47E9-BB97-7F729AB0B2A7}" dt="2026-07-07T07:18:53.447" v="39" actId="403"/>
        <pc:sldMkLst>
          <pc:docMk/>
          <pc:sldMk cId="1811311672" sldId="310"/>
        </pc:sldMkLst>
        <pc:spChg chg="mod">
          <ac:chgData name="Haefliger Sarah" userId="7b19c8f1-d2a3-482c-bf07-d9ca17db6803" providerId="ADAL" clId="{0FFACC9B-419B-47E9-BB97-7F729AB0B2A7}" dt="2026-07-07T07:17:03.667" v="4" actId="113"/>
          <ac:spMkLst>
            <pc:docMk/>
            <pc:sldMk cId="1811311672" sldId="310"/>
            <ac:spMk id="14" creationId="{82F2B0DF-0702-4109-E6A0-73E049C20FF3}"/>
          </ac:spMkLst>
        </pc:spChg>
        <pc:spChg chg="mod">
          <ac:chgData name="Haefliger Sarah" userId="7b19c8f1-d2a3-482c-bf07-d9ca17db6803" providerId="ADAL" clId="{0FFACC9B-419B-47E9-BB97-7F729AB0B2A7}" dt="2026-07-07T07:18:27.700" v="30" actId="255"/>
          <ac:spMkLst>
            <pc:docMk/>
            <pc:sldMk cId="1811311672" sldId="310"/>
            <ac:spMk id="15" creationId="{DA3B133F-54ED-4CD6-C244-3077BCD06180}"/>
          </ac:spMkLst>
        </pc:spChg>
        <pc:spChg chg="mod">
          <ac:chgData name="Haefliger Sarah" userId="7b19c8f1-d2a3-482c-bf07-d9ca17db6803" providerId="ADAL" clId="{0FFACC9B-419B-47E9-BB97-7F729AB0B2A7}" dt="2026-07-07T07:18:53.447" v="39" actId="403"/>
          <ac:spMkLst>
            <pc:docMk/>
            <pc:sldMk cId="1811311672" sldId="310"/>
            <ac:spMk id="16" creationId="{82B0EDDD-165D-6382-1346-461BF812C26A}"/>
          </ac:spMkLst>
        </pc:spChg>
        <pc:spChg chg="mod">
          <ac:chgData name="Haefliger Sarah" userId="7b19c8f1-d2a3-482c-bf07-d9ca17db6803" providerId="ADAL" clId="{0FFACC9B-419B-47E9-BB97-7F729AB0B2A7}" dt="2026-07-07T07:18:23.926" v="29" actId="255"/>
          <ac:spMkLst>
            <pc:docMk/>
            <pc:sldMk cId="1811311672" sldId="310"/>
            <ac:spMk id="17" creationId="{BBD0C834-8FDF-CDA2-3032-6D1294CDB40C}"/>
          </ac:spMkLst>
        </pc:spChg>
      </pc:sldChg>
      <pc:sldChg chg="modSp mod">
        <pc:chgData name="Haefliger Sarah" userId="7b19c8f1-d2a3-482c-bf07-d9ca17db6803" providerId="ADAL" clId="{0FFACC9B-419B-47E9-BB97-7F729AB0B2A7}" dt="2026-07-07T07:52:36.657" v="1219" actId="20577"/>
        <pc:sldMkLst>
          <pc:docMk/>
          <pc:sldMk cId="1104254051" sldId="326"/>
        </pc:sldMkLst>
        <pc:spChg chg="mod">
          <ac:chgData name="Haefliger Sarah" userId="7b19c8f1-d2a3-482c-bf07-d9ca17db6803" providerId="ADAL" clId="{0FFACC9B-419B-47E9-BB97-7F729AB0B2A7}" dt="2026-07-07T07:52:36.657" v="1219" actId="20577"/>
          <ac:spMkLst>
            <pc:docMk/>
            <pc:sldMk cId="1104254051" sldId="326"/>
            <ac:spMk id="19" creationId="{118ED885-6FC5-00A7-1372-EAD3EA7C3FE9}"/>
          </ac:spMkLst>
        </pc:spChg>
      </pc:sldChg>
      <pc:sldChg chg="modSp mod modCm">
        <pc:chgData name="Haefliger Sarah" userId="7b19c8f1-d2a3-482c-bf07-d9ca17db6803" providerId="ADAL" clId="{0FFACC9B-419B-47E9-BB97-7F729AB0B2A7}" dt="2026-07-07T07:51:26.048" v="1160" actId="20577"/>
        <pc:sldMkLst>
          <pc:docMk/>
          <pc:sldMk cId="2393772348" sldId="327"/>
        </pc:sldMkLst>
        <pc:spChg chg="mod">
          <ac:chgData name="Haefliger Sarah" userId="7b19c8f1-d2a3-482c-bf07-d9ca17db6803" providerId="ADAL" clId="{0FFACC9B-419B-47E9-BB97-7F729AB0B2A7}" dt="2026-07-07T07:45:44.165" v="754" actId="6549"/>
          <ac:spMkLst>
            <pc:docMk/>
            <pc:sldMk cId="2393772348" sldId="327"/>
            <ac:spMk id="9" creationId="{BB3DBF95-B664-450C-4006-528026CCB970}"/>
          </ac:spMkLst>
        </pc:spChg>
        <pc:spChg chg="mod">
          <ac:chgData name="Haefliger Sarah" userId="7b19c8f1-d2a3-482c-bf07-d9ca17db6803" providerId="ADAL" clId="{0FFACC9B-419B-47E9-BB97-7F729AB0B2A7}" dt="2026-07-07T07:45:52.735" v="756" actId="20577"/>
          <ac:spMkLst>
            <pc:docMk/>
            <pc:sldMk cId="2393772348" sldId="327"/>
            <ac:spMk id="10" creationId="{E5DE4CAA-FA42-BB12-62AD-6D5D700FFE4A}"/>
          </ac:spMkLst>
        </pc:spChg>
        <pc:spChg chg="mod">
          <ac:chgData name="Haefliger Sarah" userId="7b19c8f1-d2a3-482c-bf07-d9ca17db6803" providerId="ADAL" clId="{0FFACC9B-419B-47E9-BB97-7F729AB0B2A7}" dt="2026-07-07T07:46:12.224" v="835" actId="20577"/>
          <ac:spMkLst>
            <pc:docMk/>
            <pc:sldMk cId="2393772348" sldId="327"/>
            <ac:spMk id="11" creationId="{FE07D242-0C44-3781-0BD2-8AE73B2E44CA}"/>
          </ac:spMkLst>
        </pc:spChg>
        <pc:spChg chg="mod">
          <ac:chgData name="Haefliger Sarah" userId="7b19c8f1-d2a3-482c-bf07-d9ca17db6803" providerId="ADAL" clId="{0FFACC9B-419B-47E9-BB97-7F729AB0B2A7}" dt="2026-07-07T07:46:55.332" v="882" actId="20577"/>
          <ac:spMkLst>
            <pc:docMk/>
            <pc:sldMk cId="2393772348" sldId="327"/>
            <ac:spMk id="15" creationId="{104112DE-81DD-E0A5-4FD5-4FB45FD6237A}"/>
          </ac:spMkLst>
        </pc:spChg>
        <pc:spChg chg="mod">
          <ac:chgData name="Haefliger Sarah" userId="7b19c8f1-d2a3-482c-bf07-d9ca17db6803" providerId="ADAL" clId="{0FFACC9B-419B-47E9-BB97-7F729AB0B2A7}" dt="2026-07-07T07:42:52.501" v="628" actId="20577"/>
          <ac:spMkLst>
            <pc:docMk/>
            <pc:sldMk cId="2393772348" sldId="327"/>
            <ac:spMk id="19" creationId="{1F074D21-4DA5-A9D1-7A08-81F1AEEDA80A}"/>
          </ac:spMkLst>
        </pc:spChg>
        <pc:spChg chg="mod">
          <ac:chgData name="Haefliger Sarah" userId="7b19c8f1-d2a3-482c-bf07-d9ca17db6803" providerId="ADAL" clId="{0FFACC9B-419B-47E9-BB97-7F729AB0B2A7}" dt="2026-07-07T07:47:18.618" v="901" actId="20577"/>
          <ac:spMkLst>
            <pc:docMk/>
            <pc:sldMk cId="2393772348" sldId="327"/>
            <ac:spMk id="23" creationId="{20203C2C-DB4C-9DEA-29BE-F8411B2C5127}"/>
          </ac:spMkLst>
        </pc:spChg>
        <pc:spChg chg="mod">
          <ac:chgData name="Haefliger Sarah" userId="7b19c8f1-d2a3-482c-bf07-d9ca17db6803" providerId="ADAL" clId="{0FFACC9B-419B-47E9-BB97-7F729AB0B2A7}" dt="2026-07-07T07:47:37.809" v="902" actId="1076"/>
          <ac:spMkLst>
            <pc:docMk/>
            <pc:sldMk cId="2393772348" sldId="327"/>
            <ac:spMk id="26" creationId="{02D82B9B-BC02-9585-7F25-A27D1D10B30E}"/>
          </ac:spMkLst>
        </pc:spChg>
        <pc:spChg chg="mod">
          <ac:chgData name="Haefliger Sarah" userId="7b19c8f1-d2a3-482c-bf07-d9ca17db6803" providerId="ADAL" clId="{0FFACC9B-419B-47E9-BB97-7F729AB0B2A7}" dt="2026-07-07T07:47:58.365" v="906" actId="20577"/>
          <ac:spMkLst>
            <pc:docMk/>
            <pc:sldMk cId="2393772348" sldId="327"/>
            <ac:spMk id="27" creationId="{5946657E-578C-64FA-6B75-2CDFAE7BE69F}"/>
          </ac:spMkLst>
        </pc:spChg>
        <pc:spChg chg="mod">
          <ac:chgData name="Haefliger Sarah" userId="7b19c8f1-d2a3-482c-bf07-d9ca17db6803" providerId="ADAL" clId="{0FFACC9B-419B-47E9-BB97-7F729AB0B2A7}" dt="2026-07-07T07:48:53.027" v="912" actId="20577"/>
          <ac:spMkLst>
            <pc:docMk/>
            <pc:sldMk cId="2393772348" sldId="327"/>
            <ac:spMk id="29" creationId="{C33CE599-FAD2-8CF1-0EC0-F28664BBE064}"/>
          </ac:spMkLst>
        </pc:spChg>
        <pc:spChg chg="mod">
          <ac:chgData name="Haefliger Sarah" userId="7b19c8f1-d2a3-482c-bf07-d9ca17db6803" providerId="ADAL" clId="{0FFACC9B-419B-47E9-BB97-7F729AB0B2A7}" dt="2026-07-07T07:48:57.630" v="913" actId="1076"/>
          <ac:spMkLst>
            <pc:docMk/>
            <pc:sldMk cId="2393772348" sldId="327"/>
            <ac:spMk id="30" creationId="{370FC1D3-31C8-E107-C2D7-B06AF19A7A66}"/>
          </ac:spMkLst>
        </pc:spChg>
        <pc:spChg chg="mod">
          <ac:chgData name="Haefliger Sarah" userId="7b19c8f1-d2a3-482c-bf07-d9ca17db6803" providerId="ADAL" clId="{0FFACC9B-419B-47E9-BB97-7F729AB0B2A7}" dt="2026-07-07T07:49:27.380" v="916" actId="14100"/>
          <ac:spMkLst>
            <pc:docMk/>
            <pc:sldMk cId="2393772348" sldId="327"/>
            <ac:spMk id="31" creationId="{50484007-D473-1AD5-D8D4-B7AECDCB2088}"/>
          </ac:spMkLst>
        </pc:spChg>
        <pc:spChg chg="mod">
          <ac:chgData name="Haefliger Sarah" userId="7b19c8f1-d2a3-482c-bf07-d9ca17db6803" providerId="ADAL" clId="{0FFACC9B-419B-47E9-BB97-7F729AB0B2A7}" dt="2026-07-07T07:50:13.561" v="921" actId="14100"/>
          <ac:spMkLst>
            <pc:docMk/>
            <pc:sldMk cId="2393772348" sldId="327"/>
            <ac:spMk id="32" creationId="{A4169B4D-537C-3DAA-46EC-6B516035D564}"/>
          </ac:spMkLst>
        </pc:spChg>
        <pc:spChg chg="mod">
          <ac:chgData name="Haefliger Sarah" userId="7b19c8f1-d2a3-482c-bf07-d9ca17db6803" providerId="ADAL" clId="{0FFACC9B-419B-47E9-BB97-7F729AB0B2A7}" dt="2026-07-07T07:49:35.887" v="919" actId="1076"/>
          <ac:spMkLst>
            <pc:docMk/>
            <pc:sldMk cId="2393772348" sldId="327"/>
            <ac:spMk id="34" creationId="{C1CF982F-DBAE-B403-10FD-6C34CC740018}"/>
          </ac:spMkLst>
        </pc:spChg>
        <pc:spChg chg="mod">
          <ac:chgData name="Haefliger Sarah" userId="7b19c8f1-d2a3-482c-bf07-d9ca17db6803" providerId="ADAL" clId="{0FFACC9B-419B-47E9-BB97-7F729AB0B2A7}" dt="2026-07-07T07:51:26.048" v="1160" actId="20577"/>
          <ac:spMkLst>
            <pc:docMk/>
            <pc:sldMk cId="2393772348" sldId="327"/>
            <ac:spMk id="35" creationId="{88586412-58E1-261B-E537-AA150785FBF1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Haefliger Sarah" userId="7b19c8f1-d2a3-482c-bf07-d9ca17db6803" providerId="ADAL" clId="{0FFACC9B-419B-47E9-BB97-7F729AB0B2A7}" dt="2026-07-07T07:46:12.224" v="835" actId="20577"/>
              <pc2:cmMkLst xmlns:pc2="http://schemas.microsoft.com/office/powerpoint/2019/9/main/command">
                <pc:docMk/>
                <pc:sldMk cId="2393772348" sldId="327"/>
                <pc2:cmMk id="{B064660D-DC08-4D6C-AFD1-FFE77E79B491}"/>
              </pc2:cmMkLst>
            </pc226:cmChg>
            <pc226:cmChg xmlns:pc226="http://schemas.microsoft.com/office/powerpoint/2022/06/main/command" chg="mod">
              <pc226:chgData name="Haefliger Sarah" userId="7b19c8f1-d2a3-482c-bf07-d9ca17db6803" providerId="ADAL" clId="{0FFACC9B-419B-47E9-BB97-7F729AB0B2A7}" dt="2026-07-07T07:46:12.224" v="835" actId="20577"/>
              <pc2:cmMkLst xmlns:pc2="http://schemas.microsoft.com/office/powerpoint/2019/9/main/command">
                <pc:docMk/>
                <pc:sldMk cId="2393772348" sldId="327"/>
                <pc2:cmMk id="{EAF2A197-8E7C-4D8B-834C-FCFD3EA99540}"/>
              </pc2:cmMkLst>
            </pc226:cmChg>
            <pc226:cmChg xmlns:pc226="http://schemas.microsoft.com/office/powerpoint/2022/06/main/command" chg="mod">
              <pc226:chgData name="Haefliger Sarah" userId="7b19c8f1-d2a3-482c-bf07-d9ca17db6803" providerId="ADAL" clId="{0FFACC9B-419B-47E9-BB97-7F729AB0B2A7}" dt="2026-07-07T07:46:12.224" v="835" actId="20577"/>
              <pc2:cmMkLst xmlns:pc2="http://schemas.microsoft.com/office/powerpoint/2019/9/main/command">
                <pc:docMk/>
                <pc:sldMk cId="2393772348" sldId="327"/>
                <pc2:cmMk id="{DF8C4B9C-8296-4131-B268-79E212BC3A6A}"/>
              </pc2:cmMkLst>
            </pc226:cmChg>
          </p:ext>
        </pc:extLst>
      </pc:sldChg>
    </pc:docChg>
  </pc:docChgLst>
  <pc:docChgLst>
    <pc:chgData name="Sriganthan Kapischan" userId="d3e56210-bf46-44da-b0d6-556f200fbc71" providerId="ADAL" clId="{02B31705-FE09-402A-8132-E2F37BBBA7A8}"/>
    <pc:docChg chg="modSld">
      <pc:chgData name="Sriganthan Kapischan" userId="d3e56210-bf46-44da-b0d6-556f200fbc71" providerId="ADAL" clId="{02B31705-FE09-402A-8132-E2F37BBBA7A8}" dt="2026-07-06T22:18:48.088" v="7" actId="113"/>
      <pc:docMkLst>
        <pc:docMk/>
      </pc:docMkLst>
      <pc:sldChg chg="modSp mod">
        <pc:chgData name="Sriganthan Kapischan" userId="d3e56210-bf46-44da-b0d6-556f200fbc71" providerId="ADAL" clId="{02B31705-FE09-402A-8132-E2F37BBBA7A8}" dt="2026-07-06T21:58:00.720" v="5" actId="207"/>
        <pc:sldMkLst>
          <pc:docMk/>
          <pc:sldMk cId="2523919958" sldId="306"/>
        </pc:sldMkLst>
        <pc:spChg chg="mod">
          <ac:chgData name="Sriganthan Kapischan" userId="d3e56210-bf46-44da-b0d6-556f200fbc71" providerId="ADAL" clId="{02B31705-FE09-402A-8132-E2F37BBBA7A8}" dt="2026-07-06T21:57:48.536" v="0" actId="207"/>
          <ac:spMkLst>
            <pc:docMk/>
            <pc:sldMk cId="2523919958" sldId="306"/>
            <ac:spMk id="71" creationId="{AC196C1A-9416-0C6B-C849-30E20E9970C8}"/>
          </ac:spMkLst>
        </pc:spChg>
        <pc:spChg chg="mod">
          <ac:chgData name="Sriganthan Kapischan" userId="d3e56210-bf46-44da-b0d6-556f200fbc71" providerId="ADAL" clId="{02B31705-FE09-402A-8132-E2F37BBBA7A8}" dt="2026-07-06T21:57:50.932" v="1" actId="207"/>
          <ac:spMkLst>
            <pc:docMk/>
            <pc:sldMk cId="2523919958" sldId="306"/>
            <ac:spMk id="72" creationId="{A0D03085-C6F5-42A8-056A-A9E0DDB14038}"/>
          </ac:spMkLst>
        </pc:spChg>
        <pc:spChg chg="mod">
          <ac:chgData name="Sriganthan Kapischan" userId="d3e56210-bf46-44da-b0d6-556f200fbc71" providerId="ADAL" clId="{02B31705-FE09-402A-8132-E2F37BBBA7A8}" dt="2026-07-06T21:57:53.270" v="2" actId="207"/>
          <ac:spMkLst>
            <pc:docMk/>
            <pc:sldMk cId="2523919958" sldId="306"/>
            <ac:spMk id="73" creationId="{608BB068-CCF1-49E3-B9A3-E5EAA713A5BF}"/>
          </ac:spMkLst>
        </pc:spChg>
        <pc:spChg chg="mod">
          <ac:chgData name="Sriganthan Kapischan" userId="d3e56210-bf46-44da-b0d6-556f200fbc71" providerId="ADAL" clId="{02B31705-FE09-402A-8132-E2F37BBBA7A8}" dt="2026-07-06T21:57:55.592" v="3" actId="207"/>
          <ac:spMkLst>
            <pc:docMk/>
            <pc:sldMk cId="2523919958" sldId="306"/>
            <ac:spMk id="74" creationId="{2A93E8A5-CBC9-1454-9ABD-E249B44F77B4}"/>
          </ac:spMkLst>
        </pc:spChg>
        <pc:spChg chg="mod">
          <ac:chgData name="Sriganthan Kapischan" userId="d3e56210-bf46-44da-b0d6-556f200fbc71" providerId="ADAL" clId="{02B31705-FE09-402A-8132-E2F37BBBA7A8}" dt="2026-07-06T21:57:58.156" v="4" actId="207"/>
          <ac:spMkLst>
            <pc:docMk/>
            <pc:sldMk cId="2523919958" sldId="306"/>
            <ac:spMk id="76" creationId="{99ADE7A6-FD6E-7A87-FD81-5DBA976184C2}"/>
          </ac:spMkLst>
        </pc:spChg>
        <pc:spChg chg="mod">
          <ac:chgData name="Sriganthan Kapischan" userId="d3e56210-bf46-44da-b0d6-556f200fbc71" providerId="ADAL" clId="{02B31705-FE09-402A-8132-E2F37BBBA7A8}" dt="2026-07-06T21:58:00.720" v="5" actId="207"/>
          <ac:spMkLst>
            <pc:docMk/>
            <pc:sldMk cId="2523919958" sldId="306"/>
            <ac:spMk id="78" creationId="{4026E0A9-5E28-0605-FC83-1DF9B897782E}"/>
          </ac:spMkLst>
        </pc:spChg>
      </pc:sldChg>
      <pc:sldChg chg="modSp mod">
        <pc:chgData name="Sriganthan Kapischan" userId="d3e56210-bf46-44da-b0d6-556f200fbc71" providerId="ADAL" clId="{02B31705-FE09-402A-8132-E2F37BBBA7A8}" dt="2026-07-06T22:18:48.088" v="7" actId="113"/>
        <pc:sldMkLst>
          <pc:docMk/>
          <pc:sldMk cId="1811311672" sldId="310"/>
        </pc:sldMkLst>
        <pc:spChg chg="mod">
          <ac:chgData name="Sriganthan Kapischan" userId="d3e56210-bf46-44da-b0d6-556f200fbc71" providerId="ADAL" clId="{02B31705-FE09-402A-8132-E2F37BBBA7A8}" dt="2026-07-06T22:18:48.088" v="7" actId="113"/>
          <ac:spMkLst>
            <pc:docMk/>
            <pc:sldMk cId="1811311672" sldId="310"/>
            <ac:spMk id="6" creationId="{4BB8A700-EA5E-A4F9-C688-D78770EFAA64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FB153AE8-0340-45ED-9685-C92B0216AE4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F617E6D-F8D4-40A5-8428-4BE0130CDC7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7C6C6B-D9F5-419F-9429-30DB99A59677}" type="datetimeFigureOut">
              <a:rPr lang="de-CH" smtClean="0"/>
              <a:t>07.07.2026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30A212F-746F-473A-B283-86BE09A1143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FEB17E3-8875-458D-AF0C-425761E1F7A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ACF783-6BFF-4BDA-9BF7-5A92214862AD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03725084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EFD163-32E0-437B-913C-B45EB86EFEE4}" type="datetimeFigureOut">
              <a:rPr lang="de-CH" smtClean="0"/>
              <a:t>07.07.2026</a:t>
            </a:fld>
            <a:endParaRPr lang="de-CH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12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CH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3851312"/>
            <a:ext cx="5486400" cy="463568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0495B7-89A3-4DC8-8694-137E31A3F9B4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5454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179388" indent="-179388" algn="l" defTabSz="914400" rtl="0" eaLnBrk="1" latinLnBrk="0" hangingPunct="1">
      <a:buClr>
        <a:schemeClr val="tx2"/>
      </a:buClr>
      <a:buFont typeface="Wingdings" panose="05000000000000000000" pitchFamily="2" charset="2"/>
      <a:buChar char="§"/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360000" indent="-180000" algn="l" defTabSz="914400" rtl="0" eaLnBrk="1" latinLnBrk="0" hangingPunct="1">
      <a:buClr>
        <a:schemeClr val="tx2"/>
      </a:buClr>
      <a:buFont typeface="Wingdings" panose="05000000000000000000" pitchFamily="2" charset="2"/>
      <a:buChar char="§"/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540000" indent="-180000" algn="l" defTabSz="914400" rtl="0" eaLnBrk="1" latinLnBrk="0" hangingPunct="1">
      <a:buClr>
        <a:schemeClr val="tx2"/>
      </a:buClr>
      <a:buFont typeface="Wingdings" panose="05000000000000000000" pitchFamily="2" charset="2"/>
      <a:buChar char="§"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720000" indent="-180000" algn="l" defTabSz="914400" rtl="0" eaLnBrk="1" latinLnBrk="0" hangingPunct="1">
      <a:buClr>
        <a:schemeClr val="tx2"/>
      </a:buClr>
      <a:buFont typeface="Wingdings" panose="05000000000000000000" pitchFamily="2" charset="2"/>
      <a:buChar char="§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900000" indent="-180000" algn="l" defTabSz="914400" rtl="0" eaLnBrk="1" latinLnBrk="0" hangingPunct="1">
      <a:buClr>
        <a:schemeClr val="tx2"/>
      </a:buClr>
      <a:buFont typeface="Wingdings" panose="05000000000000000000" pitchFamily="2" charset="2"/>
      <a:buChar char="§"/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685800" y="612775"/>
            <a:ext cx="5486400" cy="3086100"/>
          </a:xfrm>
        </p:spPr>
        <p:txBody>
          <a:bodyPr/>
          <a:lstStyle/>
          <a:p>
            <a:endParaRPr lang="de-CH"/>
          </a:p>
        </p:txBody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0495B7-89A3-4DC8-8694-137E31A3F9B4}" type="slidenum">
              <a:rPr lang="de-CH" smtClean="0"/>
              <a:t>1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2192456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685800" y="612775"/>
            <a:ext cx="5486400" cy="3086100"/>
          </a:xfrm>
        </p:spPr>
        <p:txBody>
          <a:bodyPr/>
          <a:lstStyle/>
          <a:p>
            <a:endParaRPr lang="de-CH"/>
          </a:p>
        </p:txBody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b="1"/>
              <a:t>Zielbild &amp; Rahmen geklärt</a:t>
            </a:r>
            <a:r>
              <a:rPr lang="de-DE"/>
              <a:t>: Projektziele, betrachtete Austrittskonstellationen, beteiligte HR-Einheiten und Abgrenzung gemeinsam definiert.</a:t>
            </a:r>
          </a:p>
          <a:p>
            <a:r>
              <a:rPr lang="de-DE" b="1"/>
              <a:t>IST-Prozess erhoben &amp; modelliert</a:t>
            </a:r>
            <a:r>
              <a:rPr lang="de-DE"/>
              <a:t>: Interviews durchgeführt; heutige Abläufe, Rollen, Systeme, Übergaben und erste Pain Points aufgenommen.</a:t>
            </a:r>
          </a:p>
          <a:p>
            <a:r>
              <a:rPr lang="de-DE" b="1"/>
              <a:t>Pain Points validiert &amp; Handlungsfelder definiert</a:t>
            </a:r>
            <a:r>
              <a:rPr lang="de-DE"/>
              <a:t>: IST-Workshop durchgeführt; Pain Points geprüft, ergänzt und zu übergeordneten Handlungsfeldern verdichtet.</a:t>
            </a:r>
          </a:p>
          <a:p>
            <a:r>
              <a:rPr lang="de-DE" b="1"/>
              <a:t>SOLL-Richtung konkretisiert</a:t>
            </a:r>
            <a:r>
              <a:rPr lang="de-DE"/>
              <a:t>: SOLL-Workshop durchgeführt; zentrale Prozessentscheide, Rollenlogik, Informationsübergaben und Optimierungsansätze besprochen.</a:t>
            </a:r>
          </a:p>
          <a:p>
            <a:r>
              <a:rPr lang="de-DE" b="1"/>
              <a:t>Jira-Feldliste vorbereitet</a:t>
            </a:r>
            <a:r>
              <a:rPr lang="de-DE"/>
              <a:t>: Benötigte Informationen pro HR-Einheit erhoben; Grundlage für Jira-Feldliste und mögliche Systemintegrationen geschaffen.</a:t>
            </a:r>
          </a:p>
          <a:p>
            <a:r>
              <a:rPr lang="de-DE" b="1"/>
              <a:t>Nächster Fokus</a:t>
            </a:r>
            <a:r>
              <a:rPr lang="de-DE"/>
              <a:t>: Anforderungskatalog ausarbeiten, User Stories und Use Cases ableiten, SOLL-Konzept finalisieren und fachlich abnehmen</a:t>
            </a:r>
          </a:p>
          <a:p>
            <a:endParaRPr lang="de-DE"/>
          </a:p>
          <a:p>
            <a:endParaRPr lang="de-DE"/>
          </a:p>
          <a:p>
            <a:endParaRPr lang="de-CH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0495B7-89A3-4DC8-8694-137E31A3F9B4}" type="slidenum">
              <a:rPr lang="de-CH" smtClean="0"/>
              <a:t>3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1587085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CA6C85-70E0-2873-A1A3-DCB4B0B761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723FE802-D19A-878C-AFC4-4A3B2ED990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612775"/>
            <a:ext cx="5486400" cy="3086100"/>
          </a:xfrm>
        </p:spPr>
        <p:txBody>
          <a:bodyPr/>
          <a:lstStyle/>
          <a:p>
            <a:endParaRPr lang="de-CH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DAF6FDB2-E49F-98BE-B74D-02702E0914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,Sans-Serif" pitchFamily="34" charset="0"/>
              <a:buNone/>
            </a:pPr>
            <a:r>
              <a:rPr lang="de-CH" sz="1600" b="1">
                <a:solidFill>
                  <a:srgbClr val="000000"/>
                </a:solidFill>
                <a:latin typeface="+mn-lt"/>
                <a:cs typeface="Arial"/>
              </a:rPr>
              <a:t>Fehlende Frühinformation bei zeitkritischen Austritte</a:t>
            </a:r>
            <a:r>
              <a:rPr lang="de-CH" sz="1600">
                <a:solidFill>
                  <a:srgbClr val="000000"/>
                </a:solidFill>
                <a:latin typeface="+mn-lt"/>
                <a:cs typeface="Arial"/>
              </a:rPr>
              <a:t>: </a:t>
            </a:r>
            <a:r>
              <a:rPr lang="de-CH" sz="1200">
                <a:solidFill>
                  <a:srgbClr val="000000"/>
                </a:solidFill>
                <a:latin typeface="+mn-lt"/>
                <a:cs typeface="Arial"/>
              </a:rPr>
              <a:t>Untermonatige Austritte, SMU, Rückwirkende Austritte</a:t>
            </a:r>
            <a:endParaRPr lang="de-DE" sz="1200">
              <a:solidFill>
                <a:srgbClr val="000000"/>
              </a:solidFill>
              <a:latin typeface="+mn-lt"/>
              <a:cs typeface="Arial"/>
            </a:endParaRPr>
          </a:p>
          <a:p>
            <a:pPr marL="0" lvl="0" indent="0" algn="l" rtl="0">
              <a:lnSpc>
                <a:spcPts val="1200"/>
              </a:lnSpc>
              <a:buFont typeface="Arial,Sans-Serif"/>
              <a:buNone/>
            </a:pPr>
            <a:endParaRPr lang="de-CH" sz="1600" b="0" i="0" u="none" strike="noStrike" baseline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lvl="0" indent="0" algn="l" rtl="0">
              <a:lnSpc>
                <a:spcPts val="1200"/>
              </a:lnSpc>
              <a:buFont typeface="Arial,Sans-Serif"/>
              <a:buNone/>
            </a:pPr>
            <a:r>
              <a:rPr lang="de-CH" sz="1600" b="1" i="0" u="none" strike="noStrike" baseline="0">
                <a:solidFill>
                  <a:srgbClr val="000000"/>
                </a:solidFill>
                <a:latin typeface="+mn-lt"/>
                <a:ea typeface="Arial"/>
                <a:cs typeface="Arial"/>
              </a:rPr>
              <a:t>Unvollständige und uneinheitliche Ticketinformationen</a:t>
            </a:r>
            <a:r>
              <a:rPr lang="de-CH" sz="1600" b="0" i="0" u="none" strike="noStrike" baseline="0">
                <a:solidFill>
                  <a:srgbClr val="000000"/>
                </a:solidFill>
                <a:latin typeface="+mn-lt"/>
                <a:ea typeface="Arial"/>
                <a:cs typeface="Arial"/>
              </a:rPr>
              <a:t>: </a:t>
            </a:r>
            <a:r>
              <a:rPr lang="de-CH" sz="1200">
                <a:solidFill>
                  <a:srgbClr val="000000"/>
                </a:solidFill>
                <a:latin typeface="+mn-lt"/>
                <a:ea typeface="Arial"/>
                <a:cs typeface="Arial"/>
              </a:rPr>
              <a:t>Austrittsdatum fehlt oder ist widersprüchliche, Anhänge fehlen</a:t>
            </a:r>
          </a:p>
          <a:p>
            <a:pPr marL="0" lvl="0" indent="0" algn="l" rtl="0">
              <a:lnSpc>
                <a:spcPts val="1200"/>
              </a:lnSpc>
              <a:buFont typeface="Arial,Sans-Serif"/>
              <a:buNone/>
            </a:pPr>
            <a:endParaRPr lang="de-CH" sz="1200" b="0" i="0" u="none" strike="noStrike" baseline="0">
              <a:solidFill>
                <a:srgbClr val="000000"/>
              </a:solidFill>
              <a:latin typeface="+mn-lt"/>
              <a:ea typeface="Arial"/>
              <a:cs typeface="Arial"/>
            </a:endParaRPr>
          </a:p>
          <a:p>
            <a:pPr marL="0" lvl="0" indent="0" algn="l" rtl="0">
              <a:lnSpc>
                <a:spcPts val="1200"/>
              </a:lnSpc>
              <a:buFont typeface="Arial,Sans-Serif"/>
              <a:buNone/>
            </a:pPr>
            <a:r>
              <a:rPr lang="de-DE" sz="1600" b="1">
                <a:solidFill>
                  <a:srgbClr val="000000"/>
                </a:solidFill>
                <a:latin typeface="+mn-lt"/>
                <a:ea typeface="Arial"/>
                <a:cs typeface="Arial"/>
              </a:rPr>
              <a:t>Sonderfallprüfungen erfolgen teilweise spät im Prozess</a:t>
            </a:r>
            <a:r>
              <a:rPr lang="de-DE" sz="1600">
                <a:solidFill>
                  <a:srgbClr val="000000"/>
                </a:solidFill>
                <a:latin typeface="+mn-lt"/>
                <a:ea typeface="Arial"/>
                <a:cs typeface="Arial"/>
              </a:rPr>
              <a:t>: </a:t>
            </a:r>
            <a:r>
              <a:rPr lang="de-DE" sz="1200">
                <a:solidFill>
                  <a:srgbClr val="000000"/>
                </a:solidFill>
                <a:latin typeface="+mn-lt"/>
                <a:ea typeface="Arial"/>
                <a:cs typeface="Arial"/>
              </a:rPr>
              <a:t>Eingeschobener Vertrag, SMU-Fall, Frühpensionierung</a:t>
            </a:r>
          </a:p>
          <a:p>
            <a:pPr marL="0" lvl="0" indent="0" algn="l" rtl="0">
              <a:lnSpc>
                <a:spcPts val="1200"/>
              </a:lnSpc>
              <a:buFont typeface="Arial,Sans-Serif"/>
              <a:buNone/>
            </a:pPr>
            <a:endParaRPr lang="de-DE" sz="1200" b="0" i="0">
              <a:solidFill>
                <a:srgbClr val="000000"/>
              </a:solidFill>
              <a:latin typeface="+mn-lt"/>
              <a:ea typeface="Arial"/>
              <a:cs typeface="Arial"/>
            </a:endParaRPr>
          </a:p>
          <a:p>
            <a:pPr marL="0" lvl="0" indent="0">
              <a:lnSpc>
                <a:spcPts val="1200"/>
              </a:lnSpc>
              <a:buFont typeface="Arial,Sans-Serif"/>
              <a:buNone/>
            </a:pPr>
            <a:r>
              <a:rPr lang="de-CH" sz="1600" b="1"/>
              <a:t>Manuelle Prüfungen mit begrenztem oder unklarem Nutzen</a:t>
            </a:r>
            <a:r>
              <a:rPr lang="de-CH" sz="1600"/>
              <a:t>: </a:t>
            </a:r>
            <a:r>
              <a:rPr lang="de-CH" sz="1200"/>
              <a:t>Rückforderung </a:t>
            </a:r>
            <a:r>
              <a:rPr lang="de-CH" sz="1200" err="1"/>
              <a:t>Geburtstagsbons</a:t>
            </a:r>
            <a:r>
              <a:rPr lang="de-CH" sz="1200"/>
              <a:t>, Prüfung von Dienstjubiläumsansprüche durch HR Administration</a:t>
            </a:r>
          </a:p>
          <a:p>
            <a:pPr marL="0" lvl="0" indent="0">
              <a:lnSpc>
                <a:spcPts val="1200"/>
              </a:lnSpc>
              <a:buFont typeface="Arial,Sans-Serif"/>
              <a:buNone/>
            </a:pPr>
            <a:endParaRPr lang="de-CH" sz="1200" b="0" i="0">
              <a:solidFill>
                <a:srgbClr val="000000"/>
              </a:solidFill>
              <a:latin typeface="+mn-lt"/>
              <a:ea typeface="Arial"/>
              <a:cs typeface="Arial"/>
            </a:endParaRPr>
          </a:p>
          <a:p>
            <a:pPr marL="0" lvl="0" indent="0" algn="l" rtl="0">
              <a:lnSpc>
                <a:spcPts val="1200"/>
              </a:lnSpc>
              <a:buFont typeface="Arial,Sans-Serif"/>
              <a:buNone/>
            </a:pPr>
            <a:r>
              <a:rPr lang="de-DE" sz="1600" b="1">
                <a:solidFill>
                  <a:srgbClr val="000000"/>
                </a:solidFill>
                <a:latin typeface="+mn-lt"/>
                <a:ea typeface="Arial"/>
                <a:cs typeface="Arial"/>
              </a:rPr>
              <a:t>Freistellungen haben uneinheitliche Informationswege</a:t>
            </a:r>
            <a:r>
              <a:rPr lang="de-DE" sz="1600">
                <a:solidFill>
                  <a:srgbClr val="000000"/>
                </a:solidFill>
                <a:latin typeface="+mn-lt"/>
                <a:ea typeface="Arial"/>
                <a:cs typeface="Arial"/>
              </a:rPr>
              <a:t>: </a:t>
            </a:r>
            <a:r>
              <a:rPr lang="de-DE" sz="1200">
                <a:solidFill>
                  <a:srgbClr val="000000"/>
                </a:solidFill>
                <a:latin typeface="+mn-lt"/>
                <a:ea typeface="Arial"/>
                <a:cs typeface="Arial"/>
              </a:rPr>
              <a:t>Freistellungsformular in Jira, Austrittsschein</a:t>
            </a:r>
          </a:p>
          <a:p>
            <a:pPr marL="0" lvl="0" indent="0" algn="l" rtl="0">
              <a:lnSpc>
                <a:spcPts val="1200"/>
              </a:lnSpc>
              <a:buFont typeface="Arial,Sans-Serif"/>
              <a:buNone/>
            </a:pPr>
            <a:endParaRPr lang="de-DE" sz="1200" b="0" i="0">
              <a:solidFill>
                <a:srgbClr val="000000"/>
              </a:solidFill>
              <a:latin typeface="+mn-lt"/>
              <a:ea typeface="Arial"/>
              <a:cs typeface="Arial"/>
            </a:endParaRPr>
          </a:p>
          <a:p>
            <a:pPr marL="0" lvl="0" indent="0" algn="l" rtl="0">
              <a:lnSpc>
                <a:spcPts val="1200"/>
              </a:lnSpc>
              <a:buFont typeface="Arial,Sans-Serif"/>
              <a:buNone/>
            </a:pPr>
            <a:r>
              <a:rPr lang="de-DE" sz="1600" b="1" i="0">
                <a:solidFill>
                  <a:srgbClr val="000000"/>
                </a:solidFill>
                <a:latin typeface="+mn-lt"/>
                <a:ea typeface="Arial"/>
                <a:cs typeface="Arial"/>
              </a:rPr>
              <a:t>Manuelle Prüfungen und Absc</a:t>
            </a:r>
            <a:r>
              <a:rPr lang="de-DE" sz="1600" b="1">
                <a:solidFill>
                  <a:srgbClr val="000000"/>
                </a:solidFill>
                <a:latin typeface="+mn-lt"/>
                <a:ea typeface="Arial"/>
                <a:cs typeface="Arial"/>
              </a:rPr>
              <a:t>hlüsse bleiben </a:t>
            </a:r>
            <a:r>
              <a:rPr lang="de-DE" sz="1600" b="1" err="1">
                <a:solidFill>
                  <a:srgbClr val="000000"/>
                </a:solidFill>
                <a:latin typeface="+mn-lt"/>
                <a:ea typeface="Arial"/>
                <a:cs typeface="Arial"/>
              </a:rPr>
              <a:t>ausserhalb</a:t>
            </a:r>
            <a:r>
              <a:rPr lang="de-DE" sz="1600" b="1">
                <a:solidFill>
                  <a:srgbClr val="000000"/>
                </a:solidFill>
                <a:latin typeface="+mn-lt"/>
                <a:ea typeface="Arial"/>
                <a:cs typeface="Arial"/>
              </a:rPr>
              <a:t> eines geführten Workflows</a:t>
            </a:r>
            <a:r>
              <a:rPr lang="de-DE" sz="1600">
                <a:solidFill>
                  <a:srgbClr val="000000"/>
                </a:solidFill>
                <a:latin typeface="+mn-lt"/>
                <a:ea typeface="Arial"/>
                <a:cs typeface="Arial"/>
              </a:rPr>
              <a:t>: </a:t>
            </a:r>
            <a:r>
              <a:rPr lang="de-DE" sz="1200" b="0" i="0">
                <a:solidFill>
                  <a:srgbClr val="000000"/>
                </a:solidFill>
                <a:latin typeface="+mn-lt"/>
                <a:ea typeface="Arial"/>
                <a:cs typeface="Arial"/>
              </a:rPr>
              <a:t>SMU-Fall, </a:t>
            </a:r>
            <a:r>
              <a:rPr lang="de-DE" sz="1200">
                <a:solidFill>
                  <a:srgbClr val="000000"/>
                </a:solidFill>
                <a:latin typeface="+mn-lt"/>
                <a:ea typeface="Arial"/>
                <a:cs typeface="Arial"/>
              </a:rPr>
              <a:t>LZK, Prüfung von Bewilligungen, Prüfung von Rückzahlungspflicht</a:t>
            </a:r>
          </a:p>
          <a:p>
            <a:pPr marL="0" indent="0" algn="l">
              <a:buNone/>
            </a:pPr>
            <a:endParaRPr lang="de-CH"/>
          </a:p>
          <a:p>
            <a:pPr marL="0" indent="0" algn="l">
              <a:buNone/>
            </a:pPr>
            <a:endParaRPr lang="de-CH"/>
          </a:p>
          <a:p>
            <a:pPr marL="0" indent="0" algn="l">
              <a:buNone/>
            </a:pPr>
            <a:r>
              <a:rPr lang="de-CH"/>
              <a:t>Die Handlungsfelder verdichten die Pain Points in vier Richtungen: Übersicht schaffen, Daten konsistent führen, Abläufe standardisieren und Prozessausführung systemgestützt gestalten.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07353CC-0987-8299-984F-99CA1FB6CC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0495B7-89A3-4DC8-8694-137E31A3F9B4}" type="slidenum">
              <a:rPr lang="de-CH" smtClean="0"/>
              <a:t>4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5566707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685800" y="612775"/>
            <a:ext cx="5486400" cy="3086100"/>
          </a:xfrm>
        </p:spPr>
        <p:txBody>
          <a:bodyPr/>
          <a:lstStyle/>
          <a:p>
            <a:endParaRPr lang="de-CH"/>
          </a:p>
        </p:txBody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0495B7-89A3-4DC8-8694-137E31A3F9B4}" type="slidenum">
              <a:rPr lang="de-CH" smtClean="0"/>
              <a:t>5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5631571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685800" y="612775"/>
            <a:ext cx="5486400" cy="30861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0495B7-89A3-4DC8-8694-137E31A3F9B4}" type="slidenum">
              <a:rPr lang="de-CH" smtClean="0"/>
              <a:t>7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046646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685800" y="612775"/>
            <a:ext cx="5486400" cy="3086100"/>
          </a:xfrm>
        </p:spPr>
        <p:txBody>
          <a:bodyPr/>
          <a:lstStyle/>
          <a:p>
            <a:endParaRPr lang="de-CH"/>
          </a:p>
        </p:txBody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de-CH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0495B7-89A3-4DC8-8694-137E31A3F9B4}" type="slidenum">
              <a:rPr lang="de-CH" smtClean="0"/>
              <a:t>14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8378129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685800" y="612775"/>
            <a:ext cx="5486400" cy="3086100"/>
          </a:xfrm>
        </p:spPr>
        <p:txBody>
          <a:bodyPr/>
          <a:lstStyle/>
          <a:p>
            <a:endParaRPr lang="de-CH"/>
          </a:p>
        </p:txBody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0495B7-89A3-4DC8-8694-137E31A3F9B4}" type="slidenum">
              <a:rPr lang="de-CH" smtClean="0"/>
              <a:t>20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5631571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685800" y="612775"/>
            <a:ext cx="5486400" cy="30861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0495B7-89A3-4DC8-8694-137E31A3F9B4}" type="slidenum">
              <a:rPr lang="de-CH" smtClean="0"/>
              <a:t>24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47103833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685800" y="612775"/>
            <a:ext cx="5486400" cy="30861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de-CH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0495B7-89A3-4DC8-8694-137E31A3F9B4}" type="slidenum">
              <a:rPr lang="de-CH" smtClean="0"/>
              <a:t>27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73068723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685800" y="612775"/>
            <a:ext cx="5486400" cy="30861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CH"/>
              <a:t>Bei UA: Keine Zeitsaldi-Angabe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0495B7-89A3-4DC8-8694-137E31A3F9B4}" type="slidenum">
              <a:rPr lang="de-CH" smtClean="0"/>
              <a:t>32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4982651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folie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6">
            <a:extLst>
              <a:ext uri="{FF2B5EF4-FFF2-40B4-BE49-F238E27FC236}">
                <a16:creationId xmlns:a16="http://schemas.microsoft.com/office/drawing/2014/main" id="{FC76B364-F034-4AED-971C-E52E3E30635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de-CH"/>
          </a:p>
        </p:txBody>
      </p:sp>
      <p:sp>
        <p:nvSpPr>
          <p:cNvPr id="17" name="Bildplatzhalter 16">
            <a:extLst>
              <a:ext uri="{FF2B5EF4-FFF2-40B4-BE49-F238E27FC236}">
                <a16:creationId xmlns:a16="http://schemas.microsoft.com/office/drawing/2014/main" id="{04D8F27B-38CD-417C-A96A-5C46230F32BF}"/>
              </a:ext>
            </a:extLst>
          </p:cNvPr>
          <p:cNvSpPr>
            <a:spLocks noGrp="1" noChangeAspect="1"/>
          </p:cNvSpPr>
          <p:nvPr>
            <p:ph type="pic" sz="quarter" idx="11" hasCustomPrompt="1"/>
          </p:nvPr>
        </p:nvSpPr>
        <p:spPr>
          <a:xfrm>
            <a:off x="816549" y="6021288"/>
            <a:ext cx="2507143" cy="432000"/>
          </a:xfrm>
          <a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CH"/>
              <a:t> </a:t>
            </a:r>
          </a:p>
        </p:txBody>
      </p:sp>
      <p:sp>
        <p:nvSpPr>
          <p:cNvPr id="8" name="Bildplatzhalter 4">
            <a:extLst>
              <a:ext uri="{FF2B5EF4-FFF2-40B4-BE49-F238E27FC236}">
                <a16:creationId xmlns:a16="http://schemas.microsoft.com/office/drawing/2014/main" id="{2AADD33B-2F95-480B-8937-1C88CFDD2E5D}"/>
              </a:ext>
            </a:extLst>
          </p:cNvPr>
          <p:cNvSpPr>
            <a:spLocks noGrp="1" noChangeAspect="1"/>
          </p:cNvSpPr>
          <p:nvPr>
            <p:ph type="pic" sz="quarter" idx="12" hasCustomPrompt="1"/>
          </p:nvPr>
        </p:nvSpPr>
        <p:spPr>
          <a:xfrm>
            <a:off x="8865108" y="4292600"/>
            <a:ext cx="3332587" cy="2569748"/>
          </a:xfrm>
          <a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CH"/>
              <a:t> </a:t>
            </a:r>
          </a:p>
        </p:txBody>
      </p:sp>
      <p:sp>
        <p:nvSpPr>
          <p:cNvPr id="9" name="Titel 1">
            <a:extLst>
              <a:ext uri="{FF2B5EF4-FFF2-40B4-BE49-F238E27FC236}">
                <a16:creationId xmlns:a16="http://schemas.microsoft.com/office/drawing/2014/main" id="{1CEF8558-BF84-425D-A244-2DEBD1A623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1651" y="627362"/>
            <a:ext cx="4536938" cy="1296987"/>
          </a:xfrm>
        </p:spPr>
        <p:txBody>
          <a:bodyPr anchor="t">
            <a:noAutofit/>
          </a:bodyPr>
          <a:lstStyle>
            <a:lvl1pPr algn="l">
              <a:lnSpc>
                <a:spcPts val="3200"/>
              </a:lnSpc>
              <a:defRPr sz="2800">
                <a:solidFill>
                  <a:schemeClr val="accent1"/>
                </a:solidFill>
              </a:defRPr>
            </a:lvl1pPr>
          </a:lstStyle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10" name="Untertitel 2">
            <a:extLst>
              <a:ext uri="{FF2B5EF4-FFF2-40B4-BE49-F238E27FC236}">
                <a16:creationId xmlns:a16="http://schemas.microsoft.com/office/drawing/2014/main" id="{7FC5287A-D220-4920-A175-F714461CC4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1651" y="1930702"/>
            <a:ext cx="4536938" cy="641047"/>
          </a:xfrm>
        </p:spPr>
        <p:txBody>
          <a:bodyPr>
            <a:noAutofit/>
          </a:bodyPr>
          <a:lstStyle>
            <a:lvl1pPr marL="0" indent="0" algn="l">
              <a:lnSpc>
                <a:spcPts val="2200"/>
              </a:lnSpc>
              <a:spcAft>
                <a:spcPts val="0"/>
              </a:spcAft>
              <a:buNone/>
              <a:defRPr sz="1800">
                <a:solidFill>
                  <a:schemeClr val="accent2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de-DE"/>
              <a:t>Formatvorlage des Untertitelmasters durch Klicken bearbeiten</a:t>
            </a:r>
            <a:endParaRPr lang="de-CH"/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7133DFF2-7170-40D9-A728-01663590A91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851651" y="2578102"/>
            <a:ext cx="4536938" cy="1073447"/>
          </a:xfrm>
        </p:spPr>
        <p:txBody>
          <a:bodyPr>
            <a:noAutofit/>
          </a:bodyPr>
          <a:lstStyle>
            <a:lvl1pPr marL="0" indent="0">
              <a:lnSpc>
                <a:spcPts val="2100"/>
              </a:lnSpc>
              <a:spcAft>
                <a:spcPts val="0"/>
              </a:spcAft>
              <a:buFont typeface="Arial" panose="020B0604020202020204" pitchFamily="34" charset="0"/>
              <a:buNone/>
              <a:defRPr sz="1600">
                <a:solidFill>
                  <a:schemeClr val="tx2"/>
                </a:solidFill>
              </a:defRPr>
            </a:lvl1pPr>
            <a:lvl2pPr marL="324000" indent="0">
              <a:buFont typeface="Arial" panose="020B0604020202020204" pitchFamily="34" charset="0"/>
              <a:buNone/>
              <a:defRPr/>
            </a:lvl2pPr>
            <a:lvl3pPr marL="576000" indent="0">
              <a:buFont typeface="Arial" panose="020B0604020202020204" pitchFamily="34" charset="0"/>
              <a:buNone/>
              <a:defRPr/>
            </a:lvl3pPr>
            <a:lvl4pPr marL="864000" indent="0">
              <a:buFont typeface="Arial" panose="020B0604020202020204" pitchFamily="34" charset="0"/>
              <a:buNone/>
              <a:defRPr/>
            </a:lvl4pPr>
            <a:lvl5pPr marL="10800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Gremium/Veranstaltung </a:t>
            </a:r>
            <a:br>
              <a:rPr lang="de-DE"/>
            </a:br>
            <a:r>
              <a:rPr lang="de-DE"/>
              <a:t>Abteilung</a:t>
            </a:r>
            <a:br>
              <a:rPr lang="de-DE"/>
            </a:br>
            <a:r>
              <a:rPr lang="de-DE"/>
              <a:t>Titel Vorname Nachname </a:t>
            </a:r>
            <a:br>
              <a:rPr lang="de-DE"/>
            </a:br>
            <a:r>
              <a:rPr lang="de-DE"/>
              <a:t>Ort, Datum</a:t>
            </a:r>
          </a:p>
        </p:txBody>
      </p:sp>
    </p:spTree>
    <p:extLst>
      <p:ext uri="{BB962C8B-B14F-4D97-AF65-F5344CB8AC3E}">
        <p14:creationId xmlns:p14="http://schemas.microsoft.com/office/powerpoint/2010/main" val="11518390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folie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6">
            <a:extLst>
              <a:ext uri="{FF2B5EF4-FFF2-40B4-BE49-F238E27FC236}">
                <a16:creationId xmlns:a16="http://schemas.microsoft.com/office/drawing/2014/main" id="{FC76B364-F034-4AED-971C-E52E3E30635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6108113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de-CH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AA0744EB-94E3-4BAA-B37A-30E33BF8320D}"/>
              </a:ext>
            </a:extLst>
          </p:cNvPr>
          <p:cNvSpPr/>
          <p:nvPr/>
        </p:nvSpPr>
        <p:spPr>
          <a:xfrm>
            <a:off x="6108113" y="0"/>
            <a:ext cx="6083887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8" name="Bildplatzhalter 16">
            <a:extLst>
              <a:ext uri="{FF2B5EF4-FFF2-40B4-BE49-F238E27FC236}">
                <a16:creationId xmlns:a16="http://schemas.microsoft.com/office/drawing/2014/main" id="{2C3C3875-0202-4913-9FCD-0A12B89F754C}"/>
              </a:ext>
            </a:extLst>
          </p:cNvPr>
          <p:cNvSpPr>
            <a:spLocks noGrp="1" noChangeAspect="1"/>
          </p:cNvSpPr>
          <p:nvPr>
            <p:ph type="pic" sz="quarter" idx="11" hasCustomPrompt="1"/>
          </p:nvPr>
        </p:nvSpPr>
        <p:spPr>
          <a:xfrm>
            <a:off x="816549" y="6021288"/>
            <a:ext cx="2507143" cy="432000"/>
          </a:xfrm>
          <a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CH"/>
              <a:t> </a:t>
            </a:r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D89B38DF-57BD-4F57-8700-CACA724484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1651" y="627362"/>
            <a:ext cx="4536938" cy="1296987"/>
          </a:xfrm>
        </p:spPr>
        <p:txBody>
          <a:bodyPr anchor="t">
            <a:noAutofit/>
          </a:bodyPr>
          <a:lstStyle>
            <a:lvl1pPr algn="l">
              <a:lnSpc>
                <a:spcPts val="3200"/>
              </a:lnSpc>
              <a:defRPr sz="2800">
                <a:solidFill>
                  <a:schemeClr val="bg2"/>
                </a:solidFill>
              </a:defRPr>
            </a:lvl1pPr>
          </a:lstStyle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11" name="Untertitel 2">
            <a:extLst>
              <a:ext uri="{FF2B5EF4-FFF2-40B4-BE49-F238E27FC236}">
                <a16:creationId xmlns:a16="http://schemas.microsoft.com/office/drawing/2014/main" id="{68C418D9-D2AA-4392-B85E-D02E3D2125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1651" y="1930702"/>
            <a:ext cx="4536938" cy="641047"/>
          </a:xfrm>
        </p:spPr>
        <p:txBody>
          <a:bodyPr>
            <a:noAutofit/>
          </a:bodyPr>
          <a:lstStyle>
            <a:lvl1pPr marL="0" indent="0" algn="l">
              <a:lnSpc>
                <a:spcPts val="2200"/>
              </a:lnSpc>
              <a:spcAft>
                <a:spcPts val="0"/>
              </a:spcAft>
              <a:buNone/>
              <a:defRPr sz="1800">
                <a:solidFill>
                  <a:schemeClr val="accent4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de-DE"/>
              <a:t>Formatvorlage des Untertitelmasters durch Klicken bearbeiten</a:t>
            </a:r>
            <a:endParaRPr lang="de-CH"/>
          </a:p>
        </p:txBody>
      </p:sp>
      <p:sp>
        <p:nvSpPr>
          <p:cNvPr id="12" name="Textplatzhalter 9">
            <a:extLst>
              <a:ext uri="{FF2B5EF4-FFF2-40B4-BE49-F238E27FC236}">
                <a16:creationId xmlns:a16="http://schemas.microsoft.com/office/drawing/2014/main" id="{5470846A-AA05-45E5-99D8-814D7D32AF5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851651" y="2578102"/>
            <a:ext cx="4536938" cy="1073447"/>
          </a:xfrm>
        </p:spPr>
        <p:txBody>
          <a:bodyPr>
            <a:noAutofit/>
          </a:bodyPr>
          <a:lstStyle>
            <a:lvl1pPr marL="0" indent="0">
              <a:lnSpc>
                <a:spcPts val="2100"/>
              </a:lnSpc>
              <a:spcAft>
                <a:spcPts val="0"/>
              </a:spcAft>
              <a:buFont typeface="Arial" panose="020B0604020202020204" pitchFamily="34" charset="0"/>
              <a:buNone/>
              <a:defRPr sz="1600">
                <a:solidFill>
                  <a:schemeClr val="bg2"/>
                </a:solidFill>
              </a:defRPr>
            </a:lvl1pPr>
            <a:lvl2pPr marL="324000" indent="0">
              <a:buFont typeface="Arial" panose="020B0604020202020204" pitchFamily="34" charset="0"/>
              <a:buNone/>
              <a:defRPr/>
            </a:lvl2pPr>
            <a:lvl3pPr marL="576000" indent="0">
              <a:buFont typeface="Arial" panose="020B0604020202020204" pitchFamily="34" charset="0"/>
              <a:buNone/>
              <a:defRPr/>
            </a:lvl3pPr>
            <a:lvl4pPr marL="864000" indent="0">
              <a:buFont typeface="Arial" panose="020B0604020202020204" pitchFamily="34" charset="0"/>
              <a:buNone/>
              <a:defRPr/>
            </a:lvl4pPr>
            <a:lvl5pPr marL="10800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Gremium/Veranstaltung </a:t>
            </a:r>
            <a:br>
              <a:rPr lang="de-DE"/>
            </a:br>
            <a:r>
              <a:rPr lang="de-DE"/>
              <a:t>Abteilung</a:t>
            </a:r>
            <a:br>
              <a:rPr lang="de-DE"/>
            </a:br>
            <a:r>
              <a:rPr lang="de-DE"/>
              <a:t>Titel Vorname Nachname </a:t>
            </a:r>
            <a:br>
              <a:rPr lang="de-DE"/>
            </a:br>
            <a:r>
              <a:rPr lang="de-DE"/>
              <a:t>Ort, Datum</a:t>
            </a:r>
          </a:p>
        </p:txBody>
      </p:sp>
      <p:sp>
        <p:nvSpPr>
          <p:cNvPr id="14" name="Bildplatzhalter 11">
            <a:extLst>
              <a:ext uri="{FF2B5EF4-FFF2-40B4-BE49-F238E27FC236}">
                <a16:creationId xmlns:a16="http://schemas.microsoft.com/office/drawing/2014/main" id="{B8CFFCBD-6089-4BE8-BBB2-714D47184522}"/>
              </a:ext>
            </a:extLst>
          </p:cNvPr>
          <p:cNvSpPr>
            <a:spLocks noGrp="1" noChangeAspect="1"/>
          </p:cNvSpPr>
          <p:nvPr>
            <p:ph type="pic" sz="quarter" idx="12" hasCustomPrompt="1"/>
          </p:nvPr>
        </p:nvSpPr>
        <p:spPr>
          <a:xfrm>
            <a:off x="8861171" y="4292600"/>
            <a:ext cx="3335487" cy="2571984"/>
          </a:xfrm>
          <a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CH"/>
              <a:t> 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74F5E81E-FB46-455E-ADE2-85CAE3D1642F}"/>
              </a:ext>
            </a:extLst>
          </p:cNvPr>
          <p:cNvSpPr/>
          <p:nvPr userDrawn="1"/>
        </p:nvSpPr>
        <p:spPr>
          <a:xfrm>
            <a:off x="6108113" y="0"/>
            <a:ext cx="6083887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7997086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folie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6">
            <a:extLst>
              <a:ext uri="{FF2B5EF4-FFF2-40B4-BE49-F238E27FC236}">
                <a16:creationId xmlns:a16="http://schemas.microsoft.com/office/drawing/2014/main" id="{FC76B364-F034-4AED-971C-E52E3E30635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de-CH"/>
          </a:p>
        </p:txBody>
      </p:sp>
      <p:sp>
        <p:nvSpPr>
          <p:cNvPr id="8" name="Bildplatzhalter 16">
            <a:extLst>
              <a:ext uri="{FF2B5EF4-FFF2-40B4-BE49-F238E27FC236}">
                <a16:creationId xmlns:a16="http://schemas.microsoft.com/office/drawing/2014/main" id="{4A672A56-0B1F-4E8F-BEBD-47BFDCD51EBF}"/>
              </a:ext>
            </a:extLst>
          </p:cNvPr>
          <p:cNvSpPr>
            <a:spLocks noGrp="1" noChangeAspect="1"/>
          </p:cNvSpPr>
          <p:nvPr>
            <p:ph type="pic" sz="quarter" idx="11" hasCustomPrompt="1"/>
          </p:nvPr>
        </p:nvSpPr>
        <p:spPr>
          <a:xfrm>
            <a:off x="8881445" y="620688"/>
            <a:ext cx="2507143" cy="432000"/>
          </a:xfrm>
          <a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CH"/>
              <a:t> </a:t>
            </a:r>
          </a:p>
        </p:txBody>
      </p:sp>
      <p:sp>
        <p:nvSpPr>
          <p:cNvPr id="9" name="Titel 1">
            <a:extLst>
              <a:ext uri="{FF2B5EF4-FFF2-40B4-BE49-F238E27FC236}">
                <a16:creationId xmlns:a16="http://schemas.microsoft.com/office/drawing/2014/main" id="{D6A5714E-0FB8-4165-93F2-4FF55E8B89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3412" y="627362"/>
            <a:ext cx="4536938" cy="1296987"/>
          </a:xfrm>
        </p:spPr>
        <p:txBody>
          <a:bodyPr anchor="t">
            <a:noAutofit/>
          </a:bodyPr>
          <a:lstStyle>
            <a:lvl1pPr algn="l">
              <a:lnSpc>
                <a:spcPts val="3200"/>
              </a:lnSpc>
              <a:defRPr sz="2800">
                <a:solidFill>
                  <a:schemeClr val="accent1"/>
                </a:solidFill>
              </a:defRPr>
            </a:lvl1pPr>
          </a:lstStyle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10" name="Untertitel 2">
            <a:extLst>
              <a:ext uri="{FF2B5EF4-FFF2-40B4-BE49-F238E27FC236}">
                <a16:creationId xmlns:a16="http://schemas.microsoft.com/office/drawing/2014/main" id="{54220A53-994F-43B6-88FD-53A23B13A4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3412" y="1930702"/>
            <a:ext cx="4536938" cy="641047"/>
          </a:xfrm>
        </p:spPr>
        <p:txBody>
          <a:bodyPr>
            <a:noAutofit/>
          </a:bodyPr>
          <a:lstStyle>
            <a:lvl1pPr marL="0" indent="0" algn="l">
              <a:lnSpc>
                <a:spcPts val="2200"/>
              </a:lnSpc>
              <a:spcAft>
                <a:spcPts val="0"/>
              </a:spcAft>
              <a:buNone/>
              <a:defRPr sz="1800">
                <a:solidFill>
                  <a:schemeClr val="accent2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de-DE"/>
              <a:t>Formatvorlage des Untertitelmasters durch Klicken bearbeiten</a:t>
            </a:r>
            <a:endParaRPr lang="de-CH"/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21797B95-96A2-4588-B2C7-86E383AC5AB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3412" y="2578102"/>
            <a:ext cx="4536938" cy="1073447"/>
          </a:xfrm>
        </p:spPr>
        <p:txBody>
          <a:bodyPr>
            <a:noAutofit/>
          </a:bodyPr>
          <a:lstStyle>
            <a:lvl1pPr marL="0" indent="0">
              <a:lnSpc>
                <a:spcPts val="2100"/>
              </a:lnSpc>
              <a:spcAft>
                <a:spcPts val="0"/>
              </a:spcAft>
              <a:buFont typeface="Arial" panose="020B0604020202020204" pitchFamily="34" charset="0"/>
              <a:buNone/>
              <a:defRPr sz="1600">
                <a:solidFill>
                  <a:schemeClr val="tx2"/>
                </a:solidFill>
              </a:defRPr>
            </a:lvl1pPr>
            <a:lvl2pPr marL="324000" indent="0">
              <a:buFont typeface="Arial" panose="020B0604020202020204" pitchFamily="34" charset="0"/>
              <a:buNone/>
              <a:defRPr/>
            </a:lvl2pPr>
            <a:lvl3pPr marL="576000" indent="0">
              <a:buFont typeface="Arial" panose="020B0604020202020204" pitchFamily="34" charset="0"/>
              <a:buNone/>
              <a:defRPr/>
            </a:lvl3pPr>
            <a:lvl4pPr marL="864000" indent="0">
              <a:buFont typeface="Arial" panose="020B0604020202020204" pitchFamily="34" charset="0"/>
              <a:buNone/>
              <a:defRPr/>
            </a:lvl4pPr>
            <a:lvl5pPr marL="10800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Gremium/Veranstaltung </a:t>
            </a:r>
            <a:br>
              <a:rPr lang="de-DE"/>
            </a:br>
            <a:r>
              <a:rPr lang="de-DE"/>
              <a:t>Abteilung</a:t>
            </a:r>
            <a:br>
              <a:rPr lang="de-DE"/>
            </a:br>
            <a:r>
              <a:rPr lang="de-DE"/>
              <a:t>Titel Vorname Nachname </a:t>
            </a:r>
            <a:br>
              <a:rPr lang="de-DE"/>
            </a:br>
            <a:r>
              <a:rPr lang="de-DE"/>
              <a:t>Ort, Datum</a:t>
            </a:r>
          </a:p>
        </p:txBody>
      </p:sp>
      <p:sp>
        <p:nvSpPr>
          <p:cNvPr id="12" name="Bildplatzhalter 4">
            <a:extLst>
              <a:ext uri="{FF2B5EF4-FFF2-40B4-BE49-F238E27FC236}">
                <a16:creationId xmlns:a16="http://schemas.microsoft.com/office/drawing/2014/main" id="{90AA74D8-401F-46EB-B858-1665506FFA01}"/>
              </a:ext>
            </a:extLst>
          </p:cNvPr>
          <p:cNvSpPr>
            <a:spLocks noGrp="1" noChangeAspect="1"/>
          </p:cNvSpPr>
          <p:nvPr>
            <p:ph type="pic" sz="quarter" idx="12" hasCustomPrompt="1"/>
          </p:nvPr>
        </p:nvSpPr>
        <p:spPr>
          <a:xfrm>
            <a:off x="8865108" y="4292600"/>
            <a:ext cx="3332587" cy="2569748"/>
          </a:xfrm>
          <a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CH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480531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bschnitt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6">
            <a:extLst>
              <a:ext uri="{FF2B5EF4-FFF2-40B4-BE49-F238E27FC236}">
                <a16:creationId xmlns:a16="http://schemas.microsoft.com/office/drawing/2014/main" id="{866BC380-E241-4CC8-A6CE-FC4FB7D84C3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108113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de-CH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DA27F2C7-6531-4319-A67E-13447DFF4ED5}"/>
              </a:ext>
            </a:extLst>
          </p:cNvPr>
          <p:cNvSpPr/>
          <p:nvPr/>
        </p:nvSpPr>
        <p:spPr>
          <a:xfrm>
            <a:off x="6108113" y="0"/>
            <a:ext cx="6083887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1D6B7A8F-6F04-43D4-9563-EB52E1E8D1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08113" y="2163132"/>
            <a:ext cx="6087849" cy="4693323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04466843-1FAC-4A7B-9E73-EFACF45809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13804" y="80628"/>
            <a:ext cx="1619150" cy="1448475"/>
          </a:xfrm>
        </p:spPr>
        <p:txBody>
          <a:bodyPr anchor="b">
            <a:noAutofit/>
          </a:bodyPr>
          <a:lstStyle>
            <a:lvl1pPr algn="r">
              <a:defRPr sz="9000" b="1">
                <a:solidFill>
                  <a:schemeClr val="accent3"/>
                </a:solidFill>
              </a:defRPr>
            </a:lvl1pPr>
          </a:lstStyle>
          <a:p>
            <a:r>
              <a:rPr lang="de-DE"/>
              <a:t>02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76FF702-B51F-4417-872C-D96E3A5C77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38144" y="1466632"/>
            <a:ext cx="5256000" cy="332399"/>
          </a:xfrm>
        </p:spPr>
        <p:txBody>
          <a:bodyPr wrap="square">
            <a:noAutofit/>
          </a:bodyPr>
          <a:lstStyle>
            <a:lvl1pPr marL="0" indent="0" algn="r">
              <a:buNone/>
              <a:defRPr sz="2400">
                <a:solidFill>
                  <a:schemeClr val="accent3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99807907-7629-4F03-83AD-11FE12CF5AE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08113" y="2163132"/>
            <a:ext cx="6087849" cy="4693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65886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bschnitt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9C9F95C9-1016-4C4F-8083-B95E057D1D24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8" name="Bildplatzhalter 6">
            <a:extLst>
              <a:ext uri="{FF2B5EF4-FFF2-40B4-BE49-F238E27FC236}">
                <a16:creationId xmlns:a16="http://schemas.microsoft.com/office/drawing/2014/main" id="{866BC380-E241-4CC8-A6CE-FC4FB7D84C3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2038" y="-2134"/>
            <a:ext cx="6116039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de-CH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1D6B7A8F-6F04-43D4-9563-EB52E1E8D1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076" y="2163132"/>
            <a:ext cx="6087850" cy="4693324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04466843-1FAC-4A7B-9E73-EFACF45809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49066" y="65639"/>
            <a:ext cx="1619150" cy="1448475"/>
          </a:xfrm>
        </p:spPr>
        <p:txBody>
          <a:bodyPr anchor="b">
            <a:noAutofit/>
          </a:bodyPr>
          <a:lstStyle>
            <a:lvl1pPr algn="r">
              <a:defRPr sz="9000" b="1">
                <a:solidFill>
                  <a:schemeClr val="tx2"/>
                </a:solidFill>
              </a:defRPr>
            </a:lvl1pPr>
          </a:lstStyle>
          <a:p>
            <a:r>
              <a:rPr lang="de-DE"/>
              <a:t>04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76FF702-B51F-4417-872C-D96E3A5C77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9336" y="1462128"/>
            <a:ext cx="5243298" cy="332399"/>
          </a:xfrm>
        </p:spPr>
        <p:txBody>
          <a:bodyPr wrap="square">
            <a:noAutofit/>
          </a:bodyPr>
          <a:lstStyle>
            <a:lvl1pPr marL="0" indent="0" algn="r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31BDE96F-D073-4EF5-BF9E-A01EC05126D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076" y="2163132"/>
            <a:ext cx="6087850" cy="4693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57095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bschnitt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8">
            <a:extLst>
              <a:ext uri="{FF2B5EF4-FFF2-40B4-BE49-F238E27FC236}">
                <a16:creationId xmlns:a16="http://schemas.microsoft.com/office/drawing/2014/main" id="{DA27F2C7-6531-4319-A67E-13447DFF4ED5}"/>
              </a:ext>
            </a:extLst>
          </p:cNvPr>
          <p:cNvSpPr/>
          <p:nvPr/>
        </p:nvSpPr>
        <p:spPr>
          <a:xfrm>
            <a:off x="6096001" y="0"/>
            <a:ext cx="6096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FB7EEB13-C279-41D5-A8D3-636DAD07B4E2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1D6B7A8F-6F04-43D4-9563-EB52E1E8D1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5952" y="3428999"/>
            <a:ext cx="4453607" cy="3433433"/>
          </a:xfrm>
          <a:prstGeom prst="rect">
            <a:avLst/>
          </a:prstGeom>
        </p:spPr>
      </p:pic>
      <p:sp>
        <p:nvSpPr>
          <p:cNvPr id="8" name="Titel 1">
            <a:extLst>
              <a:ext uri="{FF2B5EF4-FFF2-40B4-BE49-F238E27FC236}">
                <a16:creationId xmlns:a16="http://schemas.microsoft.com/office/drawing/2014/main" id="{5FD839CF-36F2-4C13-94D3-6D67814420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13804" y="80628"/>
            <a:ext cx="1619150" cy="1448475"/>
          </a:xfrm>
        </p:spPr>
        <p:txBody>
          <a:bodyPr anchor="b">
            <a:noAutofit/>
          </a:bodyPr>
          <a:lstStyle>
            <a:lvl1pPr algn="r">
              <a:defRPr sz="9000" b="1">
                <a:solidFill>
                  <a:schemeClr val="accent3"/>
                </a:solidFill>
              </a:defRPr>
            </a:lvl1pPr>
          </a:lstStyle>
          <a:p>
            <a:r>
              <a:rPr lang="de-DE"/>
              <a:t>02</a:t>
            </a:r>
            <a:endParaRPr lang="de-CH"/>
          </a:p>
        </p:txBody>
      </p:sp>
      <p:sp>
        <p:nvSpPr>
          <p:cNvPr id="11" name="Textplatzhalter 2">
            <a:extLst>
              <a:ext uri="{FF2B5EF4-FFF2-40B4-BE49-F238E27FC236}">
                <a16:creationId xmlns:a16="http://schemas.microsoft.com/office/drawing/2014/main" id="{1B9A2B40-EAD1-4CC7-806E-7E97A0E7EF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38144" y="1466632"/>
            <a:ext cx="5256000" cy="332399"/>
          </a:xfrm>
        </p:spPr>
        <p:txBody>
          <a:bodyPr wrap="square">
            <a:noAutofit/>
          </a:bodyPr>
          <a:lstStyle>
            <a:lvl1pPr marL="0" indent="0" algn="r">
              <a:buNone/>
              <a:defRPr sz="2400">
                <a:solidFill>
                  <a:schemeClr val="accent3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pic>
        <p:nvPicPr>
          <p:cNvPr id="14" name="Grafik 13">
            <a:extLst>
              <a:ext uri="{FF2B5EF4-FFF2-40B4-BE49-F238E27FC236}">
                <a16:creationId xmlns:a16="http://schemas.microsoft.com/office/drawing/2014/main" id="{FC9EC776-17B6-4994-9140-2146CFB7A35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5952" y="3428999"/>
            <a:ext cx="4453607" cy="3433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70219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bschnitt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8">
            <a:extLst>
              <a:ext uri="{FF2B5EF4-FFF2-40B4-BE49-F238E27FC236}">
                <a16:creationId xmlns:a16="http://schemas.microsoft.com/office/drawing/2014/main" id="{DA27F2C7-6531-4319-A67E-13447DFF4ED5}"/>
              </a:ext>
            </a:extLst>
          </p:cNvPr>
          <p:cNvSpPr/>
          <p:nvPr/>
        </p:nvSpPr>
        <p:spPr>
          <a:xfrm>
            <a:off x="-24001" y="0"/>
            <a:ext cx="612000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17D53017-553E-4EC3-818A-85C89607EAD7}"/>
              </a:ext>
            </a:extLst>
          </p:cNvPr>
          <p:cNvSpPr/>
          <p:nvPr/>
        </p:nvSpPr>
        <p:spPr>
          <a:xfrm>
            <a:off x="6096000" y="0"/>
            <a:ext cx="6114966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1D6B7A8F-6F04-43D4-9563-EB52E1E8D1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770144" y="3429000"/>
            <a:ext cx="4445856" cy="3427456"/>
          </a:xfrm>
          <a:prstGeom prst="rect">
            <a:avLst/>
          </a:prstGeom>
        </p:spPr>
      </p:pic>
      <p:sp>
        <p:nvSpPr>
          <p:cNvPr id="8" name="Titel 1">
            <a:extLst>
              <a:ext uri="{FF2B5EF4-FFF2-40B4-BE49-F238E27FC236}">
                <a16:creationId xmlns:a16="http://schemas.microsoft.com/office/drawing/2014/main" id="{C60C2162-1FAA-418F-9CF5-43E202D5E8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49066" y="65639"/>
            <a:ext cx="1619150" cy="1448475"/>
          </a:xfrm>
        </p:spPr>
        <p:txBody>
          <a:bodyPr anchor="b">
            <a:noAutofit/>
          </a:bodyPr>
          <a:lstStyle>
            <a:lvl1pPr algn="r">
              <a:defRPr sz="9000" b="1">
                <a:solidFill>
                  <a:schemeClr val="tx2"/>
                </a:solidFill>
              </a:defRPr>
            </a:lvl1pPr>
          </a:lstStyle>
          <a:p>
            <a:r>
              <a:rPr lang="de-DE"/>
              <a:t>04</a:t>
            </a:r>
            <a:endParaRPr lang="de-CH"/>
          </a:p>
        </p:txBody>
      </p:sp>
      <p:sp>
        <p:nvSpPr>
          <p:cNvPr id="11" name="Textplatzhalter 2">
            <a:extLst>
              <a:ext uri="{FF2B5EF4-FFF2-40B4-BE49-F238E27FC236}">
                <a16:creationId xmlns:a16="http://schemas.microsoft.com/office/drawing/2014/main" id="{9A419403-A75E-4872-AC73-76910711DD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9336" y="1462128"/>
            <a:ext cx="5243298" cy="332399"/>
          </a:xfrm>
        </p:spPr>
        <p:txBody>
          <a:bodyPr wrap="square">
            <a:noAutofit/>
          </a:bodyPr>
          <a:lstStyle>
            <a:lvl1pPr marL="0" indent="0" algn="r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pic>
        <p:nvPicPr>
          <p:cNvPr id="14" name="Grafik 13">
            <a:extLst>
              <a:ext uri="{FF2B5EF4-FFF2-40B4-BE49-F238E27FC236}">
                <a16:creationId xmlns:a16="http://schemas.microsoft.com/office/drawing/2014/main" id="{F7BBBFE5-B478-4B6C-8DA7-F2E45889C19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770144" y="3429000"/>
            <a:ext cx="4445856" cy="3427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39404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altsverzeichnis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9E85D57-593F-4DD1-B9B4-A8A11602EA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369" y="188639"/>
            <a:ext cx="11376644" cy="863873"/>
          </a:xfrm>
        </p:spPr>
        <p:txBody>
          <a:bodyPr wrap="square" anchor="t">
            <a:noAutofit/>
          </a:bodyPr>
          <a:lstStyle>
            <a:lvl1pPr>
              <a:lnSpc>
                <a:spcPts val="36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de-DE"/>
              <a:t>Inhaltsverzeichnis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E08DFF4-9296-4D04-8B9D-380F43D7C7D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60640" y="6459332"/>
            <a:ext cx="2070000" cy="180000"/>
          </a:xfrm>
        </p:spPr>
        <p:txBody>
          <a:bodyPr/>
          <a:lstStyle>
            <a:lvl1pPr>
              <a:lnSpc>
                <a:spcPts val="1100"/>
              </a:lnSpc>
              <a:defRPr sz="900" baseline="0"/>
            </a:lvl1pPr>
          </a:lstStyle>
          <a:p>
            <a:r>
              <a:rPr lang="de-DE"/>
              <a:t>08.07.2026</a:t>
            </a:r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002890F-B212-4785-827F-E4B7AB31D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7368" y="6459332"/>
            <a:ext cx="4114800" cy="180000"/>
          </a:xfrm>
        </p:spPr>
        <p:txBody>
          <a:bodyPr/>
          <a:lstStyle>
            <a:lvl1pPr>
              <a:lnSpc>
                <a:spcPts val="1100"/>
              </a:lnSpc>
              <a:defRPr sz="900" baseline="0"/>
            </a:lvl1pPr>
          </a:lstStyle>
          <a:p>
            <a:r>
              <a:rPr lang="de-DE"/>
              <a:t>Zwischenbericht Digitalisierung Austrittsprozess USB</a:t>
            </a:r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ECEF308-3909-4DB7-8C6A-ABA2124D6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625990" y="6459332"/>
            <a:ext cx="1530350" cy="180000"/>
          </a:xfrm>
        </p:spPr>
        <p:txBody>
          <a:bodyPr/>
          <a:lstStyle>
            <a:lvl1pPr>
              <a:lnSpc>
                <a:spcPts val="1100"/>
              </a:lnSpc>
              <a:defRPr sz="900" baseline="0"/>
            </a:lvl1pPr>
          </a:lstStyle>
          <a:p>
            <a:fld id="{E9BB8F18-EA86-4D04-9957-8C9591DCEC94}" type="slidenum">
              <a:rPr lang="de-CH" smtClean="0"/>
              <a:pPr/>
              <a:t>‹#›</a:t>
            </a:fld>
            <a:endParaRPr lang="de-CH"/>
          </a:p>
        </p:txBody>
      </p:sp>
      <p:pic>
        <p:nvPicPr>
          <p:cNvPr id="7" name="Grafik 6" descr="Ein Bild, das Zeichnung, Teller enthält.&#10;&#10;Automatisch generierte Beschreibung">
            <a:extLst>
              <a:ext uri="{FF2B5EF4-FFF2-40B4-BE49-F238E27FC236}">
                <a16:creationId xmlns:a16="http://schemas.microsoft.com/office/drawing/2014/main" id="{DAABB91F-C869-4DEF-ACAB-85D44D968A81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8998" y="6405332"/>
            <a:ext cx="1675634" cy="288000"/>
          </a:xfrm>
          <a:prstGeom prst="rect">
            <a:avLst/>
          </a:prstGeom>
        </p:spPr>
      </p:pic>
      <p:sp>
        <p:nvSpPr>
          <p:cNvPr id="8" name="Tabellenplatzhalter 7">
            <a:extLst>
              <a:ext uri="{FF2B5EF4-FFF2-40B4-BE49-F238E27FC236}">
                <a16:creationId xmlns:a16="http://schemas.microsoft.com/office/drawing/2014/main" id="{E1EDA82B-25E9-4918-87BC-1D6D85DF34A9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/>
        <p:txBody>
          <a:bodyPr/>
          <a:lstStyle>
            <a:lvl1pPr marL="0" indent="0">
              <a:buNone/>
              <a:defRPr/>
            </a:lvl1pPr>
          </a:lstStyle>
          <a:p>
            <a:r>
              <a:rPr lang="de-DE"/>
              <a:t>Tabelle durch Klicken auf Symbol hinzufügen</a:t>
            </a:r>
            <a:endParaRPr lang="de-CH"/>
          </a:p>
        </p:txBody>
      </p:sp>
      <p:pic>
        <p:nvPicPr>
          <p:cNvPr id="9" name="Grafik 8" descr="Ein Bild, das Zeichnung, Teller enthält.&#10;&#10;Automatisch generierte Beschreibung">
            <a:extLst>
              <a:ext uri="{FF2B5EF4-FFF2-40B4-BE49-F238E27FC236}">
                <a16:creationId xmlns:a16="http://schemas.microsoft.com/office/drawing/2014/main" id="{F0D5E9B0-A824-408A-9F7C-8C446E3EB50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8998" y="6405332"/>
            <a:ext cx="1675634" cy="2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62668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altsverzeichnis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9E85D57-593F-4DD1-B9B4-A8A11602EA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369" y="188639"/>
            <a:ext cx="11376644" cy="863873"/>
          </a:xfrm>
        </p:spPr>
        <p:txBody>
          <a:bodyPr wrap="square" anchor="t">
            <a:noAutofit/>
          </a:bodyPr>
          <a:lstStyle>
            <a:lvl1pPr>
              <a:lnSpc>
                <a:spcPts val="36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de-DE"/>
              <a:t>Inhaltsverzeichnis</a:t>
            </a:r>
            <a:endParaRPr lang="de-CH"/>
          </a:p>
        </p:txBody>
      </p:sp>
      <p:sp>
        <p:nvSpPr>
          <p:cNvPr id="8" name="Tabellenplatzhalter 7">
            <a:extLst>
              <a:ext uri="{FF2B5EF4-FFF2-40B4-BE49-F238E27FC236}">
                <a16:creationId xmlns:a16="http://schemas.microsoft.com/office/drawing/2014/main" id="{E1EDA82B-25E9-4918-87BC-1D6D85DF34A9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407989" y="1268413"/>
            <a:ext cx="11376024" cy="2160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/>
              <a:t>Tabelle durch Klicken auf Symbol hinzufügen</a:t>
            </a:r>
            <a:endParaRPr lang="de-CH"/>
          </a:p>
        </p:txBody>
      </p:sp>
      <p:sp>
        <p:nvSpPr>
          <p:cNvPr id="9" name="Bildplatzhalter 4">
            <a:extLst>
              <a:ext uri="{FF2B5EF4-FFF2-40B4-BE49-F238E27FC236}">
                <a16:creationId xmlns:a16="http://schemas.microsoft.com/office/drawing/2014/main" id="{BB1C7602-1C25-4A84-9658-C901A8C8C8A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3860800"/>
            <a:ext cx="12186334" cy="2997200"/>
          </a:xfrm>
          <a:solidFill>
            <a:schemeClr val="accent3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de-CH"/>
          </a:p>
        </p:txBody>
      </p:sp>
      <p:sp>
        <p:nvSpPr>
          <p:cNvPr id="10" name="Bildplatzhalter 11">
            <a:extLst>
              <a:ext uri="{FF2B5EF4-FFF2-40B4-BE49-F238E27FC236}">
                <a16:creationId xmlns:a16="http://schemas.microsoft.com/office/drawing/2014/main" id="{03718383-8732-4E63-82B0-2E7FE9D6C6D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8843476" y="4293096"/>
            <a:ext cx="3337200" cy="2571984"/>
          </a:xfr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CH"/>
              <a:t> </a:t>
            </a:r>
          </a:p>
        </p:txBody>
      </p:sp>
      <p:pic>
        <p:nvPicPr>
          <p:cNvPr id="12" name="Grafik 11" descr="Ein Bild, das Zeichnung, Teller enthält.&#10;&#10;Automatisch generierte Beschreibung">
            <a:extLst>
              <a:ext uri="{FF2B5EF4-FFF2-40B4-BE49-F238E27FC236}">
                <a16:creationId xmlns:a16="http://schemas.microsoft.com/office/drawing/2014/main" id="{97001C06-E6B0-4F2F-98C8-7BD10854C43C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8998" y="260648"/>
            <a:ext cx="1675634" cy="288000"/>
          </a:xfrm>
          <a:prstGeom prst="rect">
            <a:avLst/>
          </a:prstGeom>
        </p:spPr>
      </p:pic>
      <p:pic>
        <p:nvPicPr>
          <p:cNvPr id="7" name="Grafik 6" descr="Ein Bild, das Zeichnung, Teller enthält.&#10;&#10;Automatisch generierte Beschreibung">
            <a:extLst>
              <a:ext uri="{FF2B5EF4-FFF2-40B4-BE49-F238E27FC236}">
                <a16:creationId xmlns:a16="http://schemas.microsoft.com/office/drawing/2014/main" id="{04652D73-0DC2-47DC-8FEC-756D902BFE9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8998" y="260648"/>
            <a:ext cx="1675634" cy="2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9216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E08DFF4-9296-4D04-8B9D-380F43D7C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ts val="1100"/>
              </a:lnSpc>
              <a:defRPr sz="900" baseline="0"/>
            </a:lvl1pPr>
          </a:lstStyle>
          <a:p>
            <a:r>
              <a:rPr lang="de-DE"/>
              <a:t>08.07.2026</a:t>
            </a:r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002890F-B212-4785-827F-E4B7AB31D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lnSpc>
                <a:spcPts val="1100"/>
              </a:lnSpc>
              <a:defRPr sz="900" baseline="0"/>
            </a:lvl1pPr>
          </a:lstStyle>
          <a:p>
            <a:r>
              <a:rPr lang="de-DE"/>
              <a:t>Zwischenbericht Digitalisierung Austrittsprozess USB</a:t>
            </a:r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ECEF308-3909-4DB7-8C6A-ABA2124D6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ts val="1100"/>
              </a:lnSpc>
              <a:defRPr sz="900" baseline="0"/>
            </a:lvl1pPr>
          </a:lstStyle>
          <a:p>
            <a:fld id="{E9BB8F18-EA86-4D04-9957-8C9591DCEC94}" type="slidenum">
              <a:rPr lang="de-CH" smtClean="0"/>
              <a:pPr/>
              <a:t>‹#›</a:t>
            </a:fld>
            <a:endParaRPr lang="de-CH"/>
          </a:p>
        </p:txBody>
      </p:sp>
      <p:pic>
        <p:nvPicPr>
          <p:cNvPr id="9" name="Grafik 8" descr="Ein Bild, das Zeichnung, Teller enthält.&#10;&#10;Automatisch generierte Beschreibung">
            <a:extLst>
              <a:ext uri="{FF2B5EF4-FFF2-40B4-BE49-F238E27FC236}">
                <a16:creationId xmlns:a16="http://schemas.microsoft.com/office/drawing/2014/main" id="{5583B9B4-FB8B-47F0-81FA-DEE98F97C7F8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8998" y="6405332"/>
            <a:ext cx="1675634" cy="288000"/>
          </a:xfrm>
          <a:prstGeom prst="rect">
            <a:avLst/>
          </a:prstGeom>
        </p:spPr>
      </p:pic>
      <p:sp>
        <p:nvSpPr>
          <p:cNvPr id="10" name="Titel 1">
            <a:extLst>
              <a:ext uri="{FF2B5EF4-FFF2-40B4-BE49-F238E27FC236}">
                <a16:creationId xmlns:a16="http://schemas.microsoft.com/office/drawing/2014/main" id="{68C22CDB-656D-4A35-BE89-00728C267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369" y="188639"/>
            <a:ext cx="11376644" cy="863874"/>
          </a:xfrm>
        </p:spPr>
        <p:txBody>
          <a:bodyPr wrap="square" anchor="t">
            <a:noAutofit/>
          </a:bodyPr>
          <a:lstStyle>
            <a:lvl1pPr>
              <a:lnSpc>
                <a:spcPts val="36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D8873DF6-A0D5-45DB-A82D-C0566B29DD6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7988" y="1268413"/>
            <a:ext cx="11376025" cy="4968899"/>
          </a:xfrm>
        </p:spPr>
        <p:txBody>
          <a:bodyPr>
            <a:noAutofit/>
          </a:bodyPr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pic>
        <p:nvPicPr>
          <p:cNvPr id="11" name="Grafik 10" descr="Ein Bild, das Zeichnung, Teller enthält.&#10;&#10;Automatisch generierte Beschreibung">
            <a:extLst>
              <a:ext uri="{FF2B5EF4-FFF2-40B4-BE49-F238E27FC236}">
                <a16:creationId xmlns:a16="http://schemas.microsoft.com/office/drawing/2014/main" id="{BBFFFE76-0DC4-4D07-8565-3C6F333EB3C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8998" y="6405332"/>
            <a:ext cx="1675634" cy="2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09590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 mit Actio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E08DFF4-9296-4D04-8B9D-380F43D7C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ts val="1100"/>
              </a:lnSpc>
              <a:defRPr sz="900" baseline="0"/>
            </a:lvl1pPr>
          </a:lstStyle>
          <a:p>
            <a:r>
              <a:rPr lang="de-DE"/>
              <a:t>08.07.2026</a:t>
            </a:r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002890F-B212-4785-827F-E4B7AB31D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lnSpc>
                <a:spcPts val="1100"/>
              </a:lnSpc>
              <a:defRPr sz="900" baseline="0"/>
            </a:lvl1pPr>
          </a:lstStyle>
          <a:p>
            <a:r>
              <a:rPr lang="de-DE"/>
              <a:t>Zwischenbericht Digitalisierung Austrittsprozess USB</a:t>
            </a:r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ECEF308-3909-4DB7-8C6A-ABA2124D6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ts val="1100"/>
              </a:lnSpc>
              <a:defRPr sz="900" baseline="0"/>
            </a:lvl1pPr>
          </a:lstStyle>
          <a:p>
            <a:fld id="{E9BB8F18-EA86-4D04-9957-8C9591DCEC94}" type="slidenum">
              <a:rPr lang="de-CH" smtClean="0"/>
              <a:pPr/>
              <a:t>‹#›</a:t>
            </a:fld>
            <a:endParaRPr lang="de-CH"/>
          </a:p>
        </p:txBody>
      </p:sp>
      <p:pic>
        <p:nvPicPr>
          <p:cNvPr id="9" name="Grafik 8" descr="Ein Bild, das Zeichnung, Teller enthält.&#10;&#10;Automatisch generierte Beschreibung">
            <a:extLst>
              <a:ext uri="{FF2B5EF4-FFF2-40B4-BE49-F238E27FC236}">
                <a16:creationId xmlns:a16="http://schemas.microsoft.com/office/drawing/2014/main" id="{5583B9B4-FB8B-47F0-81FA-DEE98F97C7F8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8998" y="6405332"/>
            <a:ext cx="1675634" cy="288000"/>
          </a:xfrm>
          <a:prstGeom prst="rect">
            <a:avLst/>
          </a:prstGeom>
        </p:spPr>
      </p:pic>
      <p:sp>
        <p:nvSpPr>
          <p:cNvPr id="10" name="Titel 1">
            <a:extLst>
              <a:ext uri="{FF2B5EF4-FFF2-40B4-BE49-F238E27FC236}">
                <a16:creationId xmlns:a16="http://schemas.microsoft.com/office/drawing/2014/main" id="{68C22CDB-656D-4A35-BE89-00728C267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369" y="188639"/>
            <a:ext cx="11376644" cy="863873"/>
          </a:xfrm>
        </p:spPr>
        <p:txBody>
          <a:bodyPr wrap="square" anchor="t">
            <a:noAutofit/>
          </a:bodyPr>
          <a:lstStyle>
            <a:lvl1pPr>
              <a:lnSpc>
                <a:spcPts val="36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D8873DF6-A0D5-45DB-A82D-C0566B29DD6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7988" y="1915938"/>
            <a:ext cx="11376025" cy="4321374"/>
          </a:xfrm>
        </p:spPr>
        <p:txBody>
          <a:bodyPr>
            <a:noAutofit/>
          </a:bodyPr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11" name="Textplatzhalter 7">
            <a:extLst>
              <a:ext uri="{FF2B5EF4-FFF2-40B4-BE49-F238E27FC236}">
                <a16:creationId xmlns:a16="http://schemas.microsoft.com/office/drawing/2014/main" id="{A59C42DA-06F4-4E47-B9A7-A13355F31FB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07987" y="1268413"/>
            <a:ext cx="11376025" cy="431800"/>
          </a:xfrm>
        </p:spPr>
        <p:txBody>
          <a:bodyPr>
            <a:no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CH"/>
              <a:t>Action Titel</a:t>
            </a:r>
          </a:p>
        </p:txBody>
      </p:sp>
      <p:pic>
        <p:nvPicPr>
          <p:cNvPr id="13" name="Grafik 12" descr="Ein Bild, das Zeichnung, Teller enthält.&#10;&#10;Automatisch generierte Beschreibung">
            <a:extLst>
              <a:ext uri="{FF2B5EF4-FFF2-40B4-BE49-F238E27FC236}">
                <a16:creationId xmlns:a16="http://schemas.microsoft.com/office/drawing/2014/main" id="{6CB36620-7FED-4EB4-8DE7-220CC740B64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8998" y="6405332"/>
            <a:ext cx="1675634" cy="2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70614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_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E08DFF4-9296-4D04-8B9D-380F43D7C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ts val="1100"/>
              </a:lnSpc>
              <a:defRPr sz="900" baseline="0"/>
            </a:lvl1pPr>
          </a:lstStyle>
          <a:p>
            <a:r>
              <a:rPr lang="de-DE"/>
              <a:t>08.07.2026</a:t>
            </a:r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002890F-B212-4785-827F-E4B7AB31D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lnSpc>
                <a:spcPts val="1100"/>
              </a:lnSpc>
              <a:defRPr sz="900" baseline="0"/>
            </a:lvl1pPr>
          </a:lstStyle>
          <a:p>
            <a:r>
              <a:rPr lang="de-DE"/>
              <a:t>Zwischenbericht Digitalisierung Austrittsprozess USB</a:t>
            </a:r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ECEF308-3909-4DB7-8C6A-ABA2124D6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ts val="1100"/>
              </a:lnSpc>
              <a:defRPr sz="900" baseline="0"/>
            </a:lvl1pPr>
          </a:lstStyle>
          <a:p>
            <a:fld id="{E9BB8F18-EA86-4D04-9957-8C9591DCEC94}" type="slidenum">
              <a:rPr lang="de-CH" smtClean="0"/>
              <a:pPr/>
              <a:t>‹#›</a:t>
            </a:fld>
            <a:endParaRPr lang="de-CH"/>
          </a:p>
        </p:txBody>
      </p:sp>
      <p:pic>
        <p:nvPicPr>
          <p:cNvPr id="13" name="Grafik 12" descr="Ein Bild, das Zeichnung, Teller enthält.&#10;&#10;Automatisch generierte Beschreibung">
            <a:extLst>
              <a:ext uri="{FF2B5EF4-FFF2-40B4-BE49-F238E27FC236}">
                <a16:creationId xmlns:a16="http://schemas.microsoft.com/office/drawing/2014/main" id="{42F08725-4BFD-4B8A-A340-CD32126858A1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8998" y="6405332"/>
            <a:ext cx="1675634" cy="288000"/>
          </a:xfrm>
          <a:prstGeom prst="rect">
            <a:avLst/>
          </a:prstGeom>
        </p:spPr>
      </p:pic>
      <p:sp>
        <p:nvSpPr>
          <p:cNvPr id="14" name="Titel 1">
            <a:extLst>
              <a:ext uri="{FF2B5EF4-FFF2-40B4-BE49-F238E27FC236}">
                <a16:creationId xmlns:a16="http://schemas.microsoft.com/office/drawing/2014/main" id="{9C3D6271-46E6-4DFF-BBB3-BB262E23FE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369" y="188639"/>
            <a:ext cx="11376644" cy="863873"/>
          </a:xfrm>
        </p:spPr>
        <p:txBody>
          <a:bodyPr wrap="square" anchor="t">
            <a:noAutofit/>
          </a:bodyPr>
          <a:lstStyle>
            <a:lvl1pPr>
              <a:lnSpc>
                <a:spcPts val="36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3FEEEBEB-4EC1-4282-BD74-0C0AE97A817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7988" y="1268413"/>
            <a:ext cx="5543550" cy="4968875"/>
          </a:xfrm>
        </p:spPr>
        <p:txBody>
          <a:bodyPr>
            <a:noAutofit/>
          </a:bodyPr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16" name="Inhaltsplatzhalter 7">
            <a:extLst>
              <a:ext uri="{FF2B5EF4-FFF2-40B4-BE49-F238E27FC236}">
                <a16:creationId xmlns:a16="http://schemas.microsoft.com/office/drawing/2014/main" id="{8AA0C819-6911-42A8-B196-B5B4A398C43E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240464" y="1268413"/>
            <a:ext cx="5543550" cy="4968875"/>
          </a:xfrm>
        </p:spPr>
        <p:txBody>
          <a:bodyPr>
            <a:noAutofit/>
          </a:bodyPr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pic>
        <p:nvPicPr>
          <p:cNvPr id="10" name="Grafik 9" descr="Ein Bild, das Zeichnung, Teller enthält.&#10;&#10;Automatisch generierte Beschreibung">
            <a:extLst>
              <a:ext uri="{FF2B5EF4-FFF2-40B4-BE49-F238E27FC236}">
                <a16:creationId xmlns:a16="http://schemas.microsoft.com/office/drawing/2014/main" id="{34005C68-AB0F-4DA6-A7E8-72735063341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8998" y="6405332"/>
            <a:ext cx="1675634" cy="2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16411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E08DFF4-9296-4D04-8B9D-380F43D7C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ts val="1100"/>
              </a:lnSpc>
              <a:defRPr sz="900" baseline="0"/>
            </a:lvl1pPr>
          </a:lstStyle>
          <a:p>
            <a:r>
              <a:rPr lang="de-DE"/>
              <a:t>08.07.2026</a:t>
            </a:r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002890F-B212-4785-827F-E4B7AB31D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lnSpc>
                <a:spcPts val="1100"/>
              </a:lnSpc>
              <a:defRPr sz="900" baseline="0"/>
            </a:lvl1pPr>
          </a:lstStyle>
          <a:p>
            <a:r>
              <a:rPr lang="de-DE"/>
              <a:t>Zwischenbericht Digitalisierung Austrittsprozess USB</a:t>
            </a:r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ECEF308-3909-4DB7-8C6A-ABA2124D6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ts val="1100"/>
              </a:lnSpc>
              <a:defRPr sz="900" baseline="0"/>
            </a:lvl1pPr>
          </a:lstStyle>
          <a:p>
            <a:fld id="{E9BB8F18-EA86-4D04-9957-8C9591DCEC94}" type="slidenum">
              <a:rPr lang="de-CH" smtClean="0"/>
              <a:pPr/>
              <a:t>‹#›</a:t>
            </a:fld>
            <a:endParaRPr lang="de-CH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5E04C3E4-9B80-46BD-9B37-5E0E5872D52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07988" y="1268413"/>
            <a:ext cx="5543996" cy="431800"/>
          </a:xfrm>
        </p:spPr>
        <p:txBody>
          <a:bodyPr wrap="none">
            <a:no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CH"/>
              <a:t>Action Titel oder Titel Bereich 1</a:t>
            </a:r>
          </a:p>
        </p:txBody>
      </p:sp>
      <p:sp>
        <p:nvSpPr>
          <p:cNvPr id="12" name="Textplatzhalter 7">
            <a:extLst>
              <a:ext uri="{FF2B5EF4-FFF2-40B4-BE49-F238E27FC236}">
                <a16:creationId xmlns:a16="http://schemas.microsoft.com/office/drawing/2014/main" id="{09F936A1-5C56-4561-B0DC-D0B17F816C0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40017" y="1268413"/>
            <a:ext cx="5543996" cy="429696"/>
          </a:xfrm>
        </p:spPr>
        <p:txBody>
          <a:bodyPr>
            <a:no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CH"/>
              <a:t>Titel Bereich 2</a:t>
            </a:r>
          </a:p>
        </p:txBody>
      </p:sp>
      <p:pic>
        <p:nvPicPr>
          <p:cNvPr id="13" name="Grafik 12" descr="Ein Bild, das Zeichnung, Teller enthält.&#10;&#10;Automatisch generierte Beschreibung">
            <a:extLst>
              <a:ext uri="{FF2B5EF4-FFF2-40B4-BE49-F238E27FC236}">
                <a16:creationId xmlns:a16="http://schemas.microsoft.com/office/drawing/2014/main" id="{E3E51609-B8C0-4C1A-89AF-D0ECA0E9DF7B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8998" y="6405332"/>
            <a:ext cx="1675634" cy="288000"/>
          </a:xfrm>
          <a:prstGeom prst="rect">
            <a:avLst/>
          </a:prstGeom>
        </p:spPr>
      </p:pic>
      <p:sp>
        <p:nvSpPr>
          <p:cNvPr id="16" name="Titel 1">
            <a:extLst>
              <a:ext uri="{FF2B5EF4-FFF2-40B4-BE49-F238E27FC236}">
                <a16:creationId xmlns:a16="http://schemas.microsoft.com/office/drawing/2014/main" id="{C8C3F265-1903-434D-80E4-91474AA9D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369" y="188639"/>
            <a:ext cx="11376644" cy="863873"/>
          </a:xfrm>
        </p:spPr>
        <p:txBody>
          <a:bodyPr wrap="square" anchor="t">
            <a:noAutofit/>
          </a:bodyPr>
          <a:lstStyle>
            <a:lvl1pPr>
              <a:lnSpc>
                <a:spcPts val="36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18" name="Inhaltsplatzhalter 7">
            <a:extLst>
              <a:ext uri="{FF2B5EF4-FFF2-40B4-BE49-F238E27FC236}">
                <a16:creationId xmlns:a16="http://schemas.microsoft.com/office/drawing/2014/main" id="{C6EE206A-4608-4E89-B909-8D16877E804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7988" y="1916832"/>
            <a:ext cx="5543550" cy="4320000"/>
          </a:xfrm>
        </p:spPr>
        <p:txBody>
          <a:bodyPr>
            <a:noAutofit/>
          </a:bodyPr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19" name="Inhaltsplatzhalter 7">
            <a:extLst>
              <a:ext uri="{FF2B5EF4-FFF2-40B4-BE49-F238E27FC236}">
                <a16:creationId xmlns:a16="http://schemas.microsoft.com/office/drawing/2014/main" id="{E572EE94-5CD8-4F08-8FCD-B5FD6D8C4EE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240464" y="1916832"/>
            <a:ext cx="5543550" cy="4320000"/>
          </a:xfrm>
        </p:spPr>
        <p:txBody>
          <a:bodyPr>
            <a:noAutofit/>
          </a:bodyPr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pic>
        <p:nvPicPr>
          <p:cNvPr id="14" name="Grafik 13" descr="Ein Bild, das Zeichnung, Teller enthält.&#10;&#10;Automatisch generierte Beschreibung">
            <a:extLst>
              <a:ext uri="{FF2B5EF4-FFF2-40B4-BE49-F238E27FC236}">
                <a16:creationId xmlns:a16="http://schemas.microsoft.com/office/drawing/2014/main" id="{5BD1C1F6-95D1-48B1-A2BF-A1F1F67FCC5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8998" y="6405332"/>
            <a:ext cx="1675634" cy="2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843651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_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E08DFF4-9296-4D04-8B9D-380F43D7C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ts val="1100"/>
              </a:lnSpc>
              <a:defRPr sz="900" baseline="0"/>
            </a:lvl1pPr>
          </a:lstStyle>
          <a:p>
            <a:r>
              <a:rPr lang="de-DE"/>
              <a:t>08.07.2026</a:t>
            </a:r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002890F-B212-4785-827F-E4B7AB31D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lnSpc>
                <a:spcPts val="1100"/>
              </a:lnSpc>
              <a:defRPr sz="900" baseline="0"/>
            </a:lvl1pPr>
          </a:lstStyle>
          <a:p>
            <a:r>
              <a:rPr lang="de-DE"/>
              <a:t>Zwischenbericht Digitalisierung Austrittsprozess USB</a:t>
            </a:r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ECEF308-3909-4DB7-8C6A-ABA2124D6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ts val="1100"/>
              </a:lnSpc>
              <a:defRPr sz="900" baseline="0"/>
            </a:lvl1pPr>
          </a:lstStyle>
          <a:p>
            <a:fld id="{E9BB8F18-EA86-4D04-9957-8C9591DCEC94}" type="slidenum">
              <a:rPr lang="de-CH" smtClean="0"/>
              <a:pPr/>
              <a:t>‹#›</a:t>
            </a:fld>
            <a:endParaRPr lang="de-CH"/>
          </a:p>
        </p:txBody>
      </p:sp>
      <p:pic>
        <p:nvPicPr>
          <p:cNvPr id="8" name="Grafik 7" descr="Ein Bild, das Zeichnung, Teller enthält.&#10;&#10;Automatisch generierte Beschreibung">
            <a:extLst>
              <a:ext uri="{FF2B5EF4-FFF2-40B4-BE49-F238E27FC236}">
                <a16:creationId xmlns:a16="http://schemas.microsoft.com/office/drawing/2014/main" id="{373332DF-2370-492B-B14E-BCFA34E6399D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8998" y="6405332"/>
            <a:ext cx="1675634" cy="288000"/>
          </a:xfrm>
          <a:prstGeom prst="rect">
            <a:avLst/>
          </a:prstGeom>
        </p:spPr>
      </p:pic>
      <p:sp>
        <p:nvSpPr>
          <p:cNvPr id="9" name="Titel 1">
            <a:extLst>
              <a:ext uri="{FF2B5EF4-FFF2-40B4-BE49-F238E27FC236}">
                <a16:creationId xmlns:a16="http://schemas.microsoft.com/office/drawing/2014/main" id="{F52E3127-CBA2-4DA0-8E07-3B8CDD2FC4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369" y="188639"/>
            <a:ext cx="11376644" cy="863873"/>
          </a:xfrm>
        </p:spPr>
        <p:txBody>
          <a:bodyPr wrap="square" anchor="t">
            <a:noAutofit/>
          </a:bodyPr>
          <a:lstStyle>
            <a:lvl1pPr>
              <a:lnSpc>
                <a:spcPts val="36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de-DE"/>
              <a:t>Titelmasterformat durch Klicken bearbeiten</a:t>
            </a:r>
            <a:endParaRPr lang="de-CH"/>
          </a:p>
        </p:txBody>
      </p:sp>
      <p:pic>
        <p:nvPicPr>
          <p:cNvPr id="11" name="Grafik 10" descr="Ein Bild, das Zeichnung, Teller enthält.&#10;&#10;Automatisch generierte Beschreibung">
            <a:extLst>
              <a:ext uri="{FF2B5EF4-FFF2-40B4-BE49-F238E27FC236}">
                <a16:creationId xmlns:a16="http://schemas.microsoft.com/office/drawing/2014/main" id="{600FA40B-A450-423A-B962-C26877BE659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8998" y="6405332"/>
            <a:ext cx="1675634" cy="2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458137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_Titel und Actio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E08DFF4-9296-4D04-8B9D-380F43D7C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ts val="1100"/>
              </a:lnSpc>
              <a:defRPr sz="900" baseline="0"/>
            </a:lvl1pPr>
          </a:lstStyle>
          <a:p>
            <a:r>
              <a:rPr lang="de-DE"/>
              <a:t>08.07.2026</a:t>
            </a:r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002890F-B212-4785-827F-E4B7AB31D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lnSpc>
                <a:spcPts val="1100"/>
              </a:lnSpc>
              <a:defRPr sz="900" baseline="0"/>
            </a:lvl1pPr>
          </a:lstStyle>
          <a:p>
            <a:r>
              <a:rPr lang="de-DE"/>
              <a:t>Zwischenbericht Digitalisierung Austrittsprozess USB</a:t>
            </a:r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ECEF308-3909-4DB7-8C6A-ABA2124D6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ts val="1100"/>
              </a:lnSpc>
              <a:defRPr sz="900" baseline="0"/>
            </a:lvl1pPr>
          </a:lstStyle>
          <a:p>
            <a:fld id="{E9BB8F18-EA86-4D04-9957-8C9591DCEC94}" type="slidenum">
              <a:rPr lang="de-CH" smtClean="0"/>
              <a:pPr/>
              <a:t>‹#›</a:t>
            </a:fld>
            <a:endParaRPr lang="de-CH"/>
          </a:p>
        </p:txBody>
      </p:sp>
      <p:pic>
        <p:nvPicPr>
          <p:cNvPr id="8" name="Grafik 7" descr="Ein Bild, das Zeichnung, Teller enthält.&#10;&#10;Automatisch generierte Beschreibung">
            <a:extLst>
              <a:ext uri="{FF2B5EF4-FFF2-40B4-BE49-F238E27FC236}">
                <a16:creationId xmlns:a16="http://schemas.microsoft.com/office/drawing/2014/main" id="{373332DF-2370-492B-B14E-BCFA34E6399D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8998" y="6405332"/>
            <a:ext cx="1675634" cy="288000"/>
          </a:xfrm>
          <a:prstGeom prst="rect">
            <a:avLst/>
          </a:prstGeom>
        </p:spPr>
      </p:pic>
      <p:sp>
        <p:nvSpPr>
          <p:cNvPr id="9" name="Titel 1">
            <a:extLst>
              <a:ext uri="{FF2B5EF4-FFF2-40B4-BE49-F238E27FC236}">
                <a16:creationId xmlns:a16="http://schemas.microsoft.com/office/drawing/2014/main" id="{F52E3127-CBA2-4DA0-8E07-3B8CDD2FC4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369" y="188639"/>
            <a:ext cx="11376644" cy="863873"/>
          </a:xfrm>
        </p:spPr>
        <p:txBody>
          <a:bodyPr wrap="square" anchor="t">
            <a:noAutofit/>
          </a:bodyPr>
          <a:lstStyle>
            <a:lvl1pPr>
              <a:lnSpc>
                <a:spcPts val="36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11" name="Textplatzhalter 7">
            <a:extLst>
              <a:ext uri="{FF2B5EF4-FFF2-40B4-BE49-F238E27FC236}">
                <a16:creationId xmlns:a16="http://schemas.microsoft.com/office/drawing/2014/main" id="{63046CDA-8FEB-4733-9149-F4F932A73F1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07987" y="1268413"/>
            <a:ext cx="11376025" cy="431800"/>
          </a:xfrm>
        </p:spPr>
        <p:txBody>
          <a:bodyPr>
            <a:no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CH"/>
              <a:t>Action Titel</a:t>
            </a:r>
          </a:p>
        </p:txBody>
      </p:sp>
      <p:pic>
        <p:nvPicPr>
          <p:cNvPr id="12" name="Grafik 11" descr="Ein Bild, das Zeichnung, Teller enthält.&#10;&#10;Automatisch generierte Beschreibung">
            <a:extLst>
              <a:ext uri="{FF2B5EF4-FFF2-40B4-BE49-F238E27FC236}">
                <a16:creationId xmlns:a16="http://schemas.microsoft.com/office/drawing/2014/main" id="{A5CBD604-DF86-4243-9EBF-79984357902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8998" y="6405332"/>
            <a:ext cx="1675634" cy="2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877961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E08DFF4-9296-4D04-8B9D-380F43D7C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ts val="1100"/>
              </a:lnSpc>
              <a:defRPr sz="900" baseline="0"/>
            </a:lvl1pPr>
          </a:lstStyle>
          <a:p>
            <a:r>
              <a:rPr lang="de-DE"/>
              <a:t>08.07.2026</a:t>
            </a:r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002890F-B212-4785-827F-E4B7AB31D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lnSpc>
                <a:spcPts val="1100"/>
              </a:lnSpc>
              <a:defRPr sz="900" baseline="0"/>
            </a:lvl1pPr>
          </a:lstStyle>
          <a:p>
            <a:r>
              <a:rPr lang="de-DE"/>
              <a:t>Zwischenbericht Digitalisierung Austrittsprozess USB</a:t>
            </a:r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ECEF308-3909-4DB7-8C6A-ABA2124D6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ts val="1100"/>
              </a:lnSpc>
              <a:defRPr sz="900" baseline="0"/>
            </a:lvl1pPr>
          </a:lstStyle>
          <a:p>
            <a:fld id="{E9BB8F18-EA86-4D04-9957-8C9591DCEC94}" type="slidenum">
              <a:rPr lang="de-CH" smtClean="0"/>
              <a:pPr/>
              <a:t>‹#›</a:t>
            </a:fld>
            <a:endParaRPr lang="de-CH"/>
          </a:p>
        </p:txBody>
      </p:sp>
      <p:pic>
        <p:nvPicPr>
          <p:cNvPr id="8" name="Grafik 7" descr="Ein Bild, das Zeichnung, Teller enthält.&#10;&#10;Automatisch generierte Beschreibung">
            <a:extLst>
              <a:ext uri="{FF2B5EF4-FFF2-40B4-BE49-F238E27FC236}">
                <a16:creationId xmlns:a16="http://schemas.microsoft.com/office/drawing/2014/main" id="{C1E354FD-77C2-4DE7-BC2D-0433BDEF43D1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8998" y="6405332"/>
            <a:ext cx="1675634" cy="288000"/>
          </a:xfrm>
          <a:prstGeom prst="rect">
            <a:avLst/>
          </a:prstGeom>
        </p:spPr>
      </p:pic>
      <p:pic>
        <p:nvPicPr>
          <p:cNvPr id="7" name="Grafik 6" descr="Ein Bild, das Zeichnung, Teller enthält.&#10;&#10;Automatisch generierte Beschreibung">
            <a:extLst>
              <a:ext uri="{FF2B5EF4-FFF2-40B4-BE49-F238E27FC236}">
                <a16:creationId xmlns:a16="http://schemas.microsoft.com/office/drawing/2014/main" id="{230FD6ED-3AB7-494F-9CA8-75C893CDBDE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8998" y="6405332"/>
            <a:ext cx="1675634" cy="2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133047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hluss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9E85D57-593F-4DD1-B9B4-A8A11602EA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701663"/>
            <a:ext cx="11376644" cy="863873"/>
          </a:xfrm>
        </p:spPr>
        <p:txBody>
          <a:bodyPr wrap="square" anchor="t">
            <a:noAutofit/>
          </a:bodyPr>
          <a:lstStyle>
            <a:lvl1pPr>
              <a:lnSpc>
                <a:spcPts val="36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de-DE"/>
              <a:t>Vielen Dank für Ihre Aufmerksamkeit</a:t>
            </a:r>
            <a:endParaRPr lang="de-CH"/>
          </a:p>
        </p:txBody>
      </p:sp>
      <p:sp>
        <p:nvSpPr>
          <p:cNvPr id="9" name="Bildplatzhalter 4">
            <a:extLst>
              <a:ext uri="{FF2B5EF4-FFF2-40B4-BE49-F238E27FC236}">
                <a16:creationId xmlns:a16="http://schemas.microsoft.com/office/drawing/2014/main" id="{BB1C7602-1C25-4A84-9658-C901A8C8C8A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3429000"/>
            <a:ext cx="12186334" cy="3429000"/>
          </a:xfrm>
          <a:solidFill>
            <a:schemeClr val="accent3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de-CH"/>
          </a:p>
        </p:txBody>
      </p:sp>
      <p:sp>
        <p:nvSpPr>
          <p:cNvPr id="10" name="Bildplatzhalter 11">
            <a:extLst>
              <a:ext uri="{FF2B5EF4-FFF2-40B4-BE49-F238E27FC236}">
                <a16:creationId xmlns:a16="http://schemas.microsoft.com/office/drawing/2014/main" id="{03718383-8732-4E63-82B0-2E7FE9D6C6D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8843476" y="4293096"/>
            <a:ext cx="3337200" cy="2571984"/>
          </a:xfr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CH"/>
              <a:t> </a:t>
            </a:r>
          </a:p>
        </p:txBody>
      </p:sp>
      <p:pic>
        <p:nvPicPr>
          <p:cNvPr id="12" name="Grafik 11" descr="Ein Bild, das Zeichnung, Teller enthält.&#10;&#10;Automatisch generierte Beschreibung">
            <a:extLst>
              <a:ext uri="{FF2B5EF4-FFF2-40B4-BE49-F238E27FC236}">
                <a16:creationId xmlns:a16="http://schemas.microsoft.com/office/drawing/2014/main" id="{97001C06-E6B0-4F2F-98C8-7BD10854C43C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8998" y="260648"/>
            <a:ext cx="1675634" cy="288000"/>
          </a:xfrm>
          <a:prstGeom prst="rect">
            <a:avLst/>
          </a:prstGeom>
        </p:spPr>
      </p:pic>
      <p:pic>
        <p:nvPicPr>
          <p:cNvPr id="7" name="Grafik 6" descr="Ein Bild, das Zeichnung, Teller enthält.&#10;&#10;Automatisch generierte Beschreibung">
            <a:extLst>
              <a:ext uri="{FF2B5EF4-FFF2-40B4-BE49-F238E27FC236}">
                <a16:creationId xmlns:a16="http://schemas.microsoft.com/office/drawing/2014/main" id="{04652D73-0DC2-47DC-8FEC-756D902BFE9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8998" y="260648"/>
            <a:ext cx="1675634" cy="2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71436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6AA82482-B1CC-4B5A-87DE-64E3FA8826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8" y="188913"/>
            <a:ext cx="11376025" cy="8636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3A4A949-57EC-41C3-BFF5-B8314FA6C4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7989" y="1268413"/>
            <a:ext cx="11376024" cy="496887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0FE0FEE-DB44-411C-8C4A-C92AAF51D7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060640" y="6459372"/>
            <a:ext cx="2070000" cy="180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de-DE"/>
              <a:t>08.07.2026</a:t>
            </a:r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CE67D46-57A5-43CD-A27B-924E3B26C6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7368" y="6459372"/>
            <a:ext cx="4114800" cy="180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r>
              <a:rPr lang="de-DE"/>
              <a:t>Zwischenbericht Digitalisierung Austrittsprozess USB</a:t>
            </a:r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BA538D8-965A-40B0-BABB-6D5E1D0CF3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625990" y="6459372"/>
            <a:ext cx="1530350" cy="180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E9BB8F18-EA86-4D04-9957-8C9591DCEC94}" type="slidenum">
              <a:rPr lang="de-CH" smtClean="0"/>
              <a:pPr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8337142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  <p:sldLayoutId id="2147483688" r:id="rId14"/>
    <p:sldLayoutId id="2147483689" r:id="rId15"/>
    <p:sldLayoutId id="2147483690" r:id="rId16"/>
    <p:sldLayoutId id="2147483691" r:id="rId17"/>
  </p:sldLayoutIdLst>
  <p:hf sldNum="0" hdr="0"/>
  <p:txStyles>
    <p:titleStyle>
      <a:lvl1pPr algn="l" defTabSz="914400" rtl="0" eaLnBrk="1" latinLnBrk="0" hangingPunct="1">
        <a:lnSpc>
          <a:spcPts val="3600"/>
        </a:lnSpc>
        <a:spcBef>
          <a:spcPct val="0"/>
        </a:spcBef>
        <a:buNone/>
        <a:defRPr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16000" indent="-216000" algn="l" defTabSz="914400" rtl="0" eaLnBrk="1" latinLnBrk="0" hangingPunct="1">
        <a:lnSpc>
          <a:spcPts val="2400"/>
        </a:lnSpc>
        <a:spcBef>
          <a:spcPts val="0"/>
        </a:spcBef>
        <a:spcAft>
          <a:spcPts val="900"/>
        </a:spcAft>
        <a:buClr>
          <a:schemeClr val="tx2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32000" indent="-216000" algn="l" defTabSz="914400" rtl="0" eaLnBrk="1" latinLnBrk="0" hangingPunct="1">
        <a:lnSpc>
          <a:spcPts val="1900"/>
        </a:lnSpc>
        <a:spcBef>
          <a:spcPts val="0"/>
        </a:spcBef>
        <a:spcAft>
          <a:spcPts val="900"/>
        </a:spcAft>
        <a:buClr>
          <a:schemeClr val="tx2"/>
        </a:buClr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48000" indent="-216000" algn="l" defTabSz="914400" rtl="0" eaLnBrk="1" latinLnBrk="0" hangingPunct="1">
        <a:lnSpc>
          <a:spcPts val="1700"/>
        </a:lnSpc>
        <a:spcBef>
          <a:spcPts val="0"/>
        </a:spcBef>
        <a:spcAft>
          <a:spcPts val="900"/>
        </a:spcAft>
        <a:buClr>
          <a:schemeClr val="tx2"/>
        </a:buClr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864000" indent="-216000" algn="l" defTabSz="914400" rtl="0" eaLnBrk="1" latinLnBrk="0" hangingPunct="1">
        <a:lnSpc>
          <a:spcPts val="1700"/>
        </a:lnSpc>
        <a:spcBef>
          <a:spcPts val="0"/>
        </a:spcBef>
        <a:spcAft>
          <a:spcPts val="900"/>
        </a:spcAft>
        <a:buClr>
          <a:schemeClr val="tx2"/>
        </a:buClr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080000" indent="-216000" algn="l" defTabSz="914400" rtl="0" eaLnBrk="1" latinLnBrk="0" hangingPunct="1">
        <a:lnSpc>
          <a:spcPts val="1700"/>
        </a:lnSpc>
        <a:spcBef>
          <a:spcPts val="0"/>
        </a:spcBef>
        <a:spcAft>
          <a:spcPts val="900"/>
        </a:spcAft>
        <a:buClr>
          <a:schemeClr val="tx2"/>
        </a:buClr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6" orient="horz" pos="2160" userDrawn="1">
          <p15:clr>
            <a:srgbClr val="F26B43"/>
          </p15:clr>
        </p15:guide>
        <p15:guide id="37" pos="3840" userDrawn="1">
          <p15:clr>
            <a:srgbClr val="F26B43"/>
          </p15:clr>
        </p15:guide>
        <p15:guide id="38" pos="5745" userDrawn="1">
          <p15:clr>
            <a:srgbClr val="F26B43"/>
          </p15:clr>
        </p15:guide>
        <p15:guide id="39" orient="horz" pos="1071" userDrawn="1">
          <p15:clr>
            <a:srgbClr val="F26B43"/>
          </p15:clr>
        </p15:guide>
        <p15:guide id="40" orient="horz" pos="3249" userDrawn="1">
          <p15:clr>
            <a:srgbClr val="F26B43"/>
          </p15:clr>
        </p15:guide>
        <p15:guide id="41" pos="1935" userDrawn="1">
          <p15:clr>
            <a:srgbClr val="F26B43"/>
          </p15:clr>
        </p15:guide>
        <p15:guide id="42" orient="horz" pos="2704" userDrawn="1">
          <p15:clr>
            <a:srgbClr val="F26B43"/>
          </p15:clr>
        </p15:guide>
        <p15:guide id="43" orient="horz" pos="3793" userDrawn="1">
          <p15:clr>
            <a:srgbClr val="F26B43"/>
          </p15:clr>
        </p15:guide>
        <p15:guide id="44" orient="horz" pos="1616" userDrawn="1">
          <p15:clr>
            <a:srgbClr val="F26B43"/>
          </p15:clr>
        </p15:guide>
        <p15:guide id="45" orient="horz" pos="391" userDrawn="1">
          <p15:clr>
            <a:srgbClr val="F26B43"/>
          </p15:clr>
        </p15:guide>
        <p15:guide id="46" pos="4793" userDrawn="1">
          <p15:clr>
            <a:srgbClr val="F26B43"/>
          </p15:clr>
        </p15:guide>
        <p15:guide id="47" pos="2887" userDrawn="1">
          <p15:clr>
            <a:srgbClr val="F26B43"/>
          </p15:clr>
        </p15:guide>
        <p15:guide id="48" pos="6698" userDrawn="1">
          <p15:clr>
            <a:srgbClr val="F26B43"/>
          </p15:clr>
        </p15:guide>
        <p15:guide id="49" pos="982" userDrawn="1">
          <p15:clr>
            <a:srgbClr val="F26B43"/>
          </p15:clr>
        </p15:guide>
        <p15:guide id="50" pos="7174" userDrawn="1">
          <p15:clr>
            <a:srgbClr val="F26B43"/>
          </p15:clr>
        </p15:guide>
        <p15:guide id="51" pos="506" userDrawn="1">
          <p15:clr>
            <a:srgbClr val="F26B43"/>
          </p15:clr>
        </p15:guide>
        <p15:guide id="52" orient="horz" pos="119" userDrawn="1">
          <p15:clr>
            <a:srgbClr val="F26B43"/>
          </p15:clr>
        </p15:guide>
        <p15:guide id="53" orient="horz" pos="4065" userDrawn="1">
          <p15:clr>
            <a:srgbClr val="F26B43"/>
          </p15:clr>
        </p15:guide>
        <p15:guide id="54" orient="horz" pos="1888" userDrawn="1">
          <p15:clr>
            <a:srgbClr val="F26B43"/>
          </p15:clr>
        </p15:guide>
        <p15:guide id="55" orient="horz" pos="1344" userDrawn="1">
          <p15:clr>
            <a:srgbClr val="F26B43"/>
          </p15:clr>
        </p15:guide>
        <p15:guide id="56" orient="horz" pos="799" userDrawn="1">
          <p15:clr>
            <a:srgbClr val="F26B43"/>
          </p15:clr>
        </p15:guide>
        <p15:guide id="57" pos="3364" userDrawn="1">
          <p15:clr>
            <a:srgbClr val="F26B43"/>
          </p15:clr>
        </p15:guide>
        <p15:guide id="58" pos="2411" userDrawn="1">
          <p15:clr>
            <a:srgbClr val="F26B43"/>
          </p15:clr>
        </p15:guide>
        <p15:guide id="59" pos="1459" userDrawn="1">
          <p15:clr>
            <a:srgbClr val="F26B43"/>
          </p15:clr>
        </p15:guide>
        <p15:guide id="60" pos="257" userDrawn="1">
          <p15:clr>
            <a:srgbClr val="F26B43"/>
          </p15:clr>
        </p15:guide>
        <p15:guide id="61" pos="4316" userDrawn="1">
          <p15:clr>
            <a:srgbClr val="F26B43"/>
          </p15:clr>
        </p15:guide>
        <p15:guide id="62" pos="5269" userDrawn="1">
          <p15:clr>
            <a:srgbClr val="F26B43"/>
          </p15:clr>
        </p15:guide>
        <p15:guide id="63" pos="6221" userDrawn="1">
          <p15:clr>
            <a:srgbClr val="F26B43"/>
          </p15:clr>
        </p15:guide>
        <p15:guide id="64" pos="7423" userDrawn="1">
          <p15:clr>
            <a:srgbClr val="F26B43"/>
          </p15:clr>
        </p15:guide>
        <p15:guide id="65" orient="horz" pos="2432" userDrawn="1">
          <p15:clr>
            <a:srgbClr val="F26B43"/>
          </p15:clr>
        </p15:guide>
        <p15:guide id="66" orient="horz" pos="2976" userDrawn="1">
          <p15:clr>
            <a:srgbClr val="F26B43"/>
          </p15:clr>
        </p15:guide>
        <p15:guide id="67" orient="horz" pos="3521" userDrawn="1">
          <p15:clr>
            <a:srgbClr val="F26B43"/>
          </p15:clr>
        </p15:guide>
        <p15:guide id="68" orient="horz" pos="3929" userDrawn="1">
          <p15:clr>
            <a:srgbClr val="F26B43"/>
          </p15:clr>
        </p15:guide>
        <p15:guide id="69" orient="horz" pos="663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">
            <a:extLst>
              <a:ext uri="{FF2B5EF4-FFF2-40B4-BE49-F238E27FC236}">
                <a16:creationId xmlns:a16="http://schemas.microsoft.com/office/drawing/2014/main" id="{DAABE14F-4D97-D459-5771-B645E89B4D6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5EEB19DD-75E8-1E52-CB01-AC75465F30C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CH"/>
              <a:t>Digitalisierung Austrittsprozess</a:t>
            </a:r>
          </a:p>
        </p:txBody>
      </p:sp>
      <p:sp>
        <p:nvSpPr>
          <p:cNvPr id="5" name="Untertitel 4">
            <a:extLst>
              <a:ext uri="{FF2B5EF4-FFF2-40B4-BE49-F238E27FC236}">
                <a16:creationId xmlns:a16="http://schemas.microsoft.com/office/drawing/2014/main" id="{333B7826-3254-44F0-48AC-39E7D68C424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CH"/>
              <a:t>Zwischenbericht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66087D31-5CFF-3BCD-3BE5-61A50C9A176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CH"/>
              <a:t>Kathrin Kühnle</a:t>
            </a:r>
          </a:p>
          <a:p>
            <a:r>
              <a:rPr lang="de-CH"/>
              <a:t>Sarah Haefliger</a:t>
            </a:r>
          </a:p>
          <a:p>
            <a:r>
              <a:rPr lang="de-CH"/>
              <a:t>Kapischan Sriganthan</a:t>
            </a:r>
          </a:p>
        </p:txBody>
      </p:sp>
      <p:sp>
        <p:nvSpPr>
          <p:cNvPr id="7" name="Bildplatzhalter 6">
            <a:extLst>
              <a:ext uri="{FF2B5EF4-FFF2-40B4-BE49-F238E27FC236}">
                <a16:creationId xmlns:a16="http://schemas.microsoft.com/office/drawing/2014/main" id="{F1A927A1-B9D0-A575-26D0-4393C52DDEA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  <p:txBody>
          <a:bodyPr/>
          <a:lstStyle/>
          <a:p>
            <a:endParaRPr lang="de-CH"/>
          </a:p>
        </p:txBody>
      </p:sp>
      <p:pic>
        <p:nvPicPr>
          <p:cNvPr id="13" name="Bildplatzhalter 12" descr="Ein Bild, das Rechteck, Holzblock enthält.&#10;&#10;KI-generierte Inhalte können fehlerhaft sein.">
            <a:extLst>
              <a:ext uri="{FF2B5EF4-FFF2-40B4-BE49-F238E27FC236}">
                <a16:creationId xmlns:a16="http://schemas.microsoft.com/office/drawing/2014/main" id="{592324CF-E527-D6DA-4AF8-8F82750032D1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309" r="20309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6622557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1AE14C10-4037-3962-1118-CE98A4909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/>
              <a:t>Teilnehmende</a:t>
            </a:r>
          </a:p>
        </p:txBody>
      </p:sp>
      <p:sp>
        <p:nvSpPr>
          <p:cNvPr id="9" name="Tabellenplatzhalter 8">
            <a:extLst>
              <a:ext uri="{FF2B5EF4-FFF2-40B4-BE49-F238E27FC236}">
                <a16:creationId xmlns:a16="http://schemas.microsoft.com/office/drawing/2014/main" id="{B1860EE6-36CA-B4CE-E3A0-1F66F0BA4889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5000000000000000000" pitchFamily="2" charset="2"/>
              <a:buChar char="•"/>
            </a:pPr>
            <a:r>
              <a:rPr lang="de-CH"/>
              <a:t>Raphaela Meier</a:t>
            </a:r>
          </a:p>
          <a:p>
            <a:pPr marL="342900" indent="-342900">
              <a:buFont typeface="Arial" panose="05000000000000000000" pitchFamily="2" charset="2"/>
              <a:buChar char="•"/>
            </a:pPr>
            <a:endParaRPr lang="de-CH"/>
          </a:p>
          <a:p>
            <a:pPr marL="342900" indent="-342900">
              <a:buFont typeface="Arial" panose="05000000000000000000" pitchFamily="2" charset="2"/>
              <a:buChar char="•"/>
            </a:pPr>
            <a:r>
              <a:rPr lang="de-CH"/>
              <a:t>Kathrin Kühnle</a:t>
            </a:r>
            <a:endParaRPr lang="de-CH">
              <a:cs typeface="Arial" panose="020B0604020202020204"/>
            </a:endParaRPr>
          </a:p>
          <a:p>
            <a:pPr marL="342900" indent="-342900">
              <a:buFont typeface="Arial" panose="05000000000000000000" pitchFamily="2" charset="2"/>
              <a:buChar char="•"/>
            </a:pPr>
            <a:r>
              <a:rPr lang="de-CH">
                <a:cs typeface="Arial" panose="020B0604020202020204"/>
              </a:rPr>
              <a:t>Sarah Haefliger</a:t>
            </a:r>
          </a:p>
          <a:p>
            <a:pPr marL="342900" indent="-342900">
              <a:buFont typeface="Arial" panose="05000000000000000000" pitchFamily="2" charset="2"/>
              <a:buChar char="•"/>
            </a:pPr>
            <a:r>
              <a:rPr lang="de-CH">
                <a:cs typeface="Arial" panose="020B0604020202020204"/>
              </a:rPr>
              <a:t>Kapischan Sriganthan</a:t>
            </a:r>
            <a:endParaRPr lang="de-CH"/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0B4C750C-8D01-0A72-1988-305E057251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08.07.2026</a:t>
            </a:r>
            <a:endParaRPr lang="de-CH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FA5DADC3-B188-F713-2206-8904C5104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Zwischenbericht Digitalisierung Austrittsprozess USB</a:t>
            </a:r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2367634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A4DE8E5F-A36D-3FEB-8E8C-517D39E95E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08.07.2026</a:t>
            </a:r>
            <a:endParaRPr lang="de-CH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7A96009C-FF97-B848-3955-B9945DD61C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Zwischenbericht Digitalisierung Austrittsprozess USB</a:t>
            </a:r>
            <a:endParaRPr lang="de-CH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F92282B3-D60F-849D-A3D4-303D39DD6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Was wurde bisher gemacht und wo stehen wir jetzt?</a:t>
            </a:r>
          </a:p>
        </p:txBody>
      </p:sp>
      <p:sp>
        <p:nvSpPr>
          <p:cNvPr id="70" name="track">
            <a:extLst>
              <a:ext uri="{FF2B5EF4-FFF2-40B4-BE49-F238E27FC236}">
                <a16:creationId xmlns:a16="http://schemas.microsoft.com/office/drawing/2014/main" id="{C4E02CEC-A266-9FD3-C0AA-2867A1520B5E}"/>
              </a:ext>
            </a:extLst>
          </p:cNvPr>
          <p:cNvSpPr/>
          <p:nvPr/>
        </p:nvSpPr>
        <p:spPr>
          <a:xfrm>
            <a:off x="1293813" y="2057401"/>
            <a:ext cx="9525000" cy="50800"/>
          </a:xfrm>
          <a:prstGeom prst="rect">
            <a:avLst/>
          </a:prstGeom>
          <a:solidFill>
            <a:srgbClr val="C9D6E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1" name="c0">
            <a:extLst>
              <a:ext uri="{FF2B5EF4-FFF2-40B4-BE49-F238E27FC236}">
                <a16:creationId xmlns:a16="http://schemas.microsoft.com/office/drawing/2014/main" id="{AC196C1A-9416-0C6B-C849-30E20E9970C8}"/>
              </a:ext>
            </a:extLst>
          </p:cNvPr>
          <p:cNvSpPr/>
          <p:nvPr/>
        </p:nvSpPr>
        <p:spPr>
          <a:xfrm>
            <a:off x="404813" y="2311400"/>
            <a:ext cx="1778000" cy="2235200"/>
          </a:xfrm>
          <a:prstGeom prst="roundRect">
            <a:avLst>
              <a:gd name="adj" fmla="val 529"/>
            </a:avLst>
          </a:prstGeom>
          <a:solidFill>
            <a:schemeClr val="bg2">
              <a:lumMod val="60000"/>
              <a:lumOff val="40000"/>
            </a:schemeClr>
          </a:solidFill>
          <a:ln w="12700">
            <a:noFill/>
          </a:ln>
        </p:spPr>
        <p:txBody>
          <a:bodyPr lIns="101600" tIns="127000" rIns="101600" bIns="101600" anchor="t">
            <a:normAutofit/>
          </a:bodyPr>
          <a:lstStyle/>
          <a:p>
            <a:pPr algn="ctr"/>
            <a:r>
              <a:rPr lang="de-CH" sz="1300" b="1">
                <a:latin typeface="+mj-lt"/>
              </a:rPr>
              <a:t>Zielbild &amp; Rahmen geklärt</a:t>
            </a:r>
          </a:p>
          <a:p>
            <a:pPr marL="171450" indent="-171450" algn="ctr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de-CH" sz="1100"/>
              <a:t>Projektziele</a:t>
            </a:r>
          </a:p>
          <a:p>
            <a:pPr marL="171450" indent="-171450" algn="ctr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de-CH" sz="1100"/>
              <a:t>Variantenvielfalt</a:t>
            </a:r>
          </a:p>
          <a:p>
            <a:pPr marL="171450" indent="-171450" algn="ctr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de-CH" sz="1100"/>
              <a:t>HR-Einheiten</a:t>
            </a:r>
          </a:p>
          <a:p>
            <a:pPr marL="171450" indent="-171450" algn="ctr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de-CH" sz="1100"/>
              <a:t>Abgrenzung</a:t>
            </a:r>
          </a:p>
        </p:txBody>
      </p:sp>
      <p:sp>
        <p:nvSpPr>
          <p:cNvPr id="72" name="c1">
            <a:extLst>
              <a:ext uri="{FF2B5EF4-FFF2-40B4-BE49-F238E27FC236}">
                <a16:creationId xmlns:a16="http://schemas.microsoft.com/office/drawing/2014/main" id="{A0D03085-C6F5-42A8-056A-A9E0DDB14038}"/>
              </a:ext>
            </a:extLst>
          </p:cNvPr>
          <p:cNvSpPr/>
          <p:nvPr/>
        </p:nvSpPr>
        <p:spPr>
          <a:xfrm>
            <a:off x="2309813" y="2311400"/>
            <a:ext cx="1778000" cy="2235200"/>
          </a:xfrm>
          <a:prstGeom prst="roundRect">
            <a:avLst>
              <a:gd name="adj" fmla="val 0"/>
            </a:avLst>
          </a:prstGeom>
          <a:solidFill>
            <a:schemeClr val="bg2">
              <a:lumMod val="60000"/>
              <a:lumOff val="40000"/>
            </a:schemeClr>
          </a:solidFill>
          <a:ln w="12700">
            <a:noFill/>
          </a:ln>
        </p:spPr>
        <p:txBody>
          <a:bodyPr lIns="101600" tIns="127000" rIns="101600" bIns="101600" anchor="t">
            <a:normAutofit/>
          </a:bodyPr>
          <a:lstStyle/>
          <a:p>
            <a:pPr algn="ctr"/>
            <a:r>
              <a:rPr lang="de-CH" sz="1300" b="1"/>
              <a:t>IST-Prozess erhoben &amp; modelliert</a:t>
            </a:r>
          </a:p>
          <a:p>
            <a:pPr marL="171450" indent="-171450" algn="ctr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de-CH" sz="1100"/>
              <a:t>Interviews durchgeführt</a:t>
            </a:r>
          </a:p>
          <a:p>
            <a:pPr marL="171450" indent="-171450" algn="ctr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de-CH" sz="1100"/>
              <a:t>6 Prozessmodelle modelliert</a:t>
            </a:r>
          </a:p>
        </p:txBody>
      </p:sp>
      <p:sp>
        <p:nvSpPr>
          <p:cNvPr id="73" name="c2">
            <a:extLst>
              <a:ext uri="{FF2B5EF4-FFF2-40B4-BE49-F238E27FC236}">
                <a16:creationId xmlns:a16="http://schemas.microsoft.com/office/drawing/2014/main" id="{608BB068-CCF1-49E3-B9A3-E5EAA713A5BF}"/>
              </a:ext>
            </a:extLst>
          </p:cNvPr>
          <p:cNvSpPr/>
          <p:nvPr/>
        </p:nvSpPr>
        <p:spPr>
          <a:xfrm>
            <a:off x="4214813" y="2311400"/>
            <a:ext cx="1778000" cy="2235200"/>
          </a:xfrm>
          <a:prstGeom prst="roundRect">
            <a:avLst>
              <a:gd name="adj" fmla="val 0"/>
            </a:avLst>
          </a:prstGeom>
          <a:solidFill>
            <a:schemeClr val="bg2">
              <a:lumMod val="60000"/>
              <a:lumOff val="40000"/>
            </a:schemeClr>
          </a:solidFill>
          <a:ln w="12700">
            <a:noFill/>
          </a:ln>
        </p:spPr>
        <p:txBody>
          <a:bodyPr lIns="101600" tIns="127000" rIns="101600" bIns="101600" anchor="t">
            <a:normAutofit/>
          </a:bodyPr>
          <a:lstStyle/>
          <a:p>
            <a:pPr algn="ctr"/>
            <a:r>
              <a:rPr lang="de-CH" sz="1300" b="1"/>
              <a:t>Pain Points validiert &amp; Handlungsfelder definiert</a:t>
            </a:r>
          </a:p>
          <a:p>
            <a:pPr marL="171450" indent="-171450" algn="ctr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de-CH" sz="1100"/>
              <a:t>IST-Prozess freigegeben</a:t>
            </a:r>
          </a:p>
          <a:p>
            <a:pPr marL="171450" indent="-171450" algn="ctr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de-CH" sz="1100"/>
              <a:t>Pain Points erhoben</a:t>
            </a:r>
          </a:p>
          <a:p>
            <a:pPr marL="171450" indent="-171450" algn="ctr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de-CH" sz="1100"/>
              <a:t>Handlungsfelder definiert</a:t>
            </a:r>
          </a:p>
        </p:txBody>
      </p:sp>
      <p:sp>
        <p:nvSpPr>
          <p:cNvPr id="74" name="c3">
            <a:extLst>
              <a:ext uri="{FF2B5EF4-FFF2-40B4-BE49-F238E27FC236}">
                <a16:creationId xmlns:a16="http://schemas.microsoft.com/office/drawing/2014/main" id="{2A93E8A5-CBC9-1454-9ABD-E249B44F77B4}"/>
              </a:ext>
            </a:extLst>
          </p:cNvPr>
          <p:cNvSpPr/>
          <p:nvPr/>
        </p:nvSpPr>
        <p:spPr>
          <a:xfrm>
            <a:off x="6119813" y="2311400"/>
            <a:ext cx="1778000" cy="2235200"/>
          </a:xfrm>
          <a:prstGeom prst="roundRect">
            <a:avLst>
              <a:gd name="adj" fmla="val 0"/>
            </a:avLst>
          </a:prstGeom>
          <a:solidFill>
            <a:schemeClr val="bg2">
              <a:lumMod val="60000"/>
              <a:lumOff val="40000"/>
            </a:schemeClr>
          </a:solidFill>
          <a:ln w="12700">
            <a:noFill/>
          </a:ln>
        </p:spPr>
        <p:txBody>
          <a:bodyPr lIns="101600" tIns="127000" rIns="101600" bIns="101600" anchor="t">
            <a:normAutofit/>
          </a:bodyPr>
          <a:lstStyle/>
          <a:p>
            <a:pPr algn="ctr"/>
            <a:r>
              <a:rPr lang="de-CH" sz="1300" b="1"/>
              <a:t>SOLL-Richtung konkretisiert</a:t>
            </a:r>
          </a:p>
          <a:p>
            <a:pPr marL="171450" indent="-171450" algn="ctr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de-CH" sz="1100"/>
              <a:t>Zentrale Prozessentscheide</a:t>
            </a:r>
          </a:p>
          <a:p>
            <a:pPr marL="171450" indent="-171450" algn="ctr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de-CH" sz="1100"/>
              <a:t>Rollenlogik</a:t>
            </a:r>
          </a:p>
          <a:p>
            <a:pPr marL="171450" indent="-171450" algn="ctr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de-CH" sz="1100"/>
              <a:t>Übergabe von Informationen</a:t>
            </a:r>
          </a:p>
          <a:p>
            <a:pPr marL="171450" indent="-171450" algn="ctr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de-CH" sz="1100"/>
              <a:t>Optimierungsansätze</a:t>
            </a:r>
          </a:p>
        </p:txBody>
      </p:sp>
      <p:sp>
        <p:nvSpPr>
          <p:cNvPr id="76" name="c4">
            <a:extLst>
              <a:ext uri="{FF2B5EF4-FFF2-40B4-BE49-F238E27FC236}">
                <a16:creationId xmlns:a16="http://schemas.microsoft.com/office/drawing/2014/main" id="{99ADE7A6-FD6E-7A87-FD81-5DBA976184C2}"/>
              </a:ext>
            </a:extLst>
          </p:cNvPr>
          <p:cNvSpPr/>
          <p:nvPr/>
        </p:nvSpPr>
        <p:spPr>
          <a:xfrm>
            <a:off x="8024813" y="2311400"/>
            <a:ext cx="1778000" cy="2235200"/>
          </a:xfrm>
          <a:prstGeom prst="roundRect">
            <a:avLst>
              <a:gd name="adj" fmla="val 0"/>
            </a:avLst>
          </a:prstGeom>
          <a:solidFill>
            <a:schemeClr val="bg2">
              <a:lumMod val="60000"/>
              <a:lumOff val="40000"/>
            </a:schemeClr>
          </a:solidFill>
          <a:ln w="12700">
            <a:noFill/>
          </a:ln>
        </p:spPr>
        <p:txBody>
          <a:bodyPr lIns="101600" tIns="127000" rIns="101600" bIns="101600" anchor="t">
            <a:normAutofit/>
          </a:bodyPr>
          <a:lstStyle/>
          <a:p>
            <a:pPr algn="ctr"/>
            <a:r>
              <a:rPr lang="de-CH" sz="1300" b="1"/>
              <a:t>Jira-Feldliste vorbereitet</a:t>
            </a:r>
          </a:p>
          <a:p>
            <a:pPr marL="171450" indent="-171450" algn="ctr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de-CH" sz="1100"/>
              <a:t>Benötigte Informationen pro HR-Einheit</a:t>
            </a:r>
          </a:p>
          <a:p>
            <a:pPr marL="171450" indent="-171450" algn="ctr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de-CH" sz="1100"/>
              <a:t>Grundlage für Jira-Feldliste und mögliche Systemintegrationen geschaffen</a:t>
            </a:r>
          </a:p>
        </p:txBody>
      </p:sp>
      <p:sp>
        <p:nvSpPr>
          <p:cNvPr id="77" name="b5">
            <a:extLst>
              <a:ext uri="{FF2B5EF4-FFF2-40B4-BE49-F238E27FC236}">
                <a16:creationId xmlns:a16="http://schemas.microsoft.com/office/drawing/2014/main" id="{115DDEF2-C444-42E6-3CF3-182FB803585E}"/>
              </a:ext>
            </a:extLst>
          </p:cNvPr>
          <p:cNvSpPr/>
          <p:nvPr/>
        </p:nvSpPr>
        <p:spPr>
          <a:xfrm>
            <a:off x="10666413" y="1930401"/>
            <a:ext cx="304800" cy="304800"/>
          </a:xfrm>
          <a:prstGeom prst="ellipse">
            <a:avLst/>
          </a:prstGeom>
          <a:solidFill>
            <a:srgbClr val="1B3A5C"/>
          </a:solidFill>
          <a:ln w="19050">
            <a:solidFill>
              <a:srgbClr val="7FA8C9"/>
            </a:solidFill>
          </a:ln>
        </p:spPr>
        <p:txBody>
          <a:bodyPr lIns="0" tIns="0" rIns="0" bIns="0" anchor="ctr"/>
          <a:lstStyle/>
          <a:p>
            <a:pPr algn="ctr"/>
            <a:endParaRPr lang="de-CH" sz="1300" b="1">
              <a:solidFill>
                <a:srgbClr val="FFFFFF"/>
              </a:solidFill>
            </a:endParaRPr>
          </a:p>
        </p:txBody>
      </p:sp>
      <p:sp>
        <p:nvSpPr>
          <p:cNvPr id="78" name="c5">
            <a:extLst>
              <a:ext uri="{FF2B5EF4-FFF2-40B4-BE49-F238E27FC236}">
                <a16:creationId xmlns:a16="http://schemas.microsoft.com/office/drawing/2014/main" id="{4026E0A9-5E28-0605-FC83-1DF9B897782E}"/>
              </a:ext>
            </a:extLst>
          </p:cNvPr>
          <p:cNvSpPr/>
          <p:nvPr/>
        </p:nvSpPr>
        <p:spPr>
          <a:xfrm>
            <a:off x="10006013" y="2311400"/>
            <a:ext cx="1778000" cy="2235200"/>
          </a:xfrm>
          <a:prstGeom prst="roundRect">
            <a:avLst>
              <a:gd name="adj" fmla="val 0"/>
            </a:avLst>
          </a:prstGeom>
          <a:solidFill>
            <a:srgbClr val="FBECDE"/>
          </a:solidFill>
          <a:ln w="25400">
            <a:noFill/>
          </a:ln>
        </p:spPr>
        <p:txBody>
          <a:bodyPr lIns="101600" tIns="127000" rIns="101600" bIns="101600" anchor="t">
            <a:normAutofit/>
          </a:bodyPr>
          <a:lstStyle/>
          <a:p>
            <a:pPr algn="ctr"/>
            <a:r>
              <a:rPr lang="de-CH" sz="1300" b="1"/>
              <a:t>Aktueller Fokus</a:t>
            </a:r>
          </a:p>
          <a:p>
            <a:pPr marL="171450" indent="-171450" algn="ctr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de-CH" sz="1100"/>
              <a:t>Anforderungskatalog ausarbeiten</a:t>
            </a:r>
          </a:p>
          <a:p>
            <a:pPr marL="171450" indent="-171450" algn="ctr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de-CH" sz="1100"/>
              <a:t>SOLL-Konzept finalisieren und fachlich abnehmen</a:t>
            </a:r>
          </a:p>
        </p:txBody>
      </p:sp>
      <p:sp>
        <p:nvSpPr>
          <p:cNvPr id="80" name="b0">
            <a:extLst>
              <a:ext uri="{FF2B5EF4-FFF2-40B4-BE49-F238E27FC236}">
                <a16:creationId xmlns:a16="http://schemas.microsoft.com/office/drawing/2014/main" id="{7034000A-F547-5637-41CA-EDDAA6D79840}"/>
              </a:ext>
            </a:extLst>
          </p:cNvPr>
          <p:cNvSpPr/>
          <p:nvPr/>
        </p:nvSpPr>
        <p:spPr>
          <a:xfrm>
            <a:off x="978127" y="1930401"/>
            <a:ext cx="304800" cy="304800"/>
          </a:xfrm>
          <a:prstGeom prst="ellipse">
            <a:avLst/>
          </a:prstGeom>
          <a:solidFill>
            <a:srgbClr val="1B3A5C"/>
          </a:solidFill>
          <a:ln w="19050">
            <a:solidFill>
              <a:srgbClr val="1B3A5C"/>
            </a:solidFill>
          </a:ln>
        </p:spPr>
        <p:txBody>
          <a:bodyPr lIns="0" tIns="0" rIns="0" bIns="0" anchor="ctr"/>
          <a:lstStyle/>
          <a:p>
            <a:pPr algn="ctr"/>
            <a:endParaRPr lang="de-CH" sz="1300" b="1">
              <a:solidFill>
                <a:srgbClr val="FFFFFF"/>
              </a:solidFill>
            </a:endParaRPr>
          </a:p>
        </p:txBody>
      </p:sp>
      <p:pic>
        <p:nvPicPr>
          <p:cNvPr id="81" name="Grafik 80" descr="Häkchen mit einfarbiger Füllung">
            <a:extLst>
              <a:ext uri="{FF2B5EF4-FFF2-40B4-BE49-F238E27FC236}">
                <a16:creationId xmlns:a16="http://schemas.microsoft.com/office/drawing/2014/main" id="{3B43BE7D-ADE8-8A57-57B5-719906C8DD0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9380" y="1974851"/>
            <a:ext cx="215900" cy="215900"/>
          </a:xfrm>
          <a:prstGeom prst="rect">
            <a:avLst/>
          </a:prstGeom>
        </p:spPr>
      </p:pic>
      <p:sp>
        <p:nvSpPr>
          <p:cNvPr id="82" name="b0">
            <a:extLst>
              <a:ext uri="{FF2B5EF4-FFF2-40B4-BE49-F238E27FC236}">
                <a16:creationId xmlns:a16="http://schemas.microsoft.com/office/drawing/2014/main" id="{D01E52B1-483C-C03F-A0FA-5D26C273687D}"/>
              </a:ext>
            </a:extLst>
          </p:cNvPr>
          <p:cNvSpPr/>
          <p:nvPr/>
        </p:nvSpPr>
        <p:spPr>
          <a:xfrm>
            <a:off x="2964770" y="1945988"/>
            <a:ext cx="304800" cy="304800"/>
          </a:xfrm>
          <a:prstGeom prst="ellipse">
            <a:avLst/>
          </a:prstGeom>
          <a:solidFill>
            <a:srgbClr val="1B3A5C"/>
          </a:solidFill>
          <a:ln w="19050">
            <a:solidFill>
              <a:srgbClr val="1B3A5C"/>
            </a:solidFill>
          </a:ln>
        </p:spPr>
        <p:txBody>
          <a:bodyPr lIns="0" tIns="0" rIns="0" bIns="0" anchor="ctr"/>
          <a:lstStyle/>
          <a:p>
            <a:pPr algn="ctr"/>
            <a:endParaRPr lang="de-CH" sz="1300" b="1">
              <a:solidFill>
                <a:srgbClr val="FFFFFF"/>
              </a:solidFill>
            </a:endParaRPr>
          </a:p>
        </p:txBody>
      </p:sp>
      <p:pic>
        <p:nvPicPr>
          <p:cNvPr id="83" name="Grafik 82" descr="Häkchen mit einfarbiger Füllung">
            <a:extLst>
              <a:ext uri="{FF2B5EF4-FFF2-40B4-BE49-F238E27FC236}">
                <a16:creationId xmlns:a16="http://schemas.microsoft.com/office/drawing/2014/main" id="{A5DB347D-2566-2363-D51E-E4C8D2E7CE1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16023" y="1990438"/>
            <a:ext cx="215900" cy="215900"/>
          </a:xfrm>
          <a:prstGeom prst="rect">
            <a:avLst/>
          </a:prstGeom>
        </p:spPr>
      </p:pic>
      <p:sp>
        <p:nvSpPr>
          <p:cNvPr id="84" name="b0">
            <a:extLst>
              <a:ext uri="{FF2B5EF4-FFF2-40B4-BE49-F238E27FC236}">
                <a16:creationId xmlns:a16="http://schemas.microsoft.com/office/drawing/2014/main" id="{C7552316-2729-BB45-9372-9C50220526AA}"/>
              </a:ext>
            </a:extLst>
          </p:cNvPr>
          <p:cNvSpPr/>
          <p:nvPr/>
        </p:nvSpPr>
        <p:spPr>
          <a:xfrm>
            <a:off x="4910591" y="1945988"/>
            <a:ext cx="304800" cy="304800"/>
          </a:xfrm>
          <a:prstGeom prst="ellipse">
            <a:avLst/>
          </a:prstGeom>
          <a:solidFill>
            <a:srgbClr val="1B3A5C"/>
          </a:solidFill>
          <a:ln w="19050">
            <a:solidFill>
              <a:srgbClr val="1B3A5C"/>
            </a:solidFill>
          </a:ln>
        </p:spPr>
        <p:txBody>
          <a:bodyPr lIns="0" tIns="0" rIns="0" bIns="0" anchor="ctr"/>
          <a:lstStyle/>
          <a:p>
            <a:pPr algn="ctr"/>
            <a:endParaRPr lang="de-CH" sz="1300" b="1">
              <a:solidFill>
                <a:srgbClr val="FFFFFF"/>
              </a:solidFill>
            </a:endParaRPr>
          </a:p>
        </p:txBody>
      </p:sp>
      <p:pic>
        <p:nvPicPr>
          <p:cNvPr id="85" name="Grafik 84" descr="Häkchen mit einfarbiger Füllung">
            <a:extLst>
              <a:ext uri="{FF2B5EF4-FFF2-40B4-BE49-F238E27FC236}">
                <a16:creationId xmlns:a16="http://schemas.microsoft.com/office/drawing/2014/main" id="{D89F8108-55FB-10B9-38E0-09AFB34546D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845" y="1990438"/>
            <a:ext cx="215900" cy="215900"/>
          </a:xfrm>
          <a:prstGeom prst="rect">
            <a:avLst/>
          </a:prstGeom>
        </p:spPr>
      </p:pic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3191DDAD-55D0-DFC4-EEBB-D4CA04E830AF}"/>
              </a:ext>
            </a:extLst>
          </p:cNvPr>
          <p:cNvGrpSpPr/>
          <p:nvPr/>
        </p:nvGrpSpPr>
        <p:grpSpPr>
          <a:xfrm>
            <a:off x="6856413" y="1924630"/>
            <a:ext cx="304800" cy="304800"/>
            <a:chOff x="6896100" y="2559630"/>
            <a:chExt cx="304800" cy="304800"/>
          </a:xfrm>
        </p:grpSpPr>
        <p:sp>
          <p:nvSpPr>
            <p:cNvPr id="86" name="b0">
              <a:extLst>
                <a:ext uri="{FF2B5EF4-FFF2-40B4-BE49-F238E27FC236}">
                  <a16:creationId xmlns:a16="http://schemas.microsoft.com/office/drawing/2014/main" id="{51426F99-F024-8797-592E-5A5B62B40B0F}"/>
                </a:ext>
              </a:extLst>
            </p:cNvPr>
            <p:cNvSpPr/>
            <p:nvPr/>
          </p:nvSpPr>
          <p:spPr>
            <a:xfrm>
              <a:off x="6896100" y="2559630"/>
              <a:ext cx="304800" cy="304800"/>
            </a:xfrm>
            <a:prstGeom prst="ellipse">
              <a:avLst/>
            </a:prstGeom>
            <a:solidFill>
              <a:srgbClr val="1B3A5C"/>
            </a:solidFill>
            <a:ln w="19050">
              <a:solidFill>
                <a:srgbClr val="1B3A5C"/>
              </a:solidFill>
            </a:ln>
          </p:spPr>
          <p:txBody>
            <a:bodyPr lIns="0" tIns="0" rIns="0" bIns="0" anchor="ctr"/>
            <a:lstStyle/>
            <a:p>
              <a:pPr algn="ctr"/>
              <a:endParaRPr lang="de-CH" sz="1300" b="1">
                <a:solidFill>
                  <a:srgbClr val="FFFFFF"/>
                </a:solidFill>
              </a:endParaRPr>
            </a:p>
          </p:txBody>
        </p:sp>
        <p:pic>
          <p:nvPicPr>
            <p:cNvPr id="87" name="Grafik 86" descr="Häkchen mit einfarbiger Füllung">
              <a:extLst>
                <a:ext uri="{FF2B5EF4-FFF2-40B4-BE49-F238E27FC236}">
                  <a16:creationId xmlns:a16="http://schemas.microsoft.com/office/drawing/2014/main" id="{7A25A076-E105-853D-2592-6A383B15439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933746" y="2604080"/>
              <a:ext cx="215900" cy="215900"/>
            </a:xfrm>
            <a:prstGeom prst="rect">
              <a:avLst/>
            </a:prstGeom>
          </p:spPr>
        </p:pic>
      </p:grpSp>
      <p:sp>
        <p:nvSpPr>
          <p:cNvPr id="88" name="here_pill">
            <a:extLst>
              <a:ext uri="{FF2B5EF4-FFF2-40B4-BE49-F238E27FC236}">
                <a16:creationId xmlns:a16="http://schemas.microsoft.com/office/drawing/2014/main" id="{A39A612E-7DB1-31D0-E99A-3B544C08AEC0}"/>
              </a:ext>
            </a:extLst>
          </p:cNvPr>
          <p:cNvSpPr/>
          <p:nvPr/>
        </p:nvSpPr>
        <p:spPr>
          <a:xfrm>
            <a:off x="9853613" y="1413541"/>
            <a:ext cx="1930400" cy="355600"/>
          </a:xfrm>
          <a:prstGeom prst="roundRect">
            <a:avLst>
              <a:gd name="adj" fmla="val 0"/>
            </a:avLst>
          </a:prstGeom>
          <a:solidFill>
            <a:srgbClr val="C8893A"/>
          </a:solidFill>
          <a:ln>
            <a:noFill/>
          </a:ln>
        </p:spPr>
        <p:txBody>
          <a:bodyPr lIns="76200" tIns="0" rIns="76200" bIns="0" anchor="ctr"/>
          <a:lstStyle/>
          <a:p>
            <a:pPr algn="ctr"/>
            <a:r>
              <a:rPr lang="de-CH" sz="1100" b="1">
                <a:solidFill>
                  <a:srgbClr val="FFFFFF"/>
                </a:solidFill>
              </a:rPr>
              <a:t>WIR SIND HIER</a:t>
            </a:r>
          </a:p>
        </p:txBody>
      </p:sp>
      <p:sp>
        <p:nvSpPr>
          <p:cNvPr id="89" name="here_arrow">
            <a:extLst>
              <a:ext uri="{FF2B5EF4-FFF2-40B4-BE49-F238E27FC236}">
                <a16:creationId xmlns:a16="http://schemas.microsoft.com/office/drawing/2014/main" id="{4E3D31E9-5A04-8F11-1000-6E26954E185C}"/>
              </a:ext>
            </a:extLst>
          </p:cNvPr>
          <p:cNvSpPr/>
          <p:nvPr/>
        </p:nvSpPr>
        <p:spPr>
          <a:xfrm>
            <a:off x="10793413" y="1756439"/>
            <a:ext cx="50800" cy="152400"/>
          </a:xfrm>
          <a:prstGeom prst="rect">
            <a:avLst/>
          </a:prstGeom>
          <a:solidFill>
            <a:srgbClr val="C8893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0" name="fazit"/>
          <p:cNvSpPr/>
          <p:nvPr/>
        </p:nvSpPr>
        <p:spPr>
          <a:xfrm>
            <a:off x="404813" y="5088859"/>
            <a:ext cx="11379200" cy="812800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lIns="137160" tIns="45720" rIns="137160" bIns="45720" rtlCol="0" anchor="ctr">
            <a:normAutofit/>
          </a:bodyPr>
          <a:lstStyle/>
          <a:p>
            <a:pPr algn="ctr"/>
            <a:r>
              <a:rPr lang="de-CH" sz="1600" b="1">
                <a:solidFill>
                  <a:schemeClr val="bg1"/>
                </a:solidFill>
              </a:rPr>
              <a:t>Stand heute</a:t>
            </a:r>
            <a:r>
              <a:rPr lang="de-CH" sz="1300" b="1">
                <a:solidFill>
                  <a:schemeClr val="bg1"/>
                </a:solidFill>
              </a:rPr>
              <a:t>:  </a:t>
            </a:r>
            <a:r>
              <a:rPr lang="de-DE" sz="1400">
                <a:solidFill>
                  <a:schemeClr val="bg1"/>
                </a:solidFill>
              </a:rPr>
              <a:t>Der IST-Prozess ist freigegeben. Die Pain Points sind erhoben, die Handlungsfelder definiert und die fachliche Grundlage für das SOLL-Konzept liegt vor</a:t>
            </a:r>
            <a:endParaRPr lang="de-CH" sz="1300">
              <a:solidFill>
                <a:schemeClr val="bg1"/>
              </a:solidFill>
            </a:endParaRPr>
          </a:p>
        </p:txBody>
      </p:sp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6B510E9B-3834-C9A8-A2FE-DBFADE74559D}"/>
              </a:ext>
            </a:extLst>
          </p:cNvPr>
          <p:cNvGrpSpPr/>
          <p:nvPr/>
        </p:nvGrpSpPr>
        <p:grpSpPr>
          <a:xfrm>
            <a:off x="8802234" y="1945988"/>
            <a:ext cx="304800" cy="304800"/>
            <a:chOff x="6896100" y="2559630"/>
            <a:chExt cx="304800" cy="304800"/>
          </a:xfrm>
        </p:grpSpPr>
        <p:sp>
          <p:nvSpPr>
            <p:cNvPr id="8" name="b0">
              <a:extLst>
                <a:ext uri="{FF2B5EF4-FFF2-40B4-BE49-F238E27FC236}">
                  <a16:creationId xmlns:a16="http://schemas.microsoft.com/office/drawing/2014/main" id="{99DEE199-965D-189B-E197-C2117C4BA749}"/>
                </a:ext>
              </a:extLst>
            </p:cNvPr>
            <p:cNvSpPr/>
            <p:nvPr/>
          </p:nvSpPr>
          <p:spPr>
            <a:xfrm>
              <a:off x="6896100" y="2559630"/>
              <a:ext cx="304800" cy="304800"/>
            </a:xfrm>
            <a:prstGeom prst="ellipse">
              <a:avLst/>
            </a:prstGeom>
            <a:solidFill>
              <a:srgbClr val="1B3A5C"/>
            </a:solidFill>
            <a:ln w="19050">
              <a:solidFill>
                <a:srgbClr val="1B3A5C"/>
              </a:solidFill>
            </a:ln>
          </p:spPr>
          <p:txBody>
            <a:bodyPr lIns="0" tIns="0" rIns="0" bIns="0" anchor="ctr"/>
            <a:lstStyle/>
            <a:p>
              <a:pPr algn="ctr"/>
              <a:endParaRPr lang="de-CH" sz="1300" b="1">
                <a:solidFill>
                  <a:srgbClr val="FFFFFF"/>
                </a:solidFill>
              </a:endParaRPr>
            </a:p>
          </p:txBody>
        </p:sp>
        <p:pic>
          <p:nvPicPr>
            <p:cNvPr id="9" name="Grafik 8" descr="Häkchen mit einfarbiger Füllung">
              <a:extLst>
                <a:ext uri="{FF2B5EF4-FFF2-40B4-BE49-F238E27FC236}">
                  <a16:creationId xmlns:a16="http://schemas.microsoft.com/office/drawing/2014/main" id="{0B2012FF-D81B-EE97-6910-950BA8ECA8F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933746" y="2604080"/>
              <a:ext cx="215900" cy="2159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239199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F30224-644C-C92A-5E19-ADFDA14436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4ACAABB-6645-5B6B-7F2F-B0C0B51F9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Aus der IST-Analyse wurden Pain Points identifiziert und in vier Handlungsfelder abgeleitet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81592E3C-BA04-C256-B0F8-BFB58A78ED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08.07.2026</a:t>
            </a:r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839CE54-2C6E-495C-25F8-C8928CAAA6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Zwischenbericht Digitalisierung Austrittsprozess USB</a:t>
            </a:r>
            <a:endParaRPr lang="de-CH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4BB8A700-EA5E-A4F9-C688-D78770EFAA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1543" y="1980407"/>
            <a:ext cx="2448000" cy="213345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 algn="ctr">
            <a:noFill/>
            <a:miter lim="800000"/>
            <a:headEnd/>
            <a:tailEnd/>
          </a:ln>
        </p:spPr>
        <p:txBody>
          <a:bodyPr lIns="36000" tIns="46800" rIns="0" bIns="46800" anchor="t"/>
          <a:lstStyle>
            <a:lvl1pPr marL="93663" indent="-93663">
              <a:spcAft>
                <a:spcPct val="50000"/>
              </a:spcAft>
              <a:buClr>
                <a:srgbClr val="00279F"/>
              </a:buClr>
              <a:buSzPct val="8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Aft>
                <a:spcPct val="50000"/>
              </a:spcAft>
              <a:buClr>
                <a:srgbClr val="00279F"/>
              </a:buClr>
              <a:buSzPct val="80000"/>
              <a:buFont typeface="Wingdings" pitchFamily="2" charset="2"/>
              <a:buChar char="u"/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Aft>
                <a:spcPct val="50000"/>
              </a:spcAft>
              <a:buClr>
                <a:schemeClr val="hlink"/>
              </a:buClr>
              <a:buSzPct val="80000"/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-"/>
              <a:defRPr kumimoji="1" sz="1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50000"/>
              </a:spcBef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93345" indent="-93345">
              <a:buFont typeface="Arial,Sans-Serif" pitchFamily="34" charset="0"/>
              <a:buChar char="•"/>
            </a:pPr>
            <a:r>
              <a:rPr lang="de-CH" sz="1150" b="1"/>
              <a:t>Fehlende zentrale Übersicht </a:t>
            </a:r>
            <a:r>
              <a:rPr lang="de-CH" sz="1150"/>
              <a:t>über Bearbeitungsstand und Zuständigkeiten</a:t>
            </a:r>
          </a:p>
          <a:p>
            <a:pPr marL="93345" indent="-93345">
              <a:buFont typeface="Arial,Sans-Serif" pitchFamily="34" charset="0"/>
              <a:buChar char="•"/>
            </a:pPr>
            <a:r>
              <a:rPr lang="de-CH" sz="1150" b="1"/>
              <a:t>Unklare Zuständigkeiten </a:t>
            </a:r>
            <a:r>
              <a:rPr lang="de-CH" sz="1150"/>
              <a:t>bei Rückzahlungspflichten</a:t>
            </a:r>
          </a:p>
          <a:p>
            <a:pPr marL="93345" indent="-93345">
              <a:buFont typeface="Arial,Sans-Serif" pitchFamily="34" charset="0"/>
              <a:buChar char="•"/>
            </a:pPr>
            <a:r>
              <a:rPr lang="de-CH" sz="1150"/>
              <a:t>Risiko von </a:t>
            </a:r>
            <a:r>
              <a:rPr lang="de-CH" sz="1150" b="1"/>
              <a:t>Doppeltickets</a:t>
            </a:r>
            <a:endParaRPr lang="de-CH" sz="1150" b="1">
              <a:solidFill>
                <a:srgbClr val="000000"/>
              </a:solidFill>
              <a:latin typeface="Arial"/>
              <a:cs typeface="Arial"/>
            </a:endParaRPr>
          </a:p>
          <a:p>
            <a:pPr marL="93345" indent="-93345">
              <a:buFont typeface="Arial,Sans-Serif" pitchFamily="34" charset="0"/>
              <a:buChar char="•"/>
            </a:pPr>
            <a:r>
              <a:rPr lang="de-CH" sz="1150">
                <a:solidFill>
                  <a:srgbClr val="000000"/>
                </a:solidFill>
                <a:latin typeface="Arial"/>
                <a:cs typeface="Arial"/>
              </a:rPr>
              <a:t>Fehlende </a:t>
            </a:r>
            <a:r>
              <a:rPr lang="de-CH" sz="1150" b="1">
                <a:solidFill>
                  <a:srgbClr val="000000"/>
                </a:solidFill>
                <a:latin typeface="Arial"/>
                <a:cs typeface="Arial"/>
              </a:rPr>
              <a:t>Frühinformation</a:t>
            </a:r>
            <a:r>
              <a:rPr lang="de-CH" sz="1150">
                <a:solidFill>
                  <a:srgbClr val="000000"/>
                </a:solidFill>
                <a:latin typeface="Arial"/>
                <a:cs typeface="Arial"/>
              </a:rPr>
              <a:t> bei </a:t>
            </a:r>
            <a:r>
              <a:rPr lang="de-CH" sz="1150" b="1">
                <a:solidFill>
                  <a:srgbClr val="000000"/>
                </a:solidFill>
                <a:latin typeface="Arial"/>
                <a:cs typeface="Arial"/>
              </a:rPr>
              <a:t>zeitkritischen</a:t>
            </a:r>
            <a:r>
              <a:rPr lang="de-CH" sz="1150">
                <a:solidFill>
                  <a:srgbClr val="000000"/>
                </a:solidFill>
                <a:latin typeface="Arial"/>
                <a:cs typeface="Arial"/>
              </a:rPr>
              <a:t> Austritten</a:t>
            </a:r>
          </a:p>
        </p:txBody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00863545-D26F-302D-C08D-1220F11C39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1543" y="1312007"/>
            <a:ext cx="2448000" cy="512354"/>
          </a:xfrm>
          <a:prstGeom prst="rect">
            <a:avLst/>
          </a:prstGeom>
          <a:solidFill>
            <a:schemeClr val="tx2">
              <a:lumMod val="75000"/>
            </a:schemeClr>
          </a:solidFill>
          <a:ln w="12700" algn="ctr">
            <a:noFill/>
            <a:miter lim="800000"/>
            <a:headEnd/>
            <a:tailEnd/>
          </a:ln>
        </p:spPr>
        <p:txBody>
          <a:bodyPr lIns="36000" tIns="46800" rIns="36000" bIns="46800" anchor="ctr"/>
          <a:lstStyle/>
          <a:p>
            <a:pPr marL="143510">
              <a:lnSpc>
                <a:spcPts val="1200"/>
              </a:lnSpc>
              <a:defRPr/>
            </a:pPr>
            <a:r>
              <a:rPr lang="de-DE" sz="1550" kern="0">
                <a:solidFill>
                  <a:prstClr val="white"/>
                </a:solidFill>
                <a:ea typeface="+mn-lt"/>
                <a:cs typeface="+mn-lt"/>
              </a:rPr>
              <a:t>Übersicht und Steuerung</a:t>
            </a:r>
            <a:endParaRPr lang="en-US" sz="1550"/>
          </a:p>
        </p:txBody>
      </p:sp>
      <p:sp>
        <p:nvSpPr>
          <p:cNvPr id="8" name="AutoShape 7">
            <a:extLst>
              <a:ext uri="{FF2B5EF4-FFF2-40B4-BE49-F238E27FC236}">
                <a16:creationId xmlns:a16="http://schemas.microsoft.com/office/drawing/2014/main" id="{B79D3AB2-1B88-36E8-95A6-D68B53BB7D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732" y="1312007"/>
            <a:ext cx="2448000" cy="512354"/>
          </a:xfrm>
          <a:prstGeom prst="rect">
            <a:avLst/>
          </a:prstGeom>
          <a:solidFill>
            <a:schemeClr val="tx2">
              <a:lumMod val="75000"/>
            </a:schemeClr>
          </a:solidFill>
          <a:ln w="12700" algn="ctr">
            <a:noFill/>
            <a:miter lim="800000"/>
            <a:headEnd/>
            <a:tailEnd/>
          </a:ln>
        </p:spPr>
        <p:txBody>
          <a:bodyPr lIns="36000" tIns="46800" rIns="36000" bIns="46800" anchor="ctr"/>
          <a:lstStyle/>
          <a:p>
            <a:pPr marL="143510">
              <a:lnSpc>
                <a:spcPts val="1200"/>
              </a:lnSpc>
              <a:defRPr/>
            </a:pPr>
            <a:r>
              <a:rPr lang="de-DE" sz="1550" kern="0">
                <a:solidFill>
                  <a:prstClr val="white"/>
                </a:solidFill>
                <a:ea typeface="+mn-lt"/>
                <a:cs typeface="+mn-lt"/>
              </a:rPr>
              <a:t>Datenbasis und Systemintegration</a:t>
            </a:r>
            <a:endParaRPr lang="en-US" sz="1550">
              <a:solidFill>
                <a:prstClr val="white"/>
              </a:solidFill>
              <a:cs typeface="Arial"/>
            </a:endParaRPr>
          </a:p>
        </p:txBody>
      </p:sp>
      <p:sp>
        <p:nvSpPr>
          <p:cNvPr id="9" name="Rectangle 13">
            <a:extLst>
              <a:ext uri="{FF2B5EF4-FFF2-40B4-BE49-F238E27FC236}">
                <a16:creationId xmlns:a16="http://schemas.microsoft.com/office/drawing/2014/main" id="{E4BCBCB7-4F55-4BAB-7965-82B425E212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732" y="1990147"/>
            <a:ext cx="2448000" cy="212371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 algn="ctr">
            <a:noFill/>
            <a:miter lim="800000"/>
            <a:headEnd/>
            <a:tailEnd/>
          </a:ln>
        </p:spPr>
        <p:txBody>
          <a:bodyPr lIns="36000" tIns="46800" rIns="0" bIns="46800" anchor="t"/>
          <a:lstStyle>
            <a:lvl1pPr marL="93663" indent="-93663">
              <a:spcAft>
                <a:spcPct val="50000"/>
              </a:spcAft>
              <a:buClr>
                <a:srgbClr val="00279F"/>
              </a:buClr>
              <a:buSzPct val="8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Aft>
                <a:spcPct val="50000"/>
              </a:spcAft>
              <a:buClr>
                <a:srgbClr val="00279F"/>
              </a:buClr>
              <a:buSzPct val="80000"/>
              <a:buFont typeface="Wingdings" pitchFamily="2" charset="2"/>
              <a:buChar char="u"/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Aft>
                <a:spcPct val="50000"/>
              </a:spcAft>
              <a:buClr>
                <a:schemeClr val="hlink"/>
              </a:buClr>
              <a:buSzPct val="80000"/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-"/>
              <a:defRPr kumimoji="1" sz="1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50000"/>
              </a:spcBef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93345" lvl="0" indent="-93345">
              <a:lnSpc>
                <a:spcPts val="1200"/>
              </a:lnSpc>
              <a:buFont typeface="Arial,Sans-Serif"/>
              <a:buChar char="•"/>
            </a:pPr>
            <a:r>
              <a:rPr lang="de-CH" sz="11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Unvollständige</a:t>
            </a:r>
            <a:r>
              <a:rPr lang="de-CH" sz="1150">
                <a:solidFill>
                  <a:srgbClr val="000000"/>
                </a:solidFill>
                <a:latin typeface="Arial"/>
                <a:ea typeface="Arial"/>
                <a:cs typeface="Arial"/>
              </a:rPr>
              <a:t> und uneinheitliche Ticketinformationen</a:t>
            </a:r>
          </a:p>
          <a:p>
            <a:pPr marL="93345" lvl="0" indent="-93345">
              <a:lnSpc>
                <a:spcPts val="1200"/>
              </a:lnSpc>
              <a:buFont typeface="Arial,Sans-Serif"/>
              <a:buChar char="•"/>
            </a:pPr>
            <a:r>
              <a:rPr lang="de-CH" sz="11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Manuelle</a:t>
            </a:r>
            <a:r>
              <a:rPr lang="de-CH" sz="1150">
                <a:solidFill>
                  <a:srgbClr val="000000"/>
                </a:solidFill>
                <a:latin typeface="Arial"/>
                <a:ea typeface="Arial"/>
                <a:cs typeface="Arial"/>
              </a:rPr>
              <a:t> Übertragung von SAP-Stammdaten in Jira</a:t>
            </a:r>
          </a:p>
          <a:p>
            <a:pPr marL="93345" lvl="0" indent="-93345">
              <a:lnSpc>
                <a:spcPts val="1200"/>
              </a:lnSpc>
              <a:buFont typeface="Arial,Sans-Serif"/>
              <a:buChar char="•"/>
            </a:pPr>
            <a:r>
              <a:rPr lang="de-CH" sz="11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Abweichung</a:t>
            </a:r>
            <a:r>
              <a:rPr lang="de-CH" sz="1150">
                <a:solidFill>
                  <a:srgbClr val="000000"/>
                </a:solidFill>
                <a:latin typeface="Arial"/>
                <a:ea typeface="Arial"/>
                <a:cs typeface="Arial"/>
              </a:rPr>
              <a:t> zwischen Austrittsschein und PEP</a:t>
            </a:r>
          </a:p>
          <a:p>
            <a:pPr marL="93345" lvl="0" indent="-93345">
              <a:lnSpc>
                <a:spcPts val="1200"/>
              </a:lnSpc>
              <a:buFont typeface="Arial,Sans-Serif"/>
              <a:buChar char="•"/>
            </a:pPr>
            <a:r>
              <a:rPr lang="de-CH" sz="11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Verteilte Informationen </a:t>
            </a:r>
            <a:r>
              <a:rPr lang="de-CH" sz="1150">
                <a:solidFill>
                  <a:srgbClr val="000000"/>
                </a:solidFill>
                <a:latin typeface="Arial"/>
                <a:ea typeface="Arial"/>
                <a:cs typeface="Arial"/>
              </a:rPr>
              <a:t>in Jira, SAP, PEP, E-Dossier und SharePoint</a:t>
            </a:r>
            <a:endParaRPr lang="de-DE" sz="115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Rectangle 13">
            <a:extLst>
              <a:ext uri="{FF2B5EF4-FFF2-40B4-BE49-F238E27FC236}">
                <a16:creationId xmlns:a16="http://schemas.microsoft.com/office/drawing/2014/main" id="{3722D83D-F8EC-E447-616C-E0AE0EFBF2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93921" y="1990147"/>
            <a:ext cx="2448000" cy="212371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 algn="ctr">
            <a:noFill/>
            <a:miter lim="800000"/>
            <a:headEnd/>
            <a:tailEnd/>
          </a:ln>
        </p:spPr>
        <p:txBody>
          <a:bodyPr lIns="36000" tIns="46800" rIns="0" bIns="46800" anchor="t"/>
          <a:lstStyle>
            <a:lvl1pPr marL="93663" indent="-93663">
              <a:spcAft>
                <a:spcPct val="50000"/>
              </a:spcAft>
              <a:buClr>
                <a:srgbClr val="00279F"/>
              </a:buClr>
              <a:buSzPct val="8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Aft>
                <a:spcPct val="50000"/>
              </a:spcAft>
              <a:buClr>
                <a:srgbClr val="00279F"/>
              </a:buClr>
              <a:buSzPct val="80000"/>
              <a:buFont typeface="Wingdings" pitchFamily="2" charset="2"/>
              <a:buChar char="u"/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Aft>
                <a:spcPct val="50000"/>
              </a:spcAft>
              <a:buClr>
                <a:schemeClr val="hlink"/>
              </a:buClr>
              <a:buSzPct val="80000"/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-"/>
              <a:defRPr kumimoji="1" sz="1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50000"/>
              </a:spcBef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93345" lvl="0" indent="-93345">
              <a:lnSpc>
                <a:spcPts val="1200"/>
              </a:lnSpc>
              <a:buFont typeface="Arial,Sans-Serif"/>
              <a:buChar char="•"/>
            </a:pPr>
            <a:r>
              <a:rPr lang="de-DE" sz="1150">
                <a:solidFill>
                  <a:srgbClr val="000000"/>
                </a:solidFill>
                <a:latin typeface="Arial"/>
                <a:ea typeface="Arial"/>
                <a:cs typeface="Arial"/>
              </a:rPr>
              <a:t>Sonderfallprüfungen erfolgen teilweise </a:t>
            </a:r>
            <a:r>
              <a:rPr lang="de-DE" sz="11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zu spät </a:t>
            </a:r>
            <a:r>
              <a:rPr lang="de-DE" sz="1150">
                <a:solidFill>
                  <a:srgbClr val="000000"/>
                </a:solidFill>
                <a:latin typeface="Arial"/>
                <a:ea typeface="Arial"/>
                <a:cs typeface="Arial"/>
              </a:rPr>
              <a:t>im Prozess</a:t>
            </a:r>
          </a:p>
          <a:p>
            <a:pPr marL="93345" lvl="0" indent="-93345">
              <a:lnSpc>
                <a:spcPts val="1200"/>
              </a:lnSpc>
              <a:buFont typeface="Arial,Sans-Serif"/>
              <a:buChar char="•"/>
            </a:pPr>
            <a:r>
              <a:rPr lang="de-DE" sz="11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Unklare Regelung </a:t>
            </a:r>
            <a:r>
              <a:rPr lang="de-DE" sz="1150">
                <a:solidFill>
                  <a:srgbClr val="000000"/>
                </a:solidFill>
                <a:latin typeface="Arial"/>
                <a:ea typeface="Arial"/>
                <a:cs typeface="Arial"/>
              </a:rPr>
              <a:t>zu Arbeitszeugnis oder Arbeitsbestätigung</a:t>
            </a:r>
          </a:p>
          <a:p>
            <a:pPr marL="93345" lvl="0" indent="-93345">
              <a:lnSpc>
                <a:spcPts val="1200"/>
              </a:lnSpc>
              <a:buFont typeface="Arial,Sans-Serif"/>
              <a:buChar char="•"/>
            </a:pPr>
            <a:r>
              <a:rPr lang="de-CH" sz="1150" b="1"/>
              <a:t>Manuelle</a:t>
            </a:r>
            <a:r>
              <a:rPr lang="de-CH" sz="1150"/>
              <a:t> </a:t>
            </a:r>
            <a:r>
              <a:rPr lang="de-CH" sz="1150" b="1"/>
              <a:t>Prüfungen</a:t>
            </a:r>
            <a:r>
              <a:rPr lang="de-CH" sz="1150"/>
              <a:t> mit begrenztem oder </a:t>
            </a:r>
            <a:r>
              <a:rPr lang="de-CH" sz="1150" b="1"/>
              <a:t>unklarem Nutzen</a:t>
            </a:r>
          </a:p>
          <a:p>
            <a:pPr marL="93345" lvl="0" indent="-93345">
              <a:lnSpc>
                <a:spcPts val="1200"/>
              </a:lnSpc>
              <a:buFont typeface="Arial,Sans-Serif"/>
              <a:buChar char="•"/>
            </a:pPr>
            <a:r>
              <a:rPr lang="de-DE" sz="11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Varianten und Sonderfälle </a:t>
            </a:r>
            <a:r>
              <a:rPr lang="de-DE" sz="1150">
                <a:solidFill>
                  <a:srgbClr val="000000"/>
                </a:solidFill>
                <a:latin typeface="Arial"/>
                <a:ea typeface="Arial"/>
                <a:cs typeface="Arial"/>
              </a:rPr>
              <a:t>sind in Jira </a:t>
            </a:r>
            <a:r>
              <a:rPr lang="de-DE" sz="11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nicht strukturiert </a:t>
            </a:r>
            <a:r>
              <a:rPr lang="de-DE" sz="1150">
                <a:solidFill>
                  <a:srgbClr val="000000"/>
                </a:solidFill>
                <a:latin typeface="Arial"/>
                <a:ea typeface="Arial"/>
                <a:cs typeface="Arial"/>
              </a:rPr>
              <a:t>abgebildet</a:t>
            </a:r>
          </a:p>
        </p:txBody>
      </p:sp>
      <p:sp>
        <p:nvSpPr>
          <p:cNvPr id="11" name="Rectangle 13">
            <a:extLst>
              <a:ext uri="{FF2B5EF4-FFF2-40B4-BE49-F238E27FC236}">
                <a16:creationId xmlns:a16="http://schemas.microsoft.com/office/drawing/2014/main" id="{15AE2B3C-A21A-47D3-F291-4929BFAA52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30110" y="1990147"/>
            <a:ext cx="2448000" cy="212371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 algn="ctr">
            <a:noFill/>
            <a:miter lim="800000"/>
            <a:headEnd/>
            <a:tailEnd/>
          </a:ln>
        </p:spPr>
        <p:txBody>
          <a:bodyPr lIns="36000" tIns="46800" rIns="0" bIns="46800" anchor="t"/>
          <a:lstStyle>
            <a:lvl1pPr marL="93663" indent="-93663">
              <a:spcAft>
                <a:spcPct val="50000"/>
              </a:spcAft>
              <a:buClr>
                <a:srgbClr val="00279F"/>
              </a:buClr>
              <a:buSzPct val="8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Aft>
                <a:spcPct val="50000"/>
              </a:spcAft>
              <a:buClr>
                <a:srgbClr val="00279F"/>
              </a:buClr>
              <a:buSzPct val="80000"/>
              <a:buFont typeface="Wingdings" pitchFamily="2" charset="2"/>
              <a:buChar char="u"/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Aft>
                <a:spcPct val="50000"/>
              </a:spcAft>
              <a:buClr>
                <a:schemeClr val="hlink"/>
              </a:buClr>
              <a:buSzPct val="80000"/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-"/>
              <a:defRPr kumimoji="1" sz="1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50000"/>
              </a:spcBef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93345" lvl="0" indent="-93345">
              <a:lnSpc>
                <a:spcPts val="1200"/>
              </a:lnSpc>
              <a:buFont typeface="Arial,Sans-Serif"/>
              <a:buChar char="•"/>
            </a:pPr>
            <a:r>
              <a:rPr lang="de-DE" sz="1150">
                <a:solidFill>
                  <a:srgbClr val="000000"/>
                </a:solidFill>
                <a:latin typeface="Arial"/>
                <a:ea typeface="Arial"/>
                <a:cs typeface="Arial"/>
              </a:rPr>
              <a:t>Austrittsschein ist </a:t>
            </a:r>
            <a:r>
              <a:rPr lang="de-DE" sz="11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nicht in die Ticketbearbeitung </a:t>
            </a:r>
            <a:r>
              <a:rPr lang="de-DE" sz="1150">
                <a:solidFill>
                  <a:srgbClr val="000000"/>
                </a:solidFill>
                <a:latin typeface="Arial"/>
                <a:ea typeface="Arial"/>
                <a:cs typeface="Arial"/>
              </a:rPr>
              <a:t>integriert</a:t>
            </a:r>
          </a:p>
          <a:p>
            <a:pPr marL="93345" lvl="0" indent="-93345">
              <a:lnSpc>
                <a:spcPts val="1200"/>
              </a:lnSpc>
              <a:buFont typeface="Arial,Sans-Serif"/>
              <a:buChar char="•"/>
            </a:pPr>
            <a:r>
              <a:rPr lang="de-DE" sz="1150">
                <a:solidFill>
                  <a:srgbClr val="000000"/>
                </a:solidFill>
                <a:latin typeface="Arial"/>
                <a:ea typeface="Arial"/>
                <a:cs typeface="Arial"/>
              </a:rPr>
              <a:t>Freistellungen haben </a:t>
            </a:r>
            <a:r>
              <a:rPr lang="de-DE" sz="11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uneinheitliche Informationswege</a:t>
            </a:r>
          </a:p>
          <a:p>
            <a:pPr marL="93345" lvl="0" indent="-93345">
              <a:lnSpc>
                <a:spcPts val="1200"/>
              </a:lnSpc>
              <a:buFont typeface="Arial,Sans-Serif"/>
              <a:buChar char="•"/>
            </a:pPr>
            <a:r>
              <a:rPr lang="de-DE" sz="11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Manuelle Prüfungen </a:t>
            </a:r>
            <a:r>
              <a:rPr lang="de-DE" sz="1150">
                <a:solidFill>
                  <a:srgbClr val="000000"/>
                </a:solidFill>
                <a:latin typeface="Arial"/>
                <a:ea typeface="Arial"/>
                <a:cs typeface="Arial"/>
              </a:rPr>
              <a:t>und Abschlüsse bleiben </a:t>
            </a:r>
            <a:r>
              <a:rPr lang="de-DE" sz="1150" b="1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ausserhalb</a:t>
            </a:r>
            <a:r>
              <a:rPr lang="de-DE" sz="1150">
                <a:solidFill>
                  <a:srgbClr val="000000"/>
                </a:solidFill>
                <a:latin typeface="Arial"/>
                <a:ea typeface="Arial"/>
                <a:cs typeface="Arial"/>
              </a:rPr>
              <a:t> eines geführten </a:t>
            </a:r>
            <a:r>
              <a:rPr lang="de-DE" sz="11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Workflows</a:t>
            </a:r>
          </a:p>
        </p:txBody>
      </p:sp>
      <p:sp>
        <p:nvSpPr>
          <p:cNvPr id="12" name="AutoShape 7">
            <a:extLst>
              <a:ext uri="{FF2B5EF4-FFF2-40B4-BE49-F238E27FC236}">
                <a16:creationId xmlns:a16="http://schemas.microsoft.com/office/drawing/2014/main" id="{8AED9D10-FA8D-8D79-0568-001A1AF9A9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93921" y="1316877"/>
            <a:ext cx="2448000" cy="512354"/>
          </a:xfrm>
          <a:prstGeom prst="rect">
            <a:avLst/>
          </a:prstGeom>
          <a:solidFill>
            <a:schemeClr val="tx2">
              <a:lumMod val="75000"/>
            </a:schemeClr>
          </a:solidFill>
          <a:ln w="12700" algn="ctr">
            <a:noFill/>
            <a:miter lim="800000"/>
            <a:headEnd/>
            <a:tailEnd/>
          </a:ln>
        </p:spPr>
        <p:txBody>
          <a:bodyPr lIns="36000" tIns="46800" rIns="36000" bIns="46800" anchor="ctr"/>
          <a:lstStyle/>
          <a:p>
            <a:pPr marL="143510">
              <a:lnSpc>
                <a:spcPts val="1200"/>
              </a:lnSpc>
              <a:defRPr/>
            </a:pPr>
            <a:r>
              <a:rPr lang="de-DE" sz="1550" kern="0">
                <a:solidFill>
                  <a:prstClr val="white"/>
                </a:solidFill>
                <a:ea typeface="+mn-lt"/>
                <a:cs typeface="+mn-lt"/>
              </a:rPr>
              <a:t>Standardisierung und Prozessdokumentation</a:t>
            </a:r>
            <a:endParaRPr lang="en-US" sz="1550">
              <a:solidFill>
                <a:prstClr val="white"/>
              </a:solidFill>
              <a:cs typeface="Arial"/>
            </a:endParaRPr>
          </a:p>
        </p:txBody>
      </p:sp>
      <p:sp>
        <p:nvSpPr>
          <p:cNvPr id="13" name="AutoShape 7">
            <a:extLst>
              <a:ext uri="{FF2B5EF4-FFF2-40B4-BE49-F238E27FC236}">
                <a16:creationId xmlns:a16="http://schemas.microsoft.com/office/drawing/2014/main" id="{0930BC36-54E2-1A83-B968-4209428957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30110" y="1316877"/>
            <a:ext cx="2448000" cy="502614"/>
          </a:xfrm>
          <a:prstGeom prst="rect">
            <a:avLst/>
          </a:prstGeom>
          <a:solidFill>
            <a:schemeClr val="tx2">
              <a:lumMod val="75000"/>
            </a:schemeClr>
          </a:solidFill>
          <a:ln w="12700" algn="ctr">
            <a:noFill/>
            <a:miter lim="800000"/>
            <a:headEnd/>
            <a:tailEnd/>
          </a:ln>
        </p:spPr>
        <p:txBody>
          <a:bodyPr lIns="36000" tIns="46800" rIns="36000" bIns="46800" anchor="ctr"/>
          <a:lstStyle/>
          <a:p>
            <a:pPr marL="143510">
              <a:lnSpc>
                <a:spcPts val="1200"/>
              </a:lnSpc>
              <a:defRPr/>
            </a:pPr>
            <a:r>
              <a:rPr lang="de-DE" sz="1550" kern="0">
                <a:solidFill>
                  <a:prstClr val="white"/>
                </a:solidFill>
                <a:ea typeface="+mn-lt"/>
                <a:cs typeface="+mn-lt"/>
              </a:rPr>
              <a:t>Prozessausführung</a:t>
            </a:r>
            <a:endParaRPr lang="en-US" sz="1550">
              <a:solidFill>
                <a:prstClr val="white"/>
              </a:solidFill>
              <a:cs typeface="Arial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2F2B0DF-0702-4109-E6A0-73E049C20F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1543" y="4269905"/>
            <a:ext cx="2448000" cy="1892766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12700" algn="ctr">
            <a:noFill/>
            <a:miter lim="800000"/>
            <a:headEnd/>
            <a:tailEnd/>
          </a:ln>
        </p:spPr>
        <p:txBody>
          <a:bodyPr lIns="36000" tIns="46800" rIns="0" bIns="46800" anchor="t"/>
          <a:lstStyle>
            <a:lvl1pPr marL="93663" indent="-93663">
              <a:spcAft>
                <a:spcPct val="50000"/>
              </a:spcAft>
              <a:buClr>
                <a:srgbClr val="00279F"/>
              </a:buClr>
              <a:buSzPct val="8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Aft>
                <a:spcPct val="50000"/>
              </a:spcAft>
              <a:buClr>
                <a:srgbClr val="00279F"/>
              </a:buClr>
              <a:buSzPct val="80000"/>
              <a:buFont typeface="Wingdings" pitchFamily="2" charset="2"/>
              <a:buChar char="u"/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Aft>
                <a:spcPct val="50000"/>
              </a:spcAft>
              <a:buClr>
                <a:schemeClr val="hlink"/>
              </a:buClr>
              <a:buSzPct val="80000"/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-"/>
              <a:defRPr kumimoji="1" sz="1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50000"/>
              </a:spcBef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93345" indent="-93345">
              <a:lnSpc>
                <a:spcPts val="1200"/>
              </a:lnSpc>
              <a:buFont typeface="Arial,Sans-Serif"/>
              <a:buChar char="•"/>
            </a:pPr>
            <a:r>
              <a:rPr lang="de-DE" sz="1150" b="1"/>
              <a:t>Übersicht</a:t>
            </a:r>
            <a:r>
              <a:rPr lang="de-DE" sz="1150"/>
              <a:t> über alle Austrittsfälle inkl. Bearbeitungsstand, Zuständigkeiten, Prioritäten und Fälligkeiten</a:t>
            </a:r>
          </a:p>
          <a:p>
            <a:pPr marL="93345" indent="-93345">
              <a:lnSpc>
                <a:spcPts val="1200"/>
              </a:lnSpc>
              <a:buFont typeface="Arial,Sans-Serif"/>
              <a:buChar char="•"/>
            </a:pPr>
            <a:r>
              <a:rPr lang="de-DE" sz="1150"/>
              <a:t>Filter- und Priorisierungslogik für (zeit-) kritische Fälle </a:t>
            </a:r>
          </a:p>
          <a:p>
            <a:pPr marL="93345" indent="-93345">
              <a:lnSpc>
                <a:spcPts val="1200"/>
              </a:lnSpc>
              <a:buFont typeface="Arial,Sans-Serif"/>
              <a:buChar char="•"/>
            </a:pPr>
            <a:r>
              <a:rPr lang="de-DE" sz="1150"/>
              <a:t>Einhaltung der definierten SLAs/ Durchlaufzeiten transparent darstellen </a:t>
            </a:r>
          </a:p>
          <a:p>
            <a:pPr marL="93345" indent="-93345">
              <a:lnSpc>
                <a:spcPts val="1200"/>
              </a:lnSpc>
              <a:buFont typeface="Arial,Sans-Serif"/>
              <a:buChar char="•"/>
            </a:pPr>
            <a:endParaRPr lang="de-DE" sz="1000"/>
          </a:p>
        </p:txBody>
      </p:sp>
      <p:sp>
        <p:nvSpPr>
          <p:cNvPr id="15" name="Rectangle 13">
            <a:extLst>
              <a:ext uri="{FF2B5EF4-FFF2-40B4-BE49-F238E27FC236}">
                <a16:creationId xmlns:a16="http://schemas.microsoft.com/office/drawing/2014/main" id="{DA3B133F-54ED-4CD6-C244-3077BCD061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732" y="4279645"/>
            <a:ext cx="2448000" cy="1920192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12700" algn="ctr">
            <a:noFill/>
            <a:miter lim="800000"/>
            <a:headEnd/>
            <a:tailEnd/>
          </a:ln>
        </p:spPr>
        <p:txBody>
          <a:bodyPr lIns="36000" tIns="46800" rIns="0" bIns="46800" anchor="t"/>
          <a:lstStyle>
            <a:lvl1pPr marL="93663" indent="-93663">
              <a:spcAft>
                <a:spcPct val="50000"/>
              </a:spcAft>
              <a:buClr>
                <a:srgbClr val="00279F"/>
              </a:buClr>
              <a:buSzPct val="8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Aft>
                <a:spcPct val="50000"/>
              </a:spcAft>
              <a:buClr>
                <a:srgbClr val="00279F"/>
              </a:buClr>
              <a:buSzPct val="80000"/>
              <a:buFont typeface="Wingdings" pitchFamily="2" charset="2"/>
              <a:buChar char="u"/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Aft>
                <a:spcPct val="50000"/>
              </a:spcAft>
              <a:buClr>
                <a:schemeClr val="hlink"/>
              </a:buClr>
              <a:buSzPct val="80000"/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-"/>
              <a:defRPr kumimoji="1" sz="1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50000"/>
              </a:spcBef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93345" indent="-93345">
              <a:buFont typeface="Arial,Sans-Serif" pitchFamily="34" charset="0"/>
              <a:buChar char="•"/>
            </a:pPr>
            <a:r>
              <a:rPr lang="de-DE" sz="1150" b="1">
                <a:solidFill>
                  <a:srgbClr val="000000"/>
                </a:solidFill>
                <a:latin typeface="Arial"/>
                <a:cs typeface="Arial"/>
              </a:rPr>
              <a:t>Zentrale Fallführung </a:t>
            </a:r>
            <a:r>
              <a:rPr lang="de-DE" sz="1150">
                <a:solidFill>
                  <a:srgbClr val="000000"/>
                </a:solidFill>
                <a:latin typeface="Arial"/>
                <a:cs typeface="Arial"/>
              </a:rPr>
              <a:t>und Dokumentation je Austritt </a:t>
            </a:r>
          </a:p>
          <a:p>
            <a:pPr marL="93345" indent="-93345">
              <a:buFont typeface="Arial,Sans-Serif" pitchFamily="34" charset="0"/>
              <a:buChar char="•"/>
            </a:pPr>
            <a:r>
              <a:rPr lang="de-DE" sz="1150">
                <a:solidFill>
                  <a:srgbClr val="000000"/>
                </a:solidFill>
                <a:latin typeface="Arial"/>
                <a:cs typeface="Arial"/>
              </a:rPr>
              <a:t>Daten systemübergreifend weiterverwenden (</a:t>
            </a:r>
            <a:r>
              <a:rPr lang="de-DE" sz="1150" b="1">
                <a:solidFill>
                  <a:srgbClr val="000000"/>
                </a:solidFill>
                <a:latin typeface="Arial"/>
                <a:cs typeface="Arial"/>
              </a:rPr>
              <a:t>Schnittstelle</a:t>
            </a:r>
            <a:r>
              <a:rPr lang="de-DE" sz="1150">
                <a:solidFill>
                  <a:srgbClr val="000000"/>
                </a:solidFill>
                <a:latin typeface="Arial"/>
                <a:cs typeface="Arial"/>
              </a:rPr>
              <a:t> zwischen SAP/ Umsystemen und Jira)</a:t>
            </a:r>
          </a:p>
          <a:p>
            <a:pPr marL="93345" indent="-93345">
              <a:buFont typeface="Arial,Sans-Serif" pitchFamily="34" charset="0"/>
              <a:buChar char="•"/>
            </a:pPr>
            <a:r>
              <a:rPr lang="de-DE" sz="1150">
                <a:solidFill>
                  <a:srgbClr val="000000"/>
                </a:solidFill>
                <a:latin typeface="Arial"/>
                <a:ea typeface="Arial"/>
                <a:cs typeface="Arial"/>
              </a:rPr>
              <a:t>Pflichtangaben werden vor der Weiterbearbeitung geprüft ​</a:t>
            </a:r>
          </a:p>
        </p:txBody>
      </p:sp>
      <p:sp>
        <p:nvSpPr>
          <p:cNvPr id="16" name="Rectangle 13">
            <a:extLst>
              <a:ext uri="{FF2B5EF4-FFF2-40B4-BE49-F238E27FC236}">
                <a16:creationId xmlns:a16="http://schemas.microsoft.com/office/drawing/2014/main" id="{82B0EDDD-165D-6382-1346-461BF812C2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93921" y="4279645"/>
            <a:ext cx="2448000" cy="1900037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12700" algn="ctr">
            <a:noFill/>
            <a:miter lim="800000"/>
            <a:headEnd/>
            <a:tailEnd/>
          </a:ln>
        </p:spPr>
        <p:txBody>
          <a:bodyPr lIns="36000" tIns="46800" rIns="0" bIns="46800" anchor="t"/>
          <a:lstStyle>
            <a:lvl1pPr marL="93663" indent="-93663">
              <a:spcAft>
                <a:spcPct val="50000"/>
              </a:spcAft>
              <a:buClr>
                <a:srgbClr val="00279F"/>
              </a:buClr>
              <a:buSzPct val="8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Aft>
                <a:spcPct val="50000"/>
              </a:spcAft>
              <a:buClr>
                <a:srgbClr val="00279F"/>
              </a:buClr>
              <a:buSzPct val="80000"/>
              <a:buFont typeface="Wingdings" pitchFamily="2" charset="2"/>
              <a:buChar char="u"/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Aft>
                <a:spcPct val="50000"/>
              </a:spcAft>
              <a:buClr>
                <a:schemeClr val="hlink"/>
              </a:buClr>
              <a:buSzPct val="80000"/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-"/>
              <a:defRPr kumimoji="1" sz="1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50000"/>
              </a:spcBef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93345" indent="-93345">
              <a:buFont typeface="Arial,Sans-Serif" pitchFamily="34" charset="0"/>
              <a:buChar char="•"/>
            </a:pPr>
            <a:r>
              <a:rPr lang="de-DE" sz="1100" b="1">
                <a:solidFill>
                  <a:srgbClr val="000000"/>
                </a:solidFill>
                <a:latin typeface="Arial"/>
                <a:cs typeface="Arial"/>
              </a:rPr>
              <a:t>Prozessdokumentation, </a:t>
            </a:r>
            <a:r>
              <a:rPr lang="de-DE" sz="1100">
                <a:solidFill>
                  <a:srgbClr val="000000"/>
                </a:solidFill>
                <a:latin typeface="Arial"/>
                <a:cs typeface="Arial"/>
              </a:rPr>
              <a:t>Definition von Rollen und Verantwortlichkeiten.</a:t>
            </a:r>
            <a:endParaRPr lang="de-CH" sz="1100">
              <a:solidFill>
                <a:srgbClr val="000000"/>
              </a:solidFill>
              <a:latin typeface="Arial"/>
              <a:cs typeface="Arial"/>
            </a:endParaRPr>
          </a:p>
          <a:p>
            <a:pPr marL="93345" indent="-93345">
              <a:buFont typeface="Arial,Sans-Serif" pitchFamily="34" charset="0"/>
              <a:buChar char="•"/>
            </a:pPr>
            <a:r>
              <a:rPr lang="de-DE" sz="1100">
                <a:solidFill>
                  <a:srgbClr val="000000"/>
                </a:solidFill>
                <a:latin typeface="Arial"/>
                <a:cs typeface="Arial"/>
              </a:rPr>
              <a:t>Klare Rückfrage- und Eskalationswege. </a:t>
            </a:r>
          </a:p>
          <a:p>
            <a:pPr marL="93345" indent="-93345">
              <a:buFont typeface="Arial,Sans-Serif" pitchFamily="34" charset="0"/>
              <a:buChar char="•"/>
            </a:pPr>
            <a:r>
              <a:rPr lang="de-DE" sz="1100"/>
              <a:t>Prozessvarianten auf fachlich notwendige Ausnahmen begrenzen.</a:t>
            </a:r>
          </a:p>
          <a:p>
            <a:pPr marL="93345" indent="-93345">
              <a:buFont typeface="Arial,Sans-Serif" pitchFamily="34" charset="0"/>
              <a:buChar char="•"/>
            </a:pPr>
            <a:r>
              <a:rPr lang="de-DE" sz="1100">
                <a:solidFill>
                  <a:srgbClr val="000000"/>
                </a:solidFill>
                <a:latin typeface="Arial"/>
                <a:cs typeface="Arial"/>
              </a:rPr>
              <a:t>Standardisierte Bearbeitungskriterien</a:t>
            </a:r>
            <a:endParaRPr lang="de-CH" sz="1100">
              <a:solidFill>
                <a:srgbClr val="000000"/>
              </a:solidFill>
              <a:latin typeface="Arial"/>
              <a:cs typeface="Arial"/>
            </a:endParaRPr>
          </a:p>
          <a:p>
            <a:pPr marL="93345" indent="-93345">
              <a:buFont typeface="Arial,Sans-Serif" pitchFamily="34" charset="0"/>
              <a:buChar char="•"/>
            </a:pPr>
            <a:r>
              <a:rPr lang="de-DE" sz="1100">
                <a:solidFill>
                  <a:srgbClr val="000000"/>
                </a:solidFill>
                <a:latin typeface="Arial"/>
                <a:cs typeface="Arial"/>
              </a:rPr>
              <a:t>Definition von Pflichtschritten je Prozessvariante.</a:t>
            </a:r>
            <a:endParaRPr lang="en-US" sz="110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17" name="Rectangle 13">
            <a:extLst>
              <a:ext uri="{FF2B5EF4-FFF2-40B4-BE49-F238E27FC236}">
                <a16:creationId xmlns:a16="http://schemas.microsoft.com/office/drawing/2014/main" id="{BBD0C834-8FDF-CDA2-3032-6D1294CDB4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30110" y="4279645"/>
            <a:ext cx="2448000" cy="1883919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12700" algn="ctr">
            <a:noFill/>
            <a:miter lim="800000"/>
            <a:headEnd/>
            <a:tailEnd/>
          </a:ln>
        </p:spPr>
        <p:txBody>
          <a:bodyPr lIns="36000" tIns="46800" rIns="0" bIns="46800" anchor="t"/>
          <a:lstStyle>
            <a:lvl1pPr marL="93663" indent="-93663">
              <a:spcAft>
                <a:spcPct val="50000"/>
              </a:spcAft>
              <a:buClr>
                <a:srgbClr val="00279F"/>
              </a:buClr>
              <a:buSzPct val="8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Aft>
                <a:spcPct val="50000"/>
              </a:spcAft>
              <a:buClr>
                <a:srgbClr val="00279F"/>
              </a:buClr>
              <a:buSzPct val="80000"/>
              <a:buFont typeface="Wingdings" pitchFamily="2" charset="2"/>
              <a:buChar char="u"/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Aft>
                <a:spcPct val="50000"/>
              </a:spcAft>
              <a:buClr>
                <a:schemeClr val="hlink"/>
              </a:buClr>
              <a:buSzPct val="80000"/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-"/>
              <a:defRPr kumimoji="1" sz="1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50000"/>
              </a:spcBef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93345" indent="-93345">
              <a:buFont typeface="Arial,Sans-Serif" pitchFamily="34" charset="0"/>
              <a:buChar char="•"/>
            </a:pPr>
            <a:r>
              <a:rPr lang="de-DE" sz="1150" b="1">
                <a:solidFill>
                  <a:srgbClr val="000000"/>
                </a:solidFill>
                <a:latin typeface="Arial"/>
                <a:cs typeface="Arial"/>
              </a:rPr>
              <a:t>Systemgestützte</a:t>
            </a:r>
            <a:r>
              <a:rPr lang="de-DE" sz="1150">
                <a:solidFill>
                  <a:srgbClr val="000000"/>
                </a:solidFill>
                <a:latin typeface="Arial"/>
                <a:cs typeface="Arial"/>
              </a:rPr>
              <a:t> Bearbeitung von Aufgaben, Prüfungen, Übergaben und Entscheidungen</a:t>
            </a:r>
          </a:p>
          <a:p>
            <a:pPr marL="93345" indent="-93345">
              <a:buFont typeface="Arial,Sans-Serif" pitchFamily="34" charset="0"/>
              <a:buChar char="•"/>
            </a:pPr>
            <a:r>
              <a:rPr lang="de-CH" sz="1150" b="1"/>
              <a:t>Automatische</a:t>
            </a:r>
            <a:r>
              <a:rPr lang="de-CH" sz="1150"/>
              <a:t> Auslösung und Dokumentation von Prozessschritten, wo dies fachlich sinnvoll ist</a:t>
            </a:r>
          </a:p>
          <a:p>
            <a:pPr marL="93345" indent="-93345">
              <a:buFont typeface="Arial,Sans-Serif" pitchFamily="34" charset="0"/>
              <a:buChar char="•"/>
            </a:pPr>
            <a:r>
              <a:rPr lang="de-DE" sz="1150"/>
              <a:t>SLA-basierte Erinnerungen und Eskalationen </a:t>
            </a:r>
            <a:endParaRPr lang="de-DE" sz="1150">
              <a:solidFill>
                <a:srgbClr val="000000"/>
              </a:solidFill>
              <a:cs typeface="Arial"/>
            </a:endParaRPr>
          </a:p>
          <a:p>
            <a:pPr marL="93345" indent="-93345">
              <a:lnSpc>
                <a:spcPts val="1100"/>
              </a:lnSpc>
              <a:spcAft>
                <a:spcPts val="400"/>
              </a:spcAft>
              <a:buClrTx/>
              <a:buSzTx/>
              <a:buFont typeface="Arial" pitchFamily="34" charset="0"/>
              <a:buChar char="•"/>
            </a:pPr>
            <a:endParaRPr lang="de-DE" altLang="de-DE" sz="1150">
              <a:solidFill>
                <a:srgbClr val="000000"/>
              </a:solidFill>
              <a:cs typeface="Arial"/>
            </a:endParaRPr>
          </a:p>
        </p:txBody>
      </p:sp>
      <p:sp>
        <p:nvSpPr>
          <p:cNvPr id="5" name="Rectangle 20">
            <a:extLst>
              <a:ext uri="{FF2B5EF4-FFF2-40B4-BE49-F238E27FC236}">
                <a16:creationId xmlns:a16="http://schemas.microsoft.com/office/drawing/2014/main" id="{B7064852-92F6-90B4-7401-1677F25C0AF3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-522894" y="2813518"/>
            <a:ext cx="2133453" cy="46723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2700" algn="ctr">
            <a:solidFill>
              <a:schemeClr val="bg1"/>
            </a:solidFill>
            <a:miter lim="800000"/>
            <a:headEnd/>
            <a:tailEnd/>
          </a:ln>
        </p:spPr>
        <p:txBody>
          <a:bodyPr lIns="0" tIns="46800" rIns="0" bIns="46800" anchor="ctr"/>
          <a:lstStyle>
            <a:lvl1pPr>
              <a:spcAft>
                <a:spcPct val="50000"/>
              </a:spcAft>
              <a:buClr>
                <a:srgbClr val="00279F"/>
              </a:buClr>
              <a:buSzPct val="8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Aft>
                <a:spcPct val="50000"/>
              </a:spcAft>
              <a:buClr>
                <a:srgbClr val="00279F"/>
              </a:buClr>
              <a:buSzPct val="80000"/>
              <a:buFont typeface="Wingdings" pitchFamily="2" charset="2"/>
              <a:buChar char="u"/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Aft>
                <a:spcPct val="50000"/>
              </a:spcAft>
              <a:buClr>
                <a:schemeClr val="hlink"/>
              </a:buClr>
              <a:buSzPct val="80000"/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-"/>
              <a:defRPr kumimoji="1" sz="1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50000"/>
              </a:spcBef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>
              <a:spcAft>
                <a:spcPct val="0"/>
              </a:spcAft>
              <a:buClrTx/>
              <a:buSzTx/>
              <a:buFontTx/>
              <a:buNone/>
            </a:pPr>
            <a:r>
              <a:rPr lang="de-DE" altLang="de-DE" sz="1200" b="1">
                <a:solidFill>
                  <a:prstClr val="white"/>
                </a:solidFill>
              </a:rPr>
              <a:t>Pain Points</a:t>
            </a:r>
          </a:p>
        </p:txBody>
      </p:sp>
      <p:sp>
        <p:nvSpPr>
          <p:cNvPr id="18" name="Rectangle 20">
            <a:extLst>
              <a:ext uri="{FF2B5EF4-FFF2-40B4-BE49-F238E27FC236}">
                <a16:creationId xmlns:a16="http://schemas.microsoft.com/office/drawing/2014/main" id="{55D6E1B2-4D99-0D73-4731-9C972343989B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-402549" y="4982674"/>
            <a:ext cx="1892764" cy="467231"/>
          </a:xfrm>
          <a:prstGeom prst="rect">
            <a:avLst/>
          </a:prstGeom>
          <a:solidFill>
            <a:schemeClr val="bg2">
              <a:lumMod val="75000"/>
            </a:schemeClr>
          </a:solidFill>
          <a:ln w="12700" algn="ctr">
            <a:solidFill>
              <a:schemeClr val="bg1"/>
            </a:solidFill>
            <a:miter lim="800000"/>
            <a:headEnd/>
            <a:tailEnd/>
          </a:ln>
        </p:spPr>
        <p:txBody>
          <a:bodyPr lIns="0" tIns="46800" rIns="0" bIns="46800" anchor="ctr"/>
          <a:lstStyle>
            <a:lvl1pPr>
              <a:spcAft>
                <a:spcPct val="50000"/>
              </a:spcAft>
              <a:buClr>
                <a:srgbClr val="00279F"/>
              </a:buClr>
              <a:buSzPct val="8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Aft>
                <a:spcPct val="50000"/>
              </a:spcAft>
              <a:buClr>
                <a:srgbClr val="00279F"/>
              </a:buClr>
              <a:buSzPct val="80000"/>
              <a:buFont typeface="Wingdings" pitchFamily="2" charset="2"/>
              <a:buChar char="u"/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Aft>
                <a:spcPct val="50000"/>
              </a:spcAft>
              <a:buClr>
                <a:schemeClr val="hlink"/>
              </a:buClr>
              <a:buSzPct val="80000"/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-"/>
              <a:defRPr kumimoji="1" sz="1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50000"/>
              </a:spcBef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>
              <a:spcAft>
                <a:spcPct val="0"/>
              </a:spcAft>
              <a:buClrTx/>
              <a:buSzTx/>
              <a:buFontTx/>
              <a:buNone/>
            </a:pPr>
            <a:r>
              <a:rPr lang="de-DE" altLang="de-DE" sz="1200" b="1">
                <a:solidFill>
                  <a:prstClr val="white"/>
                </a:solidFill>
              </a:rPr>
              <a:t>Optimierungsansätze</a:t>
            </a:r>
          </a:p>
        </p:txBody>
      </p:sp>
    </p:spTree>
    <p:extLst>
      <p:ext uri="{BB962C8B-B14F-4D97-AF65-F5344CB8AC3E}">
        <p14:creationId xmlns:p14="http://schemas.microsoft.com/office/powerpoint/2010/main" val="18113116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99B6DF-E4D7-E75F-BC71-B25D678FF1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Eingekerbter Richtungspfeil 85">
            <a:extLst>
              <a:ext uri="{FF2B5EF4-FFF2-40B4-BE49-F238E27FC236}">
                <a16:creationId xmlns:a16="http://schemas.microsoft.com/office/drawing/2014/main" id="{C45AF56F-1195-060A-8324-3AE33BB1E86C}"/>
              </a:ext>
            </a:extLst>
          </p:cNvPr>
          <p:cNvSpPr/>
          <p:nvPr/>
        </p:nvSpPr>
        <p:spPr>
          <a:xfrm>
            <a:off x="3295635" y="1783394"/>
            <a:ext cx="6796959" cy="3114752"/>
          </a:xfrm>
          <a:prstGeom prst="roundRect">
            <a:avLst>
              <a:gd name="adj" fmla="val 10201"/>
            </a:avLst>
          </a:prstGeom>
          <a:solidFill>
            <a:schemeClr val="bg2">
              <a:lumMod val="20000"/>
              <a:lumOff val="80000"/>
            </a:schemeClr>
          </a:solidFill>
          <a:ln w="12700" cap="flat" cmpd="sng" algn="ctr">
            <a:solidFill>
              <a:srgbClr val="4F81BD">
                <a:lumMod val="60000"/>
                <a:lumOff val="40000"/>
              </a:srgbClr>
            </a:solidFill>
            <a:prstDash val="lgDashDot"/>
          </a:ln>
          <a:effectLst/>
        </p:spPr>
        <p:txBody>
          <a:bodyPr vert="horz" lIns="91415" tIns="45705" rIns="91415" bIns="45705" rtlCol="0" anchor="b"/>
          <a:lstStyle/>
          <a:p>
            <a:pPr marL="0" marR="0" lvl="0" indent="0" algn="ctr" defTabSz="91414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1200" b="1" i="0" u="none" strike="noStrike" kern="0" cap="none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Austritts-Fall</a:t>
            </a:r>
          </a:p>
        </p:txBody>
      </p:sp>
      <p:sp>
        <p:nvSpPr>
          <p:cNvPr id="35" name="Eingekerbter Richtungspfeil 85">
            <a:extLst>
              <a:ext uri="{FF2B5EF4-FFF2-40B4-BE49-F238E27FC236}">
                <a16:creationId xmlns:a16="http://schemas.microsoft.com/office/drawing/2014/main" id="{E00A37FA-5436-7E55-0D2E-0CC96A366476}"/>
              </a:ext>
            </a:extLst>
          </p:cNvPr>
          <p:cNvSpPr/>
          <p:nvPr/>
        </p:nvSpPr>
        <p:spPr>
          <a:xfrm>
            <a:off x="407368" y="2381088"/>
            <a:ext cx="2725426" cy="2517058"/>
          </a:xfrm>
          <a:prstGeom prst="roundRect">
            <a:avLst>
              <a:gd name="adj" fmla="val 8855"/>
            </a:avLst>
          </a:prstGeom>
          <a:solidFill>
            <a:schemeClr val="bg2">
              <a:lumMod val="20000"/>
              <a:lumOff val="80000"/>
            </a:schemeClr>
          </a:solidFill>
          <a:ln w="12700" cap="flat" cmpd="sng" algn="ctr">
            <a:solidFill>
              <a:srgbClr val="4F81BD">
                <a:lumMod val="60000"/>
                <a:lumOff val="40000"/>
              </a:srgbClr>
            </a:solidFill>
            <a:prstDash val="lgDashDot"/>
          </a:ln>
          <a:effectLst/>
        </p:spPr>
        <p:txBody>
          <a:bodyPr vert="horz" lIns="91415" tIns="45705" rIns="91415" bIns="45705" rtlCol="0" anchor="b"/>
          <a:lstStyle/>
          <a:p>
            <a:pPr marL="0" marR="0" lvl="0" indent="0" algn="ctr" defTabSz="91414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1200" b="1" i="0" u="none" strike="noStrike" kern="0" cap="none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Separate vorbereitende Prozesse</a:t>
            </a: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BBB91B24-18AA-3B49-B868-CB8ED40241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08.07.2026</a:t>
            </a:r>
            <a:endParaRPr lang="de-CH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81A1DFD5-CC6C-FF9B-FE38-B32A3CC35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Zwischenbericht Digitalisierung Austrittsprozess USB</a:t>
            </a:r>
            <a:endParaRPr lang="de-CH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7B79760D-CB24-BB77-2A08-ADDE5FEDF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/>
              <a:t>SOLL Austrittsprozess: Harmonisierung und Reduktion der Varianten </a:t>
            </a:r>
          </a:p>
        </p:txBody>
      </p:sp>
      <p:sp>
        <p:nvSpPr>
          <p:cNvPr id="8" name="AutoShape 24">
            <a:extLst>
              <a:ext uri="{FF2B5EF4-FFF2-40B4-BE49-F238E27FC236}">
                <a16:creationId xmlns:a16="http://schemas.microsoft.com/office/drawing/2014/main" id="{531B0B0E-5487-EB36-3857-C0BDE54212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46585" y="2195528"/>
            <a:ext cx="1051394" cy="396345"/>
          </a:xfrm>
          <a:prstGeom prst="chevron">
            <a:avLst>
              <a:gd name="adj" fmla="val 37537"/>
            </a:avLst>
          </a:prstGeom>
          <a:solidFill>
            <a:schemeClr val="accent2">
              <a:lumMod val="60000"/>
              <a:lumOff val="40000"/>
            </a:schemeClr>
          </a:solidFill>
          <a:ln w="9525" algn="ctr">
            <a:solidFill>
              <a:srgbClr val="4F81BD">
                <a:lumMod val="20000"/>
                <a:lumOff val="80000"/>
              </a:srgb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45716" rIns="36000" bIns="45716" anchor="ctr" anchorCtr="1"/>
          <a:lstStyle/>
          <a:p>
            <a:pPr marL="0" marR="0" lvl="0" indent="0" algn="ctr" defTabSz="914400" eaLnBrk="0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10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Austritt bearbeiten</a:t>
            </a:r>
          </a:p>
        </p:txBody>
      </p:sp>
      <p:sp>
        <p:nvSpPr>
          <p:cNvPr id="19" name="AutoShape 24">
            <a:extLst>
              <a:ext uri="{FF2B5EF4-FFF2-40B4-BE49-F238E27FC236}">
                <a16:creationId xmlns:a16="http://schemas.microsoft.com/office/drawing/2014/main" id="{7AC46E9B-6A2F-DD1A-067F-15C1B370C1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91668" y="1227207"/>
            <a:ext cx="6800926" cy="396345"/>
          </a:xfrm>
          <a:prstGeom prst="chevron">
            <a:avLst>
              <a:gd name="adj" fmla="val 37537"/>
            </a:avLst>
          </a:prstGeom>
          <a:solidFill>
            <a:schemeClr val="accent6">
              <a:lumMod val="20000"/>
              <a:lumOff val="80000"/>
            </a:schemeClr>
          </a:solidFill>
          <a:ln w="9525" algn="ctr">
            <a:solidFill>
              <a:srgbClr val="4F81BD">
                <a:lumMod val="20000"/>
                <a:lumOff val="80000"/>
              </a:srgb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45716" rIns="36000" bIns="45716" anchor="ctr" anchorCtr="1"/>
          <a:lstStyle/>
          <a:p>
            <a:pPr marL="0" marR="0" lvl="0" indent="0" algn="ctr" defTabSz="914400" eaLnBrk="0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1000" b="1" i="0" u="none" strike="noStrike" kern="0" cap="none" spc="0" normalizeH="0" baseline="0" noProof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</a:rPr>
              <a:t>Anstellung USB</a:t>
            </a:r>
          </a:p>
        </p:txBody>
      </p:sp>
      <p:sp>
        <p:nvSpPr>
          <p:cNvPr id="20" name="AutoShape 24">
            <a:extLst>
              <a:ext uri="{FF2B5EF4-FFF2-40B4-BE49-F238E27FC236}">
                <a16:creationId xmlns:a16="http://schemas.microsoft.com/office/drawing/2014/main" id="{90E55CD8-6E3D-66D1-5E3C-E8692BE542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28405" y="1227207"/>
            <a:ext cx="1051394" cy="396345"/>
          </a:xfrm>
          <a:prstGeom prst="chevron">
            <a:avLst>
              <a:gd name="adj" fmla="val 37537"/>
            </a:avLst>
          </a:prstGeom>
          <a:solidFill>
            <a:schemeClr val="accent5">
              <a:lumMod val="20000"/>
              <a:lumOff val="80000"/>
            </a:schemeClr>
          </a:solidFill>
          <a:ln w="9525" algn="ctr">
            <a:solidFill>
              <a:srgbClr val="4F81BD">
                <a:lumMod val="20000"/>
                <a:lumOff val="80000"/>
              </a:srgb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45716" rIns="36000" bIns="45716" anchor="ctr" anchorCtr="1"/>
          <a:lstStyle/>
          <a:p>
            <a:pPr marL="0" marR="0" lvl="0" indent="0" algn="ctr" defTabSz="914400" eaLnBrk="0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1000" b="1" i="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</a:rPr>
              <a:t>Austritt</a:t>
            </a:r>
          </a:p>
        </p:txBody>
      </p:sp>
      <p:sp>
        <p:nvSpPr>
          <p:cNvPr id="22" name="Eingekerbter Richtungspfeil 85">
            <a:extLst>
              <a:ext uri="{FF2B5EF4-FFF2-40B4-BE49-F238E27FC236}">
                <a16:creationId xmlns:a16="http://schemas.microsoft.com/office/drawing/2014/main" id="{A2884065-EA6D-DD53-77D5-F7A978D37271}"/>
              </a:ext>
            </a:extLst>
          </p:cNvPr>
          <p:cNvSpPr/>
          <p:nvPr/>
        </p:nvSpPr>
        <p:spPr>
          <a:xfrm>
            <a:off x="5704203" y="1872045"/>
            <a:ext cx="400846" cy="2375116"/>
          </a:xfrm>
          <a:prstGeom prst="roundRect">
            <a:avLst/>
          </a:prstGeom>
          <a:solidFill>
            <a:schemeClr val="bg2">
              <a:lumMod val="20000"/>
              <a:lumOff val="80000"/>
            </a:schemeClr>
          </a:solidFill>
          <a:ln w="12700" cap="flat" cmpd="sng" algn="ctr">
            <a:solidFill>
              <a:srgbClr val="4F81BD">
                <a:lumMod val="60000"/>
                <a:lumOff val="40000"/>
              </a:srgbClr>
            </a:solidFill>
            <a:prstDash val="lgDashDot"/>
          </a:ln>
          <a:effectLst/>
        </p:spPr>
        <p:txBody>
          <a:bodyPr vert="vert270" lIns="91415" tIns="45705" rIns="91415" bIns="45705" rtlCol="0" anchor="t"/>
          <a:lstStyle/>
          <a:p>
            <a:pPr marL="0" marR="0" lvl="0" indent="0" algn="ctr" defTabSz="91414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1200" b="0" i="0" u="none" strike="noStrike" kern="0" cap="none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Austritt ist bestätigt</a:t>
            </a:r>
          </a:p>
        </p:txBody>
      </p:sp>
      <p:sp>
        <p:nvSpPr>
          <p:cNvPr id="7" name="AutoShape 24">
            <a:extLst>
              <a:ext uri="{FF2B5EF4-FFF2-40B4-BE49-F238E27FC236}">
                <a16:creationId xmlns:a16="http://schemas.microsoft.com/office/drawing/2014/main" id="{4F278493-B495-8465-DD25-CB005038D7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4494" y="3531140"/>
            <a:ext cx="1051394" cy="396345"/>
          </a:xfrm>
          <a:prstGeom prst="chevron">
            <a:avLst>
              <a:gd name="adj" fmla="val 37537"/>
            </a:avLst>
          </a:prstGeom>
          <a:solidFill>
            <a:schemeClr val="bg1">
              <a:lumMod val="85000"/>
            </a:schemeClr>
          </a:solidFill>
          <a:ln w="9525" algn="ctr">
            <a:solidFill>
              <a:srgbClr val="4F81BD">
                <a:lumMod val="20000"/>
                <a:lumOff val="80000"/>
              </a:srgb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45716" rIns="36000" bIns="45716" anchor="ctr" anchorCtr="1"/>
          <a:lstStyle/>
          <a:p>
            <a:pPr marL="0" marR="0" lvl="0" indent="0" algn="ctr" defTabSz="914400" eaLnBrk="0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10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(Teil-)</a:t>
            </a:r>
          </a:p>
          <a:p>
            <a:pPr marL="0" marR="0" lvl="0" indent="0" algn="ctr" defTabSz="914400" eaLnBrk="0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10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Ablauf Befristung</a:t>
            </a:r>
          </a:p>
        </p:txBody>
      </p:sp>
      <p:sp>
        <p:nvSpPr>
          <p:cNvPr id="13" name="AutoShape 24">
            <a:extLst>
              <a:ext uri="{FF2B5EF4-FFF2-40B4-BE49-F238E27FC236}">
                <a16:creationId xmlns:a16="http://schemas.microsoft.com/office/drawing/2014/main" id="{45A03DD0-C225-69DF-2ACC-17C3E9E7FE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2377" y="2937227"/>
            <a:ext cx="1051394" cy="396345"/>
          </a:xfrm>
          <a:prstGeom prst="chevron">
            <a:avLst>
              <a:gd name="adj" fmla="val 37537"/>
            </a:avLst>
          </a:prstGeom>
          <a:solidFill>
            <a:schemeClr val="accent2">
              <a:lumMod val="40000"/>
              <a:lumOff val="60000"/>
            </a:schemeClr>
          </a:solidFill>
          <a:ln w="9525" algn="ctr">
            <a:solidFill>
              <a:srgbClr val="4F81BD">
                <a:lumMod val="20000"/>
                <a:lumOff val="80000"/>
              </a:srgb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45716" rIns="36000" bIns="45716" anchor="ctr" anchorCtr="1"/>
          <a:lstStyle/>
          <a:p>
            <a:pPr marL="0" marR="0" lvl="0" indent="0" algn="ctr" defTabSz="914400" eaLnBrk="0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10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Kündigung AN</a:t>
            </a:r>
          </a:p>
        </p:txBody>
      </p:sp>
      <p:sp>
        <p:nvSpPr>
          <p:cNvPr id="14" name="AutoShape 24">
            <a:extLst>
              <a:ext uri="{FF2B5EF4-FFF2-40B4-BE49-F238E27FC236}">
                <a16:creationId xmlns:a16="http://schemas.microsoft.com/office/drawing/2014/main" id="{DFFAD4FA-5019-C2E5-4EFA-04264F7683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4494" y="2913390"/>
            <a:ext cx="1051394" cy="396345"/>
          </a:xfrm>
          <a:prstGeom prst="chevron">
            <a:avLst>
              <a:gd name="adj" fmla="val 37537"/>
            </a:avLst>
          </a:prstGeom>
          <a:solidFill>
            <a:schemeClr val="bg1">
              <a:lumMod val="85000"/>
            </a:schemeClr>
          </a:solidFill>
          <a:ln w="9525" algn="ctr">
            <a:solidFill>
              <a:srgbClr val="4F81BD">
                <a:lumMod val="20000"/>
                <a:lumOff val="80000"/>
              </a:srgb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45716" rIns="36000" bIns="45716" anchor="ctr" anchorCtr="1"/>
          <a:lstStyle/>
          <a:p>
            <a:pPr marL="0" marR="0" lvl="0" indent="0" algn="ctr" defTabSz="914400" eaLnBrk="0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10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(</a:t>
            </a:r>
            <a:r>
              <a:rPr lang="de-CH" sz="1000" b="1" kern="0">
                <a:solidFill>
                  <a:schemeClr val="tx2"/>
                </a:solidFill>
              </a:rPr>
              <a:t>Teil-) </a:t>
            </a:r>
            <a:r>
              <a:rPr kumimoji="0" lang="de-CH" sz="10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Pensionierung</a:t>
            </a:r>
          </a:p>
        </p:txBody>
      </p:sp>
      <p:sp>
        <p:nvSpPr>
          <p:cNvPr id="21" name="AutoShape 24">
            <a:extLst>
              <a:ext uri="{FF2B5EF4-FFF2-40B4-BE49-F238E27FC236}">
                <a16:creationId xmlns:a16="http://schemas.microsoft.com/office/drawing/2014/main" id="{BD79C34C-5C74-6385-2288-8A20467EE5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78696" y="2195528"/>
            <a:ext cx="1051394" cy="396345"/>
          </a:xfrm>
          <a:prstGeom prst="chevron">
            <a:avLst>
              <a:gd name="adj" fmla="val 37537"/>
            </a:avLst>
          </a:prstGeom>
          <a:solidFill>
            <a:schemeClr val="accent2">
              <a:lumMod val="60000"/>
              <a:lumOff val="40000"/>
            </a:schemeClr>
          </a:solidFill>
          <a:ln w="9525" algn="ctr">
            <a:solidFill>
              <a:srgbClr val="4F81BD">
                <a:lumMod val="20000"/>
                <a:lumOff val="80000"/>
              </a:srgb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45716" rIns="36000" bIns="45716" anchor="ctr" anchorCtr="1"/>
          <a:lstStyle/>
          <a:p>
            <a:pPr marL="0" marR="0" lvl="0" indent="0" algn="ctr" defTabSz="914400" eaLnBrk="0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10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Austritt melden</a:t>
            </a:r>
          </a:p>
        </p:txBody>
      </p:sp>
      <p:sp>
        <p:nvSpPr>
          <p:cNvPr id="25" name="AutoShape 24">
            <a:extLst>
              <a:ext uri="{FF2B5EF4-FFF2-40B4-BE49-F238E27FC236}">
                <a16:creationId xmlns:a16="http://schemas.microsoft.com/office/drawing/2014/main" id="{7C9F5584-97F2-0362-B75D-9ADD8480E0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60418" y="3493997"/>
            <a:ext cx="1051394" cy="396345"/>
          </a:xfrm>
          <a:prstGeom prst="chevron">
            <a:avLst>
              <a:gd name="adj" fmla="val 37537"/>
            </a:avLst>
          </a:prstGeom>
          <a:solidFill>
            <a:schemeClr val="bg1">
              <a:lumMod val="85000"/>
            </a:schemeClr>
          </a:solidFill>
          <a:ln w="9525" algn="ctr">
            <a:solidFill>
              <a:srgbClr val="4F81BD">
                <a:lumMod val="20000"/>
                <a:lumOff val="80000"/>
              </a:srgb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45716" rIns="36000" bIns="45716" anchor="ctr" anchorCtr="1"/>
          <a:lstStyle/>
          <a:p>
            <a:pPr marL="0" marR="0" lvl="0" indent="0" algn="ctr" defTabSz="914400" eaLnBrk="0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10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Austritts-befragung</a:t>
            </a:r>
          </a:p>
        </p:txBody>
      </p:sp>
      <p:sp>
        <p:nvSpPr>
          <p:cNvPr id="6" name="AutoShape 24">
            <a:extLst>
              <a:ext uri="{FF2B5EF4-FFF2-40B4-BE49-F238E27FC236}">
                <a16:creationId xmlns:a16="http://schemas.microsoft.com/office/drawing/2014/main" id="{6ACA92B7-EC5C-D1F8-83A6-572A55495D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4993" y="2217733"/>
            <a:ext cx="1051394" cy="396345"/>
          </a:xfrm>
          <a:prstGeom prst="chevron">
            <a:avLst>
              <a:gd name="adj" fmla="val 37537"/>
            </a:avLst>
          </a:prstGeom>
          <a:solidFill>
            <a:schemeClr val="accent2">
              <a:lumMod val="40000"/>
              <a:lumOff val="60000"/>
            </a:schemeClr>
          </a:solidFill>
          <a:ln w="9525" algn="ctr">
            <a:solidFill>
              <a:srgbClr val="4F81BD">
                <a:lumMod val="20000"/>
                <a:lumOff val="80000"/>
              </a:srgb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45716" rIns="36000" bIns="45716" anchor="ctr" anchorCtr="1"/>
          <a:lstStyle/>
          <a:p>
            <a:pPr marL="0" marR="0" lvl="0" indent="0" algn="ctr" defTabSz="914400" eaLnBrk="0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10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Kündigung AG</a:t>
            </a:r>
          </a:p>
        </p:txBody>
      </p:sp>
      <p:sp>
        <p:nvSpPr>
          <p:cNvPr id="17" name="Eingekerbter Richtungspfeil 85">
            <a:extLst>
              <a:ext uri="{FF2B5EF4-FFF2-40B4-BE49-F238E27FC236}">
                <a16:creationId xmlns:a16="http://schemas.microsoft.com/office/drawing/2014/main" id="{BD107569-CE8A-B1F7-610C-76E05F49CAE7}"/>
              </a:ext>
            </a:extLst>
          </p:cNvPr>
          <p:cNvSpPr/>
          <p:nvPr/>
        </p:nvSpPr>
        <p:spPr>
          <a:xfrm>
            <a:off x="1588932" y="3916254"/>
            <a:ext cx="1227897" cy="34572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 cap="flat" cmpd="sng" algn="ctr">
            <a:solidFill>
              <a:srgbClr val="4F81BD">
                <a:lumMod val="60000"/>
                <a:lumOff val="40000"/>
              </a:srgbClr>
            </a:solidFill>
            <a:prstDash val="lgDashDot"/>
          </a:ln>
          <a:effectLst/>
        </p:spPr>
        <p:txBody>
          <a:bodyPr vert="horz" lIns="91415" tIns="45705" rIns="91415" bIns="45705" rtlCol="0" anchor="t"/>
          <a:lstStyle/>
          <a:p>
            <a:pPr marL="0" marR="0" lvl="0" indent="0" algn="ctr" defTabSz="91414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1100" b="0" i="0" u="none" strike="noStrike" kern="0" cap="none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Info einholen</a:t>
            </a:r>
          </a:p>
        </p:txBody>
      </p:sp>
      <p:sp>
        <p:nvSpPr>
          <p:cNvPr id="24" name="Eingekerbter Richtungspfeil 85">
            <a:extLst>
              <a:ext uri="{FF2B5EF4-FFF2-40B4-BE49-F238E27FC236}">
                <a16:creationId xmlns:a16="http://schemas.microsoft.com/office/drawing/2014/main" id="{B33D391B-273D-1D56-C359-FB2F75600D21}"/>
              </a:ext>
            </a:extLst>
          </p:cNvPr>
          <p:cNvSpPr/>
          <p:nvPr/>
        </p:nvSpPr>
        <p:spPr>
          <a:xfrm>
            <a:off x="1613392" y="3164437"/>
            <a:ext cx="1197028" cy="34572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 cap="flat" cmpd="sng" algn="ctr">
            <a:solidFill>
              <a:srgbClr val="4F81BD">
                <a:lumMod val="60000"/>
                <a:lumOff val="40000"/>
              </a:srgbClr>
            </a:solidFill>
            <a:prstDash val="lgDashDot"/>
          </a:ln>
          <a:effectLst/>
        </p:spPr>
        <p:txBody>
          <a:bodyPr vert="horz" lIns="91415" tIns="45705" rIns="91415" bIns="45705" rtlCol="0" anchor="t"/>
          <a:lstStyle/>
          <a:p>
            <a:pPr marL="0" marR="0" lvl="0" indent="0" algn="ctr" defTabSz="91414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1100" b="0" i="0" u="none" strike="noStrike" kern="0" cap="none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Info einholen</a:t>
            </a:r>
          </a:p>
        </p:txBody>
      </p:sp>
      <p:sp>
        <p:nvSpPr>
          <p:cNvPr id="26" name="Eingekerbter Richtungspfeil 85">
            <a:extLst>
              <a:ext uri="{FF2B5EF4-FFF2-40B4-BE49-F238E27FC236}">
                <a16:creationId xmlns:a16="http://schemas.microsoft.com/office/drawing/2014/main" id="{A20E82CF-294F-83D2-875C-07AF35679CF9}"/>
              </a:ext>
            </a:extLst>
          </p:cNvPr>
          <p:cNvSpPr/>
          <p:nvPr/>
        </p:nvSpPr>
        <p:spPr>
          <a:xfrm>
            <a:off x="4343264" y="2500883"/>
            <a:ext cx="1227896" cy="345723"/>
          </a:xfrm>
          <a:prstGeom prst="roundRect">
            <a:avLst/>
          </a:prstGeom>
          <a:solidFill>
            <a:schemeClr val="bg2">
              <a:lumMod val="20000"/>
              <a:lumOff val="80000"/>
            </a:schemeClr>
          </a:solidFill>
          <a:ln w="12700" cap="flat" cmpd="sng" algn="ctr">
            <a:solidFill>
              <a:srgbClr val="4F81BD">
                <a:lumMod val="60000"/>
                <a:lumOff val="40000"/>
              </a:srgbClr>
            </a:solidFill>
            <a:prstDash val="lgDashDot"/>
          </a:ln>
          <a:effectLst/>
        </p:spPr>
        <p:txBody>
          <a:bodyPr vert="horz" lIns="91415" tIns="45705" rIns="91415" bIns="45705" rtlCol="0" anchor="t"/>
          <a:lstStyle/>
          <a:p>
            <a:pPr marL="0" marR="0" lvl="0" indent="0" algn="ctr" defTabSz="91414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1100" b="0" i="0" u="none" strike="noStrike" kern="0" cap="none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Einbezug HRB</a:t>
            </a:r>
          </a:p>
        </p:txBody>
      </p:sp>
      <p:cxnSp>
        <p:nvCxnSpPr>
          <p:cNvPr id="29" name="Gerade Verbindung mit Pfeil 28">
            <a:extLst>
              <a:ext uri="{FF2B5EF4-FFF2-40B4-BE49-F238E27FC236}">
                <a16:creationId xmlns:a16="http://schemas.microsoft.com/office/drawing/2014/main" id="{5DB818DD-986C-7014-0303-FA9E288F316E}"/>
              </a:ext>
            </a:extLst>
          </p:cNvPr>
          <p:cNvCxnSpPr>
            <a:cxnSpLocks/>
          </p:cNvCxnSpPr>
          <p:nvPr/>
        </p:nvCxnSpPr>
        <p:spPr>
          <a:xfrm>
            <a:off x="2473329" y="3059603"/>
            <a:ext cx="1090116" cy="655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Gerade Verbindung mit Pfeil 29">
            <a:extLst>
              <a:ext uri="{FF2B5EF4-FFF2-40B4-BE49-F238E27FC236}">
                <a16:creationId xmlns:a16="http://schemas.microsoft.com/office/drawing/2014/main" id="{DFC91BC2-FC53-29D8-D600-DC78F197FEFA}"/>
              </a:ext>
            </a:extLst>
          </p:cNvPr>
          <p:cNvCxnSpPr>
            <a:cxnSpLocks/>
          </p:cNvCxnSpPr>
          <p:nvPr/>
        </p:nvCxnSpPr>
        <p:spPr>
          <a:xfrm>
            <a:off x="2438917" y="3125108"/>
            <a:ext cx="1189048" cy="4859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Gerade Verbindung mit Pfeil 31">
            <a:extLst>
              <a:ext uri="{FF2B5EF4-FFF2-40B4-BE49-F238E27FC236}">
                <a16:creationId xmlns:a16="http://schemas.microsoft.com/office/drawing/2014/main" id="{9DDDB7A3-AF0A-B719-E12B-34532AB56B7B}"/>
              </a:ext>
            </a:extLst>
          </p:cNvPr>
          <p:cNvCxnSpPr>
            <a:cxnSpLocks/>
          </p:cNvCxnSpPr>
          <p:nvPr/>
        </p:nvCxnSpPr>
        <p:spPr>
          <a:xfrm>
            <a:off x="2490377" y="3724873"/>
            <a:ext cx="1189543" cy="691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0" name="Gruppieren 39">
            <a:extLst>
              <a:ext uri="{FF2B5EF4-FFF2-40B4-BE49-F238E27FC236}">
                <a16:creationId xmlns:a16="http://schemas.microsoft.com/office/drawing/2014/main" id="{E14450CE-20F5-106E-6408-F7ABE3C05E6A}"/>
              </a:ext>
            </a:extLst>
          </p:cNvPr>
          <p:cNvGrpSpPr/>
          <p:nvPr/>
        </p:nvGrpSpPr>
        <p:grpSpPr>
          <a:xfrm>
            <a:off x="3627965" y="3639617"/>
            <a:ext cx="1051394" cy="702644"/>
            <a:chOff x="3437696" y="3520794"/>
            <a:chExt cx="1051394" cy="702644"/>
          </a:xfrm>
        </p:grpSpPr>
        <p:sp>
          <p:nvSpPr>
            <p:cNvPr id="27" name="AutoShape 24">
              <a:extLst>
                <a:ext uri="{FF2B5EF4-FFF2-40B4-BE49-F238E27FC236}">
                  <a16:creationId xmlns:a16="http://schemas.microsoft.com/office/drawing/2014/main" id="{901E8501-7ED3-D828-F07B-D070716067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37696" y="3827093"/>
              <a:ext cx="1051394" cy="396345"/>
            </a:xfrm>
            <a:prstGeom prst="chevron">
              <a:avLst>
                <a:gd name="adj" fmla="val 0"/>
              </a:avLst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lIns="36000" tIns="45716" rIns="36000" bIns="45716" anchor="ctr" anchorCtr="1"/>
            <a:lstStyle/>
            <a:p>
              <a:pPr marL="0" marR="0" lvl="0" indent="0" algn="ctr" defTabSz="914400" eaLnBrk="0" fontAlgn="auto" latinLnBrk="0" hangingPunct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CH" sz="1000" b="1" i="0" u="none" strike="noStrike" kern="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</a:rPr>
                <a:t>Vertragsablauf</a:t>
              </a:r>
            </a:p>
          </p:txBody>
        </p:sp>
        <p:sp>
          <p:nvSpPr>
            <p:cNvPr id="37" name="Ellipse 36">
              <a:extLst>
                <a:ext uri="{FF2B5EF4-FFF2-40B4-BE49-F238E27FC236}">
                  <a16:creationId xmlns:a16="http://schemas.microsoft.com/office/drawing/2014/main" id="{6D309448-6B2B-3FC0-9841-FDD4345EC8D8}"/>
                </a:ext>
              </a:extLst>
            </p:cNvPr>
            <p:cNvSpPr/>
            <p:nvPr/>
          </p:nvSpPr>
          <p:spPr>
            <a:xfrm>
              <a:off x="3776360" y="3520794"/>
              <a:ext cx="349105" cy="349105"/>
            </a:xfrm>
            <a:prstGeom prst="ellipse">
              <a:avLst/>
            </a:prstGeom>
            <a:noFill/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</p:grpSp>
      <p:sp>
        <p:nvSpPr>
          <p:cNvPr id="38" name="Eingekerbter Richtungspfeil 85">
            <a:extLst>
              <a:ext uri="{FF2B5EF4-FFF2-40B4-BE49-F238E27FC236}">
                <a16:creationId xmlns:a16="http://schemas.microsoft.com/office/drawing/2014/main" id="{FF8541BE-BB3C-BBDE-7EC5-DD96162D55BB}"/>
              </a:ext>
            </a:extLst>
          </p:cNvPr>
          <p:cNvSpPr/>
          <p:nvPr/>
        </p:nvSpPr>
        <p:spPr>
          <a:xfrm>
            <a:off x="6267890" y="2670146"/>
            <a:ext cx="1270967" cy="872120"/>
          </a:xfrm>
          <a:prstGeom prst="roundRect">
            <a:avLst/>
          </a:prstGeom>
          <a:solidFill>
            <a:schemeClr val="bg2">
              <a:lumMod val="20000"/>
              <a:lumOff val="80000"/>
            </a:schemeClr>
          </a:solidFill>
          <a:ln w="12700" cap="flat" cmpd="sng" algn="ctr">
            <a:solidFill>
              <a:srgbClr val="4F81BD">
                <a:lumMod val="60000"/>
                <a:lumOff val="40000"/>
              </a:srgbClr>
            </a:solidFill>
            <a:prstDash val="lgDashDot"/>
          </a:ln>
          <a:effectLst/>
        </p:spPr>
        <p:txBody>
          <a:bodyPr vert="horz" lIns="91415" tIns="45705" rIns="91415" bIns="45705" rtlCol="0" anchor="t"/>
          <a:lstStyle/>
          <a:p>
            <a:pPr marL="0" marR="0" lvl="0" indent="0" algn="ctr" defTabSz="91414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1100" b="0" i="0" u="none" strike="noStrike" kern="0" cap="none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Inkl. Grund/ Details (Teil-) Pensionierung, Freistellung etc.</a:t>
            </a:r>
          </a:p>
        </p:txBody>
      </p:sp>
      <p:sp>
        <p:nvSpPr>
          <p:cNvPr id="41" name="Eingekerbter Richtungspfeil 85">
            <a:extLst>
              <a:ext uri="{FF2B5EF4-FFF2-40B4-BE49-F238E27FC236}">
                <a16:creationId xmlns:a16="http://schemas.microsoft.com/office/drawing/2014/main" id="{88439980-9CE8-E238-F532-E8E8D6BF8BBD}"/>
              </a:ext>
            </a:extLst>
          </p:cNvPr>
          <p:cNvSpPr/>
          <p:nvPr/>
        </p:nvSpPr>
        <p:spPr>
          <a:xfrm>
            <a:off x="407368" y="5650342"/>
            <a:ext cx="176502" cy="172861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 cap="flat" cmpd="sng" algn="ctr">
            <a:noFill/>
            <a:prstDash val="lgDashDot"/>
          </a:ln>
          <a:effectLst/>
        </p:spPr>
        <p:txBody>
          <a:bodyPr vert="horz" lIns="91415" tIns="45705" rIns="91415" bIns="45705" rtlCol="0" anchor="t"/>
          <a:lstStyle/>
          <a:p>
            <a:pPr marL="0" marR="0" lvl="0" indent="0" algn="ctr" defTabSz="91414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CH" sz="1200" b="0" i="0" u="none" strike="noStrike" kern="0" cap="none" spc="0" normalizeH="0" baseline="0" noProof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2" name="Textfeld 41">
            <a:extLst>
              <a:ext uri="{FF2B5EF4-FFF2-40B4-BE49-F238E27FC236}">
                <a16:creationId xmlns:a16="http://schemas.microsoft.com/office/drawing/2014/main" id="{1F26CF1C-6F9A-4632-879C-5A880A604098}"/>
              </a:ext>
            </a:extLst>
          </p:cNvPr>
          <p:cNvSpPr txBox="1"/>
          <p:nvPr/>
        </p:nvSpPr>
        <p:spPr>
          <a:xfrm>
            <a:off x="712706" y="5568099"/>
            <a:ext cx="1484671" cy="25510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ts val="2400"/>
              </a:lnSpc>
              <a:spcAft>
                <a:spcPts val="900"/>
              </a:spcAft>
            </a:pPr>
            <a:r>
              <a:rPr lang="de-CH" sz="1200"/>
              <a:t>Out-</a:t>
            </a:r>
            <a:r>
              <a:rPr lang="de-CH" sz="1200" err="1"/>
              <a:t>of</a:t>
            </a:r>
            <a:r>
              <a:rPr lang="de-CH" sz="1200"/>
              <a:t>-</a:t>
            </a:r>
            <a:r>
              <a:rPr lang="de-CH" sz="1200" err="1"/>
              <a:t>scope</a:t>
            </a:r>
            <a:endParaRPr lang="de-CH" sz="1200"/>
          </a:p>
        </p:txBody>
      </p:sp>
      <p:sp>
        <p:nvSpPr>
          <p:cNvPr id="43" name="Textfeld 42">
            <a:extLst>
              <a:ext uri="{FF2B5EF4-FFF2-40B4-BE49-F238E27FC236}">
                <a16:creationId xmlns:a16="http://schemas.microsoft.com/office/drawing/2014/main" id="{7FC8DA82-B1AB-2051-A477-72DD920E0FFD}"/>
              </a:ext>
            </a:extLst>
          </p:cNvPr>
          <p:cNvSpPr txBox="1"/>
          <p:nvPr/>
        </p:nvSpPr>
        <p:spPr>
          <a:xfrm>
            <a:off x="3291668" y="5181296"/>
            <a:ext cx="7223413" cy="67519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ts val="2400"/>
              </a:lnSpc>
              <a:spcAft>
                <a:spcPts val="900"/>
              </a:spcAft>
            </a:pPr>
            <a:r>
              <a:rPr lang="de-CH" sz="1200"/>
              <a:t>Einheitlicher Prozess für alle Austrittsarten. Variationen werden aufgrund des unterschiedlichen «Austrittsgrunds» in der Meldung festgehalten und steuern entsprechend den weiterführenden Prozess. </a:t>
            </a:r>
          </a:p>
        </p:txBody>
      </p:sp>
      <p:sp>
        <p:nvSpPr>
          <p:cNvPr id="48" name="Eingekerbter Richtungspfeil 85">
            <a:extLst>
              <a:ext uri="{FF2B5EF4-FFF2-40B4-BE49-F238E27FC236}">
                <a16:creationId xmlns:a16="http://schemas.microsoft.com/office/drawing/2014/main" id="{14489E08-7976-7CCE-BC28-D702308C17F9}"/>
              </a:ext>
            </a:extLst>
          </p:cNvPr>
          <p:cNvSpPr/>
          <p:nvPr/>
        </p:nvSpPr>
        <p:spPr>
          <a:xfrm>
            <a:off x="407368" y="5905056"/>
            <a:ext cx="176502" cy="172861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12700" cap="flat" cmpd="sng" algn="ctr">
            <a:noFill/>
            <a:prstDash val="lgDashDot"/>
          </a:ln>
          <a:effectLst/>
        </p:spPr>
        <p:txBody>
          <a:bodyPr vert="horz" lIns="91415" tIns="45705" rIns="91415" bIns="45705" rtlCol="0" anchor="t"/>
          <a:lstStyle/>
          <a:p>
            <a:pPr marL="0" marR="0" lvl="0" indent="0" algn="ctr" defTabSz="91414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CH" sz="1200" b="0" i="0" u="none" strike="noStrike" kern="0" cap="none" spc="0" normalizeH="0" baseline="0" noProof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9" name="Textfeld 48">
            <a:extLst>
              <a:ext uri="{FF2B5EF4-FFF2-40B4-BE49-F238E27FC236}">
                <a16:creationId xmlns:a16="http://schemas.microsoft.com/office/drawing/2014/main" id="{8953A345-C68C-8A83-B03D-E2F11FE3917F}"/>
              </a:ext>
            </a:extLst>
          </p:cNvPr>
          <p:cNvSpPr txBox="1"/>
          <p:nvPr/>
        </p:nvSpPr>
        <p:spPr>
          <a:xfrm>
            <a:off x="712706" y="5822813"/>
            <a:ext cx="1484671" cy="25510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ts val="2400"/>
              </a:lnSpc>
              <a:spcAft>
                <a:spcPts val="900"/>
              </a:spcAft>
            </a:pPr>
            <a:r>
              <a:rPr lang="de-CH" sz="1200"/>
              <a:t>In-</a:t>
            </a:r>
            <a:r>
              <a:rPr lang="de-CH" sz="1200" err="1"/>
              <a:t>scope</a:t>
            </a:r>
            <a:endParaRPr lang="de-CH" sz="1200"/>
          </a:p>
        </p:txBody>
      </p:sp>
    </p:spTree>
    <p:extLst>
      <p:ext uri="{BB962C8B-B14F-4D97-AF65-F5344CB8AC3E}">
        <p14:creationId xmlns:p14="http://schemas.microsoft.com/office/powerpoint/2010/main" val="1734200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3C285C5C-A2DC-177F-E35D-CC975D3920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08.07.2026</a:t>
            </a:r>
            <a:endParaRPr lang="de-CH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7AFCF589-43B4-E2FD-87FB-881814548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Zwischenbericht Digitalisierung Austrittsprozess USB</a:t>
            </a:r>
            <a:endParaRPr lang="de-CH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7522DD6E-B436-55F7-52F3-584573A6BD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Der neue Prozess – die wichtigsten Veränderungen</a:t>
            </a:r>
            <a:br>
              <a:rPr lang="de-DE"/>
            </a:br>
            <a:endParaRPr lang="de-CH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B2717B8C-EC1C-5A4F-FC9F-FD4F2E9249B2}"/>
              </a:ext>
            </a:extLst>
          </p:cNvPr>
          <p:cNvSpPr/>
          <p:nvPr/>
        </p:nvSpPr>
        <p:spPr>
          <a:xfrm>
            <a:off x="566928" y="1060704"/>
            <a:ext cx="1005840" cy="54864"/>
          </a:xfrm>
          <a:prstGeom prst="rect">
            <a:avLst/>
          </a:prstGeom>
          <a:solidFill>
            <a:srgbClr val="2E85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7F5C4FBC-984F-4122-5AC9-E30B79EE2BA8}"/>
              </a:ext>
            </a:extLst>
          </p:cNvPr>
          <p:cNvSpPr txBox="1"/>
          <p:nvPr/>
        </p:nvSpPr>
        <p:spPr>
          <a:xfrm>
            <a:off x="548640" y="1207008"/>
            <a:ext cx="11091672" cy="4616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de-DE" sz="1500" b="0">
                <a:solidFill>
                  <a:srgbClr val="2B2B2B"/>
                </a:solidFill>
                <a:latin typeface="+mj-lt"/>
              </a:rPr>
              <a:t>Der Austrittsprozess wird weitgehend harmonisiert und systemgestützt abgebildet. Voraussetzung ist die Integration von Jira und SAP HCM.</a:t>
            </a:r>
            <a:endParaRPr sz="1500" b="0">
              <a:solidFill>
                <a:srgbClr val="2B2B2B"/>
              </a:solidFill>
              <a:latin typeface="+mj-lt"/>
            </a:endParaRPr>
          </a:p>
        </p:txBody>
      </p:sp>
      <p:sp>
        <p:nvSpPr>
          <p:cNvPr id="8" name="Rounded Rectangle 4">
            <a:extLst>
              <a:ext uri="{FF2B5EF4-FFF2-40B4-BE49-F238E27FC236}">
                <a16:creationId xmlns:a16="http://schemas.microsoft.com/office/drawing/2014/main" id="{BFA08C8B-E405-2C3E-5F95-1C86623028F3}"/>
              </a:ext>
            </a:extLst>
          </p:cNvPr>
          <p:cNvSpPr/>
          <p:nvPr/>
        </p:nvSpPr>
        <p:spPr>
          <a:xfrm>
            <a:off x="548640" y="1874519"/>
            <a:ext cx="2608326" cy="2084831"/>
          </a:xfrm>
          <a:prstGeom prst="roundRect">
            <a:avLst/>
          </a:prstGeom>
          <a:solidFill>
            <a:srgbClr val="E7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5">
            <a:extLst>
              <a:ext uri="{FF2B5EF4-FFF2-40B4-BE49-F238E27FC236}">
                <a16:creationId xmlns:a16="http://schemas.microsoft.com/office/drawing/2014/main" id="{BB3DBF95-B664-450C-4006-528026CCB970}"/>
              </a:ext>
            </a:extLst>
          </p:cNvPr>
          <p:cNvSpPr txBox="1"/>
          <p:nvPr/>
        </p:nvSpPr>
        <p:spPr>
          <a:xfrm>
            <a:off x="749808" y="2039112"/>
            <a:ext cx="2205990" cy="4001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600" b="1">
                <a:solidFill>
                  <a:srgbClr val="12595B"/>
                </a:solidFill>
                <a:latin typeface="+mj-lt"/>
              </a:rPr>
              <a:t>6 → </a:t>
            </a:r>
            <a:r>
              <a:rPr lang="de-CH" sz="2600" b="1">
                <a:solidFill>
                  <a:srgbClr val="12595B"/>
                </a:solidFill>
                <a:latin typeface="+mj-lt"/>
              </a:rPr>
              <a:t>1</a:t>
            </a:r>
            <a:endParaRPr sz="2600" b="1">
              <a:solidFill>
                <a:srgbClr val="12595B"/>
              </a:solidFill>
              <a:latin typeface="+mj-lt"/>
            </a:endParaRPr>
          </a:p>
        </p:txBody>
      </p:sp>
      <p:sp>
        <p:nvSpPr>
          <p:cNvPr id="10" name="TextBox 6">
            <a:extLst>
              <a:ext uri="{FF2B5EF4-FFF2-40B4-BE49-F238E27FC236}">
                <a16:creationId xmlns:a16="http://schemas.microsoft.com/office/drawing/2014/main" id="{E5DE4CAA-FA42-BB12-62AD-6D5D700FFE4A}"/>
              </a:ext>
            </a:extLst>
          </p:cNvPr>
          <p:cNvSpPr txBox="1"/>
          <p:nvPr/>
        </p:nvSpPr>
        <p:spPr>
          <a:xfrm>
            <a:off x="749808" y="2532887"/>
            <a:ext cx="2205990" cy="1769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de-CH" sz="1150" b="1">
                <a:solidFill>
                  <a:srgbClr val="2E8587"/>
                </a:solidFill>
                <a:latin typeface="+mj-lt"/>
              </a:rPr>
              <a:t>Reduktion der Variantenvielfalt</a:t>
            </a:r>
            <a:endParaRPr sz="1150" b="1">
              <a:solidFill>
                <a:srgbClr val="2E8587"/>
              </a:solidFill>
              <a:latin typeface="+mj-lt"/>
            </a:endParaRPr>
          </a:p>
        </p:txBody>
      </p:sp>
      <p:sp>
        <p:nvSpPr>
          <p:cNvPr id="11" name="TextBox 7">
            <a:extLst>
              <a:ext uri="{FF2B5EF4-FFF2-40B4-BE49-F238E27FC236}">
                <a16:creationId xmlns:a16="http://schemas.microsoft.com/office/drawing/2014/main" id="{FE07D242-0C44-3781-0BD2-8AE73B2E44CA}"/>
              </a:ext>
            </a:extLst>
          </p:cNvPr>
          <p:cNvSpPr txBox="1"/>
          <p:nvPr/>
        </p:nvSpPr>
        <p:spPr>
          <a:xfrm>
            <a:off x="749808" y="2843784"/>
            <a:ext cx="2205990" cy="80791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de-CH" sz="1050"/>
              <a:t>Die Meldung der unterschiedlichen Austrittsarten wird vereinheitlicht. Ab dem Zeitpunkt des bestätigten Austritts erfolgt die Bearbeitung einheitlich.</a:t>
            </a:r>
            <a:endParaRPr lang="de-DE" sz="1050">
              <a:solidFill>
                <a:srgbClr val="2B2B2B"/>
              </a:solidFill>
              <a:highlight>
                <a:srgbClr val="FFFF00"/>
              </a:highlight>
            </a:endParaRPr>
          </a:p>
        </p:txBody>
      </p:sp>
      <p:sp>
        <p:nvSpPr>
          <p:cNvPr id="12" name="Rounded Rectangle 8">
            <a:extLst>
              <a:ext uri="{FF2B5EF4-FFF2-40B4-BE49-F238E27FC236}">
                <a16:creationId xmlns:a16="http://schemas.microsoft.com/office/drawing/2014/main" id="{E0EA1B40-3050-BCB7-FB99-26A66C1EC6A6}"/>
              </a:ext>
            </a:extLst>
          </p:cNvPr>
          <p:cNvSpPr/>
          <p:nvPr/>
        </p:nvSpPr>
        <p:spPr>
          <a:xfrm>
            <a:off x="3376422" y="1874519"/>
            <a:ext cx="2608326" cy="2084831"/>
          </a:xfrm>
          <a:prstGeom prst="roundRect">
            <a:avLst/>
          </a:prstGeom>
          <a:solidFill>
            <a:srgbClr val="E7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9">
            <a:extLst>
              <a:ext uri="{FF2B5EF4-FFF2-40B4-BE49-F238E27FC236}">
                <a16:creationId xmlns:a16="http://schemas.microsoft.com/office/drawing/2014/main" id="{D9149E35-D36D-15FC-5D81-A8EAEE858908}"/>
              </a:ext>
            </a:extLst>
          </p:cNvPr>
          <p:cNvSpPr txBox="1"/>
          <p:nvPr/>
        </p:nvSpPr>
        <p:spPr>
          <a:xfrm>
            <a:off x="3577590" y="2039112"/>
            <a:ext cx="2205990" cy="4001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600" b="1">
                <a:solidFill>
                  <a:srgbClr val="12595B"/>
                </a:solidFill>
                <a:latin typeface="+mj-lt"/>
              </a:rPr>
              <a:t>6 → 0</a:t>
            </a:r>
          </a:p>
        </p:txBody>
      </p:sp>
      <p:sp>
        <p:nvSpPr>
          <p:cNvPr id="14" name="TextBox 10">
            <a:extLst>
              <a:ext uri="{FF2B5EF4-FFF2-40B4-BE49-F238E27FC236}">
                <a16:creationId xmlns:a16="http://schemas.microsoft.com/office/drawing/2014/main" id="{C06B0A4F-1EE8-3336-051B-32C5B2F70A67}"/>
              </a:ext>
            </a:extLst>
          </p:cNvPr>
          <p:cNvSpPr txBox="1"/>
          <p:nvPr/>
        </p:nvSpPr>
        <p:spPr>
          <a:xfrm>
            <a:off x="3577590" y="2532887"/>
            <a:ext cx="2205990" cy="1769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50" b="1" err="1">
                <a:solidFill>
                  <a:srgbClr val="2E8587"/>
                </a:solidFill>
                <a:latin typeface="+mj-lt"/>
              </a:rPr>
              <a:t>Checklisten</a:t>
            </a:r>
            <a:endParaRPr sz="1150" b="1">
              <a:solidFill>
                <a:srgbClr val="2E8587"/>
              </a:solidFill>
              <a:latin typeface="+mj-lt"/>
            </a:endParaRPr>
          </a:p>
        </p:txBody>
      </p:sp>
      <p:sp>
        <p:nvSpPr>
          <p:cNvPr id="15" name="TextBox 11">
            <a:extLst>
              <a:ext uri="{FF2B5EF4-FFF2-40B4-BE49-F238E27FC236}">
                <a16:creationId xmlns:a16="http://schemas.microsoft.com/office/drawing/2014/main" id="{104112DE-81DD-E0A5-4FD5-4FB45FD6237A}"/>
              </a:ext>
            </a:extLst>
          </p:cNvPr>
          <p:cNvSpPr txBox="1"/>
          <p:nvPr/>
        </p:nvSpPr>
        <p:spPr>
          <a:xfrm>
            <a:off x="3577590" y="2843784"/>
            <a:ext cx="2205990" cy="6463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0">
                <a:solidFill>
                  <a:srgbClr val="2B2B2B"/>
                </a:solidFill>
                <a:latin typeface="+mj-lt"/>
              </a:rPr>
              <a:t>Die </a:t>
            </a:r>
            <a:r>
              <a:rPr lang="de-CH" sz="1050" b="0">
                <a:solidFill>
                  <a:srgbClr val="2B2B2B"/>
                </a:solidFill>
                <a:latin typeface="+mj-lt"/>
              </a:rPr>
              <a:t>unterschiedlichen</a:t>
            </a:r>
            <a:r>
              <a:rPr sz="1050" b="0">
                <a:solidFill>
                  <a:srgbClr val="2B2B2B"/>
                </a:solidFill>
                <a:latin typeface="+mj-lt"/>
              </a:rPr>
              <a:t> </a:t>
            </a:r>
            <a:r>
              <a:rPr sz="1050" b="0" err="1">
                <a:solidFill>
                  <a:srgbClr val="2B2B2B"/>
                </a:solidFill>
                <a:latin typeface="+mj-lt"/>
              </a:rPr>
              <a:t>Checklisten</a:t>
            </a:r>
            <a:r>
              <a:rPr lang="de-CH" sz="1050" b="0">
                <a:solidFill>
                  <a:srgbClr val="2B2B2B"/>
                </a:solidFill>
                <a:latin typeface="+mj-lt"/>
              </a:rPr>
              <a:t> </a:t>
            </a:r>
            <a:r>
              <a:rPr lang="de-CH" sz="1050">
                <a:solidFill>
                  <a:srgbClr val="2B2B2B"/>
                </a:solidFill>
              </a:rPr>
              <a:t> (</a:t>
            </a:r>
            <a:r>
              <a:rPr lang="de-CH" sz="1050" err="1">
                <a:solidFill>
                  <a:srgbClr val="2B2B2B"/>
                </a:solidFill>
              </a:rPr>
              <a:t>To</a:t>
            </a:r>
            <a:r>
              <a:rPr lang="de-CH" sz="1050">
                <a:solidFill>
                  <a:srgbClr val="2B2B2B"/>
                </a:solidFill>
              </a:rPr>
              <a:t> </a:t>
            </a:r>
            <a:r>
              <a:rPr lang="de-CH" sz="1050" err="1">
                <a:solidFill>
                  <a:srgbClr val="2B2B2B"/>
                </a:solidFill>
              </a:rPr>
              <a:t>Do’s</a:t>
            </a:r>
            <a:r>
              <a:rPr lang="de-CH" sz="1050">
                <a:solidFill>
                  <a:srgbClr val="2B2B2B"/>
                </a:solidFill>
              </a:rPr>
              <a:t> und Dokumentation)</a:t>
            </a:r>
            <a:r>
              <a:rPr lang="de-CH" sz="1050" b="0">
                <a:solidFill>
                  <a:srgbClr val="2B2B2B"/>
                </a:solidFill>
                <a:latin typeface="+mj-lt"/>
              </a:rPr>
              <a:t> je nach Austritt </a:t>
            </a:r>
            <a:r>
              <a:rPr sz="1050" b="0" err="1">
                <a:solidFill>
                  <a:srgbClr val="2B2B2B"/>
                </a:solidFill>
                <a:latin typeface="+mj-lt"/>
              </a:rPr>
              <a:t>entfallen</a:t>
            </a:r>
            <a:r>
              <a:rPr sz="1050" b="0">
                <a:solidFill>
                  <a:srgbClr val="2B2B2B"/>
                </a:solidFill>
                <a:latin typeface="+mj-lt"/>
              </a:rPr>
              <a:t> – die </a:t>
            </a:r>
            <a:r>
              <a:rPr lang="de-CH" sz="1050" b="0">
                <a:solidFill>
                  <a:srgbClr val="2B2B2B"/>
                </a:solidFill>
                <a:latin typeface="+mj-lt"/>
              </a:rPr>
              <a:t>Informationen </a:t>
            </a:r>
            <a:r>
              <a:rPr sz="1050" b="0" err="1">
                <a:solidFill>
                  <a:srgbClr val="2B2B2B"/>
                </a:solidFill>
                <a:latin typeface="+mj-lt"/>
              </a:rPr>
              <a:t>stehen</a:t>
            </a:r>
            <a:r>
              <a:rPr sz="1050" b="0">
                <a:solidFill>
                  <a:srgbClr val="2B2B2B"/>
                </a:solidFill>
                <a:latin typeface="+mj-lt"/>
              </a:rPr>
              <a:t> </a:t>
            </a:r>
            <a:r>
              <a:rPr sz="1050" b="0" err="1">
                <a:solidFill>
                  <a:srgbClr val="2B2B2B"/>
                </a:solidFill>
                <a:latin typeface="+mj-lt"/>
              </a:rPr>
              <a:t>im</a:t>
            </a:r>
            <a:r>
              <a:rPr sz="1050" b="0">
                <a:solidFill>
                  <a:srgbClr val="2B2B2B"/>
                </a:solidFill>
                <a:latin typeface="+mj-lt"/>
              </a:rPr>
              <a:t> Ticket</a:t>
            </a:r>
            <a:r>
              <a:rPr lang="de-CH" sz="1050" b="0">
                <a:solidFill>
                  <a:srgbClr val="2B2B2B"/>
                </a:solidFill>
                <a:latin typeface="+mj-lt"/>
              </a:rPr>
              <a:t>.</a:t>
            </a:r>
            <a:endParaRPr sz="1050" b="0">
              <a:solidFill>
                <a:srgbClr val="2B2B2B"/>
              </a:solidFill>
              <a:latin typeface="+mj-lt"/>
            </a:endParaRPr>
          </a:p>
        </p:txBody>
      </p:sp>
      <p:sp>
        <p:nvSpPr>
          <p:cNvPr id="16" name="Rounded Rectangle 12">
            <a:extLst>
              <a:ext uri="{FF2B5EF4-FFF2-40B4-BE49-F238E27FC236}">
                <a16:creationId xmlns:a16="http://schemas.microsoft.com/office/drawing/2014/main" id="{E444A53D-1AB7-B21A-C54A-5AAE929A26C7}"/>
              </a:ext>
            </a:extLst>
          </p:cNvPr>
          <p:cNvSpPr/>
          <p:nvPr/>
        </p:nvSpPr>
        <p:spPr>
          <a:xfrm>
            <a:off x="6204204" y="1874519"/>
            <a:ext cx="2608326" cy="2084831"/>
          </a:xfrm>
          <a:prstGeom prst="roundRect">
            <a:avLst/>
          </a:prstGeom>
          <a:solidFill>
            <a:srgbClr val="E7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3">
            <a:extLst>
              <a:ext uri="{FF2B5EF4-FFF2-40B4-BE49-F238E27FC236}">
                <a16:creationId xmlns:a16="http://schemas.microsoft.com/office/drawing/2014/main" id="{DE19E535-696A-EFC1-4D02-453050C1FEFB}"/>
              </a:ext>
            </a:extLst>
          </p:cNvPr>
          <p:cNvSpPr txBox="1"/>
          <p:nvPr/>
        </p:nvSpPr>
        <p:spPr>
          <a:xfrm>
            <a:off x="6405372" y="2039112"/>
            <a:ext cx="2205990" cy="4001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600" b="1">
                <a:solidFill>
                  <a:srgbClr val="12595B"/>
                </a:solidFill>
                <a:latin typeface="+mj-lt"/>
              </a:rPr>
              <a:t>2 → 0</a:t>
            </a:r>
          </a:p>
        </p:txBody>
      </p:sp>
      <p:sp>
        <p:nvSpPr>
          <p:cNvPr id="18" name="TextBox 14">
            <a:extLst>
              <a:ext uri="{FF2B5EF4-FFF2-40B4-BE49-F238E27FC236}">
                <a16:creationId xmlns:a16="http://schemas.microsoft.com/office/drawing/2014/main" id="{B406D1BC-F2AD-9744-9950-4107885885D6}"/>
              </a:ext>
            </a:extLst>
          </p:cNvPr>
          <p:cNvSpPr txBox="1"/>
          <p:nvPr/>
        </p:nvSpPr>
        <p:spPr>
          <a:xfrm>
            <a:off x="6405372" y="2532887"/>
            <a:ext cx="2205990" cy="1769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50" b="1" err="1">
                <a:solidFill>
                  <a:srgbClr val="2E8587"/>
                </a:solidFill>
                <a:latin typeface="+mj-lt"/>
              </a:rPr>
              <a:t>Austrittschein</a:t>
            </a:r>
            <a:r>
              <a:rPr lang="de-CH" sz="1150" b="1">
                <a:solidFill>
                  <a:srgbClr val="2E8587"/>
                </a:solidFill>
                <a:latin typeface="+mj-lt"/>
              </a:rPr>
              <a:t>e</a:t>
            </a:r>
            <a:endParaRPr sz="1150" b="1">
              <a:solidFill>
                <a:srgbClr val="2E8587"/>
              </a:solidFill>
              <a:latin typeface="+mj-lt"/>
            </a:endParaRPr>
          </a:p>
        </p:txBody>
      </p:sp>
      <p:sp>
        <p:nvSpPr>
          <p:cNvPr id="19" name="TextBox 15">
            <a:extLst>
              <a:ext uri="{FF2B5EF4-FFF2-40B4-BE49-F238E27FC236}">
                <a16:creationId xmlns:a16="http://schemas.microsoft.com/office/drawing/2014/main" id="{1F074D21-4DA5-A9D1-7A08-81F1AEEDA80A}"/>
              </a:ext>
            </a:extLst>
          </p:cNvPr>
          <p:cNvSpPr txBox="1"/>
          <p:nvPr/>
        </p:nvSpPr>
        <p:spPr>
          <a:xfrm>
            <a:off x="6405371" y="2843784"/>
            <a:ext cx="2324971" cy="80791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de-CH" sz="1050" b="0">
                <a:solidFill>
                  <a:srgbClr val="2B2B2B"/>
                </a:solidFill>
                <a:latin typeface="+mj-lt"/>
              </a:rPr>
              <a:t>Die</a:t>
            </a:r>
            <a:r>
              <a:rPr sz="1050" b="0">
                <a:solidFill>
                  <a:srgbClr val="2B2B2B"/>
                </a:solidFill>
                <a:latin typeface="+mj-lt"/>
              </a:rPr>
              <a:t> separate</a:t>
            </a:r>
            <a:r>
              <a:rPr lang="de-CH" sz="1050" b="0">
                <a:solidFill>
                  <a:srgbClr val="2B2B2B"/>
                </a:solidFill>
                <a:latin typeface="+mj-lt"/>
              </a:rPr>
              <a:t>n</a:t>
            </a:r>
            <a:r>
              <a:rPr sz="1050" b="0">
                <a:solidFill>
                  <a:srgbClr val="2B2B2B"/>
                </a:solidFill>
                <a:latin typeface="+mj-lt"/>
              </a:rPr>
              <a:t> Formular</a:t>
            </a:r>
            <a:r>
              <a:rPr lang="de-CH" sz="1050" b="0">
                <a:solidFill>
                  <a:srgbClr val="2B2B2B"/>
                </a:solidFill>
                <a:latin typeface="+mj-lt"/>
              </a:rPr>
              <a:t>e</a:t>
            </a:r>
            <a:r>
              <a:rPr sz="1050" b="0">
                <a:solidFill>
                  <a:srgbClr val="2B2B2B"/>
                </a:solidFill>
                <a:latin typeface="+mj-lt"/>
              </a:rPr>
              <a:t> </a:t>
            </a:r>
            <a:r>
              <a:rPr sz="1050" b="0" err="1">
                <a:solidFill>
                  <a:srgbClr val="2B2B2B"/>
                </a:solidFill>
                <a:latin typeface="+mj-lt"/>
              </a:rPr>
              <a:t>entf</a:t>
            </a:r>
            <a:r>
              <a:rPr lang="de-CH" sz="1050" b="0">
                <a:solidFill>
                  <a:srgbClr val="2B2B2B"/>
                </a:solidFill>
                <a:latin typeface="+mj-lt"/>
              </a:rPr>
              <a:t>a</a:t>
            </a:r>
            <a:r>
              <a:rPr sz="1050" b="0" err="1">
                <a:solidFill>
                  <a:srgbClr val="2B2B2B"/>
                </a:solidFill>
                <a:latin typeface="+mj-lt"/>
              </a:rPr>
              <a:t>ll</a:t>
            </a:r>
            <a:r>
              <a:rPr lang="de-CH" sz="1050" b="0">
                <a:solidFill>
                  <a:srgbClr val="2B2B2B"/>
                </a:solidFill>
                <a:latin typeface="+mj-lt"/>
              </a:rPr>
              <a:t>en</a:t>
            </a:r>
            <a:r>
              <a:rPr sz="1050" b="0">
                <a:solidFill>
                  <a:srgbClr val="2B2B2B"/>
                </a:solidFill>
                <a:latin typeface="+mj-lt"/>
              </a:rPr>
              <a:t>.</a:t>
            </a:r>
            <a:r>
              <a:rPr lang="de-CH" sz="1050" b="0">
                <a:solidFill>
                  <a:srgbClr val="2B2B2B"/>
                </a:solidFill>
                <a:latin typeface="+mj-lt"/>
              </a:rPr>
              <a:t> </a:t>
            </a:r>
            <a:r>
              <a:rPr lang="de-DE" sz="1050" b="0">
                <a:solidFill>
                  <a:srgbClr val="2B2B2B"/>
                </a:solidFill>
                <a:latin typeface="+mj-lt"/>
              </a:rPr>
              <a:t>Mit dem Versand der Austrittsbestätigung werden die notwendigen Informationen verschickt. Für die Zeitsaldi gilt eine Standardregel.</a:t>
            </a:r>
            <a:endParaRPr sz="1050" b="0">
              <a:solidFill>
                <a:srgbClr val="2B2B2B"/>
              </a:solidFill>
              <a:latin typeface="+mj-lt"/>
            </a:endParaRPr>
          </a:p>
        </p:txBody>
      </p:sp>
      <p:sp>
        <p:nvSpPr>
          <p:cNvPr id="20" name="Rounded Rectangle 16">
            <a:extLst>
              <a:ext uri="{FF2B5EF4-FFF2-40B4-BE49-F238E27FC236}">
                <a16:creationId xmlns:a16="http://schemas.microsoft.com/office/drawing/2014/main" id="{F9B60FFA-1649-380A-918F-39A87C8C2FB4}"/>
              </a:ext>
            </a:extLst>
          </p:cNvPr>
          <p:cNvSpPr/>
          <p:nvPr/>
        </p:nvSpPr>
        <p:spPr>
          <a:xfrm>
            <a:off x="9031986" y="1874519"/>
            <a:ext cx="2608326" cy="2084831"/>
          </a:xfrm>
          <a:prstGeom prst="roundRect">
            <a:avLst/>
          </a:prstGeom>
          <a:solidFill>
            <a:srgbClr val="E7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17">
            <a:extLst>
              <a:ext uri="{FF2B5EF4-FFF2-40B4-BE49-F238E27FC236}">
                <a16:creationId xmlns:a16="http://schemas.microsoft.com/office/drawing/2014/main" id="{192D2AB5-5D10-F22F-C1A7-6079507B3A4F}"/>
              </a:ext>
            </a:extLst>
          </p:cNvPr>
          <p:cNvSpPr txBox="1"/>
          <p:nvPr/>
        </p:nvSpPr>
        <p:spPr>
          <a:xfrm>
            <a:off x="9233154" y="2039112"/>
            <a:ext cx="2205990" cy="4001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600" b="1">
                <a:solidFill>
                  <a:srgbClr val="12595B"/>
                </a:solidFill>
                <a:latin typeface="+mj-lt"/>
              </a:rPr>
              <a:t>1</a:t>
            </a:r>
          </a:p>
        </p:txBody>
      </p:sp>
      <p:sp>
        <p:nvSpPr>
          <p:cNvPr id="22" name="TextBox 18">
            <a:extLst>
              <a:ext uri="{FF2B5EF4-FFF2-40B4-BE49-F238E27FC236}">
                <a16:creationId xmlns:a16="http://schemas.microsoft.com/office/drawing/2014/main" id="{98711620-4BAA-79E5-1B8E-F9ECB2C22BF8}"/>
              </a:ext>
            </a:extLst>
          </p:cNvPr>
          <p:cNvSpPr txBox="1"/>
          <p:nvPr/>
        </p:nvSpPr>
        <p:spPr>
          <a:xfrm>
            <a:off x="9233154" y="2532887"/>
            <a:ext cx="2205990" cy="1769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50" b="1" err="1">
                <a:solidFill>
                  <a:srgbClr val="2E8587"/>
                </a:solidFill>
                <a:latin typeface="+mj-lt"/>
              </a:rPr>
              <a:t>Zentrale</a:t>
            </a:r>
            <a:r>
              <a:rPr sz="1150" b="1">
                <a:solidFill>
                  <a:srgbClr val="2E8587"/>
                </a:solidFill>
                <a:latin typeface="+mj-lt"/>
              </a:rPr>
              <a:t> </a:t>
            </a:r>
            <a:r>
              <a:rPr sz="1150" b="1" err="1">
                <a:solidFill>
                  <a:srgbClr val="2E8587"/>
                </a:solidFill>
                <a:latin typeface="+mj-lt"/>
              </a:rPr>
              <a:t>Fallakte</a:t>
            </a:r>
            <a:endParaRPr sz="1150" b="1">
              <a:solidFill>
                <a:srgbClr val="2E8587"/>
              </a:solidFill>
              <a:latin typeface="+mj-lt"/>
            </a:endParaRPr>
          </a:p>
        </p:txBody>
      </p:sp>
      <p:sp>
        <p:nvSpPr>
          <p:cNvPr id="23" name="TextBox 19">
            <a:extLst>
              <a:ext uri="{FF2B5EF4-FFF2-40B4-BE49-F238E27FC236}">
                <a16:creationId xmlns:a16="http://schemas.microsoft.com/office/drawing/2014/main" id="{20203C2C-DB4C-9DEA-29BE-F8411B2C5127}"/>
              </a:ext>
            </a:extLst>
          </p:cNvPr>
          <p:cNvSpPr txBox="1"/>
          <p:nvPr/>
        </p:nvSpPr>
        <p:spPr>
          <a:xfrm>
            <a:off x="9233154" y="2814335"/>
            <a:ext cx="2205990" cy="6463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de-DE" sz="1050" b="0">
                <a:solidFill>
                  <a:srgbClr val="2B2B2B"/>
                </a:solidFill>
                <a:latin typeface="+mj-lt"/>
              </a:rPr>
              <a:t>Ein Hauptticket bündelt die gesamte Falldokumentation und steuert regelbasiert die Aufträge an die involvierten HR-Einheiten.</a:t>
            </a:r>
            <a:endParaRPr sz="1050" b="0">
              <a:solidFill>
                <a:srgbClr val="2B2B2B"/>
              </a:solidFill>
              <a:latin typeface="+mj-lt"/>
            </a:endParaRPr>
          </a:p>
        </p:txBody>
      </p:sp>
      <p:sp>
        <p:nvSpPr>
          <p:cNvPr id="24" name="Rounded Rectangle 24">
            <a:extLst>
              <a:ext uri="{FF2B5EF4-FFF2-40B4-BE49-F238E27FC236}">
                <a16:creationId xmlns:a16="http://schemas.microsoft.com/office/drawing/2014/main" id="{43CA287C-18C2-5FF1-B230-5EE874EB0637}"/>
              </a:ext>
            </a:extLst>
          </p:cNvPr>
          <p:cNvSpPr/>
          <p:nvPr/>
        </p:nvSpPr>
        <p:spPr>
          <a:xfrm>
            <a:off x="1651635" y="4123941"/>
            <a:ext cx="2608326" cy="2084831"/>
          </a:xfrm>
          <a:prstGeom prst="roundRect">
            <a:avLst/>
          </a:prstGeom>
          <a:solidFill>
            <a:srgbClr val="E7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B53B97EA-29AF-BAFB-2C32-D34A24C32E25}"/>
              </a:ext>
            </a:extLst>
          </p:cNvPr>
          <p:cNvSpPr txBox="1"/>
          <p:nvPr/>
        </p:nvSpPr>
        <p:spPr>
          <a:xfrm>
            <a:off x="1852803" y="4288533"/>
            <a:ext cx="2122819" cy="5539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de-DE" sz="1800" b="1">
                <a:solidFill>
                  <a:srgbClr val="12595B"/>
                </a:solidFill>
                <a:latin typeface="+mj-lt"/>
              </a:rPr>
              <a:t>Systemgestützte Prüfungen</a:t>
            </a:r>
            <a:endParaRPr sz="1800" b="1">
              <a:solidFill>
                <a:srgbClr val="12595B"/>
              </a:solidFill>
              <a:latin typeface="+mj-lt"/>
            </a:endParaRP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02D82B9B-BC02-9585-7F25-A27D1D10B30E}"/>
              </a:ext>
            </a:extLst>
          </p:cNvPr>
          <p:cNvSpPr txBox="1"/>
          <p:nvPr/>
        </p:nvSpPr>
        <p:spPr>
          <a:xfrm>
            <a:off x="1852803" y="4837926"/>
            <a:ext cx="2205990" cy="1769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de-CH" sz="1150" b="1">
                <a:solidFill>
                  <a:srgbClr val="2E8587"/>
                </a:solidFill>
                <a:latin typeface="+mj-lt"/>
              </a:rPr>
              <a:t>statt manueller Checklisten</a:t>
            </a:r>
            <a:endParaRPr sz="1150" b="1">
              <a:solidFill>
                <a:srgbClr val="2E8587"/>
              </a:solidFill>
              <a:latin typeface="+mj-lt"/>
            </a:endParaRP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5946657E-578C-64FA-6B75-2CDFAE7BE69F}"/>
              </a:ext>
            </a:extLst>
          </p:cNvPr>
          <p:cNvSpPr txBox="1"/>
          <p:nvPr/>
        </p:nvSpPr>
        <p:spPr>
          <a:xfrm>
            <a:off x="1852803" y="5093205"/>
            <a:ext cx="2205990" cy="11310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de-DE" sz="1050" b="0">
                <a:solidFill>
                  <a:srgbClr val="2B2B2B"/>
                </a:solidFill>
                <a:latin typeface="+mj-lt"/>
              </a:rPr>
              <a:t>Pflichtfelder und fallabhängige Aufgaben werden automatisch angezeigt/ausgelöst. </a:t>
            </a:r>
          </a:p>
          <a:p>
            <a:r>
              <a:rPr lang="de-DE" sz="1050" b="0">
                <a:solidFill>
                  <a:srgbClr val="2B2B2B"/>
                </a:solidFill>
                <a:latin typeface="+mj-lt"/>
              </a:rPr>
              <a:t>Sonderfälle wie eingeschobener Vertrag, rückwirkender Austritt oder frühzeitige Pensionierung werden direkt erkannt.</a:t>
            </a:r>
            <a:endParaRPr sz="1050" b="0">
              <a:solidFill>
                <a:srgbClr val="2B2B2B"/>
              </a:solidFill>
              <a:latin typeface="+mj-lt"/>
            </a:endParaRPr>
          </a:p>
        </p:txBody>
      </p:sp>
      <p:sp>
        <p:nvSpPr>
          <p:cNvPr id="28" name="Rounded Rectangle 28">
            <a:extLst>
              <a:ext uri="{FF2B5EF4-FFF2-40B4-BE49-F238E27FC236}">
                <a16:creationId xmlns:a16="http://schemas.microsoft.com/office/drawing/2014/main" id="{CEA579F6-EF67-6850-2A52-C03327EFF73C}"/>
              </a:ext>
            </a:extLst>
          </p:cNvPr>
          <p:cNvSpPr/>
          <p:nvPr/>
        </p:nvSpPr>
        <p:spPr>
          <a:xfrm>
            <a:off x="4479417" y="4123941"/>
            <a:ext cx="2608326" cy="2084831"/>
          </a:xfrm>
          <a:prstGeom prst="roundRect">
            <a:avLst/>
          </a:prstGeom>
          <a:solidFill>
            <a:srgbClr val="E7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C33CE599-FAD2-8CF1-0EC0-F28664BBE064}"/>
              </a:ext>
            </a:extLst>
          </p:cNvPr>
          <p:cNvSpPr txBox="1"/>
          <p:nvPr/>
        </p:nvSpPr>
        <p:spPr>
          <a:xfrm>
            <a:off x="4680585" y="4306931"/>
            <a:ext cx="2205990" cy="2923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de-CH" sz="1900" b="1">
                <a:solidFill>
                  <a:srgbClr val="12595B"/>
                </a:solidFill>
                <a:latin typeface="+mj-lt"/>
              </a:rPr>
              <a:t>Automatisierung</a:t>
            </a:r>
            <a:endParaRPr sz="1900" b="1">
              <a:solidFill>
                <a:srgbClr val="12595B"/>
              </a:solidFill>
              <a:latin typeface="+mj-lt"/>
            </a:endParaRP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370FC1D3-31C8-E107-C2D7-B06AF19A7A66}"/>
              </a:ext>
            </a:extLst>
          </p:cNvPr>
          <p:cNvSpPr txBox="1"/>
          <p:nvPr/>
        </p:nvSpPr>
        <p:spPr>
          <a:xfrm>
            <a:off x="4680585" y="4672824"/>
            <a:ext cx="2205990" cy="1769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50" b="1" err="1">
                <a:solidFill>
                  <a:srgbClr val="2E8587"/>
                </a:solidFill>
                <a:latin typeface="+mj-lt"/>
              </a:rPr>
              <a:t>Übergaben</a:t>
            </a:r>
            <a:endParaRPr sz="1150" b="1">
              <a:solidFill>
                <a:srgbClr val="2E8587"/>
              </a:solidFill>
              <a:latin typeface="+mj-lt"/>
            </a:endParaRP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50484007-D473-1AD5-D8D4-B7AECDCB2088}"/>
              </a:ext>
            </a:extLst>
          </p:cNvPr>
          <p:cNvSpPr txBox="1"/>
          <p:nvPr/>
        </p:nvSpPr>
        <p:spPr>
          <a:xfrm>
            <a:off x="4680584" y="4916110"/>
            <a:ext cx="2297159" cy="129266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de-DE" sz="1050" b="0">
                <a:solidFill>
                  <a:srgbClr val="2B2B2B"/>
                </a:solidFill>
                <a:latin typeface="+mj-lt"/>
              </a:rPr>
              <a:t>Automatisierte regelbasierte Erstellung von Aufträgen an HR-Abteilungen (z.B. HR Beratung bei Rückzahlungspflicht oder HR Payroll bei einer Auszahlung von Zeitsaldi), Zeugnisprozess aus dem SAP-Austrittsdatum laufen </a:t>
            </a:r>
            <a:r>
              <a:rPr lang="de-DE" sz="1050" b="0" err="1">
                <a:solidFill>
                  <a:srgbClr val="2B2B2B"/>
                </a:solidFill>
                <a:latin typeface="+mj-lt"/>
              </a:rPr>
              <a:t>systemgetriggert</a:t>
            </a:r>
            <a:r>
              <a:rPr lang="de-DE" sz="1050" b="0">
                <a:solidFill>
                  <a:srgbClr val="2B2B2B"/>
                </a:solidFill>
                <a:latin typeface="+mj-lt"/>
              </a:rPr>
              <a:t>.</a:t>
            </a:r>
            <a:endParaRPr sz="1050" b="0">
              <a:solidFill>
                <a:srgbClr val="2B2B2B"/>
              </a:solidFill>
              <a:latin typeface="+mj-lt"/>
            </a:endParaRPr>
          </a:p>
        </p:txBody>
      </p:sp>
      <p:sp>
        <p:nvSpPr>
          <p:cNvPr id="32" name="Rounded Rectangle 32">
            <a:extLst>
              <a:ext uri="{FF2B5EF4-FFF2-40B4-BE49-F238E27FC236}">
                <a16:creationId xmlns:a16="http://schemas.microsoft.com/office/drawing/2014/main" id="{A4169B4D-537C-3DAA-46EC-6B516035D564}"/>
              </a:ext>
            </a:extLst>
          </p:cNvPr>
          <p:cNvSpPr/>
          <p:nvPr/>
        </p:nvSpPr>
        <p:spPr>
          <a:xfrm>
            <a:off x="7307198" y="4123941"/>
            <a:ext cx="3981287" cy="2084831"/>
          </a:xfrm>
          <a:prstGeom prst="roundRect">
            <a:avLst/>
          </a:prstGeom>
          <a:solidFill>
            <a:srgbClr val="FBF1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31EB1430-503A-51EF-DE66-1A0BF535259D}"/>
              </a:ext>
            </a:extLst>
          </p:cNvPr>
          <p:cNvSpPr txBox="1"/>
          <p:nvPr/>
        </p:nvSpPr>
        <p:spPr>
          <a:xfrm>
            <a:off x="7559166" y="4303047"/>
            <a:ext cx="3570334" cy="2923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900" b="1" err="1">
                <a:solidFill>
                  <a:srgbClr val="B97A1E"/>
                </a:solidFill>
                <a:latin typeface="+mj-lt"/>
              </a:rPr>
              <a:t>Vorschlag</a:t>
            </a:r>
            <a:r>
              <a:rPr lang="en-US" sz="1900" b="1">
                <a:solidFill>
                  <a:srgbClr val="B97A1E"/>
                </a:solidFill>
                <a:latin typeface="+mj-lt"/>
              </a:rPr>
              <a:t> </a:t>
            </a:r>
            <a:r>
              <a:rPr lang="en-US" sz="1900" b="1" err="1">
                <a:solidFill>
                  <a:srgbClr val="B97A1E"/>
                </a:solidFill>
                <a:latin typeface="+mj-lt"/>
              </a:rPr>
              <a:t>aus</a:t>
            </a:r>
            <a:r>
              <a:rPr lang="en-US" sz="1900" b="1">
                <a:solidFill>
                  <a:srgbClr val="B97A1E"/>
                </a:solidFill>
                <a:latin typeface="+mj-lt"/>
              </a:rPr>
              <a:t> dem Workshop</a:t>
            </a:r>
            <a:endParaRPr sz="1900" b="1">
              <a:solidFill>
                <a:srgbClr val="B97A1E"/>
              </a:solidFill>
              <a:latin typeface="+mj-lt"/>
            </a:endParaRP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C1CF982F-DBAE-B403-10FD-6C34CC740018}"/>
              </a:ext>
            </a:extLst>
          </p:cNvPr>
          <p:cNvSpPr txBox="1"/>
          <p:nvPr/>
        </p:nvSpPr>
        <p:spPr>
          <a:xfrm>
            <a:off x="7508367" y="4645835"/>
            <a:ext cx="2205990" cy="1769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50" b="1" err="1">
                <a:solidFill>
                  <a:srgbClr val="B97A1E"/>
                </a:solidFill>
                <a:latin typeface="+mj-lt"/>
              </a:rPr>
              <a:t>Digitale</a:t>
            </a:r>
            <a:r>
              <a:rPr sz="1150" b="1">
                <a:solidFill>
                  <a:srgbClr val="B97A1E"/>
                </a:solidFill>
                <a:latin typeface="+mj-lt"/>
              </a:rPr>
              <a:t> </a:t>
            </a:r>
            <a:r>
              <a:rPr lang="de-CH" sz="1150" b="1" err="1">
                <a:solidFill>
                  <a:srgbClr val="B97A1E"/>
                </a:solidFill>
                <a:latin typeface="+mj-lt"/>
              </a:rPr>
              <a:t>Kündigungsm</a:t>
            </a:r>
            <a:r>
              <a:rPr sz="1150" b="1" err="1">
                <a:solidFill>
                  <a:srgbClr val="B97A1E"/>
                </a:solidFill>
                <a:latin typeface="+mj-lt"/>
              </a:rPr>
              <a:t>eldung</a:t>
            </a:r>
            <a:endParaRPr sz="1150" b="1">
              <a:solidFill>
                <a:srgbClr val="B97A1E"/>
              </a:solidFill>
              <a:latin typeface="+mj-lt"/>
            </a:endParaRP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88586412-58E1-261B-E537-AA150785FBF1}"/>
              </a:ext>
            </a:extLst>
          </p:cNvPr>
          <p:cNvSpPr txBox="1"/>
          <p:nvPr/>
        </p:nvSpPr>
        <p:spPr>
          <a:xfrm>
            <a:off x="7508366" y="4887721"/>
            <a:ext cx="3616833" cy="1292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de-DE" sz="1050">
                <a:solidFill>
                  <a:srgbClr val="2B2B2B"/>
                </a:solidFill>
                <a:latin typeface="+mj-lt"/>
              </a:rPr>
              <a:t>Mitarbeitende</a:t>
            </a:r>
            <a:r>
              <a:rPr lang="de-DE" sz="1050" b="0">
                <a:solidFill>
                  <a:srgbClr val="2B2B2B"/>
                </a:solidFill>
                <a:latin typeface="+mj-lt"/>
              </a:rPr>
              <a:t> melden Kündigungen über das HR Service Portal. Bei nicht eingehaltener Kündigungsfrist wird eine Genehmigungsaufgabe für die Führungsperson ausgelöst.</a:t>
            </a:r>
          </a:p>
          <a:p>
            <a:r>
              <a:rPr lang="de-DE" sz="1050" b="1">
                <a:solidFill>
                  <a:srgbClr val="2B2B2B"/>
                </a:solidFill>
                <a:latin typeface="+mj-lt"/>
                <a:cs typeface="Arial"/>
              </a:rPr>
              <a:t>Vorgabe Rechtsdienst</a:t>
            </a:r>
            <a:r>
              <a:rPr lang="de-DE" sz="1050">
                <a:solidFill>
                  <a:srgbClr val="2B2B2B"/>
                </a:solidFill>
                <a:latin typeface="+mj-lt"/>
                <a:cs typeface="Arial"/>
              </a:rPr>
              <a:t>: Kündigung muss schriftlich erfolgen (handschriftliche Unterzeichnung)</a:t>
            </a:r>
            <a:r>
              <a:rPr lang="de-DE" sz="1050">
                <a:solidFill>
                  <a:srgbClr val="2B2B2B"/>
                </a:solidFill>
                <a:latin typeface="+mj-lt"/>
              </a:rPr>
              <a:t>. </a:t>
            </a:r>
          </a:p>
          <a:p>
            <a:r>
              <a:rPr lang="de-DE" sz="1050" b="1">
                <a:solidFill>
                  <a:srgbClr val="2B2B2B"/>
                </a:solidFill>
                <a:latin typeface="+mj-lt"/>
              </a:rPr>
              <a:t>SOLL-Prozess: </a:t>
            </a:r>
            <a:r>
              <a:rPr lang="de-DE" sz="1050">
                <a:solidFill>
                  <a:srgbClr val="2B2B2B"/>
                </a:solidFill>
                <a:latin typeface="+mj-lt"/>
              </a:rPr>
              <a:t>Die Kündigung wird bei der Führungsperson eingereicht (Ausnahme: beim HR) und von dort ans HR weitergeleitet werden (an hr@usb.ch). </a:t>
            </a:r>
            <a:endParaRPr sz="1050" b="0">
              <a:solidFill>
                <a:srgbClr val="2B2B2B"/>
              </a:solidFill>
              <a:latin typeface="+mj-lt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937723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08DA6353-2582-C18A-6894-ECE9DE9245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08.07.2026</a:t>
            </a:r>
            <a:endParaRPr lang="de-CH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E604B2E4-D24F-7455-83B4-658AC1D011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Zwischenbericht Digitalisierung Austrittsprozess USB</a:t>
            </a:r>
            <a:endParaRPr lang="de-CH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180BAFE8-E3E3-0F1A-1D3F-F6184D5A87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/>
              <a:t>Fazit und Ausblick</a:t>
            </a:r>
            <a:br>
              <a:rPr lang="de-CH"/>
            </a:br>
            <a:endParaRPr lang="de-CH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5AAB8797-EFC9-F79E-12EF-A8F00C325758}"/>
              </a:ext>
            </a:extLst>
          </p:cNvPr>
          <p:cNvSpPr/>
          <p:nvPr/>
        </p:nvSpPr>
        <p:spPr>
          <a:xfrm>
            <a:off x="425656" y="1052513"/>
            <a:ext cx="1005840" cy="54864"/>
          </a:xfrm>
          <a:prstGeom prst="rect">
            <a:avLst/>
          </a:prstGeom>
          <a:solidFill>
            <a:srgbClr val="2E85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grpSp>
        <p:nvGrpSpPr>
          <p:cNvPr id="16" name="Gruppieren 15">
            <a:extLst>
              <a:ext uri="{FF2B5EF4-FFF2-40B4-BE49-F238E27FC236}">
                <a16:creationId xmlns:a16="http://schemas.microsoft.com/office/drawing/2014/main" id="{5EC8BD27-C992-FB35-15A1-85362D4F1367}"/>
              </a:ext>
            </a:extLst>
          </p:cNvPr>
          <p:cNvGrpSpPr/>
          <p:nvPr/>
        </p:nvGrpSpPr>
        <p:grpSpPr>
          <a:xfrm>
            <a:off x="3281241" y="4065498"/>
            <a:ext cx="5353069" cy="2288087"/>
            <a:chOff x="3189370" y="3994118"/>
            <a:chExt cx="5046509" cy="2118727"/>
          </a:xfrm>
        </p:grpSpPr>
        <p:sp>
          <p:nvSpPr>
            <p:cNvPr id="13" name="Rounded Rectangle 9">
              <a:extLst>
                <a:ext uri="{FF2B5EF4-FFF2-40B4-BE49-F238E27FC236}">
                  <a16:creationId xmlns:a16="http://schemas.microsoft.com/office/drawing/2014/main" id="{256136A0-45A9-DDEB-B64F-E649404B8E0B}"/>
                </a:ext>
              </a:extLst>
            </p:cNvPr>
            <p:cNvSpPr/>
            <p:nvPr/>
          </p:nvSpPr>
          <p:spPr>
            <a:xfrm>
              <a:off x="3189370" y="3994118"/>
              <a:ext cx="4773252" cy="2118727"/>
            </a:xfrm>
            <a:prstGeom prst="roundRect">
              <a:avLst/>
            </a:prstGeom>
            <a:solidFill>
              <a:srgbClr val="E7F1F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j-lt"/>
              </a:endParaRPr>
            </a:p>
          </p:txBody>
        </p:sp>
        <p:sp>
          <p:nvSpPr>
            <p:cNvPr id="14" name="TextBox 10">
              <a:extLst>
                <a:ext uri="{FF2B5EF4-FFF2-40B4-BE49-F238E27FC236}">
                  <a16:creationId xmlns:a16="http://schemas.microsoft.com/office/drawing/2014/main" id="{1D1DDDAF-AA3D-E97D-537A-784FD6A92656}"/>
                </a:ext>
              </a:extLst>
            </p:cNvPr>
            <p:cNvSpPr txBox="1"/>
            <p:nvPr/>
          </p:nvSpPr>
          <p:spPr>
            <a:xfrm>
              <a:off x="3389559" y="4194075"/>
              <a:ext cx="4846320" cy="230832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r>
                <a:rPr sz="1500" b="1" err="1">
                  <a:solidFill>
                    <a:srgbClr val="2E8587"/>
                  </a:solidFill>
                  <a:latin typeface="+mj-lt"/>
                </a:rPr>
                <a:t>Nächste</a:t>
              </a:r>
              <a:r>
                <a:rPr sz="1500" b="1">
                  <a:solidFill>
                    <a:srgbClr val="2E8587"/>
                  </a:solidFill>
                  <a:latin typeface="+mj-lt"/>
                </a:rPr>
                <a:t> </a:t>
              </a:r>
              <a:r>
                <a:rPr sz="1500" b="1" err="1">
                  <a:solidFill>
                    <a:srgbClr val="2E8587"/>
                  </a:solidFill>
                  <a:latin typeface="+mj-lt"/>
                </a:rPr>
                <a:t>Schritte</a:t>
              </a:r>
              <a:endParaRPr sz="1500" b="1">
                <a:solidFill>
                  <a:srgbClr val="2E8587"/>
                </a:solidFill>
                <a:latin typeface="+mj-lt"/>
              </a:endParaRPr>
            </a:p>
          </p:txBody>
        </p:sp>
        <p:sp>
          <p:nvSpPr>
            <p:cNvPr id="15" name="TextBox 11">
              <a:extLst>
                <a:ext uri="{FF2B5EF4-FFF2-40B4-BE49-F238E27FC236}">
                  <a16:creationId xmlns:a16="http://schemas.microsoft.com/office/drawing/2014/main" id="{0FA9A963-18CC-CFCB-B847-626B4ABA6275}"/>
                </a:ext>
              </a:extLst>
            </p:cNvPr>
            <p:cNvSpPr txBox="1"/>
            <p:nvPr/>
          </p:nvSpPr>
          <p:spPr>
            <a:xfrm>
              <a:off x="3389558" y="4550115"/>
              <a:ext cx="4372875" cy="139647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marL="285750" indent="-28575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de-CH" sz="1300">
                  <a:solidFill>
                    <a:srgbClr val="2B2B2B"/>
                  </a:solidFill>
                  <a:latin typeface="+mj-lt"/>
                </a:rPr>
                <a:t>SOLL-Konzept finalisieren</a:t>
              </a:r>
              <a:endParaRPr lang="de-CH" sz="1300" b="0">
                <a:solidFill>
                  <a:srgbClr val="2B2B2B"/>
                </a:solidFill>
                <a:latin typeface="+mj-lt"/>
              </a:endParaRPr>
            </a:p>
            <a:p>
              <a:pPr marL="285750" indent="-28575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de-DE" sz="1300" b="0">
                  <a:solidFill>
                    <a:srgbClr val="2B2B2B"/>
                  </a:solidFill>
                  <a:latin typeface="+mj-lt"/>
                </a:rPr>
                <a:t>Aus dem SOLL-Workshop abgeleiteten Anforderungskatalog finalisieren und fachlich abnehmen</a:t>
              </a:r>
              <a:endParaRPr sz="1300" b="0">
                <a:solidFill>
                  <a:srgbClr val="2B2B2B"/>
                </a:solidFill>
                <a:latin typeface="+mj-lt"/>
              </a:endParaRPr>
            </a:p>
            <a:p>
              <a:pPr marL="285750" indent="-28575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sz="1300" b="0">
                  <a:solidFill>
                    <a:srgbClr val="2B2B2B"/>
                  </a:solidFill>
                  <a:latin typeface="+mj-lt"/>
                </a:rPr>
                <a:t>Folgetermin</a:t>
              </a:r>
              <a:r>
                <a:rPr lang="de-CH" sz="1300" b="0">
                  <a:solidFill>
                    <a:srgbClr val="2B2B2B"/>
                  </a:solidFill>
                  <a:latin typeface="+mj-lt"/>
                </a:rPr>
                <a:t>e</a:t>
              </a:r>
              <a:r>
                <a:rPr sz="1300" b="0">
                  <a:solidFill>
                    <a:srgbClr val="2B2B2B"/>
                  </a:solidFill>
                  <a:latin typeface="+mj-lt"/>
                </a:rPr>
                <a:t> Mitte Juli</a:t>
              </a:r>
              <a:endParaRPr lang="de-CH" sz="1300">
                <a:solidFill>
                  <a:srgbClr val="2B2B2B"/>
                </a:solidFill>
                <a:latin typeface="+mj-lt"/>
              </a:endParaRPr>
            </a:p>
            <a:p>
              <a:pPr marL="285750" indent="-28575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sz="1300" b="0" err="1">
                  <a:solidFill>
                    <a:srgbClr val="2B2B2B"/>
                  </a:solidFill>
                  <a:latin typeface="+mj-lt"/>
                </a:rPr>
                <a:t>Abschluss</a:t>
              </a:r>
              <a:r>
                <a:rPr sz="1300" b="0">
                  <a:solidFill>
                    <a:srgbClr val="2B2B2B"/>
                  </a:solidFill>
                  <a:latin typeface="+mj-lt"/>
                </a:rPr>
                <a:t> der </a:t>
              </a:r>
              <a:r>
                <a:rPr sz="1300" b="0" err="1">
                  <a:solidFill>
                    <a:srgbClr val="2B2B2B"/>
                  </a:solidFill>
                  <a:latin typeface="+mj-lt"/>
                </a:rPr>
                <a:t>Bachelorarbeit</a:t>
              </a:r>
              <a:r>
                <a:rPr sz="1300" b="0">
                  <a:solidFill>
                    <a:srgbClr val="2B2B2B"/>
                  </a:solidFill>
                  <a:latin typeface="+mj-lt"/>
                </a:rPr>
                <a:t> Anfang August</a:t>
              </a:r>
            </a:p>
            <a:p>
              <a:pPr marL="285750" indent="-28575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1300">
                  <a:solidFill>
                    <a:srgbClr val="2B2B2B"/>
                  </a:solidFill>
                  <a:latin typeface="+mj-lt"/>
                  <a:cs typeface="Arial" panose="020B0604020202020204"/>
                </a:rPr>
                <a:t>Einbezug von </a:t>
              </a:r>
              <a:r>
                <a:rPr lang="en-US" sz="1300" err="1">
                  <a:solidFill>
                    <a:srgbClr val="2B2B2B"/>
                  </a:solidFill>
                  <a:latin typeface="+mj-lt"/>
                  <a:cs typeface="Arial" panose="020B0604020202020204"/>
                </a:rPr>
                <a:t>Führungsverantwortlichen</a:t>
              </a:r>
              <a:r>
                <a:rPr lang="en-US" sz="1300">
                  <a:solidFill>
                    <a:srgbClr val="2B2B2B"/>
                  </a:solidFill>
                  <a:latin typeface="+mj-lt"/>
                  <a:cs typeface="Arial" panose="020B0604020202020204"/>
                </a:rPr>
                <a:t>?</a:t>
              </a:r>
            </a:p>
          </p:txBody>
        </p:sp>
      </p:grpSp>
      <p:sp>
        <p:nvSpPr>
          <p:cNvPr id="19" name="Textfeld 18">
            <a:extLst>
              <a:ext uri="{FF2B5EF4-FFF2-40B4-BE49-F238E27FC236}">
                <a16:creationId xmlns:a16="http://schemas.microsoft.com/office/drawing/2014/main" id="{118ED885-6FC5-00A7-1372-EAD3EA7C3FE9}"/>
              </a:ext>
            </a:extLst>
          </p:cNvPr>
          <p:cNvSpPr txBox="1"/>
          <p:nvPr/>
        </p:nvSpPr>
        <p:spPr>
          <a:xfrm>
            <a:off x="425656" y="1814045"/>
            <a:ext cx="11064240" cy="21395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91440" tIns="45720" rIns="91440" bIns="45720" anchor="t">
            <a:spAutoFit/>
          </a:bodyPr>
          <a:lstStyle/>
          <a:p>
            <a:endParaRPr lang="de-DE" sz="1600" b="1">
              <a:solidFill>
                <a:srgbClr val="FFFFFF"/>
              </a:solidFill>
              <a:latin typeface="+mj-lt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sz="1600"/>
              <a:t>Jira als zentrale Fallführung mit fall-/regelbasierten Aufgaben und Dokumentationsinhalten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sz="1600"/>
              <a:t>Harmonisierung der Austrittsvarianten zu einem geführten Rahmenprozess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sz="1600"/>
              <a:t>Ablösung der separaten Austrittsscheine durch eine digitale Informationsabfrage sowie Definition einer Standardregelung für Zeitsaldi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sz="1600">
                <a:cs typeface="Arial" panose="020B0604020202020204"/>
              </a:rPr>
              <a:t>Kündigung wird bei der Führungsperson eingereicht </a:t>
            </a:r>
          </a:p>
        </p:txBody>
      </p:sp>
      <p:sp>
        <p:nvSpPr>
          <p:cNvPr id="20" name="Rectangle 4">
            <a:extLst>
              <a:ext uri="{FF2B5EF4-FFF2-40B4-BE49-F238E27FC236}">
                <a16:creationId xmlns:a16="http://schemas.microsoft.com/office/drawing/2014/main" id="{520CB8E0-8C9B-38DC-8F5F-B286FD656C32}"/>
              </a:ext>
            </a:extLst>
          </p:cNvPr>
          <p:cNvSpPr/>
          <p:nvPr/>
        </p:nvSpPr>
        <p:spPr>
          <a:xfrm>
            <a:off x="425656" y="1326125"/>
            <a:ext cx="11064240" cy="722400"/>
          </a:xfrm>
          <a:prstGeom prst="rect">
            <a:avLst/>
          </a:prstGeom>
          <a:solidFill>
            <a:srgbClr val="125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de-CH" sz="1600"/>
              <a:t>Wir bitten um Bestätigung der eingeschlagenen Richtung:</a:t>
            </a:r>
            <a:endParaRPr sz="1600"/>
          </a:p>
        </p:txBody>
      </p:sp>
    </p:spTree>
    <p:extLst>
      <p:ext uri="{BB962C8B-B14F-4D97-AF65-F5344CB8AC3E}">
        <p14:creationId xmlns:p14="http://schemas.microsoft.com/office/powerpoint/2010/main" val="11042540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F299B9D-DEAD-6E08-C1F9-4FFBAABB5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/>
              <a:t>Vielen Dank für Ihre Aufmerksamkeit!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AED54E78-F30D-CC62-C03D-3D024F9A4AF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Bildplatzhalter 3">
            <a:extLst>
              <a:ext uri="{FF2B5EF4-FFF2-40B4-BE49-F238E27FC236}">
                <a16:creationId xmlns:a16="http://schemas.microsoft.com/office/drawing/2014/main" id="{8BB42E8B-0546-6F57-CF89-01C43015230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  <p:txBody>
          <a:bodyPr/>
          <a:lstStyle/>
          <a:p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0794828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F48B5DF-109A-3432-3B9D-E608D1527F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/>
              <a:t>Anhang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8E894538-091E-D81A-7928-D5B9213FB09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Bildplatzhalter 3">
            <a:extLst>
              <a:ext uri="{FF2B5EF4-FFF2-40B4-BE49-F238E27FC236}">
                <a16:creationId xmlns:a16="http://schemas.microsoft.com/office/drawing/2014/main" id="{D4EDD8AC-B9E5-28FE-1FB9-D9AD8F37A1D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  <p:txBody>
          <a:bodyPr/>
          <a:lstStyle/>
          <a:p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2432969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D574BF-A681-3B30-A0E1-C5675E37CC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5EE289E0-2A0F-6C65-50D2-C622BEE2BCF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60640" y="6459372"/>
            <a:ext cx="2070000" cy="180000"/>
          </a:xfrm>
        </p:spPr>
        <p:txBody>
          <a:bodyPr vert="horz" lIns="0" tIns="0" rIns="0" bIns="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de-DE"/>
              <a:t>08.07.2026</a:t>
            </a:r>
            <a:endParaRPr lang="de-CH"/>
          </a:p>
        </p:txBody>
      </p:sp>
      <p:sp>
        <p:nvSpPr>
          <p:cNvPr id="28" name="Footer Placeholder 2">
            <a:extLst>
              <a:ext uri="{FF2B5EF4-FFF2-40B4-BE49-F238E27FC236}">
                <a16:creationId xmlns:a16="http://schemas.microsoft.com/office/drawing/2014/main" id="{93B805F3-BED3-B33A-7B6E-DD04855E71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7368" y="6459372"/>
            <a:ext cx="4114800" cy="180000"/>
          </a:xfrm>
        </p:spPr>
        <p:txBody>
          <a:bodyPr/>
          <a:lstStyle/>
          <a:p>
            <a:r>
              <a:rPr lang="de-DE"/>
              <a:t>Zwischenbericht Digitalisierung Austrittsprozess USB</a:t>
            </a:r>
            <a:endParaRPr lang="de-CH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C3325292-FA1E-F737-C733-D0192F35E8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369" y="188639"/>
            <a:ext cx="11376644" cy="863873"/>
          </a:xfr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de-CH"/>
              <a:t>Betrachtete Austrittskonstellationen</a:t>
            </a: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39478AFA-43B0-6FB9-FF7D-BD460DB5BB46}"/>
              </a:ext>
            </a:extLst>
          </p:cNvPr>
          <p:cNvSpPr txBox="1"/>
          <p:nvPr/>
        </p:nvSpPr>
        <p:spPr>
          <a:xfrm>
            <a:off x="407987" y="1268413"/>
            <a:ext cx="11376025" cy="431800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pPr>
              <a:lnSpc>
                <a:spcPts val="2000"/>
              </a:lnSpc>
              <a:spcAft>
                <a:spcPts val="900"/>
              </a:spcAft>
              <a:buClr>
                <a:schemeClr val="tx2"/>
              </a:buClr>
            </a:pPr>
            <a:r>
              <a:rPr lang="de-DE" sz="2000"/>
              <a:t>Die folgenden Austrittskonstellationen werden im Rahmen der Bachelorarbeit berücksichtigt:</a:t>
            </a:r>
            <a:endParaRPr lang="de-CH" sz="2000" b="1" kern="120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graphicFrame>
        <p:nvGraphicFramePr>
          <p:cNvPr id="5" name="Tabelle 4">
            <a:extLst>
              <a:ext uri="{FF2B5EF4-FFF2-40B4-BE49-F238E27FC236}">
                <a16:creationId xmlns:a16="http://schemas.microsoft.com/office/drawing/2014/main" id="{10697451-337F-AC0D-CE3C-C2907BE7CA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3245179"/>
              </p:ext>
            </p:extLst>
          </p:nvPr>
        </p:nvGraphicFramePr>
        <p:xfrm>
          <a:off x="845153" y="1915938"/>
          <a:ext cx="10501696" cy="432138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250848">
                  <a:extLst>
                    <a:ext uri="{9D8B030D-6E8A-4147-A177-3AD203B41FA5}">
                      <a16:colId xmlns:a16="http://schemas.microsoft.com/office/drawing/2014/main" val="3443870087"/>
                    </a:ext>
                  </a:extLst>
                </a:gridCol>
                <a:gridCol w="5250848">
                  <a:extLst>
                    <a:ext uri="{9D8B030D-6E8A-4147-A177-3AD203B41FA5}">
                      <a16:colId xmlns:a16="http://schemas.microsoft.com/office/drawing/2014/main" val="179684261"/>
                    </a:ext>
                  </a:extLst>
                </a:gridCol>
              </a:tblGrid>
              <a:tr h="432138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  <a:tabLst>
                          <a:tab pos="540385" algn="l"/>
                          <a:tab pos="449580" algn="l"/>
                        </a:tabLst>
                      </a:pPr>
                      <a:r>
                        <a:rPr lang="de-CH" sz="1800" kern="100">
                          <a:effectLst/>
                        </a:rPr>
                        <a:t>Anstellungsart</a:t>
                      </a:r>
                      <a:endParaRPr lang="de-CH" sz="2000" kern="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5089" marR="125089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  <a:tabLst>
                          <a:tab pos="540385" algn="l"/>
                          <a:tab pos="449580" algn="l"/>
                        </a:tabLst>
                      </a:pPr>
                      <a:r>
                        <a:rPr lang="de-CH" sz="1800" kern="100">
                          <a:effectLst/>
                        </a:rPr>
                        <a:t>Austrittsgrund</a:t>
                      </a:r>
                      <a:endParaRPr lang="de-CH" sz="2000" kern="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5089" marR="125089" marT="0" marB="0"/>
                </a:tc>
                <a:extLst>
                  <a:ext uri="{0D108BD9-81ED-4DB2-BD59-A6C34878D82A}">
                    <a16:rowId xmlns:a16="http://schemas.microsoft.com/office/drawing/2014/main" val="3518756955"/>
                  </a:ext>
                </a:extLst>
              </a:tr>
              <a:tr h="432138">
                <a:tc rowSpan="9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  <a:tabLst>
                          <a:tab pos="540385" algn="l"/>
                          <a:tab pos="449580" algn="l"/>
                        </a:tabLst>
                      </a:pPr>
                      <a:r>
                        <a:rPr lang="de-CH" sz="1800" kern="100">
                          <a:effectLst/>
                        </a:rPr>
                        <a:t>USB</a:t>
                      </a:r>
                    </a:p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  <a:tabLst>
                          <a:tab pos="540385" algn="l"/>
                          <a:tab pos="449580" algn="l"/>
                        </a:tabLst>
                      </a:pPr>
                      <a:r>
                        <a:rPr lang="de-CH" sz="1800" kern="100">
                          <a:effectLst/>
                        </a:rPr>
                        <a:t>Fonds (Drittmittel)</a:t>
                      </a:r>
                      <a:endParaRPr lang="de-CH" sz="2000" kern="100">
                        <a:effectLst/>
                      </a:endParaRPr>
                    </a:p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  <a:tabLst>
                          <a:tab pos="540385" algn="l"/>
                          <a:tab pos="449580" algn="l"/>
                        </a:tabLst>
                      </a:pPr>
                      <a:r>
                        <a:rPr lang="de-CH" sz="1800" kern="100">
                          <a:effectLst/>
                        </a:rPr>
                        <a:t>Aus- und Weiterbildung</a:t>
                      </a:r>
                      <a:endParaRPr lang="de-CH" sz="2000" kern="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5089" marR="125089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  <a:tabLst>
                          <a:tab pos="540385" algn="l"/>
                          <a:tab pos="449580" algn="l"/>
                        </a:tabLst>
                      </a:pPr>
                      <a:r>
                        <a:rPr lang="de-CH" sz="1800" kern="100">
                          <a:effectLst/>
                        </a:rPr>
                        <a:t>Kündigung Arbeitnehmer</a:t>
                      </a:r>
                      <a:endParaRPr lang="de-CH" sz="2000" kern="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5089" marR="125089" marT="0" marB="0"/>
                </a:tc>
                <a:extLst>
                  <a:ext uri="{0D108BD9-81ED-4DB2-BD59-A6C34878D82A}">
                    <a16:rowId xmlns:a16="http://schemas.microsoft.com/office/drawing/2014/main" val="171571615"/>
                  </a:ext>
                </a:extLst>
              </a:tr>
              <a:tr h="432138">
                <a:tc vMerge="1">
                  <a:txBody>
                    <a:bodyPr/>
                    <a:lstStyle/>
                    <a:p>
                      <a:endParaRPr lang="de-C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  <a:tabLst>
                          <a:tab pos="540385" algn="l"/>
                          <a:tab pos="449580" algn="l"/>
                        </a:tabLst>
                      </a:pPr>
                      <a:r>
                        <a:rPr lang="de-CH" sz="1800" kern="100">
                          <a:effectLst/>
                        </a:rPr>
                        <a:t>Kündigung Arbeitgeber</a:t>
                      </a:r>
                      <a:endParaRPr lang="de-CH" sz="2000" kern="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5089" marR="125089" marT="0" marB="0"/>
                </a:tc>
                <a:extLst>
                  <a:ext uri="{0D108BD9-81ED-4DB2-BD59-A6C34878D82A}">
                    <a16:rowId xmlns:a16="http://schemas.microsoft.com/office/drawing/2014/main" val="2532224691"/>
                  </a:ext>
                </a:extLst>
              </a:tr>
              <a:tr h="432138">
                <a:tc vMerge="1">
                  <a:txBody>
                    <a:bodyPr/>
                    <a:lstStyle/>
                    <a:p>
                      <a:endParaRPr lang="de-C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  <a:tabLst>
                          <a:tab pos="540385" algn="l"/>
                          <a:tab pos="449580" algn="l"/>
                        </a:tabLst>
                      </a:pPr>
                      <a:r>
                        <a:rPr lang="de-CH" sz="1800" kern="100">
                          <a:effectLst/>
                        </a:rPr>
                        <a:t>Auflösungsvereinbarung</a:t>
                      </a:r>
                      <a:endParaRPr lang="de-CH" sz="2000" kern="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5089" marR="125089" marT="0" marB="0"/>
                </a:tc>
                <a:extLst>
                  <a:ext uri="{0D108BD9-81ED-4DB2-BD59-A6C34878D82A}">
                    <a16:rowId xmlns:a16="http://schemas.microsoft.com/office/drawing/2014/main" val="4010582698"/>
                  </a:ext>
                </a:extLst>
              </a:tr>
              <a:tr h="432138">
                <a:tc vMerge="1">
                  <a:txBody>
                    <a:bodyPr/>
                    <a:lstStyle/>
                    <a:p>
                      <a:endParaRPr lang="de-C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  <a:tabLst>
                          <a:tab pos="540385" algn="l"/>
                          <a:tab pos="449580" algn="l"/>
                        </a:tabLst>
                      </a:pPr>
                      <a:r>
                        <a:rPr lang="de-CH" sz="1800" kern="100">
                          <a:effectLst/>
                        </a:rPr>
                        <a:t>Vertragsablauf</a:t>
                      </a:r>
                      <a:endParaRPr lang="de-CH" sz="2000" kern="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5089" marR="125089" marT="0" marB="0"/>
                </a:tc>
                <a:extLst>
                  <a:ext uri="{0D108BD9-81ED-4DB2-BD59-A6C34878D82A}">
                    <a16:rowId xmlns:a16="http://schemas.microsoft.com/office/drawing/2014/main" val="1519021175"/>
                  </a:ext>
                </a:extLst>
              </a:tr>
              <a:tr h="432138">
                <a:tc vMerge="1">
                  <a:txBody>
                    <a:bodyPr/>
                    <a:lstStyle/>
                    <a:p>
                      <a:endParaRPr lang="de-C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  <a:tabLst>
                          <a:tab pos="540385" algn="l"/>
                          <a:tab pos="449580" algn="l"/>
                        </a:tabLst>
                      </a:pPr>
                      <a:r>
                        <a:rPr lang="de-CH" sz="1800" kern="100">
                          <a:effectLst/>
                        </a:rPr>
                        <a:t>Ordentliche Pensionierung</a:t>
                      </a:r>
                      <a:endParaRPr lang="de-CH" sz="2000" kern="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5089" marR="125089" marT="0" marB="0"/>
                </a:tc>
                <a:extLst>
                  <a:ext uri="{0D108BD9-81ED-4DB2-BD59-A6C34878D82A}">
                    <a16:rowId xmlns:a16="http://schemas.microsoft.com/office/drawing/2014/main" val="1385535752"/>
                  </a:ext>
                </a:extLst>
              </a:tr>
              <a:tr h="432138">
                <a:tc vMerge="1">
                  <a:txBody>
                    <a:bodyPr/>
                    <a:lstStyle/>
                    <a:p>
                      <a:endParaRPr lang="de-C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  <a:tabLst>
                          <a:tab pos="540385" algn="l"/>
                          <a:tab pos="449580" algn="l"/>
                        </a:tabLst>
                      </a:pPr>
                      <a:r>
                        <a:rPr lang="de-CH" sz="1800" kern="100">
                          <a:effectLst/>
                        </a:rPr>
                        <a:t>Vorzeitige Pensionierung</a:t>
                      </a:r>
                      <a:endParaRPr lang="de-CH" sz="2000" kern="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5089" marR="125089" marT="0" marB="0"/>
                </a:tc>
                <a:extLst>
                  <a:ext uri="{0D108BD9-81ED-4DB2-BD59-A6C34878D82A}">
                    <a16:rowId xmlns:a16="http://schemas.microsoft.com/office/drawing/2014/main" val="993677653"/>
                  </a:ext>
                </a:extLst>
              </a:tr>
              <a:tr h="432138">
                <a:tc vMerge="1">
                  <a:txBody>
                    <a:bodyPr/>
                    <a:lstStyle/>
                    <a:p>
                      <a:endParaRPr lang="de-C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  <a:tabLst>
                          <a:tab pos="540385" algn="l"/>
                          <a:tab pos="449580" algn="l"/>
                        </a:tabLst>
                      </a:pPr>
                      <a:r>
                        <a:rPr lang="de-CH" sz="1800" i="1" u="sng" kern="100">
                          <a:effectLst/>
                        </a:rPr>
                        <a:t>Teilpensionierung</a:t>
                      </a:r>
                      <a:endParaRPr lang="de-CH" sz="2000" i="1" u="sng" kern="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5089" marR="125089" marT="0" marB="0"/>
                </a:tc>
                <a:extLst>
                  <a:ext uri="{0D108BD9-81ED-4DB2-BD59-A6C34878D82A}">
                    <a16:rowId xmlns:a16="http://schemas.microsoft.com/office/drawing/2014/main" val="693723748"/>
                  </a:ext>
                </a:extLst>
              </a:tr>
              <a:tr h="432138">
                <a:tc vMerge="1">
                  <a:txBody>
                    <a:bodyPr/>
                    <a:lstStyle/>
                    <a:p>
                      <a:endParaRPr lang="de-C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  <a:tabLst>
                          <a:tab pos="540385" algn="l"/>
                          <a:tab pos="449580" algn="l"/>
                        </a:tabLst>
                      </a:pPr>
                      <a:r>
                        <a:rPr lang="de-CH" sz="1800" i="1" u="sng" kern="100">
                          <a:effectLst/>
                        </a:rPr>
                        <a:t>Teilaustritt</a:t>
                      </a:r>
                      <a:endParaRPr lang="de-CH" sz="2000" i="1" u="sng" kern="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5089" marR="125089" marT="0" marB="0"/>
                </a:tc>
                <a:extLst>
                  <a:ext uri="{0D108BD9-81ED-4DB2-BD59-A6C34878D82A}">
                    <a16:rowId xmlns:a16="http://schemas.microsoft.com/office/drawing/2014/main" val="3057242592"/>
                  </a:ext>
                </a:extLst>
              </a:tr>
              <a:tr h="432138">
                <a:tc vMerge="1">
                  <a:txBody>
                    <a:bodyPr/>
                    <a:lstStyle/>
                    <a:p>
                      <a:endParaRPr lang="de-C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  <a:tabLst>
                          <a:tab pos="540385" algn="l"/>
                          <a:tab pos="449580" algn="l"/>
                        </a:tabLst>
                      </a:pPr>
                      <a:r>
                        <a:rPr lang="de-CH" sz="1800" i="1" u="sng" kern="100">
                          <a:effectLst/>
                        </a:rPr>
                        <a:t>Schwangerschafts- und Mutterschaftsurlaub</a:t>
                      </a:r>
                      <a:endParaRPr lang="de-CH" sz="2000" i="1" u="sng" kern="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5089" marR="125089" marT="0" marB="0"/>
                </a:tc>
                <a:extLst>
                  <a:ext uri="{0D108BD9-81ED-4DB2-BD59-A6C34878D82A}">
                    <a16:rowId xmlns:a16="http://schemas.microsoft.com/office/drawing/2014/main" val="17604026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114144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246524-59F1-0CA2-DCCD-F8086F9948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9FB7B735-10B7-F44D-94D0-CB1708F04AA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60640" y="6459372"/>
            <a:ext cx="2070000" cy="180000"/>
          </a:xfrm>
        </p:spPr>
        <p:txBody>
          <a:bodyPr vert="horz" lIns="0" tIns="0" rIns="0" bIns="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de-DE"/>
              <a:t>08.07.2026</a:t>
            </a:r>
            <a:endParaRPr lang="de-CH"/>
          </a:p>
        </p:txBody>
      </p:sp>
      <p:sp>
        <p:nvSpPr>
          <p:cNvPr id="28" name="Footer Placeholder 2">
            <a:extLst>
              <a:ext uri="{FF2B5EF4-FFF2-40B4-BE49-F238E27FC236}">
                <a16:creationId xmlns:a16="http://schemas.microsoft.com/office/drawing/2014/main" id="{28C22C31-8CB6-3954-E797-D3307B93BB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7368" y="6459372"/>
            <a:ext cx="4114800" cy="180000"/>
          </a:xfrm>
        </p:spPr>
        <p:txBody>
          <a:bodyPr/>
          <a:lstStyle/>
          <a:p>
            <a:r>
              <a:rPr lang="de-DE"/>
              <a:t>Zwischenbericht Digitalisierung Austrittsprozess USB</a:t>
            </a:r>
            <a:endParaRPr lang="de-CH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A820DF57-114F-7EA7-F7E1-CD0B87BBC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369" y="188639"/>
            <a:ext cx="11376644" cy="863873"/>
          </a:xfr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de-DE"/>
              <a:t>IST-Konzept: Strukturierung in sechs Prozessmodelle</a:t>
            </a:r>
            <a:endParaRPr lang="de-CH"/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E6319000-3763-ECE2-4E0E-2B362A116B12}"/>
              </a:ext>
            </a:extLst>
          </p:cNvPr>
          <p:cNvSpPr txBox="1"/>
          <p:nvPr/>
        </p:nvSpPr>
        <p:spPr>
          <a:xfrm>
            <a:off x="407987" y="1268413"/>
            <a:ext cx="11376025" cy="431800"/>
          </a:xfrm>
          <a:prstGeom prst="rect">
            <a:avLst/>
          </a:prstGeom>
        </p:spPr>
        <p:txBody>
          <a:bodyPr vert="horz" lIns="0" tIns="0" rIns="0" bIns="0" rtlCol="0">
            <a:normAutofit fontScale="92500"/>
          </a:bodyPr>
          <a:lstStyle/>
          <a:p>
            <a:pPr>
              <a:lnSpc>
                <a:spcPts val="2000"/>
              </a:lnSpc>
              <a:spcAft>
                <a:spcPts val="900"/>
              </a:spcAft>
              <a:buClr>
                <a:schemeClr val="tx2"/>
              </a:buClr>
            </a:pPr>
            <a:r>
              <a:rPr lang="de-DE" sz="2000"/>
              <a:t>Die Austrittskonstellationen wurden zur besseren Vergleichbarkeit in sechs Prozessmodelle gegliedert</a:t>
            </a:r>
            <a:endParaRPr lang="de-CH" sz="2000" b="1" kern="120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graphicFrame>
        <p:nvGraphicFramePr>
          <p:cNvPr id="3" name="Tabelle 2">
            <a:extLst>
              <a:ext uri="{FF2B5EF4-FFF2-40B4-BE49-F238E27FC236}">
                <a16:creationId xmlns:a16="http://schemas.microsoft.com/office/drawing/2014/main" id="{7003E7D4-6008-DAEF-5441-C492BABAD2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9179018"/>
              </p:ext>
            </p:extLst>
          </p:nvPr>
        </p:nvGraphicFramePr>
        <p:xfrm>
          <a:off x="1611376" y="1975166"/>
          <a:ext cx="8867648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33824">
                  <a:extLst>
                    <a:ext uri="{9D8B030D-6E8A-4147-A177-3AD203B41FA5}">
                      <a16:colId xmlns:a16="http://schemas.microsoft.com/office/drawing/2014/main" val="2707724738"/>
                    </a:ext>
                  </a:extLst>
                </a:gridCol>
                <a:gridCol w="4433824">
                  <a:extLst>
                    <a:ext uri="{9D8B030D-6E8A-4147-A177-3AD203B41FA5}">
                      <a16:colId xmlns:a16="http://schemas.microsoft.com/office/drawing/2014/main" val="20844244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CH"/>
                        <a:t>Anstellungsarten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/>
                        <a:t>Modelle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7920614"/>
                  </a:ext>
                </a:extLst>
              </a:tr>
              <a:tr h="370840">
                <a:tc rowSpan="4">
                  <a:txBody>
                    <a:bodyPr/>
                    <a:lstStyle/>
                    <a:p>
                      <a:pPr algn="ctr"/>
                      <a:r>
                        <a:rPr lang="de-CH"/>
                        <a:t>USB und Fonds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CH"/>
                        <a:t>Vertragsablauf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225524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de-C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/>
                        <a:t>Kündigung MA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27404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de-C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/>
                        <a:t>Kündigung AG / Auflösungsvereinbarung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009029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de-C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/>
                        <a:t>Pensionierung (Ordentlich / Frühzeitig)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423838"/>
                  </a:ext>
                </a:extLst>
              </a:tr>
            </a:tbl>
          </a:graphicData>
        </a:graphic>
      </p:graphicFrame>
      <p:graphicFrame>
        <p:nvGraphicFramePr>
          <p:cNvPr id="6" name="Tabelle 5">
            <a:extLst>
              <a:ext uri="{FF2B5EF4-FFF2-40B4-BE49-F238E27FC236}">
                <a16:creationId xmlns:a16="http://schemas.microsoft.com/office/drawing/2014/main" id="{3657C9CE-E866-4C7B-FD53-DD0291ADBF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8312961"/>
              </p:ext>
            </p:extLst>
          </p:nvPr>
        </p:nvGraphicFramePr>
        <p:xfrm>
          <a:off x="1611376" y="4330219"/>
          <a:ext cx="8867648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33824">
                  <a:extLst>
                    <a:ext uri="{9D8B030D-6E8A-4147-A177-3AD203B41FA5}">
                      <a16:colId xmlns:a16="http://schemas.microsoft.com/office/drawing/2014/main" val="2707724738"/>
                    </a:ext>
                  </a:extLst>
                </a:gridCol>
                <a:gridCol w="4433824">
                  <a:extLst>
                    <a:ext uri="{9D8B030D-6E8A-4147-A177-3AD203B41FA5}">
                      <a16:colId xmlns:a16="http://schemas.microsoft.com/office/drawing/2014/main" val="20844244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CH"/>
                        <a:t>Anstellungsart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/>
                        <a:t>Modelle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7920614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de-CH"/>
                        <a:t>Aus- und Weiterbildung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CH"/>
                        <a:t>Vertragsablauf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225524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de-C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/>
                        <a:t>Kündigung (MA / AG) / Auflösung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274043"/>
                  </a:ext>
                </a:extLst>
              </a:tr>
            </a:tbl>
          </a:graphicData>
        </a:graphic>
      </p:graphicFrame>
      <p:sp>
        <p:nvSpPr>
          <p:cNvPr id="5" name="Rechteck 4">
            <a:extLst>
              <a:ext uri="{FF2B5EF4-FFF2-40B4-BE49-F238E27FC236}">
                <a16:creationId xmlns:a16="http://schemas.microsoft.com/office/drawing/2014/main" id="{B7C32E94-04CD-D51B-C4A1-D08825A73B0E}"/>
              </a:ext>
            </a:extLst>
          </p:cNvPr>
          <p:cNvSpPr/>
          <p:nvPr/>
        </p:nvSpPr>
        <p:spPr>
          <a:xfrm>
            <a:off x="746445" y="5783714"/>
            <a:ext cx="10656567" cy="471490"/>
          </a:xfrm>
          <a:prstGeom prst="rect">
            <a:avLst/>
          </a:prstGeom>
          <a:solidFill>
            <a:srgbClr val="4BACC6">
              <a:lumMod val="75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Protokoll: Die IST-Prozesse sind validiert</a:t>
            </a:r>
          </a:p>
        </p:txBody>
      </p:sp>
    </p:spTree>
    <p:extLst>
      <p:ext uri="{BB962C8B-B14F-4D97-AF65-F5344CB8AC3E}">
        <p14:creationId xmlns:p14="http://schemas.microsoft.com/office/powerpoint/2010/main" val="933962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ingekerbter Richtungspfeil 85">
            <a:extLst>
              <a:ext uri="{FF2B5EF4-FFF2-40B4-BE49-F238E27FC236}">
                <a16:creationId xmlns:a16="http://schemas.microsoft.com/office/drawing/2014/main" id="{6A89B726-AD1D-F1E9-E2D0-879FB48DE1FC}"/>
              </a:ext>
            </a:extLst>
          </p:cNvPr>
          <p:cNvSpPr/>
          <p:nvPr/>
        </p:nvSpPr>
        <p:spPr>
          <a:xfrm>
            <a:off x="1276350" y="4434684"/>
            <a:ext cx="6708722" cy="900972"/>
          </a:xfrm>
          <a:prstGeom prst="roundRect">
            <a:avLst/>
          </a:prstGeom>
          <a:solidFill>
            <a:srgbClr val="FFFFFF">
              <a:lumMod val="95000"/>
            </a:srgbClr>
          </a:solidFill>
          <a:ln w="12700" cap="flat" cmpd="sng" algn="ctr">
            <a:solidFill>
              <a:srgbClr val="4F81BD">
                <a:lumMod val="60000"/>
                <a:lumOff val="40000"/>
              </a:srgbClr>
            </a:solidFill>
            <a:prstDash val="lgDashDot"/>
          </a:ln>
          <a:effectLst/>
        </p:spPr>
        <p:txBody>
          <a:bodyPr lIns="91415" tIns="45705" rIns="91415" bIns="45705" rtlCol="0" anchor="t"/>
          <a:lstStyle/>
          <a:p>
            <a:pPr marL="0" marR="0" lvl="0" indent="0" defTabSz="91414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1200" b="0" i="0" u="none" strike="noStrike" kern="0" cap="none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Mitarbeiter/in</a:t>
            </a:r>
          </a:p>
        </p:txBody>
      </p:sp>
      <p:sp>
        <p:nvSpPr>
          <p:cNvPr id="12" name="Eingekerbter Richtungspfeil 85">
            <a:extLst>
              <a:ext uri="{FF2B5EF4-FFF2-40B4-BE49-F238E27FC236}">
                <a16:creationId xmlns:a16="http://schemas.microsoft.com/office/drawing/2014/main" id="{974316E5-BF9D-1C0E-AC87-78A7BAA85899}"/>
              </a:ext>
            </a:extLst>
          </p:cNvPr>
          <p:cNvSpPr/>
          <p:nvPr/>
        </p:nvSpPr>
        <p:spPr>
          <a:xfrm>
            <a:off x="1276351" y="1637953"/>
            <a:ext cx="6708722" cy="1386039"/>
          </a:xfrm>
          <a:prstGeom prst="roundRect">
            <a:avLst>
              <a:gd name="adj" fmla="val 4921"/>
            </a:avLst>
          </a:prstGeom>
          <a:solidFill>
            <a:srgbClr val="FFFFFF">
              <a:lumMod val="95000"/>
            </a:srgbClr>
          </a:solidFill>
          <a:ln w="12700" cap="flat" cmpd="sng" algn="ctr">
            <a:solidFill>
              <a:srgbClr val="4F81BD">
                <a:lumMod val="60000"/>
                <a:lumOff val="40000"/>
              </a:srgbClr>
            </a:solidFill>
            <a:prstDash val="lgDashDot"/>
          </a:ln>
          <a:effectLst/>
        </p:spPr>
        <p:txBody>
          <a:bodyPr lIns="91415" tIns="45705" rIns="91415" bIns="45705" rtlCol="0" anchor="t"/>
          <a:lstStyle/>
          <a:p>
            <a:pPr marL="0" marR="0" lvl="0" indent="0" defTabSz="91414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1200" b="0" i="0" u="none" strike="noStrike" kern="0" cap="none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Direktion Personal</a:t>
            </a:r>
          </a:p>
        </p:txBody>
      </p:sp>
      <p:sp>
        <p:nvSpPr>
          <p:cNvPr id="11" name="Eingekerbter Richtungspfeil 85">
            <a:extLst>
              <a:ext uri="{FF2B5EF4-FFF2-40B4-BE49-F238E27FC236}">
                <a16:creationId xmlns:a16="http://schemas.microsoft.com/office/drawing/2014/main" id="{484B87AE-610B-CB42-0AE1-271F429FDDE5}"/>
              </a:ext>
            </a:extLst>
          </p:cNvPr>
          <p:cNvSpPr/>
          <p:nvPr/>
        </p:nvSpPr>
        <p:spPr>
          <a:xfrm>
            <a:off x="1276350" y="3322262"/>
            <a:ext cx="6708722" cy="900972"/>
          </a:xfrm>
          <a:prstGeom prst="roundRect">
            <a:avLst/>
          </a:prstGeom>
          <a:solidFill>
            <a:srgbClr val="FFFFFF">
              <a:lumMod val="95000"/>
            </a:srgbClr>
          </a:solidFill>
          <a:ln w="12700" cap="flat" cmpd="sng" algn="ctr">
            <a:solidFill>
              <a:srgbClr val="4F81BD">
                <a:lumMod val="60000"/>
                <a:lumOff val="40000"/>
              </a:srgbClr>
            </a:solidFill>
            <a:prstDash val="lgDashDot"/>
          </a:ln>
          <a:effectLst/>
        </p:spPr>
        <p:txBody>
          <a:bodyPr lIns="91415" tIns="45705" rIns="91415" bIns="45705" rtlCol="0" anchor="t"/>
          <a:lstStyle/>
          <a:p>
            <a:pPr marL="0" marR="0" lvl="0" indent="0" defTabSz="91414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1200" b="0" i="0" u="none" strike="noStrike" kern="0" cap="none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Vorgesetzte/r</a:t>
            </a: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8B1DB9B8-BC8E-19F6-FBBA-B284146E21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08.07.2026</a:t>
            </a:r>
            <a:endParaRPr lang="de-CH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5601892E-51B1-C3C7-1F28-C67471F85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Zwischenbericht Digitalisierung Austrittsprozess USB</a:t>
            </a:r>
            <a:endParaRPr lang="de-CH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85B750EE-83D6-8C88-7CDB-3FA57BCF8D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/>
              <a:t>IST Austrittsprozess(e)</a:t>
            </a:r>
          </a:p>
        </p:txBody>
      </p:sp>
      <p:sp>
        <p:nvSpPr>
          <p:cNvPr id="8" name="AutoShape 24">
            <a:extLst>
              <a:ext uri="{FF2B5EF4-FFF2-40B4-BE49-F238E27FC236}">
                <a16:creationId xmlns:a16="http://schemas.microsoft.com/office/drawing/2014/main" id="{860B96E5-4097-639D-3989-9DA544969D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36977" y="2170222"/>
            <a:ext cx="1051394" cy="396345"/>
          </a:xfrm>
          <a:prstGeom prst="chevron">
            <a:avLst>
              <a:gd name="adj" fmla="val 37537"/>
            </a:avLst>
          </a:prstGeom>
          <a:solidFill>
            <a:schemeClr val="accent2">
              <a:lumMod val="60000"/>
              <a:lumOff val="40000"/>
            </a:schemeClr>
          </a:solidFill>
          <a:ln w="9525" algn="ctr">
            <a:solidFill>
              <a:srgbClr val="4F81BD">
                <a:lumMod val="20000"/>
                <a:lumOff val="80000"/>
              </a:srgb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45716" rIns="36000" bIns="45716" anchor="ctr" anchorCtr="1"/>
          <a:lstStyle/>
          <a:p>
            <a:pPr marL="0" marR="0" lvl="0" indent="0" algn="ctr" defTabSz="914400" eaLnBrk="0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10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Austritt bearbeiten</a:t>
            </a:r>
          </a:p>
        </p:txBody>
      </p:sp>
      <p:sp>
        <p:nvSpPr>
          <p:cNvPr id="9" name="AutoShape 24">
            <a:extLst>
              <a:ext uri="{FF2B5EF4-FFF2-40B4-BE49-F238E27FC236}">
                <a16:creationId xmlns:a16="http://schemas.microsoft.com/office/drawing/2014/main" id="{B00C18D1-F40A-0AF3-DB86-E56C415B6B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4630" y="2170222"/>
            <a:ext cx="1051394" cy="396345"/>
          </a:xfrm>
          <a:prstGeom prst="chevron">
            <a:avLst>
              <a:gd name="adj" fmla="val 37537"/>
            </a:avLst>
          </a:prstGeom>
          <a:solidFill>
            <a:schemeClr val="accent2">
              <a:lumMod val="60000"/>
              <a:lumOff val="40000"/>
            </a:schemeClr>
          </a:solidFill>
          <a:ln w="9525" algn="ctr">
            <a:solidFill>
              <a:srgbClr val="4F81BD">
                <a:lumMod val="20000"/>
                <a:lumOff val="80000"/>
              </a:srgb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45716" rIns="36000" bIns="45716" anchor="ctr" anchorCtr="1"/>
          <a:lstStyle/>
          <a:p>
            <a:pPr marL="0" marR="0" lvl="0" indent="0" algn="ctr" defTabSz="914400" eaLnBrk="0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10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Austritt verbuchen</a:t>
            </a:r>
          </a:p>
        </p:txBody>
      </p:sp>
      <p:sp>
        <p:nvSpPr>
          <p:cNvPr id="19" name="AutoShape 24">
            <a:extLst>
              <a:ext uri="{FF2B5EF4-FFF2-40B4-BE49-F238E27FC236}">
                <a16:creationId xmlns:a16="http://schemas.microsoft.com/office/drawing/2014/main" id="{E7300E02-BDA9-0052-9450-0B14E76A15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6350" y="1065488"/>
            <a:ext cx="6708722" cy="396345"/>
          </a:xfrm>
          <a:prstGeom prst="chevron">
            <a:avLst>
              <a:gd name="adj" fmla="val 37537"/>
            </a:avLst>
          </a:prstGeom>
          <a:solidFill>
            <a:schemeClr val="accent6">
              <a:lumMod val="20000"/>
              <a:lumOff val="80000"/>
            </a:schemeClr>
          </a:solidFill>
          <a:ln w="9525" algn="ctr">
            <a:solidFill>
              <a:srgbClr val="4F81BD">
                <a:lumMod val="20000"/>
                <a:lumOff val="80000"/>
              </a:srgb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45716" rIns="36000" bIns="45716" anchor="ctr" anchorCtr="1"/>
          <a:lstStyle/>
          <a:p>
            <a:pPr marL="0" marR="0" lvl="0" indent="0" algn="ctr" defTabSz="914400" eaLnBrk="0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1000" b="1" i="0" u="none" strike="noStrike" kern="0" cap="none" spc="0" normalizeH="0" baseline="0" noProof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</a:rPr>
              <a:t>Anstellung USB</a:t>
            </a:r>
          </a:p>
        </p:txBody>
      </p:sp>
      <p:sp>
        <p:nvSpPr>
          <p:cNvPr id="20" name="AutoShape 24">
            <a:extLst>
              <a:ext uri="{FF2B5EF4-FFF2-40B4-BE49-F238E27FC236}">
                <a16:creationId xmlns:a16="http://schemas.microsoft.com/office/drawing/2014/main" id="{F3E085CE-6D54-526A-7C86-2293B331B9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85072" y="1065488"/>
            <a:ext cx="1051394" cy="396345"/>
          </a:xfrm>
          <a:prstGeom prst="chevron">
            <a:avLst>
              <a:gd name="adj" fmla="val 37537"/>
            </a:avLst>
          </a:prstGeom>
          <a:solidFill>
            <a:schemeClr val="accent5">
              <a:lumMod val="20000"/>
              <a:lumOff val="80000"/>
            </a:schemeClr>
          </a:solidFill>
          <a:ln w="9525" algn="ctr">
            <a:solidFill>
              <a:srgbClr val="4F81BD">
                <a:lumMod val="20000"/>
                <a:lumOff val="80000"/>
              </a:srgb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45716" rIns="36000" bIns="45716" anchor="ctr" anchorCtr="1"/>
          <a:lstStyle/>
          <a:p>
            <a:pPr marL="0" marR="0" lvl="0" indent="0" algn="ctr" defTabSz="914400" eaLnBrk="0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1000" b="1" i="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</a:rPr>
              <a:t>Austritt</a:t>
            </a:r>
          </a:p>
        </p:txBody>
      </p:sp>
      <p:sp>
        <p:nvSpPr>
          <p:cNvPr id="22" name="Eingekerbter Richtungspfeil 85">
            <a:extLst>
              <a:ext uri="{FF2B5EF4-FFF2-40B4-BE49-F238E27FC236}">
                <a16:creationId xmlns:a16="http://schemas.microsoft.com/office/drawing/2014/main" id="{74213570-1404-78B2-F392-F9E78D4BFF39}"/>
              </a:ext>
            </a:extLst>
          </p:cNvPr>
          <p:cNvSpPr/>
          <p:nvPr/>
        </p:nvSpPr>
        <p:spPr>
          <a:xfrm>
            <a:off x="2455021" y="1973430"/>
            <a:ext cx="1349052" cy="3598636"/>
          </a:xfrm>
          <a:prstGeom prst="roundRect">
            <a:avLst/>
          </a:prstGeom>
          <a:solidFill>
            <a:schemeClr val="bg2">
              <a:lumMod val="20000"/>
              <a:lumOff val="80000"/>
            </a:schemeClr>
          </a:solidFill>
          <a:ln w="12700" cap="flat" cmpd="sng" algn="ctr">
            <a:solidFill>
              <a:srgbClr val="4F81BD">
                <a:lumMod val="60000"/>
                <a:lumOff val="40000"/>
              </a:srgbClr>
            </a:solidFill>
            <a:prstDash val="lgDashDot"/>
          </a:ln>
          <a:effectLst/>
        </p:spPr>
        <p:txBody>
          <a:bodyPr lIns="91415" tIns="45705" rIns="91415" bIns="45705" rtlCol="0" anchor="t"/>
          <a:lstStyle/>
          <a:p>
            <a:pPr marL="0" marR="0" lvl="0" indent="0" algn="ctr" defTabSz="91414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CH" sz="1200" b="0" i="0" u="none" strike="noStrike" kern="0" cap="none" spc="0" normalizeH="0" baseline="0" noProof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" name="AutoShape 24">
            <a:extLst>
              <a:ext uri="{FF2B5EF4-FFF2-40B4-BE49-F238E27FC236}">
                <a16:creationId xmlns:a16="http://schemas.microsoft.com/office/drawing/2014/main" id="{78274BB8-6BAC-862F-9208-A8A6360772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03850" y="2715218"/>
            <a:ext cx="1051394" cy="396345"/>
          </a:xfrm>
          <a:prstGeom prst="chevron">
            <a:avLst>
              <a:gd name="adj" fmla="val 37537"/>
            </a:avLst>
          </a:prstGeom>
          <a:solidFill>
            <a:schemeClr val="accent2">
              <a:lumMod val="40000"/>
              <a:lumOff val="60000"/>
            </a:schemeClr>
          </a:solidFill>
          <a:ln w="9525" algn="ctr">
            <a:solidFill>
              <a:srgbClr val="4F81BD">
                <a:lumMod val="20000"/>
                <a:lumOff val="80000"/>
              </a:srgb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45716" rIns="36000" bIns="45716" anchor="ctr" anchorCtr="1"/>
          <a:lstStyle/>
          <a:p>
            <a:pPr marL="0" marR="0" lvl="0" indent="0" algn="ctr" defTabSz="914400" eaLnBrk="0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10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Ablauf Befristung</a:t>
            </a:r>
          </a:p>
        </p:txBody>
      </p:sp>
      <p:sp>
        <p:nvSpPr>
          <p:cNvPr id="13" name="AutoShape 24">
            <a:extLst>
              <a:ext uri="{FF2B5EF4-FFF2-40B4-BE49-F238E27FC236}">
                <a16:creationId xmlns:a16="http://schemas.microsoft.com/office/drawing/2014/main" id="{2CAA6F7C-1B22-5473-2B44-FD440B1DDD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03850" y="3222607"/>
            <a:ext cx="1051394" cy="396345"/>
          </a:xfrm>
          <a:prstGeom prst="chevron">
            <a:avLst>
              <a:gd name="adj" fmla="val 37537"/>
            </a:avLst>
          </a:prstGeom>
          <a:solidFill>
            <a:schemeClr val="accent2">
              <a:lumMod val="40000"/>
              <a:lumOff val="60000"/>
            </a:schemeClr>
          </a:solidFill>
          <a:ln w="9525" algn="ctr">
            <a:solidFill>
              <a:srgbClr val="4F81BD">
                <a:lumMod val="20000"/>
                <a:lumOff val="80000"/>
              </a:srgb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45716" rIns="36000" bIns="45716" anchor="ctr" anchorCtr="1"/>
          <a:lstStyle/>
          <a:p>
            <a:pPr marL="0" marR="0" lvl="0" indent="0" algn="ctr" defTabSz="914400" eaLnBrk="0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10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Kündigung AN/AG</a:t>
            </a:r>
          </a:p>
        </p:txBody>
      </p:sp>
      <p:sp>
        <p:nvSpPr>
          <p:cNvPr id="14" name="AutoShape 24">
            <a:extLst>
              <a:ext uri="{FF2B5EF4-FFF2-40B4-BE49-F238E27FC236}">
                <a16:creationId xmlns:a16="http://schemas.microsoft.com/office/drawing/2014/main" id="{369A224F-7E67-7FE8-F965-441E50554F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4312" y="3765447"/>
            <a:ext cx="1051394" cy="396345"/>
          </a:xfrm>
          <a:prstGeom prst="chevron">
            <a:avLst>
              <a:gd name="adj" fmla="val 37537"/>
            </a:avLst>
          </a:prstGeom>
          <a:solidFill>
            <a:schemeClr val="accent2">
              <a:lumMod val="40000"/>
              <a:lumOff val="60000"/>
            </a:schemeClr>
          </a:solidFill>
          <a:ln w="9525" algn="ctr">
            <a:solidFill>
              <a:srgbClr val="4F81BD">
                <a:lumMod val="20000"/>
                <a:lumOff val="80000"/>
              </a:srgb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45716" rIns="36000" bIns="45716" anchor="ctr" anchorCtr="1"/>
          <a:lstStyle/>
          <a:p>
            <a:pPr marL="0" marR="0" lvl="0" indent="0" algn="ctr" defTabSz="914400" eaLnBrk="0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10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(</a:t>
            </a:r>
            <a:r>
              <a:rPr lang="de-CH" sz="1000" b="1" kern="0">
                <a:solidFill>
                  <a:schemeClr val="tx2"/>
                </a:solidFill>
              </a:rPr>
              <a:t>Teil-) </a:t>
            </a:r>
            <a:r>
              <a:rPr kumimoji="0" lang="de-CH" sz="10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Pensionierung</a:t>
            </a:r>
          </a:p>
        </p:txBody>
      </p:sp>
      <p:sp>
        <p:nvSpPr>
          <p:cNvPr id="16" name="AutoShape 24">
            <a:extLst>
              <a:ext uri="{FF2B5EF4-FFF2-40B4-BE49-F238E27FC236}">
                <a16:creationId xmlns:a16="http://schemas.microsoft.com/office/drawing/2014/main" id="{6BD09D56-1CBB-9C2C-7F33-97676F08B4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0966" y="4331480"/>
            <a:ext cx="1051394" cy="396345"/>
          </a:xfrm>
          <a:prstGeom prst="chevron">
            <a:avLst>
              <a:gd name="adj" fmla="val 37537"/>
            </a:avLst>
          </a:prstGeom>
          <a:solidFill>
            <a:schemeClr val="accent2">
              <a:lumMod val="40000"/>
              <a:lumOff val="60000"/>
            </a:schemeClr>
          </a:solidFill>
          <a:ln w="9525" algn="ctr">
            <a:solidFill>
              <a:srgbClr val="4F81BD">
                <a:lumMod val="20000"/>
                <a:lumOff val="80000"/>
              </a:srgb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45716" rIns="36000" bIns="45716" anchor="ctr" anchorCtr="1"/>
          <a:lstStyle/>
          <a:p>
            <a:pPr marL="0" marR="0" lvl="0" indent="0" algn="ctr" defTabSz="914400" eaLnBrk="0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CH" sz="1000" b="1" kern="0" err="1">
                <a:solidFill>
                  <a:schemeClr val="tx2"/>
                </a:solidFill>
              </a:rPr>
              <a:t>AuW</a:t>
            </a:r>
            <a:endParaRPr kumimoji="0" lang="de-CH" sz="10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sp>
        <p:nvSpPr>
          <p:cNvPr id="18" name="AutoShape 24">
            <a:extLst>
              <a:ext uri="{FF2B5EF4-FFF2-40B4-BE49-F238E27FC236}">
                <a16:creationId xmlns:a16="http://schemas.microsoft.com/office/drawing/2014/main" id="{178ECB3F-0ED7-C0FA-3FC6-EBFFA313DD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0966" y="4926440"/>
            <a:ext cx="1051394" cy="396345"/>
          </a:xfrm>
          <a:prstGeom prst="chevron">
            <a:avLst>
              <a:gd name="adj" fmla="val 37537"/>
            </a:avLst>
          </a:prstGeom>
          <a:solidFill>
            <a:schemeClr val="accent2">
              <a:lumMod val="40000"/>
              <a:lumOff val="60000"/>
            </a:schemeClr>
          </a:solidFill>
          <a:ln w="9525" algn="ctr">
            <a:solidFill>
              <a:srgbClr val="4F81BD">
                <a:lumMod val="20000"/>
                <a:lumOff val="80000"/>
              </a:srgb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45716" rIns="36000" bIns="45716" anchor="ctr" anchorCtr="1"/>
          <a:lstStyle/>
          <a:p>
            <a:pPr marL="0" marR="0" lvl="0" indent="0" algn="ctr" defTabSz="914400" eaLnBrk="0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CH" sz="1000" b="1" kern="0">
                <a:solidFill>
                  <a:schemeClr val="tx2"/>
                </a:solidFill>
              </a:rPr>
              <a:t>…</a:t>
            </a:r>
            <a:endParaRPr kumimoji="0" lang="de-CH" sz="10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sp>
        <p:nvSpPr>
          <p:cNvPr id="21" name="AutoShape 24">
            <a:extLst>
              <a:ext uri="{FF2B5EF4-FFF2-40B4-BE49-F238E27FC236}">
                <a16:creationId xmlns:a16="http://schemas.microsoft.com/office/drawing/2014/main" id="{3AE364CA-6007-3D67-8770-C72B99F0AE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03850" y="2160782"/>
            <a:ext cx="1051394" cy="396345"/>
          </a:xfrm>
          <a:prstGeom prst="chevron">
            <a:avLst>
              <a:gd name="adj" fmla="val 37537"/>
            </a:avLst>
          </a:prstGeom>
          <a:solidFill>
            <a:schemeClr val="accent2">
              <a:lumMod val="60000"/>
              <a:lumOff val="40000"/>
            </a:schemeClr>
          </a:solidFill>
          <a:ln w="9525" algn="ctr">
            <a:solidFill>
              <a:srgbClr val="4F81BD">
                <a:lumMod val="20000"/>
                <a:lumOff val="80000"/>
              </a:srgb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45716" rIns="36000" bIns="45716" anchor="ctr" anchorCtr="1"/>
          <a:lstStyle/>
          <a:p>
            <a:pPr marL="0" marR="0" lvl="0" indent="0" algn="ctr" defTabSz="914400" eaLnBrk="0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10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Austritt melden</a:t>
            </a: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33AD89A7-9226-20DB-03E3-6278C7E99B10}"/>
              </a:ext>
            </a:extLst>
          </p:cNvPr>
          <p:cNvSpPr txBox="1"/>
          <p:nvPr/>
        </p:nvSpPr>
        <p:spPr>
          <a:xfrm>
            <a:off x="8387929" y="2769844"/>
            <a:ext cx="3363913" cy="1161026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wrap="square" lIns="36000" tIns="36000" rIns="36000" bIns="36000" rtlCol="0">
            <a:noAutofit/>
          </a:bodyPr>
          <a:lstStyle/>
          <a:p>
            <a:pPr algn="l">
              <a:lnSpc>
                <a:spcPts val="2400"/>
              </a:lnSpc>
              <a:spcAft>
                <a:spcPts val="900"/>
              </a:spcAft>
            </a:pPr>
            <a:r>
              <a:rPr lang="de-CH" sz="2000">
                <a:solidFill>
                  <a:schemeClr val="tx2"/>
                </a:solidFill>
              </a:rPr>
              <a:t>Die Variationen im Austrittsprozess entstehen bei der Meldung des Austritts</a:t>
            </a:r>
          </a:p>
        </p:txBody>
      </p:sp>
      <p:sp>
        <p:nvSpPr>
          <p:cNvPr id="25" name="AutoShape 24">
            <a:extLst>
              <a:ext uri="{FF2B5EF4-FFF2-40B4-BE49-F238E27FC236}">
                <a16:creationId xmlns:a16="http://schemas.microsoft.com/office/drawing/2014/main" id="{7D2511FA-FE23-22EB-0A9A-53A6E64A70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66024" y="4686248"/>
            <a:ext cx="1051394" cy="396345"/>
          </a:xfrm>
          <a:prstGeom prst="chevron">
            <a:avLst>
              <a:gd name="adj" fmla="val 37537"/>
            </a:avLst>
          </a:prstGeom>
          <a:solidFill>
            <a:schemeClr val="bg1">
              <a:lumMod val="85000"/>
            </a:schemeClr>
          </a:solidFill>
          <a:ln w="9525" algn="ctr">
            <a:solidFill>
              <a:srgbClr val="4F81BD">
                <a:lumMod val="20000"/>
                <a:lumOff val="80000"/>
              </a:srgb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45716" rIns="36000" bIns="45716" anchor="ctr" anchorCtr="1"/>
          <a:lstStyle/>
          <a:p>
            <a:pPr marL="0" marR="0" lvl="0" indent="0" algn="ctr" defTabSz="914400" eaLnBrk="0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10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Austritts-befragung</a:t>
            </a:r>
          </a:p>
        </p:txBody>
      </p:sp>
    </p:spTree>
    <p:extLst>
      <p:ext uri="{BB962C8B-B14F-4D97-AF65-F5344CB8AC3E}">
        <p14:creationId xmlns:p14="http://schemas.microsoft.com/office/powerpoint/2010/main" val="38792186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6E171A67-B05D-89CE-8C74-99F34CEB38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08.07.2026</a:t>
            </a:r>
            <a:endParaRPr lang="de-CH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26D1A0A9-AA80-E40A-3B38-C8092B582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Zwischenbericht Digitalisierung Austrittsprozess USB</a:t>
            </a:r>
            <a:endParaRPr lang="de-CH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5E911341-4CFF-7F11-A28C-96C2457DFD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/>
              <a:t>Bei der IST Analyse wurden vier Handlungsfelder identifiziert</a:t>
            </a:r>
          </a:p>
        </p:txBody>
      </p:sp>
      <p:sp>
        <p:nvSpPr>
          <p:cNvPr id="29" name="Rectangle 13">
            <a:extLst>
              <a:ext uri="{FF2B5EF4-FFF2-40B4-BE49-F238E27FC236}">
                <a16:creationId xmlns:a16="http://schemas.microsoft.com/office/drawing/2014/main" id="{271BAA58-E01E-3DFE-274B-15B47F531D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445" y="2994582"/>
            <a:ext cx="2448000" cy="208377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2700" algn="ctr">
            <a:noFill/>
            <a:miter lim="800000"/>
            <a:headEnd/>
            <a:tailEnd/>
          </a:ln>
        </p:spPr>
        <p:txBody>
          <a:bodyPr lIns="36000" tIns="46800" rIns="0" bIns="46800" anchor="t"/>
          <a:lstStyle>
            <a:lvl1pPr marL="93663" indent="-93663">
              <a:spcAft>
                <a:spcPct val="50000"/>
              </a:spcAft>
              <a:buClr>
                <a:srgbClr val="00279F"/>
              </a:buClr>
              <a:buSzPct val="8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Aft>
                <a:spcPct val="50000"/>
              </a:spcAft>
              <a:buClr>
                <a:srgbClr val="00279F"/>
              </a:buClr>
              <a:buSzPct val="80000"/>
              <a:buFont typeface="Wingdings" pitchFamily="2" charset="2"/>
              <a:buChar char="u"/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Aft>
                <a:spcPct val="50000"/>
              </a:spcAft>
              <a:buClr>
                <a:schemeClr val="hlink"/>
              </a:buClr>
              <a:buSzPct val="80000"/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-"/>
              <a:defRPr kumimoji="1" sz="1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50000"/>
              </a:spcBef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93345" indent="-93345">
              <a:buFont typeface="Arial,Sans-Serif" pitchFamily="34" charset="0"/>
              <a:buChar char="•"/>
            </a:pPr>
            <a:r>
              <a:rPr lang="de-DE" sz="1000">
                <a:solidFill>
                  <a:srgbClr val="000000"/>
                </a:solidFill>
                <a:latin typeface="Arial"/>
                <a:cs typeface="Arial"/>
              </a:rPr>
              <a:t>Bearbeitungsstand ist jederzeit nachvollziehbar </a:t>
            </a:r>
            <a:endParaRPr lang="en-US" sz="1000">
              <a:solidFill>
                <a:srgbClr val="000000"/>
              </a:solidFill>
              <a:latin typeface="Arial"/>
              <a:cs typeface="Arial"/>
            </a:endParaRPr>
          </a:p>
          <a:p>
            <a:pPr marL="93345" indent="-93345">
              <a:spcAft>
                <a:spcPts val="400"/>
              </a:spcAft>
              <a:buFont typeface="Arial,Sans-Serif" pitchFamily="34" charset="0"/>
              <a:buChar char="•"/>
            </a:pPr>
            <a:r>
              <a:rPr lang="de-DE" sz="1000">
                <a:solidFill>
                  <a:srgbClr val="000000"/>
                </a:solidFill>
                <a:latin typeface="Arial"/>
                <a:cs typeface="Arial"/>
              </a:rPr>
              <a:t>Offene Aufgaben sind klar ersichtlich (im Team, für die zugewiesene Person)</a:t>
            </a:r>
          </a:p>
          <a:p>
            <a:pPr marL="93345" indent="-93345">
              <a:spcAft>
                <a:spcPts val="400"/>
              </a:spcAft>
              <a:buFont typeface="Arial,Sans-Serif" pitchFamily="34" charset="0"/>
              <a:buChar char="•"/>
            </a:pPr>
            <a:r>
              <a:rPr lang="de-DE" sz="1000">
                <a:solidFill>
                  <a:srgbClr val="000000"/>
                </a:solidFill>
                <a:latin typeface="Arial"/>
                <a:cs typeface="Arial"/>
              </a:rPr>
              <a:t>Zuständigkeiten sind eindeutig definiert </a:t>
            </a:r>
          </a:p>
        </p:txBody>
      </p:sp>
      <p:sp>
        <p:nvSpPr>
          <p:cNvPr id="30" name="AutoShape 7">
            <a:extLst>
              <a:ext uri="{FF2B5EF4-FFF2-40B4-BE49-F238E27FC236}">
                <a16:creationId xmlns:a16="http://schemas.microsoft.com/office/drawing/2014/main" id="{2D3929BC-0C9A-FD41-6A31-06D444A4E3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445" y="2572322"/>
            <a:ext cx="2448000" cy="432000"/>
          </a:xfrm>
          <a:prstGeom prst="rect">
            <a:avLst/>
          </a:prstGeom>
          <a:solidFill>
            <a:schemeClr val="bg2">
              <a:lumMod val="75000"/>
            </a:schemeClr>
          </a:solidFill>
          <a:ln w="12700" algn="ctr">
            <a:noFill/>
            <a:miter lim="800000"/>
            <a:headEnd/>
            <a:tailEnd/>
          </a:ln>
        </p:spPr>
        <p:txBody>
          <a:bodyPr lIns="36000" tIns="46800" rIns="36000" bIns="46800" anchor="ctr"/>
          <a:lstStyle/>
          <a:p>
            <a:pPr marL="143510">
              <a:lnSpc>
                <a:spcPts val="1200"/>
              </a:lnSpc>
              <a:defRPr/>
            </a:pPr>
            <a:r>
              <a:rPr lang="de-DE" sz="1200" kern="0">
                <a:solidFill>
                  <a:prstClr val="white"/>
                </a:solidFill>
                <a:ea typeface="+mn-lt"/>
                <a:cs typeface="+mn-lt"/>
              </a:rPr>
              <a:t>Übersicht und operative Steuerung</a:t>
            </a:r>
            <a:endParaRPr lang="en-US" sz="1200"/>
          </a:p>
        </p:txBody>
      </p:sp>
      <p:sp>
        <p:nvSpPr>
          <p:cNvPr id="79" name="AutoShape 7">
            <a:extLst>
              <a:ext uri="{FF2B5EF4-FFF2-40B4-BE49-F238E27FC236}">
                <a16:creationId xmlns:a16="http://schemas.microsoft.com/office/drawing/2014/main" id="{B7AECE30-9F56-DE1C-73B7-2B47A43145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3634" y="2572322"/>
            <a:ext cx="2448000" cy="432000"/>
          </a:xfrm>
          <a:prstGeom prst="rect">
            <a:avLst/>
          </a:prstGeom>
          <a:solidFill>
            <a:schemeClr val="bg2">
              <a:lumMod val="75000"/>
            </a:schemeClr>
          </a:solidFill>
          <a:ln w="12700" algn="ctr">
            <a:noFill/>
            <a:miter lim="800000"/>
            <a:headEnd/>
            <a:tailEnd/>
          </a:ln>
        </p:spPr>
        <p:txBody>
          <a:bodyPr lIns="36000" tIns="46800" rIns="36000" bIns="46800" anchor="ctr"/>
          <a:lstStyle/>
          <a:p>
            <a:pPr marL="143510">
              <a:lnSpc>
                <a:spcPts val="1200"/>
              </a:lnSpc>
              <a:defRPr/>
            </a:pPr>
            <a:r>
              <a:rPr lang="de-DE" sz="1100" kern="0">
                <a:solidFill>
                  <a:prstClr val="white"/>
                </a:solidFill>
                <a:ea typeface="+mn-lt"/>
                <a:cs typeface="+mn-lt"/>
              </a:rPr>
              <a:t>Konsistente Datenbasis und Systemintegration</a:t>
            </a:r>
            <a:endParaRPr lang="en-US" sz="1100">
              <a:solidFill>
                <a:prstClr val="white"/>
              </a:solidFill>
              <a:cs typeface="Arial"/>
            </a:endParaRPr>
          </a:p>
        </p:txBody>
      </p:sp>
      <p:grpSp>
        <p:nvGrpSpPr>
          <p:cNvPr id="82" name="Group 117">
            <a:extLst>
              <a:ext uri="{FF2B5EF4-FFF2-40B4-BE49-F238E27FC236}">
                <a16:creationId xmlns:a16="http://schemas.microsoft.com/office/drawing/2014/main" id="{C3CE408A-37E3-2CB6-5531-FC530151D75A}"/>
              </a:ext>
            </a:extLst>
          </p:cNvPr>
          <p:cNvGrpSpPr>
            <a:grpSpLocks/>
          </p:cNvGrpSpPr>
          <p:nvPr/>
        </p:nvGrpSpPr>
        <p:grpSpPr bwMode="auto">
          <a:xfrm>
            <a:off x="9556750" y="5597051"/>
            <a:ext cx="2006523" cy="385762"/>
            <a:chOff x="909" y="3960"/>
            <a:chExt cx="1004" cy="243"/>
          </a:xfrm>
        </p:grpSpPr>
        <p:sp>
          <p:nvSpPr>
            <p:cNvPr id="83" name="Line 118">
              <a:extLst>
                <a:ext uri="{FF2B5EF4-FFF2-40B4-BE49-F238E27FC236}">
                  <a16:creationId xmlns:a16="http://schemas.microsoft.com/office/drawing/2014/main" id="{D12B72CD-6D5D-57C6-456F-1CDFF59365E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89" y="4006"/>
              <a:ext cx="8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3200" rIns="90000" bIns="43200" anchor="ctr"/>
            <a:lstStyle/>
            <a:p>
              <a:endParaRPr lang="de-DE">
                <a:solidFill>
                  <a:srgbClr val="000000"/>
                </a:solidFill>
              </a:endParaRPr>
            </a:p>
          </p:txBody>
        </p:sp>
        <p:sp>
          <p:nvSpPr>
            <p:cNvPr id="84" name="Line 119">
              <a:extLst>
                <a:ext uri="{FF2B5EF4-FFF2-40B4-BE49-F238E27FC236}">
                  <a16:creationId xmlns:a16="http://schemas.microsoft.com/office/drawing/2014/main" id="{BF55DDEB-979B-A925-4436-E27544C2C7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89" y="3960"/>
              <a:ext cx="0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3200" rIns="90000" bIns="43200" anchor="ctr"/>
            <a:lstStyle/>
            <a:p>
              <a:endParaRPr lang="de-DE">
                <a:solidFill>
                  <a:srgbClr val="000000"/>
                </a:solidFill>
              </a:endParaRPr>
            </a:p>
          </p:txBody>
        </p:sp>
        <p:sp>
          <p:nvSpPr>
            <p:cNvPr id="85" name="Line 120">
              <a:extLst>
                <a:ext uri="{FF2B5EF4-FFF2-40B4-BE49-F238E27FC236}">
                  <a16:creationId xmlns:a16="http://schemas.microsoft.com/office/drawing/2014/main" id="{4EEABD67-D00D-4FE2-0095-AF339F4681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79" y="3960"/>
              <a:ext cx="0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3200" rIns="90000" bIns="43200" anchor="ctr"/>
            <a:lstStyle/>
            <a:p>
              <a:endParaRPr lang="de-DE">
                <a:solidFill>
                  <a:srgbClr val="000000"/>
                </a:solidFill>
              </a:endParaRPr>
            </a:p>
          </p:txBody>
        </p:sp>
        <p:sp>
          <p:nvSpPr>
            <p:cNvPr id="86" name="Line 121">
              <a:extLst>
                <a:ext uri="{FF2B5EF4-FFF2-40B4-BE49-F238E27FC236}">
                  <a16:creationId xmlns:a16="http://schemas.microsoft.com/office/drawing/2014/main" id="{95B1DCD3-852C-8713-DD5C-83FF95E4FD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69" y="3960"/>
              <a:ext cx="0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3200" rIns="90000" bIns="43200" anchor="ctr"/>
            <a:lstStyle/>
            <a:p>
              <a:endParaRPr lang="de-DE">
                <a:solidFill>
                  <a:srgbClr val="000000"/>
                </a:solidFill>
              </a:endParaRPr>
            </a:p>
          </p:txBody>
        </p:sp>
        <p:sp>
          <p:nvSpPr>
            <p:cNvPr id="87" name="Line 122">
              <a:extLst>
                <a:ext uri="{FF2B5EF4-FFF2-40B4-BE49-F238E27FC236}">
                  <a16:creationId xmlns:a16="http://schemas.microsoft.com/office/drawing/2014/main" id="{3A1E2D71-DC8B-BF49-E826-D6E6A2F648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59" y="3960"/>
              <a:ext cx="0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3200" rIns="90000" bIns="43200" anchor="ctr"/>
            <a:lstStyle/>
            <a:p>
              <a:endParaRPr lang="de-DE">
                <a:solidFill>
                  <a:srgbClr val="000000"/>
                </a:solidFill>
              </a:endParaRPr>
            </a:p>
          </p:txBody>
        </p:sp>
        <p:sp>
          <p:nvSpPr>
            <p:cNvPr id="88" name="Line 123">
              <a:extLst>
                <a:ext uri="{FF2B5EF4-FFF2-40B4-BE49-F238E27FC236}">
                  <a16:creationId xmlns:a16="http://schemas.microsoft.com/office/drawing/2014/main" id="{C7AFCA0F-C4E7-35A6-E514-D40079CCF6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49" y="3960"/>
              <a:ext cx="0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3200" rIns="90000" bIns="43200" anchor="ctr"/>
            <a:lstStyle/>
            <a:p>
              <a:endParaRPr lang="de-DE">
                <a:solidFill>
                  <a:srgbClr val="000000"/>
                </a:solidFill>
              </a:endParaRPr>
            </a:p>
          </p:txBody>
        </p:sp>
        <p:sp>
          <p:nvSpPr>
            <p:cNvPr id="89" name="Line 124">
              <a:extLst>
                <a:ext uri="{FF2B5EF4-FFF2-40B4-BE49-F238E27FC236}">
                  <a16:creationId xmlns:a16="http://schemas.microsoft.com/office/drawing/2014/main" id="{61F03409-5432-F1A4-8A0A-B1C6B557455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39" y="3960"/>
              <a:ext cx="0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3200" rIns="90000" bIns="43200" anchor="ctr"/>
            <a:lstStyle/>
            <a:p>
              <a:endParaRPr lang="de-DE">
                <a:solidFill>
                  <a:srgbClr val="000000"/>
                </a:solidFill>
              </a:endParaRPr>
            </a:p>
          </p:txBody>
        </p:sp>
        <p:sp>
          <p:nvSpPr>
            <p:cNvPr id="90" name="Line 125">
              <a:extLst>
                <a:ext uri="{FF2B5EF4-FFF2-40B4-BE49-F238E27FC236}">
                  <a16:creationId xmlns:a16="http://schemas.microsoft.com/office/drawing/2014/main" id="{CFD1F56D-ED8E-A875-9BD0-A320BCC03D8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29" y="3960"/>
              <a:ext cx="0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3200" rIns="90000" bIns="43200" anchor="ctr"/>
            <a:lstStyle/>
            <a:p>
              <a:endParaRPr lang="de-DE">
                <a:solidFill>
                  <a:srgbClr val="000000"/>
                </a:solidFill>
              </a:endParaRPr>
            </a:p>
          </p:txBody>
        </p:sp>
        <p:sp>
          <p:nvSpPr>
            <p:cNvPr id="91" name="Line 126">
              <a:extLst>
                <a:ext uri="{FF2B5EF4-FFF2-40B4-BE49-F238E27FC236}">
                  <a16:creationId xmlns:a16="http://schemas.microsoft.com/office/drawing/2014/main" id="{151C8503-9E14-E22A-AF00-A66A9A69717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19" y="3960"/>
              <a:ext cx="0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3200" rIns="90000" bIns="43200" anchor="ctr"/>
            <a:lstStyle/>
            <a:p>
              <a:endParaRPr lang="de-DE">
                <a:solidFill>
                  <a:srgbClr val="000000"/>
                </a:solidFill>
              </a:endParaRPr>
            </a:p>
          </p:txBody>
        </p:sp>
        <p:sp>
          <p:nvSpPr>
            <p:cNvPr id="92" name="Line 127">
              <a:extLst>
                <a:ext uri="{FF2B5EF4-FFF2-40B4-BE49-F238E27FC236}">
                  <a16:creationId xmlns:a16="http://schemas.microsoft.com/office/drawing/2014/main" id="{65282CC2-C8D7-C75A-6E04-9E37FBFA0B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11" y="3962"/>
              <a:ext cx="0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3200" rIns="90000" bIns="43200" anchor="ctr"/>
            <a:lstStyle/>
            <a:p>
              <a:endParaRPr lang="de-DE">
                <a:solidFill>
                  <a:srgbClr val="000000"/>
                </a:solidFill>
              </a:endParaRPr>
            </a:p>
          </p:txBody>
        </p:sp>
        <p:sp>
          <p:nvSpPr>
            <p:cNvPr id="93" name="Line 128">
              <a:extLst>
                <a:ext uri="{FF2B5EF4-FFF2-40B4-BE49-F238E27FC236}">
                  <a16:creationId xmlns:a16="http://schemas.microsoft.com/office/drawing/2014/main" id="{ACE128B2-787E-FAF7-99E2-7B25CCDD9F9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99" y="3960"/>
              <a:ext cx="0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3200" rIns="90000" bIns="43200" anchor="ctr"/>
            <a:lstStyle/>
            <a:p>
              <a:endParaRPr lang="de-DE">
                <a:solidFill>
                  <a:srgbClr val="000000"/>
                </a:solidFill>
              </a:endParaRPr>
            </a:p>
          </p:txBody>
        </p:sp>
        <p:sp>
          <p:nvSpPr>
            <p:cNvPr id="94" name="Text Box 129">
              <a:extLst>
                <a:ext uri="{FF2B5EF4-FFF2-40B4-BE49-F238E27FC236}">
                  <a16:creationId xmlns:a16="http://schemas.microsoft.com/office/drawing/2014/main" id="{44CD5EE8-F8A1-68FA-D3E3-05C4B69242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09" y="4051"/>
              <a:ext cx="172" cy="1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3200" rIns="90000" bIns="43200">
              <a:spAutoFit/>
            </a:bodyPr>
            <a:lstStyle>
              <a:lvl1pPr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u"/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31838">
                <a:spcAft>
                  <a:spcPct val="50000"/>
                </a:spcAft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31838">
                <a:spcBef>
                  <a:spcPct val="20000"/>
                </a:spcBef>
                <a:buClr>
                  <a:schemeClr val="hlink"/>
                </a:buClr>
                <a:buChar char="-"/>
                <a:defRPr kumimoji="1" sz="1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31838">
                <a:spcBef>
                  <a:spcPct val="50000"/>
                </a:spcBef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de-DE" altLang="de-DE" sz="1000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95" name="Text Box 130">
              <a:extLst>
                <a:ext uri="{FF2B5EF4-FFF2-40B4-BE49-F238E27FC236}">
                  <a16:creationId xmlns:a16="http://schemas.microsoft.com/office/drawing/2014/main" id="{C619BA66-FA35-524C-5DED-5C28F2F084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88" y="4051"/>
              <a:ext cx="172" cy="1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3200" rIns="90000" bIns="43200">
              <a:spAutoFit/>
            </a:bodyPr>
            <a:lstStyle>
              <a:lvl1pPr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u"/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31838">
                <a:spcAft>
                  <a:spcPct val="50000"/>
                </a:spcAft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31838">
                <a:spcBef>
                  <a:spcPct val="20000"/>
                </a:spcBef>
                <a:buClr>
                  <a:schemeClr val="hlink"/>
                </a:buClr>
                <a:buChar char="-"/>
                <a:defRPr kumimoji="1" sz="1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31838">
                <a:spcBef>
                  <a:spcPct val="50000"/>
                </a:spcBef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de-DE" altLang="de-DE" sz="1000">
                  <a:solidFill>
                    <a:srgbClr val="000000"/>
                  </a:solidFill>
                </a:rPr>
                <a:t>2</a:t>
              </a:r>
            </a:p>
          </p:txBody>
        </p:sp>
        <p:sp>
          <p:nvSpPr>
            <p:cNvPr id="96" name="Text Box 131">
              <a:extLst>
                <a:ext uri="{FF2B5EF4-FFF2-40B4-BE49-F238E27FC236}">
                  <a16:creationId xmlns:a16="http://schemas.microsoft.com/office/drawing/2014/main" id="{CF476467-AC86-6797-4C31-948210354A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79" y="4051"/>
              <a:ext cx="172" cy="1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3200" rIns="90000" bIns="43200">
              <a:spAutoFit/>
            </a:bodyPr>
            <a:lstStyle>
              <a:lvl1pPr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u"/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31838">
                <a:spcAft>
                  <a:spcPct val="50000"/>
                </a:spcAft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31838">
                <a:spcBef>
                  <a:spcPct val="20000"/>
                </a:spcBef>
                <a:buClr>
                  <a:schemeClr val="hlink"/>
                </a:buClr>
                <a:buChar char="-"/>
                <a:defRPr kumimoji="1" sz="1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31838">
                <a:spcBef>
                  <a:spcPct val="50000"/>
                </a:spcBef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de-DE" altLang="de-DE" sz="1000">
                  <a:solidFill>
                    <a:srgbClr val="000000"/>
                  </a:solidFill>
                </a:rPr>
                <a:t>3</a:t>
              </a:r>
            </a:p>
          </p:txBody>
        </p:sp>
        <p:sp>
          <p:nvSpPr>
            <p:cNvPr id="97" name="Text Box 132">
              <a:extLst>
                <a:ext uri="{FF2B5EF4-FFF2-40B4-BE49-F238E27FC236}">
                  <a16:creationId xmlns:a16="http://schemas.microsoft.com/office/drawing/2014/main" id="{151BB99D-76A0-FBD2-18C2-56F82D26393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70" y="4051"/>
              <a:ext cx="172" cy="1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3200" rIns="90000" bIns="43200">
              <a:spAutoFit/>
            </a:bodyPr>
            <a:lstStyle>
              <a:lvl1pPr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u"/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31838">
                <a:spcAft>
                  <a:spcPct val="50000"/>
                </a:spcAft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31838">
                <a:spcBef>
                  <a:spcPct val="20000"/>
                </a:spcBef>
                <a:buClr>
                  <a:schemeClr val="hlink"/>
                </a:buClr>
                <a:buChar char="-"/>
                <a:defRPr kumimoji="1" sz="1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31838">
                <a:spcBef>
                  <a:spcPct val="50000"/>
                </a:spcBef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de-DE" altLang="de-DE" sz="1000">
                  <a:solidFill>
                    <a:srgbClr val="000000"/>
                  </a:solidFill>
                </a:rPr>
                <a:t>4</a:t>
              </a:r>
            </a:p>
          </p:txBody>
        </p:sp>
        <p:sp>
          <p:nvSpPr>
            <p:cNvPr id="98" name="Text Box 133">
              <a:extLst>
                <a:ext uri="{FF2B5EF4-FFF2-40B4-BE49-F238E27FC236}">
                  <a16:creationId xmlns:a16="http://schemas.microsoft.com/office/drawing/2014/main" id="{6A8181F3-130B-E866-E994-C6E743C550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61" y="4051"/>
              <a:ext cx="172" cy="1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3200" rIns="90000" bIns="43200">
              <a:spAutoFit/>
            </a:bodyPr>
            <a:lstStyle>
              <a:lvl1pPr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u"/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31838">
                <a:spcAft>
                  <a:spcPct val="50000"/>
                </a:spcAft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31838">
                <a:spcBef>
                  <a:spcPct val="20000"/>
                </a:spcBef>
                <a:buClr>
                  <a:schemeClr val="hlink"/>
                </a:buClr>
                <a:buChar char="-"/>
                <a:defRPr kumimoji="1" sz="1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31838">
                <a:spcBef>
                  <a:spcPct val="50000"/>
                </a:spcBef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de-DE" altLang="de-DE" sz="1000">
                  <a:solidFill>
                    <a:srgbClr val="000000"/>
                  </a:solidFill>
                </a:rPr>
                <a:t>5</a:t>
              </a:r>
            </a:p>
          </p:txBody>
        </p:sp>
        <p:sp>
          <p:nvSpPr>
            <p:cNvPr id="99" name="Text Box 134">
              <a:extLst>
                <a:ext uri="{FF2B5EF4-FFF2-40B4-BE49-F238E27FC236}">
                  <a16:creationId xmlns:a16="http://schemas.microsoft.com/office/drawing/2014/main" id="{99278EEB-D9D9-C2F0-324B-31A9E6F020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2" y="4051"/>
              <a:ext cx="172" cy="1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3200" rIns="90000" bIns="43200">
              <a:spAutoFit/>
            </a:bodyPr>
            <a:lstStyle>
              <a:lvl1pPr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u"/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31838">
                <a:spcAft>
                  <a:spcPct val="50000"/>
                </a:spcAft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31838">
                <a:spcBef>
                  <a:spcPct val="20000"/>
                </a:spcBef>
                <a:buClr>
                  <a:schemeClr val="hlink"/>
                </a:buClr>
                <a:buChar char="-"/>
                <a:defRPr kumimoji="1" sz="1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31838">
                <a:spcBef>
                  <a:spcPct val="50000"/>
                </a:spcBef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de-DE" altLang="de-DE" sz="1000">
                  <a:solidFill>
                    <a:srgbClr val="000000"/>
                  </a:solidFill>
                </a:rPr>
                <a:t>7</a:t>
              </a:r>
            </a:p>
          </p:txBody>
        </p:sp>
        <p:sp>
          <p:nvSpPr>
            <p:cNvPr id="100" name="Text Box 135">
              <a:extLst>
                <a:ext uri="{FF2B5EF4-FFF2-40B4-BE49-F238E27FC236}">
                  <a16:creationId xmlns:a16="http://schemas.microsoft.com/office/drawing/2014/main" id="{CDEDADAE-2C1F-DE5B-C077-BB906915CD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4" y="4051"/>
              <a:ext cx="172" cy="1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3200" rIns="90000" bIns="43200">
              <a:spAutoFit/>
            </a:bodyPr>
            <a:lstStyle>
              <a:lvl1pPr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u"/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31838">
                <a:spcAft>
                  <a:spcPct val="50000"/>
                </a:spcAft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31838">
                <a:spcBef>
                  <a:spcPct val="20000"/>
                </a:spcBef>
                <a:buClr>
                  <a:schemeClr val="hlink"/>
                </a:buClr>
                <a:buChar char="-"/>
                <a:defRPr kumimoji="1" sz="1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31838">
                <a:spcBef>
                  <a:spcPct val="50000"/>
                </a:spcBef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de-DE" altLang="de-DE" sz="1000">
                  <a:solidFill>
                    <a:srgbClr val="000000"/>
                  </a:solidFill>
                </a:rPr>
                <a:t>8</a:t>
              </a:r>
            </a:p>
          </p:txBody>
        </p:sp>
        <p:sp>
          <p:nvSpPr>
            <p:cNvPr id="101" name="Text Box 136">
              <a:extLst>
                <a:ext uri="{FF2B5EF4-FFF2-40B4-BE49-F238E27FC236}">
                  <a16:creationId xmlns:a16="http://schemas.microsoft.com/office/drawing/2014/main" id="{934F5825-E4C0-43AA-2ACE-F898F1C52E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25" y="4051"/>
              <a:ext cx="172" cy="1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3200" rIns="90000" bIns="43200">
              <a:spAutoFit/>
            </a:bodyPr>
            <a:lstStyle>
              <a:lvl1pPr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u"/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31838">
                <a:spcAft>
                  <a:spcPct val="50000"/>
                </a:spcAft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31838">
                <a:spcBef>
                  <a:spcPct val="20000"/>
                </a:spcBef>
                <a:buClr>
                  <a:schemeClr val="hlink"/>
                </a:buClr>
                <a:buChar char="-"/>
                <a:defRPr kumimoji="1" sz="1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31838">
                <a:spcBef>
                  <a:spcPct val="50000"/>
                </a:spcBef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de-DE" altLang="de-DE" sz="1000">
                  <a:solidFill>
                    <a:srgbClr val="000000"/>
                  </a:solidFill>
                </a:rPr>
                <a:t>9</a:t>
              </a:r>
            </a:p>
          </p:txBody>
        </p:sp>
        <p:sp>
          <p:nvSpPr>
            <p:cNvPr id="102" name="Text Box 137">
              <a:extLst>
                <a:ext uri="{FF2B5EF4-FFF2-40B4-BE49-F238E27FC236}">
                  <a16:creationId xmlns:a16="http://schemas.microsoft.com/office/drawing/2014/main" id="{8BE467C1-3CC0-D154-5B3F-C02F0B4C95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93" y="4051"/>
              <a:ext cx="220" cy="1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3200" rIns="90000" bIns="43200">
              <a:spAutoFit/>
            </a:bodyPr>
            <a:lstStyle>
              <a:lvl1pPr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u"/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31838">
                <a:spcAft>
                  <a:spcPct val="50000"/>
                </a:spcAft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31838">
                <a:spcBef>
                  <a:spcPct val="20000"/>
                </a:spcBef>
                <a:buClr>
                  <a:schemeClr val="hlink"/>
                </a:buClr>
                <a:buChar char="-"/>
                <a:defRPr kumimoji="1" sz="1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31838">
                <a:spcBef>
                  <a:spcPct val="50000"/>
                </a:spcBef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de-DE" altLang="de-DE" sz="1000">
                  <a:solidFill>
                    <a:srgbClr val="000000"/>
                  </a:solidFill>
                </a:rPr>
                <a:t>10</a:t>
              </a:r>
            </a:p>
          </p:txBody>
        </p:sp>
        <p:sp>
          <p:nvSpPr>
            <p:cNvPr id="103" name="Text Box 138">
              <a:extLst>
                <a:ext uri="{FF2B5EF4-FFF2-40B4-BE49-F238E27FC236}">
                  <a16:creationId xmlns:a16="http://schemas.microsoft.com/office/drawing/2014/main" id="{759DDBDC-89B8-AACF-4796-8E70934CF9D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51" y="4051"/>
              <a:ext cx="172" cy="1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3200" rIns="90000" bIns="43200">
              <a:spAutoFit/>
            </a:bodyPr>
            <a:lstStyle>
              <a:lvl1pPr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u"/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31838">
                <a:spcAft>
                  <a:spcPct val="50000"/>
                </a:spcAft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31838">
                <a:spcBef>
                  <a:spcPct val="20000"/>
                </a:spcBef>
                <a:buClr>
                  <a:schemeClr val="hlink"/>
                </a:buClr>
                <a:buChar char="-"/>
                <a:defRPr kumimoji="1" sz="1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31838">
                <a:spcBef>
                  <a:spcPct val="50000"/>
                </a:spcBef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de-DE" altLang="de-DE" sz="1000">
                  <a:solidFill>
                    <a:srgbClr val="000000"/>
                  </a:solidFill>
                </a:rPr>
                <a:t>6</a:t>
              </a:r>
            </a:p>
          </p:txBody>
        </p:sp>
      </p:grpSp>
      <p:sp>
        <p:nvSpPr>
          <p:cNvPr id="107" name="Oval 141">
            <a:extLst>
              <a:ext uri="{FF2B5EF4-FFF2-40B4-BE49-F238E27FC236}">
                <a16:creationId xmlns:a16="http://schemas.microsoft.com/office/drawing/2014/main" id="{58F023F0-3BD6-5595-0D92-C9AA593BB8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08747" y="6460653"/>
            <a:ext cx="144000" cy="144462"/>
          </a:xfrm>
          <a:prstGeom prst="ellipse">
            <a:avLst/>
          </a:prstGeom>
          <a:solidFill>
            <a:srgbClr val="003399"/>
          </a:solidFill>
          <a:ln w="9525" algn="ctr">
            <a:solidFill>
              <a:schemeClr val="hlink"/>
            </a:solidFill>
            <a:round/>
            <a:headEnd/>
            <a:tailEnd/>
          </a:ln>
        </p:spPr>
        <p:txBody>
          <a:bodyPr wrap="none" lIns="90000" tIns="43200" rIns="90000" bIns="43200" anchor="ctr"/>
          <a:lstStyle>
            <a:lvl1pPr defTabSz="731838">
              <a:spcAft>
                <a:spcPct val="50000"/>
              </a:spcAft>
              <a:buClr>
                <a:srgbClr val="00279F"/>
              </a:buClr>
              <a:buSzPct val="8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31838">
              <a:spcAft>
                <a:spcPct val="50000"/>
              </a:spcAft>
              <a:buClr>
                <a:srgbClr val="00279F"/>
              </a:buClr>
              <a:buSzPct val="80000"/>
              <a:buFont typeface="Wingdings" pitchFamily="2" charset="2"/>
              <a:buChar char="u"/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31838">
              <a:spcAft>
                <a:spcPct val="50000"/>
              </a:spcAft>
              <a:buClr>
                <a:schemeClr val="hlink"/>
              </a:buClr>
              <a:buSzPct val="80000"/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31838">
              <a:spcBef>
                <a:spcPct val="20000"/>
              </a:spcBef>
              <a:buClr>
                <a:schemeClr val="hlink"/>
              </a:buClr>
              <a:buChar char="-"/>
              <a:defRPr kumimoji="1" sz="1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31838">
              <a:spcBef>
                <a:spcPct val="50000"/>
              </a:spcBef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31838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31838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31838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31838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Aft>
                <a:spcPct val="0"/>
              </a:spcAft>
              <a:buClrTx/>
              <a:buSzTx/>
              <a:buFontTx/>
              <a:buNone/>
            </a:pPr>
            <a:endParaRPr lang="de-DE" altLang="de-DE" sz="1000">
              <a:solidFill>
                <a:prstClr val="white"/>
              </a:solidFill>
            </a:endParaRPr>
          </a:p>
        </p:txBody>
      </p:sp>
      <p:sp>
        <p:nvSpPr>
          <p:cNvPr id="108" name="Textfeld 143">
            <a:extLst>
              <a:ext uri="{FF2B5EF4-FFF2-40B4-BE49-F238E27FC236}">
                <a16:creationId xmlns:a16="http://schemas.microsoft.com/office/drawing/2014/main" id="{B04D7F23-B9E4-C87D-0E5A-E0827CA786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34477" y="6423928"/>
            <a:ext cx="475805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Aft>
                <a:spcPct val="50000"/>
              </a:spcAft>
              <a:buClr>
                <a:srgbClr val="00279F"/>
              </a:buClr>
              <a:buSzPct val="8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Aft>
                <a:spcPct val="50000"/>
              </a:spcAft>
              <a:buClr>
                <a:srgbClr val="00279F"/>
              </a:buClr>
              <a:buSzPct val="80000"/>
              <a:buFont typeface="Wingdings" pitchFamily="2" charset="2"/>
              <a:buChar char="u"/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Aft>
                <a:spcPct val="50000"/>
              </a:spcAft>
              <a:buClr>
                <a:schemeClr val="hlink"/>
              </a:buClr>
              <a:buSzPct val="80000"/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-"/>
              <a:defRPr kumimoji="1" sz="1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50000"/>
              </a:spcBef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Aft>
                <a:spcPct val="0"/>
              </a:spcAft>
              <a:buClrTx/>
              <a:buSzTx/>
              <a:buFont typeface="Wingdings" pitchFamily="2" charset="2"/>
              <a:buNone/>
            </a:pPr>
            <a:r>
              <a:rPr lang="de-DE" altLang="de-DE" sz="800">
                <a:solidFill>
                  <a:srgbClr val="000000"/>
                </a:solidFill>
              </a:rPr>
              <a:t>IST</a:t>
            </a:r>
          </a:p>
        </p:txBody>
      </p:sp>
      <p:sp>
        <p:nvSpPr>
          <p:cNvPr id="109" name="Oval 141">
            <a:extLst>
              <a:ext uri="{FF2B5EF4-FFF2-40B4-BE49-F238E27FC236}">
                <a16:creationId xmlns:a16="http://schemas.microsoft.com/office/drawing/2014/main" id="{EA60A3FF-D08E-FC65-FE0B-7A22CB3784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46288" y="6460653"/>
            <a:ext cx="144000" cy="144462"/>
          </a:xfrm>
          <a:prstGeom prst="ellipse">
            <a:avLst/>
          </a:prstGeom>
          <a:solidFill>
            <a:srgbClr val="00B050"/>
          </a:solidFill>
          <a:ln w="9525" algn="ctr">
            <a:solidFill>
              <a:srgbClr val="00B050"/>
            </a:solidFill>
            <a:round/>
            <a:headEnd/>
            <a:tailEnd/>
          </a:ln>
        </p:spPr>
        <p:txBody>
          <a:bodyPr wrap="none" lIns="90000" tIns="43200" rIns="90000" bIns="43200" anchor="ctr"/>
          <a:lstStyle>
            <a:lvl1pPr defTabSz="731838">
              <a:spcAft>
                <a:spcPct val="50000"/>
              </a:spcAft>
              <a:buClr>
                <a:srgbClr val="00279F"/>
              </a:buClr>
              <a:buSzPct val="8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31838">
              <a:spcAft>
                <a:spcPct val="50000"/>
              </a:spcAft>
              <a:buClr>
                <a:srgbClr val="00279F"/>
              </a:buClr>
              <a:buSzPct val="80000"/>
              <a:buFont typeface="Wingdings" pitchFamily="2" charset="2"/>
              <a:buChar char="u"/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31838">
              <a:spcAft>
                <a:spcPct val="50000"/>
              </a:spcAft>
              <a:buClr>
                <a:schemeClr val="hlink"/>
              </a:buClr>
              <a:buSzPct val="80000"/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31838">
              <a:spcBef>
                <a:spcPct val="20000"/>
              </a:spcBef>
              <a:buClr>
                <a:schemeClr val="hlink"/>
              </a:buClr>
              <a:buChar char="-"/>
              <a:defRPr kumimoji="1" sz="1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31838">
              <a:spcBef>
                <a:spcPct val="50000"/>
              </a:spcBef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31838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31838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31838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31838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Aft>
                <a:spcPct val="0"/>
              </a:spcAft>
              <a:buClrTx/>
              <a:buSzTx/>
              <a:buFontTx/>
              <a:buNone/>
            </a:pPr>
            <a:endParaRPr lang="de-DE" altLang="de-DE" sz="1000">
              <a:solidFill>
                <a:prstClr val="white"/>
              </a:solidFill>
            </a:endParaRPr>
          </a:p>
        </p:txBody>
      </p:sp>
      <p:sp>
        <p:nvSpPr>
          <p:cNvPr id="110" name="Textfeld 143">
            <a:extLst>
              <a:ext uri="{FF2B5EF4-FFF2-40B4-BE49-F238E27FC236}">
                <a16:creationId xmlns:a16="http://schemas.microsoft.com/office/drawing/2014/main" id="{207ED5B2-7D9F-4B99-2F46-8434E2704E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72018" y="6423928"/>
            <a:ext cx="475805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Aft>
                <a:spcPct val="50000"/>
              </a:spcAft>
              <a:buClr>
                <a:srgbClr val="00279F"/>
              </a:buClr>
              <a:buSzPct val="8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Aft>
                <a:spcPct val="50000"/>
              </a:spcAft>
              <a:buClr>
                <a:srgbClr val="00279F"/>
              </a:buClr>
              <a:buSzPct val="80000"/>
              <a:buFont typeface="Wingdings" pitchFamily="2" charset="2"/>
              <a:buChar char="u"/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Aft>
                <a:spcPct val="50000"/>
              </a:spcAft>
              <a:buClr>
                <a:schemeClr val="hlink"/>
              </a:buClr>
              <a:buSzPct val="80000"/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-"/>
              <a:defRPr kumimoji="1" sz="1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50000"/>
              </a:spcBef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Aft>
                <a:spcPct val="0"/>
              </a:spcAft>
              <a:buClrTx/>
              <a:buSzTx/>
              <a:buFont typeface="Wingdings" pitchFamily="2" charset="2"/>
              <a:buNone/>
            </a:pPr>
            <a:r>
              <a:rPr lang="de-DE" altLang="de-DE" sz="800">
                <a:solidFill>
                  <a:srgbClr val="000000"/>
                </a:solidFill>
              </a:rPr>
              <a:t>SOLL</a:t>
            </a:r>
          </a:p>
        </p:txBody>
      </p:sp>
      <p:sp>
        <p:nvSpPr>
          <p:cNvPr id="112" name="Rectangle 13">
            <a:extLst>
              <a:ext uri="{FF2B5EF4-FFF2-40B4-BE49-F238E27FC236}">
                <a16:creationId xmlns:a16="http://schemas.microsoft.com/office/drawing/2014/main" id="{8AA3D721-FC2A-2342-028C-C12B81EEA8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3634" y="3004322"/>
            <a:ext cx="2448000" cy="2113972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2700" algn="ctr">
            <a:noFill/>
            <a:miter lim="800000"/>
            <a:headEnd/>
            <a:tailEnd/>
          </a:ln>
        </p:spPr>
        <p:txBody>
          <a:bodyPr lIns="36000" tIns="46800" rIns="0" bIns="46800" anchor="t"/>
          <a:lstStyle>
            <a:lvl1pPr marL="93663" indent="-93663">
              <a:spcAft>
                <a:spcPct val="50000"/>
              </a:spcAft>
              <a:buClr>
                <a:srgbClr val="00279F"/>
              </a:buClr>
              <a:buSzPct val="8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Aft>
                <a:spcPct val="50000"/>
              </a:spcAft>
              <a:buClr>
                <a:srgbClr val="00279F"/>
              </a:buClr>
              <a:buSzPct val="80000"/>
              <a:buFont typeface="Wingdings" pitchFamily="2" charset="2"/>
              <a:buChar char="u"/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Aft>
                <a:spcPct val="50000"/>
              </a:spcAft>
              <a:buClr>
                <a:schemeClr val="hlink"/>
              </a:buClr>
              <a:buSzPct val="80000"/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-"/>
              <a:defRPr kumimoji="1" sz="1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50000"/>
              </a:spcBef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93345" lvl="0" indent="-93345">
              <a:lnSpc>
                <a:spcPts val="1200"/>
              </a:lnSpc>
              <a:buFont typeface="Arial,Sans-Serif"/>
              <a:buChar char="•"/>
            </a:pPr>
            <a:r>
              <a:rPr lang="de-DE" sz="1000">
                <a:solidFill>
                  <a:srgbClr val="000000"/>
                </a:solidFill>
                <a:latin typeface="Arial"/>
                <a:ea typeface="Arial"/>
                <a:cs typeface="Arial"/>
              </a:rPr>
              <a:t>Informationen liegen vollständig und konsistent vor </a:t>
            </a:r>
            <a:r>
              <a:rPr lang="en-US" sz="1000">
                <a:solidFill>
                  <a:srgbClr val="000000"/>
                </a:solidFill>
                <a:latin typeface="Arial"/>
                <a:ea typeface="Arial"/>
                <a:cs typeface="Arial"/>
              </a:rPr>
              <a:t>​</a:t>
            </a:r>
          </a:p>
          <a:p>
            <a:pPr marL="93345" indent="-93345">
              <a:lnSpc>
                <a:spcPts val="1200"/>
              </a:lnSpc>
              <a:buFont typeface="Arial,Sans-Serif"/>
              <a:buChar char="•"/>
            </a:pPr>
            <a:r>
              <a:rPr lang="de-DE" sz="1000">
                <a:solidFill>
                  <a:srgbClr val="000000"/>
                </a:solidFill>
                <a:latin typeface="Arial"/>
                <a:cs typeface="Arial"/>
              </a:rPr>
              <a:t>Übergaben erfolgen strukturiert und dokumentiert</a:t>
            </a:r>
            <a:endParaRPr lang="en-US" sz="10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93345" lvl="0" indent="-93345">
              <a:lnSpc>
                <a:spcPts val="1200"/>
              </a:lnSpc>
              <a:buFont typeface="Arial,Sans-Serif"/>
              <a:buChar char="•"/>
            </a:pPr>
            <a:r>
              <a:rPr lang="de-DE" sz="1000">
                <a:solidFill>
                  <a:srgbClr val="000000"/>
                </a:solidFill>
                <a:latin typeface="Arial"/>
                <a:ea typeface="Arial"/>
                <a:cs typeface="Arial"/>
              </a:rPr>
              <a:t>Relevante Daten werden einmalig erfasst und gezielt systemübergreifend weiterverwendet ​</a:t>
            </a:r>
          </a:p>
          <a:p>
            <a:pPr marL="93345" lvl="0" indent="-93345">
              <a:lnSpc>
                <a:spcPts val="1200"/>
              </a:lnSpc>
              <a:buFont typeface="Arial,Sans-Serif"/>
              <a:buChar char="•"/>
            </a:pPr>
            <a:r>
              <a:rPr lang="de-DE" sz="1000">
                <a:solidFill>
                  <a:srgbClr val="000000"/>
                </a:solidFill>
                <a:latin typeface="Arial"/>
                <a:ea typeface="Arial"/>
                <a:cs typeface="Arial"/>
              </a:rPr>
              <a:t>Pflichtangaben werden vor der Weiterbearbeitung geprüft ​​</a:t>
            </a:r>
          </a:p>
        </p:txBody>
      </p:sp>
      <p:sp>
        <p:nvSpPr>
          <p:cNvPr id="113" name="Rectangle 13">
            <a:extLst>
              <a:ext uri="{FF2B5EF4-FFF2-40B4-BE49-F238E27FC236}">
                <a16:creationId xmlns:a16="http://schemas.microsoft.com/office/drawing/2014/main" id="{C881522F-16EF-70A9-9CB5-BBDCE82D37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99823" y="3004322"/>
            <a:ext cx="2448000" cy="2091783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2700" algn="ctr">
            <a:noFill/>
            <a:miter lim="800000"/>
            <a:headEnd/>
            <a:tailEnd/>
          </a:ln>
        </p:spPr>
        <p:txBody>
          <a:bodyPr lIns="36000" tIns="46800" rIns="0" bIns="46800" anchor="t"/>
          <a:lstStyle>
            <a:lvl1pPr marL="93663" indent="-93663">
              <a:spcAft>
                <a:spcPct val="50000"/>
              </a:spcAft>
              <a:buClr>
                <a:srgbClr val="00279F"/>
              </a:buClr>
              <a:buSzPct val="8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Aft>
                <a:spcPct val="50000"/>
              </a:spcAft>
              <a:buClr>
                <a:srgbClr val="00279F"/>
              </a:buClr>
              <a:buSzPct val="80000"/>
              <a:buFont typeface="Wingdings" pitchFamily="2" charset="2"/>
              <a:buChar char="u"/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Aft>
                <a:spcPct val="50000"/>
              </a:spcAft>
              <a:buClr>
                <a:schemeClr val="hlink"/>
              </a:buClr>
              <a:buSzPct val="80000"/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-"/>
              <a:defRPr kumimoji="1" sz="1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50000"/>
              </a:spcBef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93345" lvl="0" indent="-93345">
              <a:lnSpc>
                <a:spcPts val="1200"/>
              </a:lnSpc>
              <a:buFont typeface="Arial,Sans-Serif"/>
              <a:buChar char="•"/>
            </a:pPr>
            <a:r>
              <a:rPr lang="de-DE" sz="1000">
                <a:solidFill>
                  <a:srgbClr val="000000"/>
                </a:solidFill>
                <a:latin typeface="Arial"/>
                <a:ea typeface="Arial"/>
                <a:cs typeface="Arial"/>
              </a:rPr>
              <a:t>Wiederkehrende Fälle folgen einer einheitlichen Bearbeitungslogik ​</a:t>
            </a:r>
          </a:p>
          <a:p>
            <a:pPr marL="93345" lvl="0" indent="-93345">
              <a:lnSpc>
                <a:spcPts val="1200"/>
              </a:lnSpc>
              <a:buFont typeface="Arial,Sans-Serif"/>
              <a:buChar char="•"/>
            </a:pPr>
            <a:r>
              <a:rPr lang="de-DE" sz="1000">
                <a:solidFill>
                  <a:srgbClr val="000000"/>
                </a:solidFill>
                <a:latin typeface="Arial"/>
                <a:ea typeface="Arial"/>
                <a:cs typeface="Arial"/>
              </a:rPr>
              <a:t>Der Prozess ist dokumentiert und in den beteiligten Teams bekannt​</a:t>
            </a:r>
          </a:p>
          <a:p>
            <a:pPr marL="93345" lvl="0" indent="-93345">
              <a:lnSpc>
                <a:spcPts val="1200"/>
              </a:lnSpc>
              <a:buFont typeface="Arial,Sans-Serif"/>
              <a:buChar char="•"/>
            </a:pPr>
            <a:r>
              <a:rPr lang="de-DE" sz="1000">
                <a:solidFill>
                  <a:srgbClr val="000000"/>
                </a:solidFill>
                <a:latin typeface="Arial"/>
                <a:ea typeface="Arial"/>
                <a:cs typeface="Arial"/>
              </a:rPr>
              <a:t>Varianten werden klar unterschieden und geführt ​</a:t>
            </a:r>
          </a:p>
          <a:p>
            <a:pPr marL="93345" lvl="0" indent="-93345">
              <a:lnSpc>
                <a:spcPts val="1200"/>
              </a:lnSpc>
              <a:buFont typeface="Arial,Sans-Serif"/>
              <a:buChar char="•"/>
            </a:pPr>
            <a:r>
              <a:rPr lang="de-DE" sz="1000">
                <a:solidFill>
                  <a:srgbClr val="000000"/>
                </a:solidFill>
                <a:latin typeface="Arial"/>
                <a:ea typeface="Arial"/>
                <a:cs typeface="Arial"/>
              </a:rPr>
              <a:t>Sonderfälle werden anhand definierter Kriterien erkannt ​</a:t>
            </a:r>
          </a:p>
        </p:txBody>
      </p:sp>
      <p:sp>
        <p:nvSpPr>
          <p:cNvPr id="114" name="Rectangle 13">
            <a:extLst>
              <a:ext uri="{FF2B5EF4-FFF2-40B4-BE49-F238E27FC236}">
                <a16:creationId xmlns:a16="http://schemas.microsoft.com/office/drawing/2014/main" id="{19468687-B88A-B630-4D45-3455435DE6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36012" y="3004322"/>
            <a:ext cx="2448000" cy="207403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2700" algn="ctr">
            <a:noFill/>
            <a:miter lim="800000"/>
            <a:headEnd/>
            <a:tailEnd/>
          </a:ln>
        </p:spPr>
        <p:txBody>
          <a:bodyPr lIns="36000" tIns="46800" rIns="0" bIns="46800" anchor="t"/>
          <a:lstStyle>
            <a:lvl1pPr marL="93663" indent="-93663">
              <a:spcAft>
                <a:spcPct val="50000"/>
              </a:spcAft>
              <a:buClr>
                <a:srgbClr val="00279F"/>
              </a:buClr>
              <a:buSzPct val="8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Aft>
                <a:spcPct val="50000"/>
              </a:spcAft>
              <a:buClr>
                <a:srgbClr val="00279F"/>
              </a:buClr>
              <a:buSzPct val="80000"/>
              <a:buFont typeface="Wingdings" pitchFamily="2" charset="2"/>
              <a:buChar char="u"/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Aft>
                <a:spcPct val="50000"/>
              </a:spcAft>
              <a:buClr>
                <a:schemeClr val="hlink"/>
              </a:buClr>
              <a:buSzPct val="80000"/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-"/>
              <a:defRPr kumimoji="1" sz="1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50000"/>
              </a:spcBef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93345" lvl="0" indent="-93345">
              <a:lnSpc>
                <a:spcPts val="1200"/>
              </a:lnSpc>
              <a:buFont typeface="Arial,Sans-Serif"/>
              <a:buChar char="•"/>
            </a:pPr>
            <a:r>
              <a:rPr lang="de-DE" sz="1000">
                <a:solidFill>
                  <a:srgbClr val="000000"/>
                </a:solidFill>
                <a:latin typeface="Arial"/>
                <a:ea typeface="Arial"/>
                <a:cs typeface="Arial"/>
              </a:rPr>
              <a:t>Formulare sind in den Prozess eingebettet (falls vorhanden)​</a:t>
            </a:r>
          </a:p>
          <a:p>
            <a:pPr marL="93345" lvl="0" indent="-93345">
              <a:lnSpc>
                <a:spcPts val="1200"/>
              </a:lnSpc>
              <a:buFont typeface="Arial,Sans-Serif"/>
              <a:buChar char="•"/>
            </a:pPr>
            <a:r>
              <a:rPr lang="de-DE" sz="1000">
                <a:solidFill>
                  <a:srgbClr val="000000"/>
                </a:solidFill>
                <a:latin typeface="Arial"/>
                <a:ea typeface="Arial"/>
                <a:cs typeface="Arial"/>
              </a:rPr>
              <a:t>Prüfungen und Freigaben werden systemgestützt geführt ​</a:t>
            </a:r>
          </a:p>
          <a:p>
            <a:pPr marL="93345" lvl="0" indent="-93345">
              <a:lnSpc>
                <a:spcPts val="1200"/>
              </a:lnSpc>
              <a:buFont typeface="Arial,Sans-Serif"/>
              <a:buChar char="•"/>
            </a:pPr>
            <a:r>
              <a:rPr lang="de-DE" sz="1000">
                <a:solidFill>
                  <a:srgbClr val="000000"/>
                </a:solidFill>
                <a:latin typeface="Arial"/>
                <a:ea typeface="Arial"/>
                <a:cs typeface="Arial"/>
              </a:rPr>
              <a:t>Aufgaben werden automatisch oder regelbasiert ausgelöst ​</a:t>
            </a:r>
          </a:p>
          <a:p>
            <a:pPr marL="93345" lvl="0" indent="-93345">
              <a:lnSpc>
                <a:spcPts val="1200"/>
              </a:lnSpc>
              <a:buFont typeface="Arial,Sans-Serif"/>
              <a:buChar char="•"/>
            </a:pPr>
            <a:r>
              <a:rPr lang="de-DE" sz="1000">
                <a:solidFill>
                  <a:srgbClr val="000000"/>
                </a:solidFill>
                <a:latin typeface="Arial"/>
                <a:ea typeface="Arial"/>
                <a:cs typeface="Arial"/>
              </a:rPr>
              <a:t>Prozessinformationen bleiben zentral dokumentiert​</a:t>
            </a:r>
          </a:p>
        </p:txBody>
      </p:sp>
      <p:sp>
        <p:nvSpPr>
          <p:cNvPr id="115" name="Rectangle 21">
            <a:extLst>
              <a:ext uri="{FF2B5EF4-FFF2-40B4-BE49-F238E27FC236}">
                <a16:creationId xmlns:a16="http://schemas.microsoft.com/office/drawing/2014/main" id="{AA875C7C-1C0C-5FA6-020A-6D67DF74AF38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-396035" y="3704245"/>
            <a:ext cx="2074038" cy="467230"/>
          </a:xfrm>
          <a:prstGeom prst="rect">
            <a:avLst/>
          </a:prstGeom>
          <a:solidFill>
            <a:schemeClr val="bg2">
              <a:lumMod val="75000"/>
            </a:schemeClr>
          </a:solidFill>
          <a:ln w="12700" algn="ctr">
            <a:solidFill>
              <a:schemeClr val="bg1"/>
            </a:solidFill>
            <a:miter lim="800000"/>
            <a:headEnd/>
            <a:tailEnd/>
          </a:ln>
        </p:spPr>
        <p:txBody>
          <a:bodyPr lIns="0" tIns="46800" rIns="0" bIns="46800" anchor="ctr"/>
          <a:lstStyle>
            <a:lvl1pPr>
              <a:spcAft>
                <a:spcPct val="50000"/>
              </a:spcAft>
              <a:buClr>
                <a:srgbClr val="00279F"/>
              </a:buClr>
              <a:buSzPct val="8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Aft>
                <a:spcPct val="50000"/>
              </a:spcAft>
              <a:buClr>
                <a:srgbClr val="00279F"/>
              </a:buClr>
              <a:buSzPct val="80000"/>
              <a:buFont typeface="Wingdings" pitchFamily="2" charset="2"/>
              <a:buChar char="u"/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Aft>
                <a:spcPct val="50000"/>
              </a:spcAft>
              <a:buClr>
                <a:schemeClr val="hlink"/>
              </a:buClr>
              <a:buSzPct val="80000"/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-"/>
              <a:defRPr kumimoji="1" sz="1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50000"/>
              </a:spcBef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>
              <a:spcAft>
                <a:spcPct val="0"/>
              </a:spcAft>
              <a:buClrTx/>
              <a:buSzTx/>
              <a:buFontTx/>
              <a:buNone/>
            </a:pPr>
            <a:r>
              <a:rPr lang="de-DE" altLang="de-DE" sz="1200">
                <a:solidFill>
                  <a:prstClr val="white"/>
                </a:solidFill>
              </a:rPr>
              <a:t>Value Proposition</a:t>
            </a:r>
            <a:br>
              <a:rPr lang="de-DE" altLang="de-DE" sz="1200">
                <a:solidFill>
                  <a:prstClr val="white"/>
                </a:solidFill>
              </a:rPr>
            </a:br>
            <a:r>
              <a:rPr lang="de-DE" altLang="de-DE" sz="1200">
                <a:solidFill>
                  <a:prstClr val="white"/>
                </a:solidFill>
              </a:rPr>
              <a:t>(Soll-Situation)</a:t>
            </a:r>
          </a:p>
        </p:txBody>
      </p:sp>
      <p:sp>
        <p:nvSpPr>
          <p:cNvPr id="116" name="Rectangle 19">
            <a:extLst>
              <a:ext uri="{FF2B5EF4-FFF2-40B4-BE49-F238E27FC236}">
                <a16:creationId xmlns:a16="http://schemas.microsoft.com/office/drawing/2014/main" id="{73D9320A-012E-1ABF-B58E-9AC5F957B5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445" y="930226"/>
            <a:ext cx="10656567" cy="1470509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2700" algn="ctr">
            <a:noFill/>
            <a:miter lim="800000"/>
            <a:headEnd/>
            <a:tailEnd/>
          </a:ln>
        </p:spPr>
        <p:txBody>
          <a:bodyPr lIns="36000" tIns="46800" rIns="36000" bIns="46800" anchor="t"/>
          <a:lstStyle>
            <a:lvl1pPr marL="93663" indent="-93663">
              <a:spcAft>
                <a:spcPct val="50000"/>
              </a:spcAft>
              <a:buClr>
                <a:srgbClr val="00279F"/>
              </a:buClr>
              <a:buSzPct val="8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Aft>
                <a:spcPct val="50000"/>
              </a:spcAft>
              <a:buClr>
                <a:srgbClr val="00279F"/>
              </a:buClr>
              <a:buSzPct val="80000"/>
              <a:buFont typeface="Wingdings" pitchFamily="2" charset="2"/>
              <a:buChar char="u"/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Aft>
                <a:spcPct val="50000"/>
              </a:spcAft>
              <a:buClr>
                <a:schemeClr val="hlink"/>
              </a:buClr>
              <a:buSzPct val="80000"/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-"/>
              <a:defRPr kumimoji="1" sz="1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50000"/>
              </a:spcBef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182245" indent="-182245">
              <a:lnSpc>
                <a:spcPts val="1200"/>
              </a:lnSpc>
              <a:spcAft>
                <a:spcPts val="1200"/>
              </a:spcAft>
              <a:buClrTx/>
              <a:buSzTx/>
              <a:buFont typeface="+mj-lt"/>
              <a:buAutoNum type="arabicPeriod"/>
            </a:pPr>
            <a:r>
              <a:rPr lang="de-DE" altLang="de-DE" sz="1000" b="1">
                <a:solidFill>
                  <a:srgbClr val="000000"/>
                </a:solidFill>
                <a:latin typeface="Arial"/>
                <a:cs typeface="Arial"/>
              </a:rPr>
              <a:t>Transparenz &amp; Übersicht: </a:t>
            </a:r>
            <a:r>
              <a:rPr lang="de-DE" altLang="de-DE" sz="1000">
                <a:solidFill>
                  <a:srgbClr val="000000"/>
                </a:solidFill>
                <a:latin typeface="Arial"/>
                <a:cs typeface="Arial"/>
              </a:rPr>
              <a:t>Eine transparente Übersicht über den einzelnen Austrittsfall – sowohl für Kunden als auch innerhalb von HR – schafft Klarheit über Status, Verantwortlichkeiten und nächste Schritte. </a:t>
            </a:r>
            <a:r>
              <a:rPr lang="de-DE" sz="1000"/>
              <a:t>Die übergreifende Sicht auf alle Austritte ermöglicht eine bessere Steuerung, Priorisierung und Ressourcenplanung innerhalb des HR. </a:t>
            </a:r>
          </a:p>
          <a:p>
            <a:pPr marL="182245" indent="-182245">
              <a:lnSpc>
                <a:spcPts val="1200"/>
              </a:lnSpc>
              <a:spcAft>
                <a:spcPts val="1200"/>
              </a:spcAft>
              <a:buClrTx/>
              <a:buSzTx/>
              <a:buFont typeface="+mj-lt"/>
              <a:buAutoNum type="arabicPeriod"/>
            </a:pPr>
            <a:r>
              <a:rPr lang="de-DE" altLang="de-DE" sz="1000" b="1">
                <a:solidFill>
                  <a:srgbClr val="000000"/>
                </a:solidFill>
                <a:latin typeface="Arial"/>
                <a:cs typeface="Arial"/>
              </a:rPr>
              <a:t>Einheitliche Fallführung &amp; Systemintegration: </a:t>
            </a:r>
            <a:r>
              <a:rPr lang="de-DE" altLang="de-DE" sz="1000">
                <a:solidFill>
                  <a:srgbClr val="000000"/>
                </a:solidFill>
                <a:latin typeface="Arial"/>
                <a:cs typeface="Arial"/>
              </a:rPr>
              <a:t>Durchgängige und einheitliche Fallführung mit Systemintegration schafft eine konsistente Informationsbasis über alle beteiligten Rollen. </a:t>
            </a:r>
            <a:r>
              <a:rPr lang="de-DE" sz="1000"/>
              <a:t>Dadurch werden Mehrfacherfassungen, manuelle Abstimmungen, Rückfragen und Medienbrüche reduziert sowie die Qualität und Nachvollziehbarkeit der Prozesse erhöht.</a:t>
            </a:r>
          </a:p>
          <a:p>
            <a:pPr marL="182245" indent="-182245">
              <a:lnSpc>
                <a:spcPts val="1200"/>
              </a:lnSpc>
              <a:spcAft>
                <a:spcPts val="1200"/>
              </a:spcAft>
              <a:buClrTx/>
              <a:buSzTx/>
              <a:buFont typeface="+mj-lt"/>
              <a:buAutoNum type="arabicPeriod"/>
            </a:pPr>
            <a:r>
              <a:rPr lang="de-DE" altLang="de-DE" sz="1000" b="1">
                <a:solidFill>
                  <a:srgbClr val="000000"/>
                </a:solidFill>
                <a:latin typeface="Arial"/>
                <a:cs typeface="Arial"/>
              </a:rPr>
              <a:t>Prozessgestützte Bearbeitung</a:t>
            </a:r>
            <a:r>
              <a:rPr lang="de-DE" altLang="de-DE" sz="1000">
                <a:solidFill>
                  <a:srgbClr val="000000"/>
                </a:solidFill>
                <a:latin typeface="Arial"/>
                <a:cs typeface="Arial"/>
              </a:rPr>
              <a:t>: Austritte sollen strukturiert, standardisiert und möglichst automatisiert abgewickelt werden. Klare Verantwortlichkeiten sowie verbindliche Übergaben zwischen den beteiligten HR-Bereichen reduzieren Fehler, verkürzen Durchlaufzeiten und erhöhen die Prozesssicherheit/ Planungssicherheit.</a:t>
            </a:r>
          </a:p>
        </p:txBody>
      </p:sp>
      <p:sp>
        <p:nvSpPr>
          <p:cNvPr id="117" name="Rectangle 20">
            <a:extLst>
              <a:ext uri="{FF2B5EF4-FFF2-40B4-BE49-F238E27FC236}">
                <a16:creationId xmlns:a16="http://schemas.microsoft.com/office/drawing/2014/main" id="{A9CD82E0-DF17-3EF0-ED73-5308B4EB5562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-9603" y="1347199"/>
            <a:ext cx="1301174" cy="467231"/>
          </a:xfrm>
          <a:prstGeom prst="rect">
            <a:avLst/>
          </a:prstGeom>
          <a:solidFill>
            <a:schemeClr val="bg2">
              <a:lumMod val="75000"/>
            </a:schemeClr>
          </a:solidFill>
          <a:ln w="12700" algn="ctr">
            <a:solidFill>
              <a:schemeClr val="bg1"/>
            </a:solidFill>
            <a:miter lim="800000"/>
            <a:headEnd/>
            <a:tailEnd/>
          </a:ln>
        </p:spPr>
        <p:txBody>
          <a:bodyPr lIns="0" tIns="46800" rIns="0" bIns="46800" anchor="ctr"/>
          <a:lstStyle>
            <a:lvl1pPr>
              <a:spcAft>
                <a:spcPct val="50000"/>
              </a:spcAft>
              <a:buClr>
                <a:srgbClr val="00279F"/>
              </a:buClr>
              <a:buSzPct val="8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Aft>
                <a:spcPct val="50000"/>
              </a:spcAft>
              <a:buClr>
                <a:srgbClr val="00279F"/>
              </a:buClr>
              <a:buSzPct val="80000"/>
              <a:buFont typeface="Wingdings" pitchFamily="2" charset="2"/>
              <a:buChar char="u"/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Aft>
                <a:spcPct val="50000"/>
              </a:spcAft>
              <a:buClr>
                <a:schemeClr val="hlink"/>
              </a:buClr>
              <a:buSzPct val="80000"/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-"/>
              <a:defRPr kumimoji="1" sz="1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50000"/>
              </a:spcBef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>
              <a:spcAft>
                <a:spcPct val="0"/>
              </a:spcAft>
              <a:buClrTx/>
              <a:buSzTx/>
              <a:buFontTx/>
              <a:buNone/>
            </a:pPr>
            <a:r>
              <a:rPr lang="de-DE" altLang="de-DE" sz="1200">
                <a:solidFill>
                  <a:prstClr val="white"/>
                </a:solidFill>
              </a:rPr>
              <a:t>Zentrale Bedürfnisse</a:t>
            </a:r>
          </a:p>
        </p:txBody>
      </p:sp>
      <p:sp>
        <p:nvSpPr>
          <p:cNvPr id="118" name="AutoShape 22">
            <a:extLst>
              <a:ext uri="{FF2B5EF4-FFF2-40B4-BE49-F238E27FC236}">
                <a16:creationId xmlns:a16="http://schemas.microsoft.com/office/drawing/2014/main" id="{1F12E0D4-62AF-4FCC-C837-ED3C0A981C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689" y="2399011"/>
            <a:ext cx="398585" cy="360362"/>
          </a:xfrm>
          <a:prstGeom prst="downArrow">
            <a:avLst>
              <a:gd name="adj1" fmla="val 50000"/>
              <a:gd name="adj2" fmla="val 40657"/>
            </a:avLst>
          </a:prstGeom>
          <a:solidFill>
            <a:schemeClr val="bg2">
              <a:lumMod val="75000"/>
            </a:schemeClr>
          </a:solidFill>
          <a:ln w="9525" algn="ctr">
            <a:solidFill>
              <a:schemeClr val="bg1"/>
            </a:solidFill>
            <a:miter lim="800000"/>
            <a:headEnd/>
            <a:tailEnd/>
          </a:ln>
        </p:spPr>
        <p:txBody>
          <a:bodyPr wrap="none" lIns="90000" tIns="43200" rIns="90000" bIns="43200" anchor="ctr"/>
          <a:lstStyle>
            <a:lvl1pPr>
              <a:spcAft>
                <a:spcPct val="50000"/>
              </a:spcAft>
              <a:buClr>
                <a:srgbClr val="00279F"/>
              </a:buClr>
              <a:buSzPct val="8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Aft>
                <a:spcPct val="50000"/>
              </a:spcAft>
              <a:buClr>
                <a:srgbClr val="00279F"/>
              </a:buClr>
              <a:buSzPct val="80000"/>
              <a:buFont typeface="Wingdings" pitchFamily="2" charset="2"/>
              <a:buChar char="u"/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Aft>
                <a:spcPct val="50000"/>
              </a:spcAft>
              <a:buClr>
                <a:schemeClr val="hlink"/>
              </a:buClr>
              <a:buSzPct val="80000"/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-"/>
              <a:defRPr kumimoji="1" sz="1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50000"/>
              </a:spcBef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Aft>
                <a:spcPct val="0"/>
              </a:spcAft>
              <a:buClrTx/>
              <a:buSzTx/>
              <a:buFontTx/>
              <a:buNone/>
            </a:pPr>
            <a:endParaRPr lang="de-DE" altLang="de-DE" sz="1200">
              <a:solidFill>
                <a:srgbClr val="000000"/>
              </a:solidFill>
            </a:endParaRPr>
          </a:p>
        </p:txBody>
      </p:sp>
      <p:sp>
        <p:nvSpPr>
          <p:cNvPr id="119" name="Rectangle 23">
            <a:extLst>
              <a:ext uri="{FF2B5EF4-FFF2-40B4-BE49-F238E27FC236}">
                <a16:creationId xmlns:a16="http://schemas.microsoft.com/office/drawing/2014/main" id="{4EA44592-229D-2CD2-18E0-0536A7EB1591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275228" y="5556107"/>
            <a:ext cx="731093" cy="467650"/>
          </a:xfrm>
          <a:prstGeom prst="rect">
            <a:avLst/>
          </a:prstGeom>
          <a:solidFill>
            <a:schemeClr val="bg2">
              <a:lumMod val="75000"/>
            </a:schemeClr>
          </a:solidFill>
          <a:ln w="12700" algn="ctr">
            <a:solidFill>
              <a:schemeClr val="bg1"/>
            </a:solidFill>
            <a:miter lim="800000"/>
            <a:headEnd/>
            <a:tailEnd/>
          </a:ln>
        </p:spPr>
        <p:txBody>
          <a:bodyPr lIns="0" tIns="46800" rIns="0" bIns="46800" anchor="ctr"/>
          <a:lstStyle>
            <a:lvl1pPr>
              <a:spcAft>
                <a:spcPct val="50000"/>
              </a:spcAft>
              <a:buClr>
                <a:srgbClr val="00279F"/>
              </a:buClr>
              <a:buSzPct val="8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Aft>
                <a:spcPct val="50000"/>
              </a:spcAft>
              <a:buClr>
                <a:srgbClr val="00279F"/>
              </a:buClr>
              <a:buSzPct val="80000"/>
              <a:buFont typeface="Wingdings" pitchFamily="2" charset="2"/>
              <a:buChar char="u"/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Aft>
                <a:spcPct val="50000"/>
              </a:spcAft>
              <a:buClr>
                <a:schemeClr val="hlink"/>
              </a:buClr>
              <a:buSzPct val="80000"/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-"/>
              <a:defRPr kumimoji="1" sz="1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50000"/>
              </a:spcBef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>
              <a:spcAft>
                <a:spcPct val="0"/>
              </a:spcAft>
              <a:buClrTx/>
              <a:buSzTx/>
              <a:buFontTx/>
              <a:buNone/>
            </a:pPr>
            <a:r>
              <a:rPr lang="de-DE" altLang="de-DE" sz="1200">
                <a:solidFill>
                  <a:prstClr val="white"/>
                </a:solidFill>
              </a:rPr>
              <a:t>IST-Zustand</a:t>
            </a:r>
          </a:p>
        </p:txBody>
      </p:sp>
      <p:sp>
        <p:nvSpPr>
          <p:cNvPr id="121" name="AutoShape 7">
            <a:extLst>
              <a:ext uri="{FF2B5EF4-FFF2-40B4-BE49-F238E27FC236}">
                <a16:creationId xmlns:a16="http://schemas.microsoft.com/office/drawing/2014/main" id="{38CD3B16-8F87-3D75-30CE-CF462313A5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99823" y="2572322"/>
            <a:ext cx="2448000" cy="432000"/>
          </a:xfrm>
          <a:prstGeom prst="rect">
            <a:avLst/>
          </a:prstGeom>
          <a:solidFill>
            <a:schemeClr val="bg2">
              <a:lumMod val="75000"/>
            </a:schemeClr>
          </a:solidFill>
          <a:ln w="12700" algn="ctr">
            <a:noFill/>
            <a:miter lim="800000"/>
            <a:headEnd/>
            <a:tailEnd/>
          </a:ln>
        </p:spPr>
        <p:txBody>
          <a:bodyPr lIns="36000" tIns="46800" rIns="36000" bIns="46800" anchor="ctr"/>
          <a:lstStyle/>
          <a:p>
            <a:pPr marL="143510">
              <a:lnSpc>
                <a:spcPts val="1200"/>
              </a:lnSpc>
              <a:defRPr/>
            </a:pPr>
            <a:r>
              <a:rPr lang="de-DE" sz="1100" kern="0">
                <a:solidFill>
                  <a:prstClr val="white"/>
                </a:solidFill>
                <a:ea typeface="+mn-lt"/>
                <a:cs typeface="+mn-lt"/>
              </a:rPr>
              <a:t>Standardisierung und Prozessdokumentation</a:t>
            </a:r>
            <a:endParaRPr lang="en-US" sz="1100">
              <a:solidFill>
                <a:prstClr val="white"/>
              </a:solidFill>
              <a:cs typeface="Arial"/>
            </a:endParaRPr>
          </a:p>
        </p:txBody>
      </p:sp>
      <p:sp>
        <p:nvSpPr>
          <p:cNvPr id="122" name="AutoShape 7">
            <a:extLst>
              <a:ext uri="{FF2B5EF4-FFF2-40B4-BE49-F238E27FC236}">
                <a16:creationId xmlns:a16="http://schemas.microsoft.com/office/drawing/2014/main" id="{DFB142C7-42D7-F6DF-EDF8-76B83BAB4A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36012" y="2572322"/>
            <a:ext cx="2448000" cy="432000"/>
          </a:xfrm>
          <a:prstGeom prst="rect">
            <a:avLst/>
          </a:prstGeom>
          <a:solidFill>
            <a:schemeClr val="bg2">
              <a:lumMod val="75000"/>
            </a:schemeClr>
          </a:solidFill>
          <a:ln w="12700" algn="ctr">
            <a:noFill/>
            <a:miter lim="800000"/>
            <a:headEnd/>
            <a:tailEnd/>
          </a:ln>
        </p:spPr>
        <p:txBody>
          <a:bodyPr lIns="36000" tIns="46800" rIns="36000" bIns="46800" anchor="ctr"/>
          <a:lstStyle/>
          <a:p>
            <a:pPr marL="143510">
              <a:lnSpc>
                <a:spcPts val="1200"/>
              </a:lnSpc>
              <a:defRPr/>
            </a:pPr>
            <a:r>
              <a:rPr lang="de-DE" sz="1100" kern="0">
                <a:solidFill>
                  <a:prstClr val="white"/>
                </a:solidFill>
                <a:ea typeface="+mn-lt"/>
                <a:cs typeface="+mn-lt"/>
              </a:rPr>
              <a:t>Systemgestützte Prozessausführung</a:t>
            </a:r>
            <a:endParaRPr lang="en-US" sz="1100">
              <a:solidFill>
                <a:prstClr val="white"/>
              </a:solidFill>
              <a:cs typeface="Arial"/>
            </a:endParaRPr>
          </a:p>
        </p:txBody>
      </p:sp>
      <p:grpSp>
        <p:nvGrpSpPr>
          <p:cNvPr id="123" name="Group 117">
            <a:extLst>
              <a:ext uri="{FF2B5EF4-FFF2-40B4-BE49-F238E27FC236}">
                <a16:creationId xmlns:a16="http://schemas.microsoft.com/office/drawing/2014/main" id="{6B438A6C-E374-42B9-44D9-E50A723D9325}"/>
              </a:ext>
            </a:extLst>
          </p:cNvPr>
          <p:cNvGrpSpPr>
            <a:grpSpLocks/>
          </p:cNvGrpSpPr>
          <p:nvPr/>
        </p:nvGrpSpPr>
        <p:grpSpPr bwMode="auto">
          <a:xfrm>
            <a:off x="6959640" y="5597051"/>
            <a:ext cx="2006523" cy="385762"/>
            <a:chOff x="909" y="3960"/>
            <a:chExt cx="1004" cy="243"/>
          </a:xfrm>
        </p:grpSpPr>
        <p:sp>
          <p:nvSpPr>
            <p:cNvPr id="124" name="Line 118">
              <a:extLst>
                <a:ext uri="{FF2B5EF4-FFF2-40B4-BE49-F238E27FC236}">
                  <a16:creationId xmlns:a16="http://schemas.microsoft.com/office/drawing/2014/main" id="{59A6F8BB-7D95-1E86-1546-040C6E0F73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89" y="4006"/>
              <a:ext cx="8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3200" rIns="90000" bIns="43200" anchor="ctr"/>
            <a:lstStyle/>
            <a:p>
              <a:endParaRPr lang="de-DE">
                <a:solidFill>
                  <a:srgbClr val="000000"/>
                </a:solidFill>
              </a:endParaRPr>
            </a:p>
          </p:txBody>
        </p:sp>
        <p:sp>
          <p:nvSpPr>
            <p:cNvPr id="125" name="Line 119">
              <a:extLst>
                <a:ext uri="{FF2B5EF4-FFF2-40B4-BE49-F238E27FC236}">
                  <a16:creationId xmlns:a16="http://schemas.microsoft.com/office/drawing/2014/main" id="{EFD19718-2274-6D0C-1C7D-B165BD7A88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89" y="3960"/>
              <a:ext cx="0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3200" rIns="90000" bIns="43200" anchor="ctr"/>
            <a:lstStyle/>
            <a:p>
              <a:endParaRPr lang="de-DE">
                <a:solidFill>
                  <a:srgbClr val="000000"/>
                </a:solidFill>
              </a:endParaRPr>
            </a:p>
          </p:txBody>
        </p:sp>
        <p:sp>
          <p:nvSpPr>
            <p:cNvPr id="126" name="Line 120">
              <a:extLst>
                <a:ext uri="{FF2B5EF4-FFF2-40B4-BE49-F238E27FC236}">
                  <a16:creationId xmlns:a16="http://schemas.microsoft.com/office/drawing/2014/main" id="{350E0A16-D700-6A2C-3088-C3E4D309A8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79" y="3960"/>
              <a:ext cx="0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3200" rIns="90000" bIns="43200" anchor="ctr"/>
            <a:lstStyle/>
            <a:p>
              <a:endParaRPr lang="de-DE">
                <a:solidFill>
                  <a:srgbClr val="000000"/>
                </a:solidFill>
              </a:endParaRPr>
            </a:p>
          </p:txBody>
        </p:sp>
        <p:sp>
          <p:nvSpPr>
            <p:cNvPr id="127" name="Line 121">
              <a:extLst>
                <a:ext uri="{FF2B5EF4-FFF2-40B4-BE49-F238E27FC236}">
                  <a16:creationId xmlns:a16="http://schemas.microsoft.com/office/drawing/2014/main" id="{B3277B75-A5C5-2038-8314-B68B586C41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69" y="3960"/>
              <a:ext cx="0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3200" rIns="90000" bIns="43200" anchor="ctr"/>
            <a:lstStyle/>
            <a:p>
              <a:endParaRPr lang="de-DE">
                <a:solidFill>
                  <a:srgbClr val="000000"/>
                </a:solidFill>
              </a:endParaRPr>
            </a:p>
          </p:txBody>
        </p:sp>
        <p:sp>
          <p:nvSpPr>
            <p:cNvPr id="128" name="Line 122">
              <a:extLst>
                <a:ext uri="{FF2B5EF4-FFF2-40B4-BE49-F238E27FC236}">
                  <a16:creationId xmlns:a16="http://schemas.microsoft.com/office/drawing/2014/main" id="{4081BD3F-CAD7-1E25-950F-D8EC342C73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59" y="3960"/>
              <a:ext cx="0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3200" rIns="90000" bIns="43200" anchor="ctr"/>
            <a:lstStyle/>
            <a:p>
              <a:endParaRPr lang="de-DE">
                <a:solidFill>
                  <a:srgbClr val="000000"/>
                </a:solidFill>
              </a:endParaRPr>
            </a:p>
          </p:txBody>
        </p:sp>
        <p:sp>
          <p:nvSpPr>
            <p:cNvPr id="129" name="Line 123">
              <a:extLst>
                <a:ext uri="{FF2B5EF4-FFF2-40B4-BE49-F238E27FC236}">
                  <a16:creationId xmlns:a16="http://schemas.microsoft.com/office/drawing/2014/main" id="{DF383B8F-B26F-D235-84B7-B3B63B07DB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49" y="3960"/>
              <a:ext cx="0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3200" rIns="90000" bIns="43200" anchor="ctr"/>
            <a:lstStyle/>
            <a:p>
              <a:endParaRPr lang="de-DE">
                <a:solidFill>
                  <a:srgbClr val="000000"/>
                </a:solidFill>
              </a:endParaRPr>
            </a:p>
          </p:txBody>
        </p:sp>
        <p:sp>
          <p:nvSpPr>
            <p:cNvPr id="130" name="Line 124">
              <a:extLst>
                <a:ext uri="{FF2B5EF4-FFF2-40B4-BE49-F238E27FC236}">
                  <a16:creationId xmlns:a16="http://schemas.microsoft.com/office/drawing/2014/main" id="{03F3F097-4F9F-15A0-5085-01AF78D57D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39" y="3960"/>
              <a:ext cx="0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3200" rIns="90000" bIns="43200" anchor="ctr"/>
            <a:lstStyle/>
            <a:p>
              <a:endParaRPr lang="de-DE">
                <a:solidFill>
                  <a:srgbClr val="000000"/>
                </a:solidFill>
              </a:endParaRPr>
            </a:p>
          </p:txBody>
        </p:sp>
        <p:sp>
          <p:nvSpPr>
            <p:cNvPr id="131" name="Line 125">
              <a:extLst>
                <a:ext uri="{FF2B5EF4-FFF2-40B4-BE49-F238E27FC236}">
                  <a16:creationId xmlns:a16="http://schemas.microsoft.com/office/drawing/2014/main" id="{74529832-9BD9-07C0-A9E9-1F5CC10D54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29" y="3960"/>
              <a:ext cx="0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3200" rIns="90000" bIns="43200" anchor="ctr"/>
            <a:lstStyle/>
            <a:p>
              <a:endParaRPr lang="de-DE">
                <a:solidFill>
                  <a:srgbClr val="000000"/>
                </a:solidFill>
              </a:endParaRPr>
            </a:p>
          </p:txBody>
        </p:sp>
        <p:sp>
          <p:nvSpPr>
            <p:cNvPr id="132" name="Line 126">
              <a:extLst>
                <a:ext uri="{FF2B5EF4-FFF2-40B4-BE49-F238E27FC236}">
                  <a16:creationId xmlns:a16="http://schemas.microsoft.com/office/drawing/2014/main" id="{49BBF7FC-15E5-9860-7035-5429E86350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19" y="3960"/>
              <a:ext cx="0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3200" rIns="90000" bIns="43200" anchor="ctr"/>
            <a:lstStyle/>
            <a:p>
              <a:endParaRPr lang="de-DE">
                <a:solidFill>
                  <a:srgbClr val="000000"/>
                </a:solidFill>
              </a:endParaRPr>
            </a:p>
          </p:txBody>
        </p:sp>
        <p:sp>
          <p:nvSpPr>
            <p:cNvPr id="133" name="Line 127">
              <a:extLst>
                <a:ext uri="{FF2B5EF4-FFF2-40B4-BE49-F238E27FC236}">
                  <a16:creationId xmlns:a16="http://schemas.microsoft.com/office/drawing/2014/main" id="{3491344D-6337-BCBF-23CA-811BFAEE3F5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11" y="3962"/>
              <a:ext cx="0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3200" rIns="90000" bIns="43200" anchor="ctr"/>
            <a:lstStyle/>
            <a:p>
              <a:endParaRPr lang="de-DE">
                <a:solidFill>
                  <a:srgbClr val="000000"/>
                </a:solidFill>
              </a:endParaRPr>
            </a:p>
          </p:txBody>
        </p:sp>
        <p:sp>
          <p:nvSpPr>
            <p:cNvPr id="134" name="Line 128">
              <a:extLst>
                <a:ext uri="{FF2B5EF4-FFF2-40B4-BE49-F238E27FC236}">
                  <a16:creationId xmlns:a16="http://schemas.microsoft.com/office/drawing/2014/main" id="{D574E8E7-B1AA-5FC4-0548-C09B8F6BAE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99" y="3960"/>
              <a:ext cx="0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3200" rIns="90000" bIns="43200" anchor="ctr"/>
            <a:lstStyle/>
            <a:p>
              <a:endParaRPr lang="de-DE">
                <a:solidFill>
                  <a:srgbClr val="000000"/>
                </a:solidFill>
              </a:endParaRPr>
            </a:p>
          </p:txBody>
        </p:sp>
        <p:sp>
          <p:nvSpPr>
            <p:cNvPr id="135" name="Text Box 129">
              <a:extLst>
                <a:ext uri="{FF2B5EF4-FFF2-40B4-BE49-F238E27FC236}">
                  <a16:creationId xmlns:a16="http://schemas.microsoft.com/office/drawing/2014/main" id="{2D8CA5BB-6897-7206-867A-75719728BF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09" y="4051"/>
              <a:ext cx="172" cy="1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3200" rIns="90000" bIns="43200">
              <a:spAutoFit/>
            </a:bodyPr>
            <a:lstStyle>
              <a:lvl1pPr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u"/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31838">
                <a:spcAft>
                  <a:spcPct val="50000"/>
                </a:spcAft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31838">
                <a:spcBef>
                  <a:spcPct val="20000"/>
                </a:spcBef>
                <a:buClr>
                  <a:schemeClr val="hlink"/>
                </a:buClr>
                <a:buChar char="-"/>
                <a:defRPr kumimoji="1" sz="1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31838">
                <a:spcBef>
                  <a:spcPct val="50000"/>
                </a:spcBef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de-DE" altLang="de-DE" sz="1000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136" name="Text Box 130">
              <a:extLst>
                <a:ext uri="{FF2B5EF4-FFF2-40B4-BE49-F238E27FC236}">
                  <a16:creationId xmlns:a16="http://schemas.microsoft.com/office/drawing/2014/main" id="{BA4F0768-5081-9130-47E9-140CAEA88B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88" y="4051"/>
              <a:ext cx="172" cy="1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3200" rIns="90000" bIns="43200">
              <a:spAutoFit/>
            </a:bodyPr>
            <a:lstStyle>
              <a:lvl1pPr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u"/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31838">
                <a:spcAft>
                  <a:spcPct val="50000"/>
                </a:spcAft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31838">
                <a:spcBef>
                  <a:spcPct val="20000"/>
                </a:spcBef>
                <a:buClr>
                  <a:schemeClr val="hlink"/>
                </a:buClr>
                <a:buChar char="-"/>
                <a:defRPr kumimoji="1" sz="1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31838">
                <a:spcBef>
                  <a:spcPct val="50000"/>
                </a:spcBef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de-DE" altLang="de-DE" sz="1000">
                  <a:solidFill>
                    <a:srgbClr val="000000"/>
                  </a:solidFill>
                </a:rPr>
                <a:t>2</a:t>
              </a:r>
            </a:p>
          </p:txBody>
        </p:sp>
        <p:sp>
          <p:nvSpPr>
            <p:cNvPr id="137" name="Text Box 131">
              <a:extLst>
                <a:ext uri="{FF2B5EF4-FFF2-40B4-BE49-F238E27FC236}">
                  <a16:creationId xmlns:a16="http://schemas.microsoft.com/office/drawing/2014/main" id="{AD08CB2A-694D-0328-A0E0-CA574CDF21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79" y="4051"/>
              <a:ext cx="172" cy="1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3200" rIns="90000" bIns="43200">
              <a:spAutoFit/>
            </a:bodyPr>
            <a:lstStyle>
              <a:lvl1pPr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u"/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31838">
                <a:spcAft>
                  <a:spcPct val="50000"/>
                </a:spcAft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31838">
                <a:spcBef>
                  <a:spcPct val="20000"/>
                </a:spcBef>
                <a:buClr>
                  <a:schemeClr val="hlink"/>
                </a:buClr>
                <a:buChar char="-"/>
                <a:defRPr kumimoji="1" sz="1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31838">
                <a:spcBef>
                  <a:spcPct val="50000"/>
                </a:spcBef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de-DE" altLang="de-DE" sz="1000">
                  <a:solidFill>
                    <a:srgbClr val="000000"/>
                  </a:solidFill>
                </a:rPr>
                <a:t>3</a:t>
              </a:r>
            </a:p>
          </p:txBody>
        </p:sp>
        <p:sp>
          <p:nvSpPr>
            <p:cNvPr id="138" name="Text Box 132">
              <a:extLst>
                <a:ext uri="{FF2B5EF4-FFF2-40B4-BE49-F238E27FC236}">
                  <a16:creationId xmlns:a16="http://schemas.microsoft.com/office/drawing/2014/main" id="{06557BA6-CAE0-B552-CC65-FB04B795FA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70" y="4051"/>
              <a:ext cx="172" cy="1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3200" rIns="90000" bIns="43200">
              <a:spAutoFit/>
            </a:bodyPr>
            <a:lstStyle>
              <a:lvl1pPr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u"/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31838">
                <a:spcAft>
                  <a:spcPct val="50000"/>
                </a:spcAft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31838">
                <a:spcBef>
                  <a:spcPct val="20000"/>
                </a:spcBef>
                <a:buClr>
                  <a:schemeClr val="hlink"/>
                </a:buClr>
                <a:buChar char="-"/>
                <a:defRPr kumimoji="1" sz="1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31838">
                <a:spcBef>
                  <a:spcPct val="50000"/>
                </a:spcBef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de-DE" altLang="de-DE" sz="1000">
                  <a:solidFill>
                    <a:srgbClr val="000000"/>
                  </a:solidFill>
                </a:rPr>
                <a:t>4</a:t>
              </a:r>
            </a:p>
          </p:txBody>
        </p:sp>
        <p:sp>
          <p:nvSpPr>
            <p:cNvPr id="139" name="Text Box 133">
              <a:extLst>
                <a:ext uri="{FF2B5EF4-FFF2-40B4-BE49-F238E27FC236}">
                  <a16:creationId xmlns:a16="http://schemas.microsoft.com/office/drawing/2014/main" id="{7B8C1C9A-D01F-B2CC-DC1D-19183A93F6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61" y="4051"/>
              <a:ext cx="172" cy="1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3200" rIns="90000" bIns="43200">
              <a:spAutoFit/>
            </a:bodyPr>
            <a:lstStyle>
              <a:lvl1pPr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u"/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31838">
                <a:spcAft>
                  <a:spcPct val="50000"/>
                </a:spcAft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31838">
                <a:spcBef>
                  <a:spcPct val="20000"/>
                </a:spcBef>
                <a:buClr>
                  <a:schemeClr val="hlink"/>
                </a:buClr>
                <a:buChar char="-"/>
                <a:defRPr kumimoji="1" sz="1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31838">
                <a:spcBef>
                  <a:spcPct val="50000"/>
                </a:spcBef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de-DE" altLang="de-DE" sz="1000">
                  <a:solidFill>
                    <a:srgbClr val="000000"/>
                  </a:solidFill>
                </a:rPr>
                <a:t>5</a:t>
              </a:r>
            </a:p>
          </p:txBody>
        </p:sp>
        <p:sp>
          <p:nvSpPr>
            <p:cNvPr id="140" name="Text Box 134">
              <a:extLst>
                <a:ext uri="{FF2B5EF4-FFF2-40B4-BE49-F238E27FC236}">
                  <a16:creationId xmlns:a16="http://schemas.microsoft.com/office/drawing/2014/main" id="{14A31DB1-8B71-34D7-C803-9A87F483BF8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2" y="4051"/>
              <a:ext cx="172" cy="1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3200" rIns="90000" bIns="43200">
              <a:spAutoFit/>
            </a:bodyPr>
            <a:lstStyle>
              <a:lvl1pPr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u"/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31838">
                <a:spcAft>
                  <a:spcPct val="50000"/>
                </a:spcAft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31838">
                <a:spcBef>
                  <a:spcPct val="20000"/>
                </a:spcBef>
                <a:buClr>
                  <a:schemeClr val="hlink"/>
                </a:buClr>
                <a:buChar char="-"/>
                <a:defRPr kumimoji="1" sz="1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31838">
                <a:spcBef>
                  <a:spcPct val="50000"/>
                </a:spcBef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de-DE" altLang="de-DE" sz="1000">
                  <a:solidFill>
                    <a:srgbClr val="000000"/>
                  </a:solidFill>
                </a:rPr>
                <a:t>7</a:t>
              </a:r>
            </a:p>
          </p:txBody>
        </p:sp>
        <p:sp>
          <p:nvSpPr>
            <p:cNvPr id="141" name="Text Box 135">
              <a:extLst>
                <a:ext uri="{FF2B5EF4-FFF2-40B4-BE49-F238E27FC236}">
                  <a16:creationId xmlns:a16="http://schemas.microsoft.com/office/drawing/2014/main" id="{19876C3E-E62B-C7A6-2D70-5FF51172F8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4" y="4051"/>
              <a:ext cx="172" cy="1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3200" rIns="90000" bIns="43200">
              <a:spAutoFit/>
            </a:bodyPr>
            <a:lstStyle>
              <a:lvl1pPr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u"/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31838">
                <a:spcAft>
                  <a:spcPct val="50000"/>
                </a:spcAft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31838">
                <a:spcBef>
                  <a:spcPct val="20000"/>
                </a:spcBef>
                <a:buClr>
                  <a:schemeClr val="hlink"/>
                </a:buClr>
                <a:buChar char="-"/>
                <a:defRPr kumimoji="1" sz="1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31838">
                <a:spcBef>
                  <a:spcPct val="50000"/>
                </a:spcBef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de-DE" altLang="de-DE" sz="1000">
                  <a:solidFill>
                    <a:srgbClr val="000000"/>
                  </a:solidFill>
                </a:rPr>
                <a:t>8</a:t>
              </a:r>
            </a:p>
          </p:txBody>
        </p:sp>
        <p:sp>
          <p:nvSpPr>
            <p:cNvPr id="142" name="Text Box 136">
              <a:extLst>
                <a:ext uri="{FF2B5EF4-FFF2-40B4-BE49-F238E27FC236}">
                  <a16:creationId xmlns:a16="http://schemas.microsoft.com/office/drawing/2014/main" id="{7F973255-EDBC-1F21-B088-6C90C831A2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25" y="4051"/>
              <a:ext cx="172" cy="1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3200" rIns="90000" bIns="43200">
              <a:spAutoFit/>
            </a:bodyPr>
            <a:lstStyle>
              <a:lvl1pPr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u"/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31838">
                <a:spcAft>
                  <a:spcPct val="50000"/>
                </a:spcAft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31838">
                <a:spcBef>
                  <a:spcPct val="20000"/>
                </a:spcBef>
                <a:buClr>
                  <a:schemeClr val="hlink"/>
                </a:buClr>
                <a:buChar char="-"/>
                <a:defRPr kumimoji="1" sz="1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31838">
                <a:spcBef>
                  <a:spcPct val="50000"/>
                </a:spcBef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de-DE" altLang="de-DE" sz="1000">
                  <a:solidFill>
                    <a:srgbClr val="000000"/>
                  </a:solidFill>
                </a:rPr>
                <a:t>9</a:t>
              </a:r>
            </a:p>
          </p:txBody>
        </p:sp>
        <p:sp>
          <p:nvSpPr>
            <p:cNvPr id="143" name="Text Box 137">
              <a:extLst>
                <a:ext uri="{FF2B5EF4-FFF2-40B4-BE49-F238E27FC236}">
                  <a16:creationId xmlns:a16="http://schemas.microsoft.com/office/drawing/2014/main" id="{8CBEAC37-5C8D-F678-E7FD-7B60AA225C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93" y="4051"/>
              <a:ext cx="220" cy="1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3200" rIns="90000" bIns="43200">
              <a:spAutoFit/>
            </a:bodyPr>
            <a:lstStyle>
              <a:lvl1pPr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u"/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31838">
                <a:spcAft>
                  <a:spcPct val="50000"/>
                </a:spcAft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31838">
                <a:spcBef>
                  <a:spcPct val="20000"/>
                </a:spcBef>
                <a:buClr>
                  <a:schemeClr val="hlink"/>
                </a:buClr>
                <a:buChar char="-"/>
                <a:defRPr kumimoji="1" sz="1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31838">
                <a:spcBef>
                  <a:spcPct val="50000"/>
                </a:spcBef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de-DE" altLang="de-DE" sz="1000">
                  <a:solidFill>
                    <a:srgbClr val="000000"/>
                  </a:solidFill>
                </a:rPr>
                <a:t>10</a:t>
              </a:r>
            </a:p>
          </p:txBody>
        </p:sp>
        <p:sp>
          <p:nvSpPr>
            <p:cNvPr id="144" name="Text Box 138">
              <a:extLst>
                <a:ext uri="{FF2B5EF4-FFF2-40B4-BE49-F238E27FC236}">
                  <a16:creationId xmlns:a16="http://schemas.microsoft.com/office/drawing/2014/main" id="{E483C760-BCFB-9AA6-DAB6-809093F61B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51" y="4051"/>
              <a:ext cx="172" cy="1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3200" rIns="90000" bIns="43200">
              <a:spAutoFit/>
            </a:bodyPr>
            <a:lstStyle>
              <a:lvl1pPr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u"/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31838">
                <a:spcAft>
                  <a:spcPct val="50000"/>
                </a:spcAft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31838">
                <a:spcBef>
                  <a:spcPct val="20000"/>
                </a:spcBef>
                <a:buClr>
                  <a:schemeClr val="hlink"/>
                </a:buClr>
                <a:buChar char="-"/>
                <a:defRPr kumimoji="1" sz="1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31838">
                <a:spcBef>
                  <a:spcPct val="50000"/>
                </a:spcBef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de-DE" altLang="de-DE" sz="1000">
                  <a:solidFill>
                    <a:srgbClr val="000000"/>
                  </a:solidFill>
                </a:rPr>
                <a:t>6</a:t>
              </a:r>
            </a:p>
          </p:txBody>
        </p:sp>
      </p:grpSp>
      <p:grpSp>
        <p:nvGrpSpPr>
          <p:cNvPr id="145" name="Group 117">
            <a:extLst>
              <a:ext uri="{FF2B5EF4-FFF2-40B4-BE49-F238E27FC236}">
                <a16:creationId xmlns:a16="http://schemas.microsoft.com/office/drawing/2014/main" id="{C4C63D76-E3C8-1DFD-1EAB-DBCC165AF0D2}"/>
              </a:ext>
            </a:extLst>
          </p:cNvPr>
          <p:cNvGrpSpPr>
            <a:grpSpLocks/>
          </p:cNvGrpSpPr>
          <p:nvPr/>
        </p:nvGrpSpPr>
        <p:grpSpPr bwMode="auto">
          <a:xfrm>
            <a:off x="4116734" y="5597051"/>
            <a:ext cx="2006523" cy="385762"/>
            <a:chOff x="909" y="3960"/>
            <a:chExt cx="1004" cy="243"/>
          </a:xfrm>
        </p:grpSpPr>
        <p:sp>
          <p:nvSpPr>
            <p:cNvPr id="146" name="Line 118">
              <a:extLst>
                <a:ext uri="{FF2B5EF4-FFF2-40B4-BE49-F238E27FC236}">
                  <a16:creationId xmlns:a16="http://schemas.microsoft.com/office/drawing/2014/main" id="{BDCBB0D8-97FD-F87E-E47A-475321B112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89" y="4006"/>
              <a:ext cx="8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3200" rIns="90000" bIns="43200" anchor="ctr"/>
            <a:lstStyle/>
            <a:p>
              <a:endParaRPr lang="de-DE">
                <a:solidFill>
                  <a:srgbClr val="000000"/>
                </a:solidFill>
              </a:endParaRPr>
            </a:p>
          </p:txBody>
        </p:sp>
        <p:sp>
          <p:nvSpPr>
            <p:cNvPr id="147" name="Line 119">
              <a:extLst>
                <a:ext uri="{FF2B5EF4-FFF2-40B4-BE49-F238E27FC236}">
                  <a16:creationId xmlns:a16="http://schemas.microsoft.com/office/drawing/2014/main" id="{A471ED9B-5BAA-D95B-9F9E-C4550D869E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89" y="3960"/>
              <a:ext cx="0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3200" rIns="90000" bIns="43200" anchor="ctr"/>
            <a:lstStyle/>
            <a:p>
              <a:endParaRPr lang="de-DE">
                <a:solidFill>
                  <a:srgbClr val="000000"/>
                </a:solidFill>
              </a:endParaRPr>
            </a:p>
          </p:txBody>
        </p:sp>
        <p:sp>
          <p:nvSpPr>
            <p:cNvPr id="148" name="Line 120">
              <a:extLst>
                <a:ext uri="{FF2B5EF4-FFF2-40B4-BE49-F238E27FC236}">
                  <a16:creationId xmlns:a16="http://schemas.microsoft.com/office/drawing/2014/main" id="{14613CAA-FFC0-25AA-60D6-93050AB041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79" y="3960"/>
              <a:ext cx="0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3200" rIns="90000" bIns="43200" anchor="ctr"/>
            <a:lstStyle/>
            <a:p>
              <a:endParaRPr lang="de-DE">
                <a:solidFill>
                  <a:srgbClr val="000000"/>
                </a:solidFill>
              </a:endParaRPr>
            </a:p>
          </p:txBody>
        </p:sp>
        <p:sp>
          <p:nvSpPr>
            <p:cNvPr id="149" name="Line 121">
              <a:extLst>
                <a:ext uri="{FF2B5EF4-FFF2-40B4-BE49-F238E27FC236}">
                  <a16:creationId xmlns:a16="http://schemas.microsoft.com/office/drawing/2014/main" id="{93363A2A-B8ED-CA4A-89E0-5097290901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69" y="3960"/>
              <a:ext cx="0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3200" rIns="90000" bIns="43200" anchor="ctr"/>
            <a:lstStyle/>
            <a:p>
              <a:endParaRPr lang="de-DE">
                <a:solidFill>
                  <a:srgbClr val="000000"/>
                </a:solidFill>
              </a:endParaRPr>
            </a:p>
          </p:txBody>
        </p:sp>
        <p:sp>
          <p:nvSpPr>
            <p:cNvPr id="150" name="Line 122">
              <a:extLst>
                <a:ext uri="{FF2B5EF4-FFF2-40B4-BE49-F238E27FC236}">
                  <a16:creationId xmlns:a16="http://schemas.microsoft.com/office/drawing/2014/main" id="{A80E81CD-3D5B-7095-53A0-C31ACA84FB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59" y="3960"/>
              <a:ext cx="0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3200" rIns="90000" bIns="43200" anchor="ctr"/>
            <a:lstStyle/>
            <a:p>
              <a:endParaRPr lang="de-DE">
                <a:solidFill>
                  <a:srgbClr val="000000"/>
                </a:solidFill>
              </a:endParaRPr>
            </a:p>
          </p:txBody>
        </p:sp>
        <p:sp>
          <p:nvSpPr>
            <p:cNvPr id="151" name="Line 123">
              <a:extLst>
                <a:ext uri="{FF2B5EF4-FFF2-40B4-BE49-F238E27FC236}">
                  <a16:creationId xmlns:a16="http://schemas.microsoft.com/office/drawing/2014/main" id="{C2EC5B97-EE0F-B5A7-D909-7AF9905A8A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49" y="3960"/>
              <a:ext cx="0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3200" rIns="90000" bIns="43200" anchor="ctr"/>
            <a:lstStyle/>
            <a:p>
              <a:endParaRPr lang="de-DE">
                <a:solidFill>
                  <a:srgbClr val="000000"/>
                </a:solidFill>
              </a:endParaRPr>
            </a:p>
          </p:txBody>
        </p:sp>
        <p:sp>
          <p:nvSpPr>
            <p:cNvPr id="152" name="Line 124">
              <a:extLst>
                <a:ext uri="{FF2B5EF4-FFF2-40B4-BE49-F238E27FC236}">
                  <a16:creationId xmlns:a16="http://schemas.microsoft.com/office/drawing/2014/main" id="{9D9EA477-46E7-B24F-4555-DB70753DA1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39" y="3960"/>
              <a:ext cx="0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3200" rIns="90000" bIns="43200" anchor="ctr"/>
            <a:lstStyle/>
            <a:p>
              <a:endParaRPr lang="de-DE">
                <a:solidFill>
                  <a:srgbClr val="000000"/>
                </a:solidFill>
              </a:endParaRPr>
            </a:p>
          </p:txBody>
        </p:sp>
        <p:sp>
          <p:nvSpPr>
            <p:cNvPr id="153" name="Line 125">
              <a:extLst>
                <a:ext uri="{FF2B5EF4-FFF2-40B4-BE49-F238E27FC236}">
                  <a16:creationId xmlns:a16="http://schemas.microsoft.com/office/drawing/2014/main" id="{B55A63A3-4787-D1C2-E721-8BA07A3270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29" y="3960"/>
              <a:ext cx="0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3200" rIns="90000" bIns="43200" anchor="ctr"/>
            <a:lstStyle/>
            <a:p>
              <a:endParaRPr lang="de-DE">
                <a:solidFill>
                  <a:srgbClr val="000000"/>
                </a:solidFill>
              </a:endParaRPr>
            </a:p>
          </p:txBody>
        </p:sp>
        <p:sp>
          <p:nvSpPr>
            <p:cNvPr id="154" name="Line 126">
              <a:extLst>
                <a:ext uri="{FF2B5EF4-FFF2-40B4-BE49-F238E27FC236}">
                  <a16:creationId xmlns:a16="http://schemas.microsoft.com/office/drawing/2014/main" id="{DFCFA178-3410-94BF-9A30-32532F03F9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19" y="3960"/>
              <a:ext cx="0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3200" rIns="90000" bIns="43200" anchor="ctr"/>
            <a:lstStyle/>
            <a:p>
              <a:endParaRPr lang="de-DE">
                <a:solidFill>
                  <a:srgbClr val="000000"/>
                </a:solidFill>
              </a:endParaRPr>
            </a:p>
          </p:txBody>
        </p:sp>
        <p:sp>
          <p:nvSpPr>
            <p:cNvPr id="155" name="Line 127">
              <a:extLst>
                <a:ext uri="{FF2B5EF4-FFF2-40B4-BE49-F238E27FC236}">
                  <a16:creationId xmlns:a16="http://schemas.microsoft.com/office/drawing/2014/main" id="{046EB176-1F15-0DF3-8CF8-68BDACFD4E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11" y="3962"/>
              <a:ext cx="0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3200" rIns="90000" bIns="43200" anchor="ctr"/>
            <a:lstStyle/>
            <a:p>
              <a:endParaRPr lang="de-DE">
                <a:solidFill>
                  <a:srgbClr val="000000"/>
                </a:solidFill>
              </a:endParaRPr>
            </a:p>
          </p:txBody>
        </p:sp>
        <p:sp>
          <p:nvSpPr>
            <p:cNvPr id="156" name="Line 128">
              <a:extLst>
                <a:ext uri="{FF2B5EF4-FFF2-40B4-BE49-F238E27FC236}">
                  <a16:creationId xmlns:a16="http://schemas.microsoft.com/office/drawing/2014/main" id="{016DCB6A-085E-5A9B-9A60-31F9384223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99" y="3960"/>
              <a:ext cx="0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3200" rIns="90000" bIns="43200" anchor="ctr"/>
            <a:lstStyle/>
            <a:p>
              <a:endParaRPr lang="de-DE">
                <a:solidFill>
                  <a:srgbClr val="000000"/>
                </a:solidFill>
              </a:endParaRPr>
            </a:p>
          </p:txBody>
        </p:sp>
        <p:sp>
          <p:nvSpPr>
            <p:cNvPr id="157" name="Text Box 129">
              <a:extLst>
                <a:ext uri="{FF2B5EF4-FFF2-40B4-BE49-F238E27FC236}">
                  <a16:creationId xmlns:a16="http://schemas.microsoft.com/office/drawing/2014/main" id="{A113D07A-16B8-A8A2-71D6-62CEB1842E7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09" y="4051"/>
              <a:ext cx="172" cy="1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3200" rIns="90000" bIns="43200">
              <a:spAutoFit/>
            </a:bodyPr>
            <a:lstStyle>
              <a:lvl1pPr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u"/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31838">
                <a:spcAft>
                  <a:spcPct val="50000"/>
                </a:spcAft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31838">
                <a:spcBef>
                  <a:spcPct val="20000"/>
                </a:spcBef>
                <a:buClr>
                  <a:schemeClr val="hlink"/>
                </a:buClr>
                <a:buChar char="-"/>
                <a:defRPr kumimoji="1" sz="1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31838">
                <a:spcBef>
                  <a:spcPct val="50000"/>
                </a:spcBef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de-DE" altLang="de-DE" sz="1000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158" name="Text Box 130">
              <a:extLst>
                <a:ext uri="{FF2B5EF4-FFF2-40B4-BE49-F238E27FC236}">
                  <a16:creationId xmlns:a16="http://schemas.microsoft.com/office/drawing/2014/main" id="{81322F0C-C023-8828-88B6-4EE034A4A1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88" y="4051"/>
              <a:ext cx="172" cy="1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3200" rIns="90000" bIns="43200">
              <a:spAutoFit/>
            </a:bodyPr>
            <a:lstStyle>
              <a:lvl1pPr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u"/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31838">
                <a:spcAft>
                  <a:spcPct val="50000"/>
                </a:spcAft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31838">
                <a:spcBef>
                  <a:spcPct val="20000"/>
                </a:spcBef>
                <a:buClr>
                  <a:schemeClr val="hlink"/>
                </a:buClr>
                <a:buChar char="-"/>
                <a:defRPr kumimoji="1" sz="1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31838">
                <a:spcBef>
                  <a:spcPct val="50000"/>
                </a:spcBef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de-DE" altLang="de-DE" sz="1000">
                  <a:solidFill>
                    <a:srgbClr val="000000"/>
                  </a:solidFill>
                </a:rPr>
                <a:t>2</a:t>
              </a:r>
            </a:p>
          </p:txBody>
        </p:sp>
        <p:sp>
          <p:nvSpPr>
            <p:cNvPr id="159" name="Text Box 131">
              <a:extLst>
                <a:ext uri="{FF2B5EF4-FFF2-40B4-BE49-F238E27FC236}">
                  <a16:creationId xmlns:a16="http://schemas.microsoft.com/office/drawing/2014/main" id="{AE9ECAC8-FC28-D879-A297-6982F4EE83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79" y="4051"/>
              <a:ext cx="172" cy="1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3200" rIns="90000" bIns="43200">
              <a:spAutoFit/>
            </a:bodyPr>
            <a:lstStyle>
              <a:lvl1pPr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u"/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31838">
                <a:spcAft>
                  <a:spcPct val="50000"/>
                </a:spcAft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31838">
                <a:spcBef>
                  <a:spcPct val="20000"/>
                </a:spcBef>
                <a:buClr>
                  <a:schemeClr val="hlink"/>
                </a:buClr>
                <a:buChar char="-"/>
                <a:defRPr kumimoji="1" sz="1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31838">
                <a:spcBef>
                  <a:spcPct val="50000"/>
                </a:spcBef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de-DE" altLang="de-DE" sz="1000">
                  <a:solidFill>
                    <a:srgbClr val="000000"/>
                  </a:solidFill>
                </a:rPr>
                <a:t>3</a:t>
              </a:r>
            </a:p>
          </p:txBody>
        </p:sp>
        <p:sp>
          <p:nvSpPr>
            <p:cNvPr id="160" name="Text Box 132">
              <a:extLst>
                <a:ext uri="{FF2B5EF4-FFF2-40B4-BE49-F238E27FC236}">
                  <a16:creationId xmlns:a16="http://schemas.microsoft.com/office/drawing/2014/main" id="{BD2E2259-7AE9-907C-2A7B-A5BB7B7493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70" y="4051"/>
              <a:ext cx="172" cy="1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3200" rIns="90000" bIns="43200">
              <a:spAutoFit/>
            </a:bodyPr>
            <a:lstStyle>
              <a:lvl1pPr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u"/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31838">
                <a:spcAft>
                  <a:spcPct val="50000"/>
                </a:spcAft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31838">
                <a:spcBef>
                  <a:spcPct val="20000"/>
                </a:spcBef>
                <a:buClr>
                  <a:schemeClr val="hlink"/>
                </a:buClr>
                <a:buChar char="-"/>
                <a:defRPr kumimoji="1" sz="1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31838">
                <a:spcBef>
                  <a:spcPct val="50000"/>
                </a:spcBef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de-DE" altLang="de-DE" sz="1000">
                  <a:solidFill>
                    <a:srgbClr val="000000"/>
                  </a:solidFill>
                </a:rPr>
                <a:t>4</a:t>
              </a:r>
            </a:p>
          </p:txBody>
        </p:sp>
        <p:sp>
          <p:nvSpPr>
            <p:cNvPr id="161" name="Text Box 133">
              <a:extLst>
                <a:ext uri="{FF2B5EF4-FFF2-40B4-BE49-F238E27FC236}">
                  <a16:creationId xmlns:a16="http://schemas.microsoft.com/office/drawing/2014/main" id="{D6862C2D-BA78-0D2C-3D12-DABF25CD45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61" y="4051"/>
              <a:ext cx="172" cy="1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3200" rIns="90000" bIns="43200">
              <a:spAutoFit/>
            </a:bodyPr>
            <a:lstStyle>
              <a:lvl1pPr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u"/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31838">
                <a:spcAft>
                  <a:spcPct val="50000"/>
                </a:spcAft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31838">
                <a:spcBef>
                  <a:spcPct val="20000"/>
                </a:spcBef>
                <a:buClr>
                  <a:schemeClr val="hlink"/>
                </a:buClr>
                <a:buChar char="-"/>
                <a:defRPr kumimoji="1" sz="1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31838">
                <a:spcBef>
                  <a:spcPct val="50000"/>
                </a:spcBef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de-DE" altLang="de-DE" sz="1000">
                  <a:solidFill>
                    <a:srgbClr val="000000"/>
                  </a:solidFill>
                </a:rPr>
                <a:t>5</a:t>
              </a:r>
            </a:p>
          </p:txBody>
        </p:sp>
        <p:sp>
          <p:nvSpPr>
            <p:cNvPr id="162" name="Text Box 134">
              <a:extLst>
                <a:ext uri="{FF2B5EF4-FFF2-40B4-BE49-F238E27FC236}">
                  <a16:creationId xmlns:a16="http://schemas.microsoft.com/office/drawing/2014/main" id="{C272122F-A57E-4CAB-547C-986AB97232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2" y="4051"/>
              <a:ext cx="172" cy="1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3200" rIns="90000" bIns="43200">
              <a:spAutoFit/>
            </a:bodyPr>
            <a:lstStyle>
              <a:lvl1pPr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u"/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31838">
                <a:spcAft>
                  <a:spcPct val="50000"/>
                </a:spcAft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31838">
                <a:spcBef>
                  <a:spcPct val="20000"/>
                </a:spcBef>
                <a:buClr>
                  <a:schemeClr val="hlink"/>
                </a:buClr>
                <a:buChar char="-"/>
                <a:defRPr kumimoji="1" sz="1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31838">
                <a:spcBef>
                  <a:spcPct val="50000"/>
                </a:spcBef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de-DE" altLang="de-DE" sz="1000">
                  <a:solidFill>
                    <a:srgbClr val="000000"/>
                  </a:solidFill>
                </a:rPr>
                <a:t>7</a:t>
              </a:r>
            </a:p>
          </p:txBody>
        </p:sp>
        <p:sp>
          <p:nvSpPr>
            <p:cNvPr id="163" name="Text Box 135">
              <a:extLst>
                <a:ext uri="{FF2B5EF4-FFF2-40B4-BE49-F238E27FC236}">
                  <a16:creationId xmlns:a16="http://schemas.microsoft.com/office/drawing/2014/main" id="{DDD1ED41-4CC3-C2E7-BA49-8BAAC59762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4" y="4051"/>
              <a:ext cx="172" cy="1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3200" rIns="90000" bIns="43200">
              <a:spAutoFit/>
            </a:bodyPr>
            <a:lstStyle>
              <a:lvl1pPr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u"/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31838">
                <a:spcAft>
                  <a:spcPct val="50000"/>
                </a:spcAft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31838">
                <a:spcBef>
                  <a:spcPct val="20000"/>
                </a:spcBef>
                <a:buClr>
                  <a:schemeClr val="hlink"/>
                </a:buClr>
                <a:buChar char="-"/>
                <a:defRPr kumimoji="1" sz="1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31838">
                <a:spcBef>
                  <a:spcPct val="50000"/>
                </a:spcBef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de-DE" altLang="de-DE" sz="1000">
                  <a:solidFill>
                    <a:srgbClr val="000000"/>
                  </a:solidFill>
                </a:rPr>
                <a:t>8</a:t>
              </a:r>
            </a:p>
          </p:txBody>
        </p:sp>
        <p:sp>
          <p:nvSpPr>
            <p:cNvPr id="164" name="Text Box 136">
              <a:extLst>
                <a:ext uri="{FF2B5EF4-FFF2-40B4-BE49-F238E27FC236}">
                  <a16:creationId xmlns:a16="http://schemas.microsoft.com/office/drawing/2014/main" id="{9C482CCC-F8F1-E1BB-B31B-756134A704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25" y="4051"/>
              <a:ext cx="172" cy="1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3200" rIns="90000" bIns="43200">
              <a:spAutoFit/>
            </a:bodyPr>
            <a:lstStyle>
              <a:lvl1pPr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u"/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31838">
                <a:spcAft>
                  <a:spcPct val="50000"/>
                </a:spcAft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31838">
                <a:spcBef>
                  <a:spcPct val="20000"/>
                </a:spcBef>
                <a:buClr>
                  <a:schemeClr val="hlink"/>
                </a:buClr>
                <a:buChar char="-"/>
                <a:defRPr kumimoji="1" sz="1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31838">
                <a:spcBef>
                  <a:spcPct val="50000"/>
                </a:spcBef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de-DE" altLang="de-DE" sz="1000">
                  <a:solidFill>
                    <a:srgbClr val="000000"/>
                  </a:solidFill>
                </a:rPr>
                <a:t>9</a:t>
              </a:r>
            </a:p>
          </p:txBody>
        </p:sp>
        <p:sp>
          <p:nvSpPr>
            <p:cNvPr id="165" name="Text Box 137">
              <a:extLst>
                <a:ext uri="{FF2B5EF4-FFF2-40B4-BE49-F238E27FC236}">
                  <a16:creationId xmlns:a16="http://schemas.microsoft.com/office/drawing/2014/main" id="{AAB07348-362D-8163-9C20-FD060370EB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93" y="4051"/>
              <a:ext cx="220" cy="1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3200" rIns="90000" bIns="43200">
              <a:spAutoFit/>
            </a:bodyPr>
            <a:lstStyle>
              <a:lvl1pPr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u"/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31838">
                <a:spcAft>
                  <a:spcPct val="50000"/>
                </a:spcAft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31838">
                <a:spcBef>
                  <a:spcPct val="20000"/>
                </a:spcBef>
                <a:buClr>
                  <a:schemeClr val="hlink"/>
                </a:buClr>
                <a:buChar char="-"/>
                <a:defRPr kumimoji="1" sz="1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31838">
                <a:spcBef>
                  <a:spcPct val="50000"/>
                </a:spcBef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de-DE" altLang="de-DE" sz="1000">
                  <a:solidFill>
                    <a:srgbClr val="000000"/>
                  </a:solidFill>
                </a:rPr>
                <a:t>10</a:t>
              </a:r>
            </a:p>
          </p:txBody>
        </p:sp>
        <p:sp>
          <p:nvSpPr>
            <p:cNvPr id="166" name="Text Box 138">
              <a:extLst>
                <a:ext uri="{FF2B5EF4-FFF2-40B4-BE49-F238E27FC236}">
                  <a16:creationId xmlns:a16="http://schemas.microsoft.com/office/drawing/2014/main" id="{7487084A-B302-56F5-E855-F92CE1B85C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51" y="4051"/>
              <a:ext cx="172" cy="1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3200" rIns="90000" bIns="43200">
              <a:spAutoFit/>
            </a:bodyPr>
            <a:lstStyle>
              <a:lvl1pPr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u"/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31838">
                <a:spcAft>
                  <a:spcPct val="50000"/>
                </a:spcAft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31838">
                <a:spcBef>
                  <a:spcPct val="20000"/>
                </a:spcBef>
                <a:buClr>
                  <a:schemeClr val="hlink"/>
                </a:buClr>
                <a:buChar char="-"/>
                <a:defRPr kumimoji="1" sz="1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31838">
                <a:spcBef>
                  <a:spcPct val="50000"/>
                </a:spcBef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de-DE" altLang="de-DE" sz="1000">
                  <a:solidFill>
                    <a:srgbClr val="000000"/>
                  </a:solidFill>
                </a:rPr>
                <a:t>6</a:t>
              </a:r>
            </a:p>
          </p:txBody>
        </p:sp>
      </p:grpSp>
      <p:grpSp>
        <p:nvGrpSpPr>
          <p:cNvPr id="167" name="Group 117">
            <a:extLst>
              <a:ext uri="{FF2B5EF4-FFF2-40B4-BE49-F238E27FC236}">
                <a16:creationId xmlns:a16="http://schemas.microsoft.com/office/drawing/2014/main" id="{E882A804-E110-77AF-DE15-031394B500A9}"/>
              </a:ext>
            </a:extLst>
          </p:cNvPr>
          <p:cNvGrpSpPr>
            <a:grpSpLocks/>
          </p:cNvGrpSpPr>
          <p:nvPr/>
        </p:nvGrpSpPr>
        <p:grpSpPr bwMode="auto">
          <a:xfrm>
            <a:off x="1348183" y="5597051"/>
            <a:ext cx="2006523" cy="385762"/>
            <a:chOff x="909" y="3960"/>
            <a:chExt cx="1004" cy="243"/>
          </a:xfrm>
        </p:grpSpPr>
        <p:sp>
          <p:nvSpPr>
            <p:cNvPr id="168" name="Line 118">
              <a:extLst>
                <a:ext uri="{FF2B5EF4-FFF2-40B4-BE49-F238E27FC236}">
                  <a16:creationId xmlns:a16="http://schemas.microsoft.com/office/drawing/2014/main" id="{AA0D675A-4AF7-B2D1-B68E-7891C6EBF4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89" y="4006"/>
              <a:ext cx="8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3200" rIns="90000" bIns="43200" anchor="ctr"/>
            <a:lstStyle/>
            <a:p>
              <a:endParaRPr lang="de-DE">
                <a:solidFill>
                  <a:srgbClr val="000000"/>
                </a:solidFill>
              </a:endParaRPr>
            </a:p>
          </p:txBody>
        </p:sp>
        <p:sp>
          <p:nvSpPr>
            <p:cNvPr id="169" name="Line 119">
              <a:extLst>
                <a:ext uri="{FF2B5EF4-FFF2-40B4-BE49-F238E27FC236}">
                  <a16:creationId xmlns:a16="http://schemas.microsoft.com/office/drawing/2014/main" id="{9031A101-2200-A509-B13E-9B0F916E29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89" y="3960"/>
              <a:ext cx="0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3200" rIns="90000" bIns="43200" anchor="ctr"/>
            <a:lstStyle/>
            <a:p>
              <a:endParaRPr lang="de-DE">
                <a:solidFill>
                  <a:srgbClr val="000000"/>
                </a:solidFill>
              </a:endParaRPr>
            </a:p>
          </p:txBody>
        </p:sp>
        <p:sp>
          <p:nvSpPr>
            <p:cNvPr id="170" name="Line 120">
              <a:extLst>
                <a:ext uri="{FF2B5EF4-FFF2-40B4-BE49-F238E27FC236}">
                  <a16:creationId xmlns:a16="http://schemas.microsoft.com/office/drawing/2014/main" id="{D385029E-B667-94A4-E169-9B4C2C2326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79" y="3960"/>
              <a:ext cx="0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3200" rIns="90000" bIns="43200" anchor="ctr"/>
            <a:lstStyle/>
            <a:p>
              <a:endParaRPr lang="de-DE">
                <a:solidFill>
                  <a:srgbClr val="000000"/>
                </a:solidFill>
              </a:endParaRPr>
            </a:p>
          </p:txBody>
        </p:sp>
        <p:sp>
          <p:nvSpPr>
            <p:cNvPr id="171" name="Line 121">
              <a:extLst>
                <a:ext uri="{FF2B5EF4-FFF2-40B4-BE49-F238E27FC236}">
                  <a16:creationId xmlns:a16="http://schemas.microsoft.com/office/drawing/2014/main" id="{F90DC908-75C4-2E89-2B18-3D1475DBFA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69" y="3960"/>
              <a:ext cx="0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3200" rIns="90000" bIns="43200" anchor="ctr"/>
            <a:lstStyle/>
            <a:p>
              <a:endParaRPr lang="de-DE">
                <a:solidFill>
                  <a:srgbClr val="000000"/>
                </a:solidFill>
              </a:endParaRPr>
            </a:p>
          </p:txBody>
        </p:sp>
        <p:sp>
          <p:nvSpPr>
            <p:cNvPr id="172" name="Line 122">
              <a:extLst>
                <a:ext uri="{FF2B5EF4-FFF2-40B4-BE49-F238E27FC236}">
                  <a16:creationId xmlns:a16="http://schemas.microsoft.com/office/drawing/2014/main" id="{3EEFA5A2-12ED-6231-C586-BC8C719B98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59" y="3960"/>
              <a:ext cx="0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3200" rIns="90000" bIns="43200" anchor="ctr"/>
            <a:lstStyle/>
            <a:p>
              <a:endParaRPr lang="de-DE">
                <a:solidFill>
                  <a:srgbClr val="000000"/>
                </a:solidFill>
              </a:endParaRPr>
            </a:p>
          </p:txBody>
        </p:sp>
        <p:sp>
          <p:nvSpPr>
            <p:cNvPr id="173" name="Line 123">
              <a:extLst>
                <a:ext uri="{FF2B5EF4-FFF2-40B4-BE49-F238E27FC236}">
                  <a16:creationId xmlns:a16="http://schemas.microsoft.com/office/drawing/2014/main" id="{623B8FD8-0A32-F867-84D2-1528046AD1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49" y="3960"/>
              <a:ext cx="0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3200" rIns="90000" bIns="43200" anchor="ctr"/>
            <a:lstStyle/>
            <a:p>
              <a:endParaRPr lang="de-DE">
                <a:solidFill>
                  <a:srgbClr val="000000"/>
                </a:solidFill>
              </a:endParaRPr>
            </a:p>
          </p:txBody>
        </p:sp>
        <p:sp>
          <p:nvSpPr>
            <p:cNvPr id="174" name="Line 124">
              <a:extLst>
                <a:ext uri="{FF2B5EF4-FFF2-40B4-BE49-F238E27FC236}">
                  <a16:creationId xmlns:a16="http://schemas.microsoft.com/office/drawing/2014/main" id="{74BBBA18-BD8C-C9EA-555F-23DE9DD3AE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39" y="3960"/>
              <a:ext cx="0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3200" rIns="90000" bIns="43200" anchor="ctr"/>
            <a:lstStyle/>
            <a:p>
              <a:endParaRPr lang="de-DE">
                <a:solidFill>
                  <a:srgbClr val="000000"/>
                </a:solidFill>
              </a:endParaRPr>
            </a:p>
          </p:txBody>
        </p:sp>
        <p:sp>
          <p:nvSpPr>
            <p:cNvPr id="175" name="Line 125">
              <a:extLst>
                <a:ext uri="{FF2B5EF4-FFF2-40B4-BE49-F238E27FC236}">
                  <a16:creationId xmlns:a16="http://schemas.microsoft.com/office/drawing/2014/main" id="{7283DD0D-33EE-B6E8-420B-56C204B36E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29" y="3960"/>
              <a:ext cx="0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3200" rIns="90000" bIns="43200" anchor="ctr"/>
            <a:lstStyle/>
            <a:p>
              <a:endParaRPr lang="de-DE">
                <a:solidFill>
                  <a:srgbClr val="000000"/>
                </a:solidFill>
              </a:endParaRPr>
            </a:p>
          </p:txBody>
        </p:sp>
        <p:sp>
          <p:nvSpPr>
            <p:cNvPr id="176" name="Line 126">
              <a:extLst>
                <a:ext uri="{FF2B5EF4-FFF2-40B4-BE49-F238E27FC236}">
                  <a16:creationId xmlns:a16="http://schemas.microsoft.com/office/drawing/2014/main" id="{7CE682CC-48B3-C547-D996-7A1EA271AF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19" y="3960"/>
              <a:ext cx="0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3200" rIns="90000" bIns="43200" anchor="ctr"/>
            <a:lstStyle/>
            <a:p>
              <a:endParaRPr lang="de-DE">
                <a:solidFill>
                  <a:srgbClr val="000000"/>
                </a:solidFill>
              </a:endParaRPr>
            </a:p>
          </p:txBody>
        </p:sp>
        <p:sp>
          <p:nvSpPr>
            <p:cNvPr id="177" name="Line 127">
              <a:extLst>
                <a:ext uri="{FF2B5EF4-FFF2-40B4-BE49-F238E27FC236}">
                  <a16:creationId xmlns:a16="http://schemas.microsoft.com/office/drawing/2014/main" id="{A249978A-5283-A9BE-04E1-7D609AF987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11" y="3962"/>
              <a:ext cx="0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3200" rIns="90000" bIns="43200" anchor="ctr"/>
            <a:lstStyle/>
            <a:p>
              <a:endParaRPr lang="de-DE">
                <a:solidFill>
                  <a:srgbClr val="000000"/>
                </a:solidFill>
              </a:endParaRPr>
            </a:p>
          </p:txBody>
        </p:sp>
        <p:sp>
          <p:nvSpPr>
            <p:cNvPr id="178" name="Line 128">
              <a:extLst>
                <a:ext uri="{FF2B5EF4-FFF2-40B4-BE49-F238E27FC236}">
                  <a16:creationId xmlns:a16="http://schemas.microsoft.com/office/drawing/2014/main" id="{BD91BDAD-C86C-B7E7-5368-2305102261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99" y="3960"/>
              <a:ext cx="0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3200" rIns="90000" bIns="43200" anchor="ctr"/>
            <a:lstStyle/>
            <a:p>
              <a:endParaRPr lang="de-DE">
                <a:solidFill>
                  <a:srgbClr val="000000"/>
                </a:solidFill>
              </a:endParaRPr>
            </a:p>
          </p:txBody>
        </p:sp>
        <p:sp>
          <p:nvSpPr>
            <p:cNvPr id="179" name="Text Box 129">
              <a:extLst>
                <a:ext uri="{FF2B5EF4-FFF2-40B4-BE49-F238E27FC236}">
                  <a16:creationId xmlns:a16="http://schemas.microsoft.com/office/drawing/2014/main" id="{9C655C53-BB75-8B1E-D76B-66B8D74427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09" y="4051"/>
              <a:ext cx="172" cy="1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3200" rIns="90000" bIns="43200">
              <a:spAutoFit/>
            </a:bodyPr>
            <a:lstStyle>
              <a:lvl1pPr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u"/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31838">
                <a:spcAft>
                  <a:spcPct val="50000"/>
                </a:spcAft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31838">
                <a:spcBef>
                  <a:spcPct val="20000"/>
                </a:spcBef>
                <a:buClr>
                  <a:schemeClr val="hlink"/>
                </a:buClr>
                <a:buChar char="-"/>
                <a:defRPr kumimoji="1" sz="1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31838">
                <a:spcBef>
                  <a:spcPct val="50000"/>
                </a:spcBef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de-DE" altLang="de-DE" sz="1000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180" name="Text Box 130">
              <a:extLst>
                <a:ext uri="{FF2B5EF4-FFF2-40B4-BE49-F238E27FC236}">
                  <a16:creationId xmlns:a16="http://schemas.microsoft.com/office/drawing/2014/main" id="{36280935-6115-F47F-642C-D709286E30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88" y="4051"/>
              <a:ext cx="172" cy="1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3200" rIns="90000" bIns="43200">
              <a:spAutoFit/>
            </a:bodyPr>
            <a:lstStyle>
              <a:lvl1pPr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u"/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31838">
                <a:spcAft>
                  <a:spcPct val="50000"/>
                </a:spcAft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31838">
                <a:spcBef>
                  <a:spcPct val="20000"/>
                </a:spcBef>
                <a:buClr>
                  <a:schemeClr val="hlink"/>
                </a:buClr>
                <a:buChar char="-"/>
                <a:defRPr kumimoji="1" sz="1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31838">
                <a:spcBef>
                  <a:spcPct val="50000"/>
                </a:spcBef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de-DE" altLang="de-DE" sz="1000">
                  <a:solidFill>
                    <a:srgbClr val="000000"/>
                  </a:solidFill>
                </a:rPr>
                <a:t>2</a:t>
              </a:r>
            </a:p>
          </p:txBody>
        </p:sp>
        <p:sp>
          <p:nvSpPr>
            <p:cNvPr id="181" name="Text Box 131">
              <a:extLst>
                <a:ext uri="{FF2B5EF4-FFF2-40B4-BE49-F238E27FC236}">
                  <a16:creationId xmlns:a16="http://schemas.microsoft.com/office/drawing/2014/main" id="{DA8C34CC-A134-7F90-CC84-9AD5FF2172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79" y="4051"/>
              <a:ext cx="172" cy="1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3200" rIns="90000" bIns="43200">
              <a:spAutoFit/>
            </a:bodyPr>
            <a:lstStyle>
              <a:lvl1pPr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u"/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31838">
                <a:spcAft>
                  <a:spcPct val="50000"/>
                </a:spcAft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31838">
                <a:spcBef>
                  <a:spcPct val="20000"/>
                </a:spcBef>
                <a:buClr>
                  <a:schemeClr val="hlink"/>
                </a:buClr>
                <a:buChar char="-"/>
                <a:defRPr kumimoji="1" sz="1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31838">
                <a:spcBef>
                  <a:spcPct val="50000"/>
                </a:spcBef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de-DE" altLang="de-DE" sz="1000">
                  <a:solidFill>
                    <a:srgbClr val="000000"/>
                  </a:solidFill>
                </a:rPr>
                <a:t>3</a:t>
              </a:r>
            </a:p>
          </p:txBody>
        </p:sp>
        <p:sp>
          <p:nvSpPr>
            <p:cNvPr id="182" name="Text Box 132">
              <a:extLst>
                <a:ext uri="{FF2B5EF4-FFF2-40B4-BE49-F238E27FC236}">
                  <a16:creationId xmlns:a16="http://schemas.microsoft.com/office/drawing/2014/main" id="{DDF24694-6F28-378F-C333-117D164FC3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70" y="4051"/>
              <a:ext cx="172" cy="1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3200" rIns="90000" bIns="43200">
              <a:spAutoFit/>
            </a:bodyPr>
            <a:lstStyle>
              <a:lvl1pPr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u"/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31838">
                <a:spcAft>
                  <a:spcPct val="50000"/>
                </a:spcAft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31838">
                <a:spcBef>
                  <a:spcPct val="20000"/>
                </a:spcBef>
                <a:buClr>
                  <a:schemeClr val="hlink"/>
                </a:buClr>
                <a:buChar char="-"/>
                <a:defRPr kumimoji="1" sz="1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31838">
                <a:spcBef>
                  <a:spcPct val="50000"/>
                </a:spcBef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de-DE" altLang="de-DE" sz="1000">
                  <a:solidFill>
                    <a:srgbClr val="000000"/>
                  </a:solidFill>
                </a:rPr>
                <a:t>4</a:t>
              </a:r>
            </a:p>
          </p:txBody>
        </p:sp>
        <p:sp>
          <p:nvSpPr>
            <p:cNvPr id="183" name="Text Box 133">
              <a:extLst>
                <a:ext uri="{FF2B5EF4-FFF2-40B4-BE49-F238E27FC236}">
                  <a16:creationId xmlns:a16="http://schemas.microsoft.com/office/drawing/2014/main" id="{03E0EDD7-E533-F02C-1177-CEE16E7F33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61" y="4051"/>
              <a:ext cx="172" cy="1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3200" rIns="90000" bIns="43200">
              <a:spAutoFit/>
            </a:bodyPr>
            <a:lstStyle>
              <a:lvl1pPr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u"/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31838">
                <a:spcAft>
                  <a:spcPct val="50000"/>
                </a:spcAft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31838">
                <a:spcBef>
                  <a:spcPct val="20000"/>
                </a:spcBef>
                <a:buClr>
                  <a:schemeClr val="hlink"/>
                </a:buClr>
                <a:buChar char="-"/>
                <a:defRPr kumimoji="1" sz="1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31838">
                <a:spcBef>
                  <a:spcPct val="50000"/>
                </a:spcBef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de-DE" altLang="de-DE" sz="1000">
                  <a:solidFill>
                    <a:srgbClr val="000000"/>
                  </a:solidFill>
                </a:rPr>
                <a:t>5</a:t>
              </a:r>
            </a:p>
          </p:txBody>
        </p:sp>
        <p:sp>
          <p:nvSpPr>
            <p:cNvPr id="184" name="Text Box 134">
              <a:extLst>
                <a:ext uri="{FF2B5EF4-FFF2-40B4-BE49-F238E27FC236}">
                  <a16:creationId xmlns:a16="http://schemas.microsoft.com/office/drawing/2014/main" id="{9A8B1F7E-C7FE-EA39-476D-C3AE1C5121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2" y="4051"/>
              <a:ext cx="172" cy="1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3200" rIns="90000" bIns="43200">
              <a:spAutoFit/>
            </a:bodyPr>
            <a:lstStyle>
              <a:lvl1pPr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u"/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31838">
                <a:spcAft>
                  <a:spcPct val="50000"/>
                </a:spcAft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31838">
                <a:spcBef>
                  <a:spcPct val="20000"/>
                </a:spcBef>
                <a:buClr>
                  <a:schemeClr val="hlink"/>
                </a:buClr>
                <a:buChar char="-"/>
                <a:defRPr kumimoji="1" sz="1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31838">
                <a:spcBef>
                  <a:spcPct val="50000"/>
                </a:spcBef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de-DE" altLang="de-DE" sz="1000">
                  <a:solidFill>
                    <a:srgbClr val="000000"/>
                  </a:solidFill>
                </a:rPr>
                <a:t>7</a:t>
              </a:r>
            </a:p>
          </p:txBody>
        </p:sp>
        <p:sp>
          <p:nvSpPr>
            <p:cNvPr id="185" name="Text Box 135">
              <a:extLst>
                <a:ext uri="{FF2B5EF4-FFF2-40B4-BE49-F238E27FC236}">
                  <a16:creationId xmlns:a16="http://schemas.microsoft.com/office/drawing/2014/main" id="{9D75151F-9244-75FA-9E74-09A31B0828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4" y="4051"/>
              <a:ext cx="172" cy="1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3200" rIns="90000" bIns="43200">
              <a:spAutoFit/>
            </a:bodyPr>
            <a:lstStyle>
              <a:lvl1pPr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u"/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31838">
                <a:spcAft>
                  <a:spcPct val="50000"/>
                </a:spcAft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31838">
                <a:spcBef>
                  <a:spcPct val="20000"/>
                </a:spcBef>
                <a:buClr>
                  <a:schemeClr val="hlink"/>
                </a:buClr>
                <a:buChar char="-"/>
                <a:defRPr kumimoji="1" sz="1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31838">
                <a:spcBef>
                  <a:spcPct val="50000"/>
                </a:spcBef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de-DE" altLang="de-DE" sz="1000">
                  <a:solidFill>
                    <a:srgbClr val="000000"/>
                  </a:solidFill>
                </a:rPr>
                <a:t>8</a:t>
              </a:r>
            </a:p>
          </p:txBody>
        </p:sp>
        <p:sp>
          <p:nvSpPr>
            <p:cNvPr id="186" name="Text Box 136">
              <a:extLst>
                <a:ext uri="{FF2B5EF4-FFF2-40B4-BE49-F238E27FC236}">
                  <a16:creationId xmlns:a16="http://schemas.microsoft.com/office/drawing/2014/main" id="{7A494693-3216-30F8-9DE2-85FF23CE04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25" y="4051"/>
              <a:ext cx="172" cy="1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3200" rIns="90000" bIns="43200">
              <a:spAutoFit/>
            </a:bodyPr>
            <a:lstStyle>
              <a:lvl1pPr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u"/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31838">
                <a:spcAft>
                  <a:spcPct val="50000"/>
                </a:spcAft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31838">
                <a:spcBef>
                  <a:spcPct val="20000"/>
                </a:spcBef>
                <a:buClr>
                  <a:schemeClr val="hlink"/>
                </a:buClr>
                <a:buChar char="-"/>
                <a:defRPr kumimoji="1" sz="1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31838">
                <a:spcBef>
                  <a:spcPct val="50000"/>
                </a:spcBef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de-DE" altLang="de-DE" sz="1000">
                  <a:solidFill>
                    <a:srgbClr val="000000"/>
                  </a:solidFill>
                </a:rPr>
                <a:t>9</a:t>
              </a:r>
            </a:p>
          </p:txBody>
        </p:sp>
        <p:sp>
          <p:nvSpPr>
            <p:cNvPr id="187" name="Text Box 137">
              <a:extLst>
                <a:ext uri="{FF2B5EF4-FFF2-40B4-BE49-F238E27FC236}">
                  <a16:creationId xmlns:a16="http://schemas.microsoft.com/office/drawing/2014/main" id="{9F08FA4F-45D1-4E57-89DD-43C7BB1299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93" y="4051"/>
              <a:ext cx="220" cy="1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3200" rIns="90000" bIns="43200">
              <a:spAutoFit/>
            </a:bodyPr>
            <a:lstStyle>
              <a:lvl1pPr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u"/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31838">
                <a:spcAft>
                  <a:spcPct val="50000"/>
                </a:spcAft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31838">
                <a:spcBef>
                  <a:spcPct val="20000"/>
                </a:spcBef>
                <a:buClr>
                  <a:schemeClr val="hlink"/>
                </a:buClr>
                <a:buChar char="-"/>
                <a:defRPr kumimoji="1" sz="1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31838">
                <a:spcBef>
                  <a:spcPct val="50000"/>
                </a:spcBef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de-DE" altLang="de-DE" sz="1000">
                  <a:solidFill>
                    <a:srgbClr val="000000"/>
                  </a:solidFill>
                </a:rPr>
                <a:t>10</a:t>
              </a:r>
            </a:p>
          </p:txBody>
        </p:sp>
        <p:sp>
          <p:nvSpPr>
            <p:cNvPr id="188" name="Text Box 138">
              <a:extLst>
                <a:ext uri="{FF2B5EF4-FFF2-40B4-BE49-F238E27FC236}">
                  <a16:creationId xmlns:a16="http://schemas.microsoft.com/office/drawing/2014/main" id="{78074F20-0370-8FA4-03C4-CAC94B7AF57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51" y="4051"/>
              <a:ext cx="172" cy="1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3200" rIns="90000" bIns="43200">
              <a:spAutoFit/>
            </a:bodyPr>
            <a:lstStyle>
              <a:lvl1pPr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31838">
                <a:spcAft>
                  <a:spcPct val="50000"/>
                </a:spcAft>
                <a:buClr>
                  <a:srgbClr val="00279F"/>
                </a:buClr>
                <a:buSzPct val="80000"/>
                <a:buFont typeface="Wingdings" pitchFamily="2" charset="2"/>
                <a:buChar char="u"/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31838">
                <a:spcAft>
                  <a:spcPct val="50000"/>
                </a:spcAft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31838">
                <a:spcBef>
                  <a:spcPct val="20000"/>
                </a:spcBef>
                <a:buClr>
                  <a:schemeClr val="hlink"/>
                </a:buClr>
                <a:buChar char="-"/>
                <a:defRPr kumimoji="1" sz="1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31838">
                <a:spcBef>
                  <a:spcPct val="50000"/>
                </a:spcBef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31838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Char char="•"/>
                <a:defRPr kumimoji="1" sz="12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de-DE" altLang="de-DE" sz="1000">
                  <a:solidFill>
                    <a:srgbClr val="000000"/>
                  </a:solidFill>
                </a:rPr>
                <a:t>6</a:t>
              </a:r>
            </a:p>
          </p:txBody>
        </p:sp>
      </p:grpSp>
      <p:sp>
        <p:nvSpPr>
          <p:cNvPr id="6" name="Oval 141">
            <a:extLst>
              <a:ext uri="{FF2B5EF4-FFF2-40B4-BE49-F238E27FC236}">
                <a16:creationId xmlns:a16="http://schemas.microsoft.com/office/drawing/2014/main" id="{C0C4F0C0-8AAD-1C48-3355-F7FA6FCFA8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9897" y="5603403"/>
            <a:ext cx="144000" cy="144462"/>
          </a:xfrm>
          <a:prstGeom prst="ellipse">
            <a:avLst/>
          </a:prstGeom>
          <a:solidFill>
            <a:srgbClr val="003399"/>
          </a:solidFill>
          <a:ln w="9525" algn="ctr">
            <a:solidFill>
              <a:schemeClr val="hlink"/>
            </a:solidFill>
            <a:round/>
            <a:headEnd/>
            <a:tailEnd/>
          </a:ln>
        </p:spPr>
        <p:txBody>
          <a:bodyPr wrap="none" lIns="90000" tIns="43200" rIns="90000" bIns="43200" anchor="ctr"/>
          <a:lstStyle>
            <a:lvl1pPr defTabSz="731838">
              <a:spcAft>
                <a:spcPct val="50000"/>
              </a:spcAft>
              <a:buClr>
                <a:srgbClr val="00279F"/>
              </a:buClr>
              <a:buSzPct val="8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31838">
              <a:spcAft>
                <a:spcPct val="50000"/>
              </a:spcAft>
              <a:buClr>
                <a:srgbClr val="00279F"/>
              </a:buClr>
              <a:buSzPct val="80000"/>
              <a:buFont typeface="Wingdings" pitchFamily="2" charset="2"/>
              <a:buChar char="u"/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31838">
              <a:spcAft>
                <a:spcPct val="50000"/>
              </a:spcAft>
              <a:buClr>
                <a:schemeClr val="hlink"/>
              </a:buClr>
              <a:buSzPct val="80000"/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31838">
              <a:spcBef>
                <a:spcPct val="20000"/>
              </a:spcBef>
              <a:buClr>
                <a:schemeClr val="hlink"/>
              </a:buClr>
              <a:buChar char="-"/>
              <a:defRPr kumimoji="1" sz="1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31838">
              <a:spcBef>
                <a:spcPct val="50000"/>
              </a:spcBef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31838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31838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31838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31838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Aft>
                <a:spcPct val="0"/>
              </a:spcAft>
              <a:buClrTx/>
              <a:buSzTx/>
              <a:buFontTx/>
              <a:buNone/>
            </a:pPr>
            <a:endParaRPr lang="de-DE" altLang="de-DE" sz="1000">
              <a:solidFill>
                <a:prstClr val="white"/>
              </a:solidFill>
            </a:endParaRPr>
          </a:p>
        </p:txBody>
      </p:sp>
      <p:sp>
        <p:nvSpPr>
          <p:cNvPr id="8" name="Oval 141">
            <a:extLst>
              <a:ext uri="{FF2B5EF4-FFF2-40B4-BE49-F238E27FC236}">
                <a16:creationId xmlns:a16="http://schemas.microsoft.com/office/drawing/2014/main" id="{79185DC2-7B90-9CF5-AC60-386BFDBF26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41672" y="5603403"/>
            <a:ext cx="144000" cy="144462"/>
          </a:xfrm>
          <a:prstGeom prst="ellipse">
            <a:avLst/>
          </a:prstGeom>
          <a:solidFill>
            <a:srgbClr val="003399"/>
          </a:solidFill>
          <a:ln w="9525" algn="ctr">
            <a:solidFill>
              <a:schemeClr val="hlink"/>
            </a:solidFill>
            <a:round/>
            <a:headEnd/>
            <a:tailEnd/>
          </a:ln>
        </p:spPr>
        <p:txBody>
          <a:bodyPr wrap="none" lIns="90000" tIns="43200" rIns="90000" bIns="43200" anchor="ctr"/>
          <a:lstStyle>
            <a:lvl1pPr defTabSz="731838">
              <a:spcAft>
                <a:spcPct val="50000"/>
              </a:spcAft>
              <a:buClr>
                <a:srgbClr val="00279F"/>
              </a:buClr>
              <a:buSzPct val="8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31838">
              <a:spcAft>
                <a:spcPct val="50000"/>
              </a:spcAft>
              <a:buClr>
                <a:srgbClr val="00279F"/>
              </a:buClr>
              <a:buSzPct val="80000"/>
              <a:buFont typeface="Wingdings" pitchFamily="2" charset="2"/>
              <a:buChar char="u"/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31838">
              <a:spcAft>
                <a:spcPct val="50000"/>
              </a:spcAft>
              <a:buClr>
                <a:schemeClr val="hlink"/>
              </a:buClr>
              <a:buSzPct val="80000"/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31838">
              <a:spcBef>
                <a:spcPct val="20000"/>
              </a:spcBef>
              <a:buClr>
                <a:schemeClr val="hlink"/>
              </a:buClr>
              <a:buChar char="-"/>
              <a:defRPr kumimoji="1" sz="1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31838">
              <a:spcBef>
                <a:spcPct val="50000"/>
              </a:spcBef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31838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31838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31838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31838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Aft>
                <a:spcPct val="0"/>
              </a:spcAft>
              <a:buClrTx/>
              <a:buSzTx/>
              <a:buFontTx/>
              <a:buNone/>
            </a:pPr>
            <a:endParaRPr lang="de-DE" altLang="de-DE" sz="1000">
              <a:solidFill>
                <a:prstClr val="white"/>
              </a:solidFill>
            </a:endParaRPr>
          </a:p>
        </p:txBody>
      </p:sp>
      <p:sp>
        <p:nvSpPr>
          <p:cNvPr id="9" name="Oval 141">
            <a:extLst>
              <a:ext uri="{FF2B5EF4-FFF2-40B4-BE49-F238E27FC236}">
                <a16:creationId xmlns:a16="http://schemas.microsoft.com/office/drawing/2014/main" id="{21AD189F-CAA5-C9AC-624A-60BC91B3EF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41163" y="5612928"/>
            <a:ext cx="144000" cy="144462"/>
          </a:xfrm>
          <a:prstGeom prst="ellipse">
            <a:avLst/>
          </a:prstGeom>
          <a:solidFill>
            <a:srgbClr val="00B050"/>
          </a:solidFill>
          <a:ln w="9525" algn="ctr">
            <a:solidFill>
              <a:srgbClr val="00B050"/>
            </a:solidFill>
            <a:round/>
            <a:headEnd/>
            <a:tailEnd/>
          </a:ln>
        </p:spPr>
        <p:txBody>
          <a:bodyPr wrap="none" lIns="90000" tIns="43200" rIns="90000" bIns="43200" anchor="ctr"/>
          <a:lstStyle>
            <a:lvl1pPr defTabSz="731838">
              <a:spcAft>
                <a:spcPct val="50000"/>
              </a:spcAft>
              <a:buClr>
                <a:srgbClr val="00279F"/>
              </a:buClr>
              <a:buSzPct val="8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31838">
              <a:spcAft>
                <a:spcPct val="50000"/>
              </a:spcAft>
              <a:buClr>
                <a:srgbClr val="00279F"/>
              </a:buClr>
              <a:buSzPct val="80000"/>
              <a:buFont typeface="Wingdings" pitchFamily="2" charset="2"/>
              <a:buChar char="u"/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31838">
              <a:spcAft>
                <a:spcPct val="50000"/>
              </a:spcAft>
              <a:buClr>
                <a:schemeClr val="hlink"/>
              </a:buClr>
              <a:buSzPct val="80000"/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31838">
              <a:spcBef>
                <a:spcPct val="20000"/>
              </a:spcBef>
              <a:buClr>
                <a:schemeClr val="hlink"/>
              </a:buClr>
              <a:buChar char="-"/>
              <a:defRPr kumimoji="1" sz="1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31838">
              <a:spcBef>
                <a:spcPct val="50000"/>
              </a:spcBef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31838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31838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31838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31838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Aft>
                <a:spcPct val="0"/>
              </a:spcAft>
              <a:buClrTx/>
              <a:buSzTx/>
              <a:buFontTx/>
              <a:buNone/>
            </a:pPr>
            <a:endParaRPr lang="de-DE" altLang="de-DE" sz="1000">
              <a:solidFill>
                <a:prstClr val="white"/>
              </a:solidFill>
            </a:endParaRPr>
          </a:p>
        </p:txBody>
      </p:sp>
      <p:sp>
        <p:nvSpPr>
          <p:cNvPr id="10" name="Oval 141">
            <a:extLst>
              <a:ext uri="{FF2B5EF4-FFF2-40B4-BE49-F238E27FC236}">
                <a16:creationId xmlns:a16="http://schemas.microsoft.com/office/drawing/2014/main" id="{29CEE8EC-8632-0DE5-C457-2AAD3D3439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0788" y="5603403"/>
            <a:ext cx="144000" cy="144462"/>
          </a:xfrm>
          <a:prstGeom prst="ellipse">
            <a:avLst/>
          </a:prstGeom>
          <a:solidFill>
            <a:srgbClr val="00B050"/>
          </a:solidFill>
          <a:ln w="9525" algn="ctr">
            <a:solidFill>
              <a:srgbClr val="00B050"/>
            </a:solidFill>
            <a:round/>
            <a:headEnd/>
            <a:tailEnd/>
          </a:ln>
        </p:spPr>
        <p:txBody>
          <a:bodyPr wrap="none" lIns="90000" tIns="43200" rIns="90000" bIns="43200" anchor="ctr"/>
          <a:lstStyle>
            <a:lvl1pPr defTabSz="731838">
              <a:spcAft>
                <a:spcPct val="50000"/>
              </a:spcAft>
              <a:buClr>
                <a:srgbClr val="00279F"/>
              </a:buClr>
              <a:buSzPct val="8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31838">
              <a:spcAft>
                <a:spcPct val="50000"/>
              </a:spcAft>
              <a:buClr>
                <a:srgbClr val="00279F"/>
              </a:buClr>
              <a:buSzPct val="80000"/>
              <a:buFont typeface="Wingdings" pitchFamily="2" charset="2"/>
              <a:buChar char="u"/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31838">
              <a:spcAft>
                <a:spcPct val="50000"/>
              </a:spcAft>
              <a:buClr>
                <a:schemeClr val="hlink"/>
              </a:buClr>
              <a:buSzPct val="80000"/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31838">
              <a:spcBef>
                <a:spcPct val="20000"/>
              </a:spcBef>
              <a:buClr>
                <a:schemeClr val="hlink"/>
              </a:buClr>
              <a:buChar char="-"/>
              <a:defRPr kumimoji="1" sz="1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31838">
              <a:spcBef>
                <a:spcPct val="50000"/>
              </a:spcBef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31838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31838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31838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31838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Aft>
                <a:spcPct val="0"/>
              </a:spcAft>
              <a:buClrTx/>
              <a:buSzTx/>
              <a:buFontTx/>
              <a:buNone/>
            </a:pPr>
            <a:endParaRPr lang="de-DE" altLang="de-DE" sz="1000">
              <a:solidFill>
                <a:prstClr val="white"/>
              </a:solidFill>
            </a:endParaRPr>
          </a:p>
        </p:txBody>
      </p:sp>
      <p:sp>
        <p:nvSpPr>
          <p:cNvPr id="11" name="Oval 141">
            <a:extLst>
              <a:ext uri="{FF2B5EF4-FFF2-40B4-BE49-F238E27FC236}">
                <a16:creationId xmlns:a16="http://schemas.microsoft.com/office/drawing/2014/main" id="{AD271883-769C-C64B-06EA-C5265EDFED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27822" y="5603403"/>
            <a:ext cx="144000" cy="144462"/>
          </a:xfrm>
          <a:prstGeom prst="ellipse">
            <a:avLst/>
          </a:prstGeom>
          <a:solidFill>
            <a:srgbClr val="003399"/>
          </a:solidFill>
          <a:ln w="9525" algn="ctr">
            <a:solidFill>
              <a:schemeClr val="hlink"/>
            </a:solidFill>
            <a:round/>
            <a:headEnd/>
            <a:tailEnd/>
          </a:ln>
        </p:spPr>
        <p:txBody>
          <a:bodyPr wrap="none" lIns="90000" tIns="43200" rIns="90000" bIns="43200" anchor="ctr"/>
          <a:lstStyle>
            <a:lvl1pPr defTabSz="731838">
              <a:spcAft>
                <a:spcPct val="50000"/>
              </a:spcAft>
              <a:buClr>
                <a:srgbClr val="00279F"/>
              </a:buClr>
              <a:buSzPct val="8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31838">
              <a:spcAft>
                <a:spcPct val="50000"/>
              </a:spcAft>
              <a:buClr>
                <a:srgbClr val="00279F"/>
              </a:buClr>
              <a:buSzPct val="80000"/>
              <a:buFont typeface="Wingdings" pitchFamily="2" charset="2"/>
              <a:buChar char="u"/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31838">
              <a:spcAft>
                <a:spcPct val="50000"/>
              </a:spcAft>
              <a:buClr>
                <a:schemeClr val="hlink"/>
              </a:buClr>
              <a:buSzPct val="80000"/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31838">
              <a:spcBef>
                <a:spcPct val="20000"/>
              </a:spcBef>
              <a:buClr>
                <a:schemeClr val="hlink"/>
              </a:buClr>
              <a:buChar char="-"/>
              <a:defRPr kumimoji="1" sz="1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31838">
              <a:spcBef>
                <a:spcPct val="50000"/>
              </a:spcBef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31838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31838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31838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31838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Aft>
                <a:spcPct val="0"/>
              </a:spcAft>
              <a:buClrTx/>
              <a:buSzTx/>
              <a:buFontTx/>
              <a:buNone/>
            </a:pPr>
            <a:endParaRPr lang="de-DE" altLang="de-DE" sz="1000">
              <a:solidFill>
                <a:prstClr val="white"/>
              </a:solidFill>
            </a:endParaRPr>
          </a:p>
        </p:txBody>
      </p:sp>
      <p:sp>
        <p:nvSpPr>
          <p:cNvPr id="12" name="Oval 141">
            <a:extLst>
              <a:ext uri="{FF2B5EF4-FFF2-40B4-BE49-F238E27FC236}">
                <a16:creationId xmlns:a16="http://schemas.microsoft.com/office/drawing/2014/main" id="{460D31A3-D8FE-5DAF-7180-6BA45AE083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03438" y="5603403"/>
            <a:ext cx="144000" cy="144462"/>
          </a:xfrm>
          <a:prstGeom prst="ellipse">
            <a:avLst/>
          </a:prstGeom>
          <a:solidFill>
            <a:srgbClr val="00B050"/>
          </a:solidFill>
          <a:ln w="9525" algn="ctr">
            <a:solidFill>
              <a:srgbClr val="00B050"/>
            </a:solidFill>
            <a:round/>
            <a:headEnd/>
            <a:tailEnd/>
          </a:ln>
        </p:spPr>
        <p:txBody>
          <a:bodyPr wrap="none" lIns="90000" tIns="43200" rIns="90000" bIns="43200" anchor="ctr"/>
          <a:lstStyle>
            <a:lvl1pPr defTabSz="731838">
              <a:spcAft>
                <a:spcPct val="50000"/>
              </a:spcAft>
              <a:buClr>
                <a:srgbClr val="00279F"/>
              </a:buClr>
              <a:buSzPct val="8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31838">
              <a:spcAft>
                <a:spcPct val="50000"/>
              </a:spcAft>
              <a:buClr>
                <a:srgbClr val="00279F"/>
              </a:buClr>
              <a:buSzPct val="80000"/>
              <a:buFont typeface="Wingdings" pitchFamily="2" charset="2"/>
              <a:buChar char="u"/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31838">
              <a:spcAft>
                <a:spcPct val="50000"/>
              </a:spcAft>
              <a:buClr>
                <a:schemeClr val="hlink"/>
              </a:buClr>
              <a:buSzPct val="80000"/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31838">
              <a:spcBef>
                <a:spcPct val="20000"/>
              </a:spcBef>
              <a:buClr>
                <a:schemeClr val="hlink"/>
              </a:buClr>
              <a:buChar char="-"/>
              <a:defRPr kumimoji="1" sz="1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31838">
              <a:spcBef>
                <a:spcPct val="50000"/>
              </a:spcBef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31838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31838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31838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31838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Aft>
                <a:spcPct val="0"/>
              </a:spcAft>
              <a:buClrTx/>
              <a:buSzTx/>
              <a:buFontTx/>
              <a:buNone/>
            </a:pPr>
            <a:endParaRPr lang="de-DE" altLang="de-DE" sz="1000">
              <a:solidFill>
                <a:prstClr val="white"/>
              </a:solidFill>
            </a:endParaRPr>
          </a:p>
        </p:txBody>
      </p:sp>
      <p:sp>
        <p:nvSpPr>
          <p:cNvPr id="13" name="Oval 141">
            <a:extLst>
              <a:ext uri="{FF2B5EF4-FFF2-40B4-BE49-F238E27FC236}">
                <a16:creationId xmlns:a16="http://schemas.microsoft.com/office/drawing/2014/main" id="{49EF3153-A663-8F45-0356-D9ADCCC5F5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51872" y="5612928"/>
            <a:ext cx="144000" cy="144462"/>
          </a:xfrm>
          <a:prstGeom prst="ellipse">
            <a:avLst/>
          </a:prstGeom>
          <a:solidFill>
            <a:srgbClr val="003399"/>
          </a:solidFill>
          <a:ln w="9525" algn="ctr">
            <a:solidFill>
              <a:schemeClr val="hlink"/>
            </a:solidFill>
            <a:round/>
            <a:headEnd/>
            <a:tailEnd/>
          </a:ln>
        </p:spPr>
        <p:txBody>
          <a:bodyPr wrap="none" lIns="90000" tIns="43200" rIns="90000" bIns="43200" anchor="ctr"/>
          <a:lstStyle>
            <a:lvl1pPr defTabSz="731838">
              <a:spcAft>
                <a:spcPct val="50000"/>
              </a:spcAft>
              <a:buClr>
                <a:srgbClr val="00279F"/>
              </a:buClr>
              <a:buSzPct val="8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31838">
              <a:spcAft>
                <a:spcPct val="50000"/>
              </a:spcAft>
              <a:buClr>
                <a:srgbClr val="00279F"/>
              </a:buClr>
              <a:buSzPct val="80000"/>
              <a:buFont typeface="Wingdings" pitchFamily="2" charset="2"/>
              <a:buChar char="u"/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31838">
              <a:spcAft>
                <a:spcPct val="50000"/>
              </a:spcAft>
              <a:buClr>
                <a:schemeClr val="hlink"/>
              </a:buClr>
              <a:buSzPct val="80000"/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31838">
              <a:spcBef>
                <a:spcPct val="20000"/>
              </a:spcBef>
              <a:buClr>
                <a:schemeClr val="hlink"/>
              </a:buClr>
              <a:buChar char="-"/>
              <a:defRPr kumimoji="1" sz="1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31838">
              <a:spcBef>
                <a:spcPct val="50000"/>
              </a:spcBef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31838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31838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31838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31838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Aft>
                <a:spcPct val="0"/>
              </a:spcAft>
              <a:buClrTx/>
              <a:buSzTx/>
              <a:buFontTx/>
              <a:buNone/>
            </a:pPr>
            <a:endParaRPr lang="de-DE" altLang="de-DE" sz="1000">
              <a:solidFill>
                <a:prstClr val="white"/>
              </a:solidFill>
            </a:endParaRPr>
          </a:p>
        </p:txBody>
      </p:sp>
      <p:sp>
        <p:nvSpPr>
          <p:cNvPr id="14" name="Oval 141">
            <a:extLst>
              <a:ext uri="{FF2B5EF4-FFF2-40B4-BE49-F238E27FC236}">
                <a16:creationId xmlns:a16="http://schemas.microsoft.com/office/drawing/2014/main" id="{8B082E6D-DB41-FE3F-E45E-5148226A5E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65638" y="5603403"/>
            <a:ext cx="144000" cy="144462"/>
          </a:xfrm>
          <a:prstGeom prst="ellipse">
            <a:avLst/>
          </a:prstGeom>
          <a:solidFill>
            <a:srgbClr val="00B050"/>
          </a:solidFill>
          <a:ln w="9525" algn="ctr">
            <a:solidFill>
              <a:srgbClr val="00B050"/>
            </a:solidFill>
            <a:round/>
            <a:headEnd/>
            <a:tailEnd/>
          </a:ln>
        </p:spPr>
        <p:txBody>
          <a:bodyPr wrap="none" lIns="90000" tIns="43200" rIns="90000" bIns="43200" anchor="ctr"/>
          <a:lstStyle>
            <a:lvl1pPr defTabSz="731838">
              <a:spcAft>
                <a:spcPct val="50000"/>
              </a:spcAft>
              <a:buClr>
                <a:srgbClr val="00279F"/>
              </a:buClr>
              <a:buSzPct val="8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31838">
              <a:spcAft>
                <a:spcPct val="50000"/>
              </a:spcAft>
              <a:buClr>
                <a:srgbClr val="00279F"/>
              </a:buClr>
              <a:buSzPct val="80000"/>
              <a:buFont typeface="Wingdings" pitchFamily="2" charset="2"/>
              <a:buChar char="u"/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31838">
              <a:spcAft>
                <a:spcPct val="50000"/>
              </a:spcAft>
              <a:buClr>
                <a:schemeClr val="hlink"/>
              </a:buClr>
              <a:buSzPct val="80000"/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31838">
              <a:spcBef>
                <a:spcPct val="20000"/>
              </a:spcBef>
              <a:buClr>
                <a:schemeClr val="hlink"/>
              </a:buClr>
              <a:buChar char="-"/>
              <a:defRPr kumimoji="1" sz="1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31838">
              <a:spcBef>
                <a:spcPct val="50000"/>
              </a:spcBef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31838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31838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31838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31838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Aft>
                <a:spcPct val="0"/>
              </a:spcAft>
              <a:buClrTx/>
              <a:buSzTx/>
              <a:buFontTx/>
              <a:buNone/>
            </a:pPr>
            <a:endParaRPr lang="de-DE" altLang="de-DE" sz="10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57363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319D33-1CD4-C5B3-F9A4-098B05ADC1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EE876EF-95CD-29BB-E806-3471E4D0FB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/>
              <a:t>Bei der IST Analyse wurden erste Optimierungsideen aufgenommen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F30A5FE-BEE2-60E3-3CD3-E1835A967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08.07.2026</a:t>
            </a:r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639F154-2FD2-A17F-96D5-EDC24ADEE9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Zwischenbericht Digitalisierung Austrittsprozess USB</a:t>
            </a:r>
            <a:endParaRPr lang="de-CH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FB609311-7D8F-C899-3AB6-B51B2F139D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6445" y="1690673"/>
            <a:ext cx="2448000" cy="208377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2700" algn="ctr">
            <a:noFill/>
            <a:miter lim="800000"/>
            <a:headEnd/>
            <a:tailEnd/>
          </a:ln>
        </p:spPr>
        <p:txBody>
          <a:bodyPr lIns="36000" tIns="46800" rIns="0" bIns="46800" anchor="t"/>
          <a:lstStyle>
            <a:lvl1pPr marL="93663" indent="-93663">
              <a:spcAft>
                <a:spcPct val="50000"/>
              </a:spcAft>
              <a:buClr>
                <a:srgbClr val="00279F"/>
              </a:buClr>
              <a:buSzPct val="8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Aft>
                <a:spcPct val="50000"/>
              </a:spcAft>
              <a:buClr>
                <a:srgbClr val="00279F"/>
              </a:buClr>
              <a:buSzPct val="80000"/>
              <a:buFont typeface="Wingdings" pitchFamily="2" charset="2"/>
              <a:buChar char="u"/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Aft>
                <a:spcPct val="50000"/>
              </a:spcAft>
              <a:buClr>
                <a:schemeClr val="hlink"/>
              </a:buClr>
              <a:buSzPct val="80000"/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-"/>
              <a:defRPr kumimoji="1" sz="1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50000"/>
              </a:spcBef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93345" indent="-93345">
              <a:buFont typeface="Arial,Sans-Serif" pitchFamily="34" charset="0"/>
              <a:buChar char="•"/>
            </a:pPr>
            <a:r>
              <a:rPr lang="de-DE" sz="1000">
                <a:solidFill>
                  <a:srgbClr val="000000"/>
                </a:solidFill>
                <a:latin typeface="Arial"/>
                <a:cs typeface="Arial"/>
              </a:rPr>
              <a:t>Bearbeitungsstand ist jederzeit nachvollziehbar </a:t>
            </a:r>
            <a:endParaRPr lang="en-US" sz="1000">
              <a:solidFill>
                <a:srgbClr val="000000"/>
              </a:solidFill>
              <a:latin typeface="Arial"/>
              <a:cs typeface="Arial"/>
            </a:endParaRPr>
          </a:p>
          <a:p>
            <a:pPr marL="93345" indent="-93345">
              <a:spcAft>
                <a:spcPts val="400"/>
              </a:spcAft>
              <a:buFont typeface="Arial,Sans-Serif" pitchFamily="34" charset="0"/>
              <a:buChar char="•"/>
            </a:pPr>
            <a:r>
              <a:rPr lang="de-DE" sz="1000">
                <a:solidFill>
                  <a:srgbClr val="000000"/>
                </a:solidFill>
                <a:latin typeface="Arial"/>
                <a:cs typeface="Arial"/>
              </a:rPr>
              <a:t>Offene Aufgaben sind klar ersichtlich (im Team, für die zugewiesene Person)</a:t>
            </a:r>
          </a:p>
          <a:p>
            <a:pPr marL="93345" indent="-93345">
              <a:spcAft>
                <a:spcPts val="400"/>
              </a:spcAft>
              <a:buFont typeface="Arial,Sans-Serif" pitchFamily="34" charset="0"/>
              <a:buChar char="•"/>
            </a:pPr>
            <a:r>
              <a:rPr lang="de-DE" sz="1000">
                <a:solidFill>
                  <a:srgbClr val="000000"/>
                </a:solidFill>
                <a:latin typeface="Arial"/>
                <a:cs typeface="Arial"/>
              </a:rPr>
              <a:t>Zuständigkeiten sind eindeutig definiert </a:t>
            </a:r>
          </a:p>
        </p:txBody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43443DA3-B0AD-A188-3E52-84C5B347F9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6445" y="1268413"/>
            <a:ext cx="2448000" cy="432000"/>
          </a:xfrm>
          <a:prstGeom prst="rect">
            <a:avLst/>
          </a:prstGeom>
          <a:solidFill>
            <a:schemeClr val="bg2">
              <a:lumMod val="75000"/>
            </a:schemeClr>
          </a:solidFill>
          <a:ln w="12700" algn="ctr">
            <a:noFill/>
            <a:miter lim="800000"/>
            <a:headEnd/>
            <a:tailEnd/>
          </a:ln>
        </p:spPr>
        <p:txBody>
          <a:bodyPr lIns="36000" tIns="46800" rIns="36000" bIns="46800" anchor="ctr"/>
          <a:lstStyle/>
          <a:p>
            <a:pPr marL="143510">
              <a:lnSpc>
                <a:spcPts val="1200"/>
              </a:lnSpc>
              <a:defRPr/>
            </a:pPr>
            <a:r>
              <a:rPr lang="de-DE" sz="1200" kern="0">
                <a:solidFill>
                  <a:prstClr val="white"/>
                </a:solidFill>
                <a:ea typeface="+mn-lt"/>
                <a:cs typeface="+mn-lt"/>
              </a:rPr>
              <a:t>Übersicht und operative Steuerung</a:t>
            </a:r>
            <a:endParaRPr lang="en-US"/>
          </a:p>
        </p:txBody>
      </p:sp>
      <p:sp>
        <p:nvSpPr>
          <p:cNvPr id="8" name="AutoShape 7">
            <a:extLst>
              <a:ext uri="{FF2B5EF4-FFF2-40B4-BE49-F238E27FC236}">
                <a16:creationId xmlns:a16="http://schemas.microsoft.com/office/drawing/2014/main" id="{05794A8C-3B7C-0467-28AC-4BFD448072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2634" y="1268413"/>
            <a:ext cx="2448000" cy="432000"/>
          </a:xfrm>
          <a:prstGeom prst="rect">
            <a:avLst/>
          </a:prstGeom>
          <a:solidFill>
            <a:schemeClr val="bg2">
              <a:lumMod val="75000"/>
            </a:schemeClr>
          </a:solidFill>
          <a:ln w="12700" algn="ctr">
            <a:noFill/>
            <a:miter lim="800000"/>
            <a:headEnd/>
            <a:tailEnd/>
          </a:ln>
        </p:spPr>
        <p:txBody>
          <a:bodyPr lIns="36000" tIns="46800" rIns="36000" bIns="46800" anchor="ctr"/>
          <a:lstStyle/>
          <a:p>
            <a:pPr marL="143510">
              <a:lnSpc>
                <a:spcPts val="1200"/>
              </a:lnSpc>
              <a:defRPr/>
            </a:pPr>
            <a:r>
              <a:rPr lang="de-DE" sz="1200" kern="0">
                <a:solidFill>
                  <a:prstClr val="white"/>
                </a:solidFill>
                <a:ea typeface="+mn-lt"/>
                <a:cs typeface="+mn-lt"/>
              </a:rPr>
              <a:t>Konsistente Datenbasis und Systemintegration</a:t>
            </a:r>
            <a:endParaRPr lang="en-US" sz="1200">
              <a:solidFill>
                <a:prstClr val="white"/>
              </a:solidFill>
              <a:cs typeface="Arial"/>
            </a:endParaRPr>
          </a:p>
        </p:txBody>
      </p:sp>
      <p:sp>
        <p:nvSpPr>
          <p:cNvPr id="9" name="Rectangle 13">
            <a:extLst>
              <a:ext uri="{FF2B5EF4-FFF2-40B4-BE49-F238E27FC236}">
                <a16:creationId xmlns:a16="http://schemas.microsoft.com/office/drawing/2014/main" id="{A6C34922-C890-84B1-C058-D822A8F811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2634" y="1700413"/>
            <a:ext cx="2448000" cy="2113972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2700" algn="ctr">
            <a:noFill/>
            <a:miter lim="800000"/>
            <a:headEnd/>
            <a:tailEnd/>
          </a:ln>
        </p:spPr>
        <p:txBody>
          <a:bodyPr lIns="36000" tIns="46800" rIns="0" bIns="46800" anchor="t"/>
          <a:lstStyle>
            <a:lvl1pPr marL="93663" indent="-93663">
              <a:spcAft>
                <a:spcPct val="50000"/>
              </a:spcAft>
              <a:buClr>
                <a:srgbClr val="00279F"/>
              </a:buClr>
              <a:buSzPct val="8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Aft>
                <a:spcPct val="50000"/>
              </a:spcAft>
              <a:buClr>
                <a:srgbClr val="00279F"/>
              </a:buClr>
              <a:buSzPct val="80000"/>
              <a:buFont typeface="Wingdings" pitchFamily="2" charset="2"/>
              <a:buChar char="u"/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Aft>
                <a:spcPct val="50000"/>
              </a:spcAft>
              <a:buClr>
                <a:schemeClr val="hlink"/>
              </a:buClr>
              <a:buSzPct val="80000"/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-"/>
              <a:defRPr kumimoji="1" sz="1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50000"/>
              </a:spcBef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93345" lvl="0" indent="-93345" algn="l" rtl="0">
              <a:lnSpc>
                <a:spcPts val="1200"/>
              </a:lnSpc>
              <a:buFont typeface="Arial,Sans-Serif"/>
              <a:buChar char="•"/>
            </a:pPr>
            <a:r>
              <a:rPr lang="de-DE" sz="1000" b="0" i="0" u="none" strike="noStrike" baseline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Informationen liegen vollständig und konsistent vor </a:t>
            </a:r>
            <a:r>
              <a:rPr lang="en-US" sz="10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​</a:t>
            </a:r>
          </a:p>
          <a:p>
            <a:pPr marL="93345" indent="-93345">
              <a:lnSpc>
                <a:spcPts val="1200"/>
              </a:lnSpc>
              <a:buFont typeface="Arial,Sans-Serif"/>
              <a:buChar char="•"/>
            </a:pPr>
            <a:r>
              <a:rPr lang="de-DE" sz="1000">
                <a:solidFill>
                  <a:srgbClr val="000000"/>
                </a:solidFill>
                <a:latin typeface="Arial"/>
                <a:cs typeface="Arial"/>
              </a:rPr>
              <a:t>Übergaben erfolgen strukturiert und dokumentiert</a:t>
            </a:r>
            <a:endParaRPr lang="en-US" sz="1000" b="0" i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93345" lvl="0" indent="-93345" algn="l" rtl="0">
              <a:lnSpc>
                <a:spcPts val="1200"/>
              </a:lnSpc>
              <a:buFont typeface="Arial,Sans-Serif"/>
              <a:buChar char="•"/>
            </a:pPr>
            <a:r>
              <a:rPr lang="de-DE" sz="1000" b="0" i="0" u="none" strike="noStrike" baseline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Relevante Daten werden einmalig erfasst und gezielt systemübergreifend weiterverwendet </a:t>
            </a:r>
            <a:r>
              <a:rPr lang="de-DE" sz="10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​</a:t>
            </a:r>
          </a:p>
          <a:p>
            <a:pPr marL="93345" lvl="0" indent="-93345" algn="l" rtl="0">
              <a:lnSpc>
                <a:spcPts val="1200"/>
              </a:lnSpc>
              <a:buFont typeface="Arial,Sans-Serif"/>
              <a:buChar char="•"/>
            </a:pPr>
            <a:r>
              <a:rPr lang="de-DE" sz="1000" b="0" i="0" u="none" strike="noStrike" baseline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Pflichtangaben werden vor der Weiterbearbeitung geprüft </a:t>
            </a:r>
            <a:r>
              <a:rPr lang="de-DE" sz="10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​</a:t>
            </a:r>
          </a:p>
        </p:txBody>
      </p:sp>
      <p:sp>
        <p:nvSpPr>
          <p:cNvPr id="10" name="Rectangle 13">
            <a:extLst>
              <a:ext uri="{FF2B5EF4-FFF2-40B4-BE49-F238E27FC236}">
                <a16:creationId xmlns:a16="http://schemas.microsoft.com/office/drawing/2014/main" id="{185E9D1E-9CEE-CF67-8123-96BA1400A6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18823" y="1700413"/>
            <a:ext cx="2448000" cy="2091783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2700" algn="ctr">
            <a:noFill/>
            <a:miter lim="800000"/>
            <a:headEnd/>
            <a:tailEnd/>
          </a:ln>
        </p:spPr>
        <p:txBody>
          <a:bodyPr lIns="36000" tIns="46800" rIns="0" bIns="46800" anchor="t"/>
          <a:lstStyle>
            <a:lvl1pPr marL="93663" indent="-93663">
              <a:spcAft>
                <a:spcPct val="50000"/>
              </a:spcAft>
              <a:buClr>
                <a:srgbClr val="00279F"/>
              </a:buClr>
              <a:buSzPct val="8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Aft>
                <a:spcPct val="50000"/>
              </a:spcAft>
              <a:buClr>
                <a:srgbClr val="00279F"/>
              </a:buClr>
              <a:buSzPct val="80000"/>
              <a:buFont typeface="Wingdings" pitchFamily="2" charset="2"/>
              <a:buChar char="u"/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Aft>
                <a:spcPct val="50000"/>
              </a:spcAft>
              <a:buClr>
                <a:schemeClr val="hlink"/>
              </a:buClr>
              <a:buSzPct val="80000"/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-"/>
              <a:defRPr kumimoji="1" sz="1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50000"/>
              </a:spcBef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93345" lvl="0" indent="-93345" algn="l" rtl="0">
              <a:lnSpc>
                <a:spcPts val="1200"/>
              </a:lnSpc>
              <a:buFont typeface="Arial,Sans-Serif"/>
              <a:buChar char="•"/>
            </a:pPr>
            <a:r>
              <a:rPr lang="de-DE" sz="1000" b="0" i="0" u="none" strike="noStrike" baseline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Wiederkehrende Fälle folgen einer einheitlichen Bearbeitungslogik </a:t>
            </a:r>
            <a:r>
              <a:rPr lang="de-DE" sz="10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​</a:t>
            </a:r>
          </a:p>
          <a:p>
            <a:pPr marL="93345" lvl="0" indent="-93345" algn="l" rtl="0">
              <a:lnSpc>
                <a:spcPts val="1200"/>
              </a:lnSpc>
              <a:buFont typeface="Arial,Sans-Serif"/>
              <a:buChar char="•"/>
            </a:pPr>
            <a:r>
              <a:rPr lang="de-DE" sz="1000" b="0" i="0" u="none" strike="noStrike" baseline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Der Prozess ist dokumentiert und in den beteiligten Teams bekannt</a:t>
            </a:r>
            <a:r>
              <a:rPr lang="de-DE" sz="10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​</a:t>
            </a:r>
          </a:p>
          <a:p>
            <a:pPr marL="93345" lvl="0" indent="-93345" algn="l" rtl="0">
              <a:lnSpc>
                <a:spcPts val="1200"/>
              </a:lnSpc>
              <a:buFont typeface="Arial,Sans-Serif"/>
              <a:buChar char="•"/>
            </a:pPr>
            <a:r>
              <a:rPr lang="de-DE" sz="1000" b="0" i="0" u="none" strike="noStrike" baseline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Varianten werden klar unterschieden und geführt </a:t>
            </a:r>
            <a:r>
              <a:rPr lang="de-DE" sz="10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​</a:t>
            </a:r>
          </a:p>
          <a:p>
            <a:pPr marL="93345" lvl="0" indent="-93345" algn="l" rtl="0">
              <a:lnSpc>
                <a:spcPts val="1200"/>
              </a:lnSpc>
              <a:buFont typeface="Arial,Sans-Serif"/>
              <a:buChar char="•"/>
            </a:pPr>
            <a:r>
              <a:rPr lang="de-DE" sz="1000" b="0" i="0" u="none" strike="noStrike" baseline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Sonderfälle werden anhand definierter Kriterien erkannt </a:t>
            </a:r>
            <a:r>
              <a:rPr lang="de-DE" sz="10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​</a:t>
            </a:r>
          </a:p>
        </p:txBody>
      </p:sp>
      <p:sp>
        <p:nvSpPr>
          <p:cNvPr id="11" name="Rectangle 13">
            <a:extLst>
              <a:ext uri="{FF2B5EF4-FFF2-40B4-BE49-F238E27FC236}">
                <a16:creationId xmlns:a16="http://schemas.microsoft.com/office/drawing/2014/main" id="{70C1288F-4123-CF3D-72CE-959FC0B307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55012" y="1700413"/>
            <a:ext cx="2448000" cy="207403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2700" algn="ctr">
            <a:noFill/>
            <a:miter lim="800000"/>
            <a:headEnd/>
            <a:tailEnd/>
          </a:ln>
        </p:spPr>
        <p:txBody>
          <a:bodyPr lIns="36000" tIns="46800" rIns="0" bIns="46800" anchor="t"/>
          <a:lstStyle>
            <a:lvl1pPr marL="93663" indent="-93663">
              <a:spcAft>
                <a:spcPct val="50000"/>
              </a:spcAft>
              <a:buClr>
                <a:srgbClr val="00279F"/>
              </a:buClr>
              <a:buSzPct val="8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Aft>
                <a:spcPct val="50000"/>
              </a:spcAft>
              <a:buClr>
                <a:srgbClr val="00279F"/>
              </a:buClr>
              <a:buSzPct val="80000"/>
              <a:buFont typeface="Wingdings" pitchFamily="2" charset="2"/>
              <a:buChar char="u"/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Aft>
                <a:spcPct val="50000"/>
              </a:spcAft>
              <a:buClr>
                <a:schemeClr val="hlink"/>
              </a:buClr>
              <a:buSzPct val="80000"/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-"/>
              <a:defRPr kumimoji="1" sz="1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50000"/>
              </a:spcBef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93345" lvl="0" indent="-93345" algn="l" rtl="0">
              <a:lnSpc>
                <a:spcPts val="1200"/>
              </a:lnSpc>
              <a:buFont typeface="Arial,Sans-Serif"/>
              <a:buChar char="•"/>
            </a:pPr>
            <a:r>
              <a:rPr lang="de-DE" sz="1000" b="0" i="0" u="none" strike="noStrike" baseline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Formulare sind in den Prozess eingebettet (falls vorhanden)</a:t>
            </a:r>
            <a:r>
              <a:rPr lang="de-DE" sz="10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​</a:t>
            </a:r>
          </a:p>
          <a:p>
            <a:pPr marL="93345" lvl="0" indent="-93345" algn="l" rtl="0">
              <a:lnSpc>
                <a:spcPts val="1200"/>
              </a:lnSpc>
              <a:buFont typeface="Arial,Sans-Serif"/>
              <a:buChar char="•"/>
            </a:pPr>
            <a:r>
              <a:rPr lang="de-DE" sz="1000" b="0" i="0" u="none" strike="noStrike" baseline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Prüfungen und Freigaben werden systemgestützt geführt </a:t>
            </a:r>
            <a:r>
              <a:rPr lang="de-DE" sz="10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​</a:t>
            </a:r>
          </a:p>
          <a:p>
            <a:pPr marL="93345" lvl="0" indent="-93345" algn="l" rtl="0">
              <a:lnSpc>
                <a:spcPts val="1200"/>
              </a:lnSpc>
              <a:buFont typeface="Arial,Sans-Serif"/>
              <a:buChar char="•"/>
            </a:pPr>
            <a:r>
              <a:rPr lang="de-DE" sz="1000" b="0" i="0" u="none" strike="noStrike" baseline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Aufgaben werden automatisch oder regelbasiert ausgelöst </a:t>
            </a:r>
            <a:r>
              <a:rPr lang="de-DE" sz="10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​</a:t>
            </a:r>
          </a:p>
          <a:p>
            <a:pPr marL="93345" lvl="0" indent="-93345" algn="l" rtl="0">
              <a:lnSpc>
                <a:spcPts val="1200"/>
              </a:lnSpc>
              <a:buFont typeface="Arial,Sans-Serif"/>
              <a:buChar char="•"/>
            </a:pPr>
            <a:r>
              <a:rPr lang="de-DE" sz="1000" b="0" i="0" u="none" strike="noStrike" baseline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Prozessinformationen bleiben zentral dokumentiert</a:t>
            </a:r>
            <a:r>
              <a:rPr lang="de-DE" sz="10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​</a:t>
            </a:r>
          </a:p>
        </p:txBody>
      </p:sp>
      <p:sp>
        <p:nvSpPr>
          <p:cNvPr id="12" name="AutoShape 7">
            <a:extLst>
              <a:ext uri="{FF2B5EF4-FFF2-40B4-BE49-F238E27FC236}">
                <a16:creationId xmlns:a16="http://schemas.microsoft.com/office/drawing/2014/main" id="{BC920109-A0BF-9D38-C040-770369F62C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18823" y="1268413"/>
            <a:ext cx="2448000" cy="432000"/>
          </a:xfrm>
          <a:prstGeom prst="rect">
            <a:avLst/>
          </a:prstGeom>
          <a:solidFill>
            <a:schemeClr val="bg2">
              <a:lumMod val="75000"/>
            </a:schemeClr>
          </a:solidFill>
          <a:ln w="12700" algn="ctr">
            <a:noFill/>
            <a:miter lim="800000"/>
            <a:headEnd/>
            <a:tailEnd/>
          </a:ln>
        </p:spPr>
        <p:txBody>
          <a:bodyPr lIns="36000" tIns="46800" rIns="36000" bIns="46800" anchor="ctr"/>
          <a:lstStyle/>
          <a:p>
            <a:pPr marL="143510">
              <a:lnSpc>
                <a:spcPts val="1200"/>
              </a:lnSpc>
              <a:defRPr/>
            </a:pPr>
            <a:r>
              <a:rPr lang="de-DE" sz="1200" kern="0">
                <a:solidFill>
                  <a:prstClr val="white"/>
                </a:solidFill>
                <a:ea typeface="+mn-lt"/>
                <a:cs typeface="+mn-lt"/>
              </a:rPr>
              <a:t>Standardisierung und Prozessdokumentation</a:t>
            </a:r>
            <a:endParaRPr lang="en-US" sz="1200">
              <a:solidFill>
                <a:prstClr val="white"/>
              </a:solidFill>
              <a:cs typeface="Arial"/>
            </a:endParaRPr>
          </a:p>
        </p:txBody>
      </p:sp>
      <p:sp>
        <p:nvSpPr>
          <p:cNvPr id="13" name="AutoShape 7">
            <a:extLst>
              <a:ext uri="{FF2B5EF4-FFF2-40B4-BE49-F238E27FC236}">
                <a16:creationId xmlns:a16="http://schemas.microsoft.com/office/drawing/2014/main" id="{52D671D1-5DFD-D80F-DA09-697B0C11F9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55012" y="1268413"/>
            <a:ext cx="2448000" cy="432000"/>
          </a:xfrm>
          <a:prstGeom prst="rect">
            <a:avLst/>
          </a:prstGeom>
          <a:solidFill>
            <a:schemeClr val="bg2">
              <a:lumMod val="75000"/>
            </a:schemeClr>
          </a:solidFill>
          <a:ln w="12700" algn="ctr">
            <a:noFill/>
            <a:miter lim="800000"/>
            <a:headEnd/>
            <a:tailEnd/>
          </a:ln>
        </p:spPr>
        <p:txBody>
          <a:bodyPr lIns="36000" tIns="46800" rIns="36000" bIns="46800" anchor="ctr"/>
          <a:lstStyle/>
          <a:p>
            <a:pPr marL="143510">
              <a:lnSpc>
                <a:spcPts val="1200"/>
              </a:lnSpc>
              <a:defRPr/>
            </a:pPr>
            <a:r>
              <a:rPr lang="de-DE" sz="1200" kern="0">
                <a:solidFill>
                  <a:prstClr val="white"/>
                </a:solidFill>
                <a:ea typeface="+mn-lt"/>
                <a:cs typeface="+mn-lt"/>
              </a:rPr>
              <a:t>Systemgestützte Prozessausführung</a:t>
            </a:r>
            <a:endParaRPr lang="en-US" sz="1200">
              <a:solidFill>
                <a:prstClr val="white"/>
              </a:solidFill>
              <a:cs typeface="Arial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C5D8525-996D-8C73-F586-627978750A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6445" y="3909998"/>
            <a:ext cx="2448000" cy="189276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 algn="ctr">
            <a:noFill/>
            <a:miter lim="800000"/>
            <a:headEnd/>
            <a:tailEnd/>
          </a:ln>
        </p:spPr>
        <p:txBody>
          <a:bodyPr lIns="36000" tIns="46800" rIns="0" bIns="46800" anchor="t"/>
          <a:lstStyle>
            <a:lvl1pPr marL="93663" indent="-93663">
              <a:spcAft>
                <a:spcPct val="50000"/>
              </a:spcAft>
              <a:buClr>
                <a:srgbClr val="00279F"/>
              </a:buClr>
              <a:buSzPct val="8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Aft>
                <a:spcPct val="50000"/>
              </a:spcAft>
              <a:buClr>
                <a:srgbClr val="00279F"/>
              </a:buClr>
              <a:buSzPct val="80000"/>
              <a:buFont typeface="Wingdings" pitchFamily="2" charset="2"/>
              <a:buChar char="u"/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Aft>
                <a:spcPct val="50000"/>
              </a:spcAft>
              <a:buClr>
                <a:schemeClr val="hlink"/>
              </a:buClr>
              <a:buSzPct val="80000"/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-"/>
              <a:defRPr kumimoji="1" sz="1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50000"/>
              </a:spcBef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93345" indent="-93345">
              <a:lnSpc>
                <a:spcPts val="1200"/>
              </a:lnSpc>
              <a:buFont typeface="Arial,Sans-Serif"/>
              <a:buChar char="•"/>
            </a:pPr>
            <a:r>
              <a:rPr lang="de-DE" sz="1000"/>
              <a:t>Übersicht über alle Austritte und Einzelfälle inkl. Bearbeitungsstand, Zuständigkeiten, Prioritäten und Fälligkeiten</a:t>
            </a:r>
          </a:p>
          <a:p>
            <a:pPr marL="93345" indent="-93345">
              <a:lnSpc>
                <a:spcPts val="1200"/>
              </a:lnSpc>
              <a:buFont typeface="Arial,Sans-Serif"/>
              <a:buChar char="•"/>
            </a:pPr>
            <a:r>
              <a:rPr lang="de-DE" sz="1000"/>
              <a:t>Filter- und Priorisierungslogiken für (zeit-)kritische Fälle </a:t>
            </a:r>
          </a:p>
          <a:p>
            <a:pPr marL="93345" indent="-93345">
              <a:lnSpc>
                <a:spcPts val="1200"/>
              </a:lnSpc>
              <a:buFont typeface="Arial,Sans-Serif"/>
              <a:buChar char="•"/>
            </a:pPr>
            <a:r>
              <a:rPr lang="de-DE" sz="1000"/>
              <a:t>Einhaltung der definierten SLAs/ Durchlaufzeiten transparent darstellen </a:t>
            </a:r>
          </a:p>
          <a:p>
            <a:pPr marL="93345" indent="-93345">
              <a:lnSpc>
                <a:spcPts val="1200"/>
              </a:lnSpc>
              <a:buFont typeface="Arial,Sans-Serif"/>
              <a:buChar char="•"/>
            </a:pPr>
            <a:endParaRPr lang="de-DE" sz="1000"/>
          </a:p>
        </p:txBody>
      </p:sp>
      <p:sp>
        <p:nvSpPr>
          <p:cNvPr id="15" name="Rectangle 13">
            <a:extLst>
              <a:ext uri="{FF2B5EF4-FFF2-40B4-BE49-F238E27FC236}">
                <a16:creationId xmlns:a16="http://schemas.microsoft.com/office/drawing/2014/main" id="{094F04DD-D1A4-D77F-19B4-328D6BA3B1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2634" y="3919738"/>
            <a:ext cx="2448000" cy="192019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 algn="ctr">
            <a:noFill/>
            <a:miter lim="800000"/>
            <a:headEnd/>
            <a:tailEnd/>
          </a:ln>
        </p:spPr>
        <p:txBody>
          <a:bodyPr lIns="36000" tIns="46800" rIns="0" bIns="46800" anchor="t"/>
          <a:lstStyle>
            <a:lvl1pPr marL="93663" indent="-93663">
              <a:spcAft>
                <a:spcPct val="50000"/>
              </a:spcAft>
              <a:buClr>
                <a:srgbClr val="00279F"/>
              </a:buClr>
              <a:buSzPct val="8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Aft>
                <a:spcPct val="50000"/>
              </a:spcAft>
              <a:buClr>
                <a:srgbClr val="00279F"/>
              </a:buClr>
              <a:buSzPct val="80000"/>
              <a:buFont typeface="Wingdings" pitchFamily="2" charset="2"/>
              <a:buChar char="u"/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Aft>
                <a:spcPct val="50000"/>
              </a:spcAft>
              <a:buClr>
                <a:schemeClr val="hlink"/>
              </a:buClr>
              <a:buSzPct val="80000"/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-"/>
              <a:defRPr kumimoji="1" sz="1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50000"/>
              </a:spcBef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93345" indent="-93345">
              <a:buFont typeface="Arial,Sans-Serif" pitchFamily="34" charset="0"/>
              <a:buChar char="•"/>
            </a:pPr>
            <a:r>
              <a:rPr lang="de-DE" sz="1000">
                <a:solidFill>
                  <a:srgbClr val="000000"/>
                </a:solidFill>
                <a:latin typeface="Arial"/>
                <a:cs typeface="Arial"/>
              </a:rPr>
              <a:t>Zentrale Fallführung und Dokumentation je Austritt </a:t>
            </a:r>
          </a:p>
          <a:p>
            <a:pPr marL="93345" indent="-93345">
              <a:buFont typeface="Arial,Sans-Serif" pitchFamily="34" charset="0"/>
              <a:buChar char="•"/>
            </a:pPr>
            <a:r>
              <a:rPr lang="de-DE" sz="1000">
                <a:solidFill>
                  <a:srgbClr val="000000"/>
                </a:solidFill>
                <a:latin typeface="Arial"/>
                <a:cs typeface="Arial"/>
              </a:rPr>
              <a:t>Relevante Daten systemübergreifend weiterverwenden (Schnittstelle zwischen SAP/ Umsystemen und Jira)</a:t>
            </a:r>
          </a:p>
        </p:txBody>
      </p:sp>
      <p:sp>
        <p:nvSpPr>
          <p:cNvPr id="16" name="Rectangle 13">
            <a:extLst>
              <a:ext uri="{FF2B5EF4-FFF2-40B4-BE49-F238E27FC236}">
                <a16:creationId xmlns:a16="http://schemas.microsoft.com/office/drawing/2014/main" id="{2A7438CF-9286-77A4-8A1E-22D420B905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18823" y="3919738"/>
            <a:ext cx="2448000" cy="190003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 algn="ctr">
            <a:noFill/>
            <a:miter lim="800000"/>
            <a:headEnd/>
            <a:tailEnd/>
          </a:ln>
        </p:spPr>
        <p:txBody>
          <a:bodyPr lIns="36000" tIns="46800" rIns="0" bIns="46800" anchor="t"/>
          <a:lstStyle>
            <a:lvl1pPr marL="93663" indent="-93663">
              <a:spcAft>
                <a:spcPct val="50000"/>
              </a:spcAft>
              <a:buClr>
                <a:srgbClr val="00279F"/>
              </a:buClr>
              <a:buSzPct val="8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Aft>
                <a:spcPct val="50000"/>
              </a:spcAft>
              <a:buClr>
                <a:srgbClr val="00279F"/>
              </a:buClr>
              <a:buSzPct val="80000"/>
              <a:buFont typeface="Wingdings" pitchFamily="2" charset="2"/>
              <a:buChar char="u"/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Aft>
                <a:spcPct val="50000"/>
              </a:spcAft>
              <a:buClr>
                <a:schemeClr val="hlink"/>
              </a:buClr>
              <a:buSzPct val="80000"/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-"/>
              <a:defRPr kumimoji="1" sz="1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50000"/>
              </a:spcBef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93345" indent="-93345">
              <a:buFont typeface="Arial,Sans-Serif" pitchFamily="34" charset="0"/>
              <a:buChar char="•"/>
            </a:pPr>
            <a:r>
              <a:rPr lang="de-DE" sz="1000">
                <a:solidFill>
                  <a:srgbClr val="000000"/>
                </a:solidFill>
                <a:latin typeface="Arial"/>
                <a:cs typeface="Arial"/>
              </a:rPr>
              <a:t>Prozessdokumentation inkl. Definition von Rollen und Verantwortlichkeiten.  Klare Rückfrage- und Eskalationswege. </a:t>
            </a:r>
          </a:p>
          <a:p>
            <a:pPr marL="93345" indent="-93345">
              <a:buFont typeface="Arial,Sans-Serif" pitchFamily="34" charset="0"/>
              <a:buChar char="•"/>
            </a:pPr>
            <a:r>
              <a:rPr lang="de-DE" sz="1000"/>
              <a:t>Prozessvarianten auf fachlich notwendige Ausnahmen begrenzen.</a:t>
            </a:r>
          </a:p>
          <a:p>
            <a:pPr marL="93345" indent="-93345">
              <a:buFont typeface="Arial,Sans-Serif" pitchFamily="34" charset="0"/>
              <a:buChar char="•"/>
            </a:pPr>
            <a:r>
              <a:rPr lang="de-DE" sz="1000">
                <a:solidFill>
                  <a:srgbClr val="000000"/>
                </a:solidFill>
                <a:latin typeface="Arial"/>
                <a:cs typeface="Arial"/>
              </a:rPr>
              <a:t>Standardisierte Bearbeitungskriterien. Definition von Pflichtschritten je Prozessvariante.</a:t>
            </a:r>
            <a:endParaRPr lang="en-US" sz="100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17" name="Rectangle 13">
            <a:extLst>
              <a:ext uri="{FF2B5EF4-FFF2-40B4-BE49-F238E27FC236}">
                <a16:creationId xmlns:a16="http://schemas.microsoft.com/office/drawing/2014/main" id="{6DD6E1B7-67CF-1756-551B-C401702F22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55012" y="3919738"/>
            <a:ext cx="2448000" cy="188391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 algn="ctr">
            <a:noFill/>
            <a:miter lim="800000"/>
            <a:headEnd/>
            <a:tailEnd/>
          </a:ln>
        </p:spPr>
        <p:txBody>
          <a:bodyPr lIns="36000" tIns="46800" rIns="0" bIns="46800" anchor="t"/>
          <a:lstStyle>
            <a:lvl1pPr marL="93663" indent="-93663">
              <a:spcAft>
                <a:spcPct val="50000"/>
              </a:spcAft>
              <a:buClr>
                <a:srgbClr val="00279F"/>
              </a:buClr>
              <a:buSzPct val="8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Aft>
                <a:spcPct val="50000"/>
              </a:spcAft>
              <a:buClr>
                <a:srgbClr val="00279F"/>
              </a:buClr>
              <a:buSzPct val="80000"/>
              <a:buFont typeface="Wingdings" pitchFamily="2" charset="2"/>
              <a:buChar char="u"/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Aft>
                <a:spcPct val="50000"/>
              </a:spcAft>
              <a:buClr>
                <a:schemeClr val="hlink"/>
              </a:buClr>
              <a:buSzPct val="80000"/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-"/>
              <a:defRPr kumimoji="1" sz="1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50000"/>
              </a:spcBef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Char char="•"/>
              <a:defRPr kumimoji="1"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93345" indent="-93345">
              <a:buFont typeface="Arial,Sans-Serif" pitchFamily="34" charset="0"/>
              <a:buChar char="•"/>
            </a:pPr>
            <a:r>
              <a:rPr lang="de-DE" sz="1000">
                <a:solidFill>
                  <a:srgbClr val="000000"/>
                </a:solidFill>
                <a:latin typeface="Arial"/>
                <a:cs typeface="Arial"/>
              </a:rPr>
              <a:t>Das System ermöglicht die prozessgestützte Bearbeitung. </a:t>
            </a:r>
            <a:r>
              <a:rPr lang="de-DE" sz="1000"/>
              <a:t>Aufgaben, Prüfungen, Übergaben und Entscheidungen werden strukturiert geführt sowie – wo sinnvoll – automatisiert ausgelöst und dokumentiert.</a:t>
            </a:r>
            <a:endParaRPr lang="de-DE" sz="1000">
              <a:solidFill>
                <a:srgbClr val="000000"/>
              </a:solidFill>
              <a:latin typeface="Arial"/>
              <a:cs typeface="Arial"/>
            </a:endParaRPr>
          </a:p>
          <a:p>
            <a:pPr marL="93345" indent="-93345">
              <a:spcAft>
                <a:spcPts val="400"/>
              </a:spcAft>
              <a:buFont typeface="Arial,Sans-Serif" pitchFamily="34" charset="0"/>
              <a:buChar char="•"/>
            </a:pPr>
            <a:r>
              <a:rPr lang="de-DE" sz="1000"/>
              <a:t>SLA-basierte Erinnerungen und Eskalationen </a:t>
            </a:r>
            <a:endParaRPr lang="de-DE" sz="1000">
              <a:highlight>
                <a:srgbClr val="FFFF00"/>
              </a:highlight>
            </a:endParaRPr>
          </a:p>
          <a:p>
            <a:pPr marL="93345" indent="-93345">
              <a:spcAft>
                <a:spcPts val="400"/>
              </a:spcAft>
              <a:buFont typeface="Arial,Sans-Serif" pitchFamily="34" charset="0"/>
              <a:buChar char="•"/>
            </a:pPr>
            <a:endParaRPr lang="de-DE" sz="1000">
              <a:solidFill>
                <a:srgbClr val="000000"/>
              </a:solidFill>
              <a:cs typeface="Arial"/>
            </a:endParaRPr>
          </a:p>
          <a:p>
            <a:pPr marL="93345" indent="-93345">
              <a:lnSpc>
                <a:spcPts val="1100"/>
              </a:lnSpc>
              <a:spcAft>
                <a:spcPts val="400"/>
              </a:spcAft>
              <a:buClrTx/>
              <a:buSzTx/>
              <a:buFont typeface="Arial" pitchFamily="34" charset="0"/>
              <a:buChar char="•"/>
            </a:pPr>
            <a:endParaRPr lang="de-DE" altLang="de-DE" sz="1000">
              <a:solidFill>
                <a:srgbClr val="000000"/>
              </a:solidFill>
              <a:cs typeface="Arial"/>
            </a:endParaRP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4877B6F5-1291-4D18-E794-61169C57978B}"/>
              </a:ext>
            </a:extLst>
          </p:cNvPr>
          <p:cNvSpPr/>
          <p:nvPr/>
        </p:nvSpPr>
        <p:spPr>
          <a:xfrm>
            <a:off x="746445" y="5783714"/>
            <a:ext cx="10656567" cy="471490"/>
          </a:xfrm>
          <a:prstGeom prst="rect">
            <a:avLst/>
          </a:prstGeom>
          <a:solidFill>
            <a:srgbClr val="4BACC6">
              <a:lumMod val="75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Ideen zur Optimierung aus der IST-Analyse</a:t>
            </a:r>
          </a:p>
        </p:txBody>
      </p:sp>
    </p:spTree>
    <p:extLst>
      <p:ext uri="{BB962C8B-B14F-4D97-AF65-F5344CB8AC3E}">
        <p14:creationId xmlns:p14="http://schemas.microsoft.com/office/powerpoint/2010/main" val="31230888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9D8CDE4B-7EA6-DC09-02A3-EA628C0133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08.07.2026</a:t>
            </a:r>
            <a:endParaRPr lang="de-CH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FA4E3280-C820-56E7-40F3-23364D7F8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Zwischenbericht Digitalisierung Austrittsprozess USB</a:t>
            </a:r>
            <a:endParaRPr lang="de-CH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8E5BA20D-3F0E-55DE-F503-AA1800C442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/>
              <a:t>Notizen Durchsicht IST-Prozesse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64496305-2DE7-3C38-2625-0F4E69401167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 vert="horz" lIns="0" tIns="0" rIns="0" bIns="0" rtlCol="0" anchor="t">
            <a:noAutofit/>
          </a:bodyPr>
          <a:lstStyle/>
          <a:p>
            <a:r>
              <a:rPr lang="de-CH"/>
              <a:t>Vertragsablauf USB:</a:t>
            </a:r>
          </a:p>
          <a:p>
            <a:pPr marL="431800" lvl="1" indent="-215900"/>
            <a:r>
              <a:rPr lang="de-CH"/>
              <a:t>HR Support involviert HR Beratung nach Erstellung der </a:t>
            </a:r>
            <a:r>
              <a:rPr lang="de-CH" err="1"/>
              <a:t>Vertragsablaufsliste</a:t>
            </a:r>
            <a:r>
              <a:rPr lang="de-CH"/>
              <a:t> – ggf. sind schon Informationen vorhanden</a:t>
            </a:r>
            <a:endParaRPr lang="de-CH">
              <a:cs typeface="Arial"/>
            </a:endParaRPr>
          </a:p>
          <a:p>
            <a:pPr lvl="1"/>
            <a:r>
              <a:rPr lang="de-CH"/>
              <a:t>Bei Vertragsablauf wir das Jira Formular Vertragsablauf verwendet (nicht Austritt/Kündigung)</a:t>
            </a:r>
          </a:p>
          <a:p>
            <a:pPr marL="431800" lvl="1" indent="-215900"/>
            <a:r>
              <a:rPr lang="de-CH">
                <a:sym typeface="Wingdings" panose="05000000000000000000" pitchFamily="2" charset="2"/>
              </a:rPr>
              <a:t>Doppelte Meldungen sollten eigentlich nicht mehr vorkommen – HR Support meldet </a:t>
            </a:r>
            <a:r>
              <a:rPr lang="de-CH" err="1">
                <a:sym typeface="Wingdings" panose="05000000000000000000" pitchFamily="2" charset="2"/>
              </a:rPr>
              <a:t>zT</a:t>
            </a:r>
            <a:r>
              <a:rPr lang="de-CH">
                <a:sym typeface="Wingdings" panose="05000000000000000000" pitchFamily="2" charset="2"/>
              </a:rPr>
              <a:t> «vor», wenn der Lohn nicht mehr oder eben weiterhin ausbezahlt werden soll und reicht die Infos nach. </a:t>
            </a:r>
            <a:endParaRPr lang="de-CH">
              <a:cs typeface="Arial"/>
            </a:endParaRPr>
          </a:p>
          <a:p>
            <a:pPr marL="431800" lvl="1" indent="-215900"/>
            <a:r>
              <a:rPr lang="de-CH">
                <a:sym typeface="Wingdings" panose="05000000000000000000" pitchFamily="2" charset="2"/>
              </a:rPr>
              <a:t>In gewissen Fällen braucht die </a:t>
            </a:r>
            <a:r>
              <a:rPr lang="de-CH" err="1">
                <a:sym typeface="Wingdings" panose="05000000000000000000" pitchFamily="2" charset="2"/>
              </a:rPr>
              <a:t>Payroll</a:t>
            </a:r>
            <a:r>
              <a:rPr lang="de-CH">
                <a:sym typeface="Wingdings" panose="05000000000000000000" pitchFamily="2" charset="2"/>
              </a:rPr>
              <a:t> die Austrittsinfo zeitnah bei Prozessstart (</a:t>
            </a:r>
            <a:r>
              <a:rPr lang="de-CH" err="1">
                <a:sym typeface="Wingdings" panose="05000000000000000000" pitchFamily="2" charset="2"/>
              </a:rPr>
              <a:t>zB</a:t>
            </a:r>
            <a:r>
              <a:rPr lang="de-CH">
                <a:sym typeface="Wingdings" panose="05000000000000000000" pitchFamily="2" charset="2"/>
              </a:rPr>
              <a:t> Untermonatige Austritte / kurzfristige Austritte / SMU)</a:t>
            </a:r>
            <a:endParaRPr lang="de-CH">
              <a:cs typeface="Arial"/>
            </a:endParaRPr>
          </a:p>
          <a:p>
            <a:pPr marL="431800" lvl="1" indent="-215900"/>
            <a:r>
              <a:rPr lang="de-CH">
                <a:sym typeface="Wingdings" panose="05000000000000000000" pitchFamily="2" charset="2"/>
              </a:rPr>
              <a:t>Es gibt regelmässig Rückfragen von MA an die </a:t>
            </a:r>
            <a:r>
              <a:rPr lang="de-CH" err="1">
                <a:sym typeface="Wingdings" panose="05000000000000000000" pitchFamily="2" charset="2"/>
              </a:rPr>
              <a:t>Payroll</a:t>
            </a:r>
            <a:r>
              <a:rPr lang="de-CH">
                <a:sym typeface="Wingdings" panose="05000000000000000000" pitchFamily="2" charset="2"/>
              </a:rPr>
              <a:t>, da Zeitsaldi nicht ausbezahlt wurden wie mit dem VG vereinbart</a:t>
            </a:r>
            <a:endParaRPr lang="de-CH">
              <a:cs typeface="Arial"/>
            </a:endParaRPr>
          </a:p>
          <a:p>
            <a:pPr marL="216000" lvl="1" indent="0">
              <a:buNone/>
            </a:pPr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9045736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3CE1360C-15C6-82FB-1FEF-02EE7616FD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CB472704-8ED4-DE41-DFBE-36E281ED2C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08.07.2026</a:t>
            </a:r>
            <a:endParaRPr lang="de-CH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14AF34D4-0F18-F466-36B7-4BCCA5CB0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Zwischenbericht Digitalisierung Austrittsprozess USB</a:t>
            </a:r>
            <a:endParaRPr lang="de-CH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95EE348C-B6A5-1BF5-7CDD-3C102E43A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/>
              <a:t>Notizen Durchsicht IST-Prozesse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7ADF08C6-5EC5-EF2E-54D1-C1310C70B082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 vert="horz" lIns="0" tIns="0" rIns="0" bIns="0" rtlCol="0" anchor="t">
            <a:noAutofit/>
          </a:bodyPr>
          <a:lstStyle/>
          <a:p>
            <a:r>
              <a:rPr lang="de-CH"/>
              <a:t>Kündigung MA (USB/Fonds)</a:t>
            </a:r>
          </a:p>
          <a:p>
            <a:pPr marL="431800" lvl="1" indent="-215900"/>
            <a:r>
              <a:rPr lang="de-CH"/>
              <a:t>Bei Kündigungen teilt die HRB die Rückzahlungspflicht (Berechnung wird durch HRB mittels einem Excel-Formular gemacht und ein Schreiben dazu erstellt) an die </a:t>
            </a:r>
            <a:r>
              <a:rPr lang="de-CH" err="1"/>
              <a:t>Payroll</a:t>
            </a:r>
            <a:r>
              <a:rPr lang="de-CH"/>
              <a:t> mit </a:t>
            </a:r>
            <a:r>
              <a:rPr lang="de-CH">
                <a:sym typeface="Wingdings" panose="05000000000000000000" pitchFamily="2" charset="2"/>
              </a:rPr>
              <a:t> erfolgt i.d.R. erst im Auftrag durch die HR Admin (prüft die Rückzahlungspflicht auch)</a:t>
            </a:r>
            <a:endParaRPr lang="de-CH">
              <a:cs typeface="Arial"/>
            </a:endParaRPr>
          </a:p>
          <a:p>
            <a:pPr marL="431800" lvl="1" indent="-215900"/>
            <a:r>
              <a:rPr lang="de-CH">
                <a:sym typeface="Wingdings" panose="05000000000000000000" pitchFamily="2" charset="2"/>
              </a:rPr>
              <a:t>Bei Freistellung: Time Management verarbeitet Informationen gemäss Freistellungsformular in Jira direkt beim Erhalt. Verarbeitung gemäss Guthabenregelung. -&gt; Sollte im SOLL als eine separate Variante betrachtet werden </a:t>
            </a:r>
            <a:endParaRPr lang="de-CH">
              <a:cs typeface="Arial"/>
            </a:endParaRPr>
          </a:p>
          <a:p>
            <a:pPr marL="431800" lvl="1" indent="-215900"/>
            <a:r>
              <a:rPr lang="de-CH">
                <a:sym typeface="Wingdings" panose="05000000000000000000" pitchFamily="2" charset="2"/>
              </a:rPr>
              <a:t>Wichtig bei Auflösungsvereinbarung: Das Time Management und </a:t>
            </a:r>
            <a:r>
              <a:rPr lang="de-CH" err="1">
                <a:sym typeface="Wingdings" panose="05000000000000000000" pitchFamily="2" charset="2"/>
              </a:rPr>
              <a:t>Payroll</a:t>
            </a:r>
            <a:r>
              <a:rPr lang="de-CH">
                <a:sym typeface="Wingdings" panose="05000000000000000000" pitchFamily="2" charset="2"/>
              </a:rPr>
              <a:t> brauchen die gleichen Infos – für die Ausbuchung und Auszahlung im Austrittsmonat</a:t>
            </a:r>
            <a:endParaRPr lang="de-CH">
              <a:cs typeface="Arial"/>
            </a:endParaRPr>
          </a:p>
          <a:p>
            <a:pPr marL="431800" lvl="1" indent="-215900"/>
            <a:r>
              <a:rPr lang="de-CH"/>
              <a:t>Bei (frühzeitiger) Pensionierung wird der </a:t>
            </a:r>
            <a:r>
              <a:rPr lang="de-CH" err="1"/>
              <a:t>Dienstjubi</a:t>
            </a:r>
            <a:r>
              <a:rPr lang="de-CH"/>
              <a:t>-Anspruch bis 6 Mte nach Austritt berücksichtigt. Bei Kündigung entfällt dieser Anspruch</a:t>
            </a:r>
            <a:endParaRPr lang="de-CH">
              <a:cs typeface="Arial"/>
            </a:endParaRPr>
          </a:p>
          <a:p>
            <a:pPr lvl="1"/>
            <a:r>
              <a:rPr lang="de-CH"/>
              <a:t>Bei Rückzahlungspflicht muss die Information frühzeitig vorhanden sein, auch wenn sie nachgereicht wird. Jemand muss diese pendent halten, wer? </a:t>
            </a:r>
          </a:p>
          <a:p>
            <a:r>
              <a:rPr lang="de-CH"/>
              <a:t>Kündigung AG/ Auflösung</a:t>
            </a:r>
          </a:p>
          <a:p>
            <a:pPr marL="431800" lvl="1" indent="-215900"/>
            <a:r>
              <a:rPr lang="de-CH"/>
              <a:t>Nach Bearbeitung durch die HR Beratung wird das Ticket entweder an den HR Support (Ergänzung Formular Austritt/Kündigung) weitergeleitet oder das Formular direkt ausgefüllt und das Ticket an die HR Admin übergeben</a:t>
            </a:r>
            <a:endParaRPr lang="de-CH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747739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B3CEE7E-540F-8AF6-A7A5-EEDB7D75D6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7D7EA59F-87D2-8D50-D517-0A89B2CF35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08.07.2026</a:t>
            </a:r>
            <a:endParaRPr lang="de-CH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47EA3EA1-DBFB-B053-A882-F51128B031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Zwischenbericht Digitalisierung Austrittsprozess USB</a:t>
            </a:r>
            <a:endParaRPr lang="de-CH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A89DE247-9A45-74A8-E947-A515675129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/>
              <a:t>Notizen Durchsicht IST-Prozesse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B3A3009E-DD75-3000-4B92-E5C6B52DC9CD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 vert="horz" lIns="0" tIns="0" rIns="0" bIns="0" rtlCol="0" anchor="t">
            <a:noAutofit/>
          </a:bodyPr>
          <a:lstStyle/>
          <a:p>
            <a:r>
              <a:rPr lang="de-CH"/>
              <a:t>Ordentliche/ Frühzeitige Pensionierung</a:t>
            </a:r>
          </a:p>
          <a:p>
            <a:pPr lvl="1"/>
            <a:r>
              <a:rPr lang="de-CH"/>
              <a:t>Intention: proaktiv auf Führungspersonen zugehen </a:t>
            </a:r>
          </a:p>
          <a:p>
            <a:pPr lvl="1"/>
            <a:r>
              <a:rPr lang="de-CH"/>
              <a:t>Ordentliche Pensionierung wie Vertragsablauf mit zusätzlichem Zugehen auf Personen zugehen</a:t>
            </a:r>
          </a:p>
          <a:p>
            <a:pPr marL="215900" indent="-215900"/>
            <a:r>
              <a:rPr lang="de-CH"/>
              <a:t>Vertragsablauf </a:t>
            </a:r>
            <a:r>
              <a:rPr lang="de-CH" err="1"/>
              <a:t>AuW</a:t>
            </a:r>
            <a:endParaRPr lang="de-CH">
              <a:cs typeface="Arial" panose="020B0604020202020204"/>
            </a:endParaRPr>
          </a:p>
          <a:p>
            <a:pPr marL="431800" lvl="1" indent="-215900"/>
            <a:r>
              <a:rPr lang="de-CH" err="1">
                <a:cs typeface="Arial"/>
              </a:rPr>
              <a:t>Sharepoint</a:t>
            </a:r>
            <a:r>
              <a:rPr lang="de-CH">
                <a:cs typeface="Arial"/>
              </a:rPr>
              <a:t>-Liste wird aktuell nicht geprüft, </a:t>
            </a:r>
            <a:r>
              <a:rPr lang="de-CH" err="1">
                <a:cs typeface="Arial"/>
              </a:rPr>
              <a:t>sonder</a:t>
            </a:r>
            <a:r>
              <a:rPr lang="de-CH"/>
              <a:t>n</a:t>
            </a:r>
            <a:r>
              <a:rPr lang="de-CH">
                <a:cs typeface="Arial"/>
              </a:rPr>
              <a:t> direkt für die Bearbeitung bereitgestellt</a:t>
            </a:r>
          </a:p>
          <a:p>
            <a:pPr marL="431800" lvl="1" indent="-215900"/>
            <a:r>
              <a:rPr lang="de-CH"/>
              <a:t>Ergänzung auf Austrittsliste: Abteilung, wo sie tätig waren (für Zeugnis) und ob es ein Zeugnis oder Arbeitsbestätigung gibt. Standardaustritte ab 6 Monaten = Austrittszeugnis. Klärung Vorgaben Ausbildungen</a:t>
            </a:r>
          </a:p>
          <a:p>
            <a:pPr marL="431800" lvl="1" indent="-215900"/>
            <a:r>
              <a:rPr lang="de-CH"/>
              <a:t>Rückzahlungspflicht: was ist, wenn sie nach Abschluss Ausbildung keine Stelle finden? Besteht dann die Rückzahlungspflicht? </a:t>
            </a:r>
            <a:endParaRPr lang="de-CH">
              <a:cs typeface="Arial"/>
            </a:endParaRPr>
          </a:p>
          <a:p>
            <a:pPr lvl="1"/>
            <a:r>
              <a:rPr lang="de-CH"/>
              <a:t>Austrittsschein: Unklar, was damit gemacht werden muss – wer füllt ihn aus</a:t>
            </a:r>
          </a:p>
          <a:p>
            <a:pPr marL="647700" lvl="2" indent="-215900"/>
            <a:r>
              <a:rPr lang="de-CH">
                <a:cs typeface="Arial"/>
              </a:rPr>
              <a:t>Ziel ist es das Guthaben zu kompensieren, so dass es nicht zu einer Auszahlung kommt</a:t>
            </a:r>
          </a:p>
          <a:p>
            <a:pPr marL="215900" indent="-215900"/>
            <a:r>
              <a:rPr lang="de-CH"/>
              <a:t>Kündigung/ Auflösung </a:t>
            </a:r>
            <a:r>
              <a:rPr lang="de-CH" err="1"/>
              <a:t>AuW</a:t>
            </a:r>
            <a:endParaRPr lang="de-CH">
              <a:cs typeface="Arial" panose="020B0604020202020204"/>
            </a:endParaRPr>
          </a:p>
          <a:p>
            <a:pPr marL="431800" lvl="1" indent="-215900"/>
            <a:r>
              <a:rPr lang="de-CH"/>
              <a:t>Auflösung entsteht i.d.R. aufgrund einer Nicht-bestandenen Prüfung. -&gt; ca. 6-7 Fälle im Jahr</a:t>
            </a:r>
            <a:endParaRPr lang="de-CH">
              <a:cs typeface="Arial"/>
            </a:endParaRPr>
          </a:p>
          <a:p>
            <a:pPr lvl="2"/>
            <a:r>
              <a:rPr lang="de-CH"/>
              <a:t>Zeugnis gibt es nach Standard bei mehr als 6 Mte = Zeugnis und sonst eine Bestätigung</a:t>
            </a:r>
          </a:p>
          <a:p>
            <a:pPr lvl="2"/>
            <a:r>
              <a:rPr lang="de-CH"/>
              <a:t>Müssen da immer alle Parteien unterschreiben? Im Vertrag ist bereits geregelt, dass bei Nicht-Bestehen der Vertrag endet. </a:t>
            </a:r>
          </a:p>
          <a:p>
            <a:pPr lvl="1"/>
            <a:endParaRPr lang="de-CH"/>
          </a:p>
          <a:p>
            <a:pPr lvl="1"/>
            <a:endParaRPr lang="de-CH"/>
          </a:p>
          <a:p>
            <a:pPr lvl="1"/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8346732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BCEFBEF5-1BB0-E7A3-D525-5FB0B7429F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790BD383-B866-37BE-66DC-C0D550173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08.07.2026</a:t>
            </a:r>
            <a:endParaRPr lang="de-CH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D4CC8E6D-5F1A-AEA0-5AF9-6DCD73AFC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Zwischenbericht Digitalisierung Austrittsprozess USB</a:t>
            </a:r>
            <a:endParaRPr lang="de-CH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59EC74A8-6AF1-FE52-DF56-46C73544E2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/>
              <a:t>Notizen Durchsicht IST-Prozesse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28198828-6344-2CF4-55A9-5BA066EA38B4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 vert="horz" lIns="0" tIns="0" rIns="0" bIns="0" rtlCol="0" anchor="t">
            <a:noAutofit/>
          </a:bodyPr>
          <a:lstStyle/>
          <a:p>
            <a:pPr marL="215900" indent="-215900"/>
            <a:r>
              <a:rPr lang="de-CH"/>
              <a:t>Kündigung/ Auflösung </a:t>
            </a:r>
            <a:r>
              <a:rPr lang="de-CH" err="1"/>
              <a:t>AuW</a:t>
            </a:r>
            <a:endParaRPr lang="de-CH" err="1">
              <a:cs typeface="Arial" panose="020B0604020202020204"/>
            </a:endParaRPr>
          </a:p>
          <a:p>
            <a:pPr marL="431800" lvl="1" indent="-215900"/>
            <a:r>
              <a:rPr lang="de-CH"/>
              <a:t>Auch bei den Lehrverträgen kann es zu Kündigung MA kommen</a:t>
            </a:r>
            <a:endParaRPr lang="de-CH">
              <a:cs typeface="Arial"/>
            </a:endParaRPr>
          </a:p>
          <a:p>
            <a:pPr marL="647700" lvl="2" indent="-215900"/>
            <a:r>
              <a:rPr lang="de-CH">
                <a:cs typeface="Arial"/>
              </a:rPr>
              <a:t>Bei Minderjährigen muss ein Gespräch mit den Eltern geführt werden</a:t>
            </a:r>
          </a:p>
          <a:p>
            <a:pPr lvl="1"/>
            <a:endParaRPr lang="de-CH"/>
          </a:p>
          <a:p>
            <a:pPr lvl="1"/>
            <a:endParaRPr lang="de-CH"/>
          </a:p>
          <a:p>
            <a:pPr lvl="1"/>
            <a:endParaRPr lang="de-CH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684946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FA35A0DC-6D93-C344-5B89-6915E99AB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08.07.2026</a:t>
            </a:r>
            <a:endParaRPr lang="de-CH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A65C190C-9DCE-3B72-58D7-BDD6980DC1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Zwischenbericht Digitalisierung Austrittsprozess USB</a:t>
            </a:r>
            <a:endParaRPr lang="de-CH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A2DF9C39-9386-8C89-1184-3ECB2D3D0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/>
              <a:t>Notizen Durchsicht IST-Prozesse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6779C8A3-9E27-4787-5A02-926B7E838584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 vert="horz" lIns="0" tIns="0" rIns="0" bIns="0" rtlCol="0" anchor="t">
            <a:noAutofit/>
          </a:bodyPr>
          <a:lstStyle/>
          <a:p>
            <a:r>
              <a:rPr lang="de-CH"/>
              <a:t>Generelle Inputs</a:t>
            </a:r>
          </a:p>
          <a:p>
            <a:pPr lvl="1"/>
            <a:r>
              <a:rPr lang="de-CH"/>
              <a:t>Austrittsschein</a:t>
            </a:r>
          </a:p>
          <a:p>
            <a:pPr marL="647700" lvl="2" indent="-215900"/>
            <a:r>
              <a:rPr lang="de-CH"/>
              <a:t>Generell überarbeiten/reduzieren auf das notwendige/abschaffen?</a:t>
            </a:r>
            <a:endParaRPr lang="de-CH">
              <a:cs typeface="Arial" panose="020B0604020202020204"/>
            </a:endParaRPr>
          </a:p>
          <a:p>
            <a:pPr lvl="2"/>
            <a:r>
              <a:rPr lang="de-CH"/>
              <a:t>Regelung zur Auszahlung der Zeitsaldi standardisierbar? </a:t>
            </a:r>
          </a:p>
          <a:p>
            <a:pPr lvl="2"/>
            <a:r>
              <a:rPr lang="de-CH"/>
              <a:t>Wichtig: beim Austritt müssen gewisse Infos / Kenntnisnahme mitgegeben / unterschrieben werden</a:t>
            </a:r>
          </a:p>
          <a:p>
            <a:pPr lvl="2"/>
            <a:r>
              <a:rPr lang="de-CH"/>
              <a:t>Wenn möglich ein Prozess für alle </a:t>
            </a:r>
          </a:p>
          <a:p>
            <a:pPr lvl="1"/>
            <a:r>
              <a:rPr lang="de-CH"/>
              <a:t>Meldung Rückzahlungspflicht</a:t>
            </a:r>
          </a:p>
          <a:p>
            <a:pPr marL="647700" lvl="2" indent="-215900"/>
            <a:r>
              <a:rPr lang="de-CH"/>
              <a:t>Frühzeitig, einheitlich</a:t>
            </a:r>
          </a:p>
          <a:p>
            <a:pPr marL="431800" lvl="1" indent="-215900"/>
            <a:r>
              <a:rPr lang="de-CH" err="1">
                <a:cs typeface="Arial"/>
              </a:rPr>
              <a:t>Geburtstagsbons</a:t>
            </a:r>
            <a:endParaRPr lang="de-CH">
              <a:cs typeface="Arial"/>
            </a:endParaRPr>
          </a:p>
          <a:p>
            <a:pPr marL="647700" lvl="2" indent="-215900"/>
            <a:r>
              <a:rPr lang="de-CH">
                <a:cs typeface="Arial"/>
              </a:rPr>
              <a:t>Werden aktuell bei USB/Fonds-Anstellung infolge Austritts zurückgefordert, bei </a:t>
            </a:r>
            <a:r>
              <a:rPr lang="de-CH" err="1">
                <a:cs typeface="Arial"/>
              </a:rPr>
              <a:t>AuW</a:t>
            </a:r>
            <a:r>
              <a:rPr lang="de-CH">
                <a:cs typeface="Arial"/>
              </a:rPr>
              <a:t> nicht</a:t>
            </a:r>
          </a:p>
          <a:p>
            <a:pPr lvl="1"/>
            <a:r>
              <a:rPr lang="de-CH"/>
              <a:t>Austritt UA </a:t>
            </a:r>
          </a:p>
          <a:p>
            <a:pPr lvl="2"/>
            <a:r>
              <a:rPr lang="de-CH"/>
              <a:t>Aus erhalten bereits mit dem Vertrag einen reduzierten Austrittsschein (ohne Zeitsaldi)</a:t>
            </a:r>
          </a:p>
          <a:p>
            <a:pPr lvl="2"/>
            <a:r>
              <a:rPr lang="de-CH"/>
              <a:t>Es erfolgt keine Meldung, der Austritt wird direkt durch die HR Admin bearbeitet.</a:t>
            </a:r>
          </a:p>
          <a:p>
            <a:pPr marL="647700" lvl="2" indent="-215900"/>
            <a:r>
              <a:rPr lang="de-CH">
                <a:cs typeface="Arial" panose="020B0604020202020204"/>
              </a:rPr>
              <a:t>Überspringt HR Time Management</a:t>
            </a:r>
          </a:p>
          <a:p>
            <a:pPr lvl="1"/>
            <a:endParaRPr lang="de-CH">
              <a:cs typeface="Arial" panose="020B0604020202020204"/>
            </a:endParaRPr>
          </a:p>
          <a:p>
            <a:endParaRPr lang="de-CH">
              <a:cs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19507769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99B6DF-E4D7-E75F-BC71-B25D678FF1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Eingekerbter Richtungspfeil 85">
            <a:extLst>
              <a:ext uri="{FF2B5EF4-FFF2-40B4-BE49-F238E27FC236}">
                <a16:creationId xmlns:a16="http://schemas.microsoft.com/office/drawing/2014/main" id="{C45AF56F-1195-060A-8324-3AE33BB1E86C}"/>
              </a:ext>
            </a:extLst>
          </p:cNvPr>
          <p:cNvSpPr/>
          <p:nvPr/>
        </p:nvSpPr>
        <p:spPr>
          <a:xfrm>
            <a:off x="3295635" y="1902632"/>
            <a:ext cx="6796959" cy="3114752"/>
          </a:xfrm>
          <a:prstGeom prst="roundRect">
            <a:avLst>
              <a:gd name="adj" fmla="val 10201"/>
            </a:avLst>
          </a:prstGeom>
          <a:solidFill>
            <a:schemeClr val="bg2">
              <a:lumMod val="20000"/>
              <a:lumOff val="80000"/>
            </a:schemeClr>
          </a:solidFill>
          <a:ln w="12700" cap="flat" cmpd="sng" algn="ctr">
            <a:solidFill>
              <a:srgbClr val="4F81BD">
                <a:lumMod val="60000"/>
                <a:lumOff val="40000"/>
              </a:srgbClr>
            </a:solidFill>
            <a:prstDash val="lgDashDot"/>
          </a:ln>
          <a:effectLst/>
        </p:spPr>
        <p:txBody>
          <a:bodyPr vert="horz" lIns="91415" tIns="45705" rIns="91415" bIns="45705" rtlCol="0" anchor="b"/>
          <a:lstStyle/>
          <a:p>
            <a:pPr marL="0" marR="0" lvl="0" indent="0" algn="ctr" defTabSz="91414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1200" b="1" i="0" u="none" strike="noStrike" kern="0" cap="none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Austritts-Fall</a:t>
            </a:r>
          </a:p>
        </p:txBody>
      </p:sp>
      <p:sp>
        <p:nvSpPr>
          <p:cNvPr id="35" name="Eingekerbter Richtungspfeil 85">
            <a:extLst>
              <a:ext uri="{FF2B5EF4-FFF2-40B4-BE49-F238E27FC236}">
                <a16:creationId xmlns:a16="http://schemas.microsoft.com/office/drawing/2014/main" id="{E00A37FA-5436-7E55-0D2E-0CC96A366476}"/>
              </a:ext>
            </a:extLst>
          </p:cNvPr>
          <p:cNvSpPr/>
          <p:nvPr/>
        </p:nvSpPr>
        <p:spPr>
          <a:xfrm>
            <a:off x="407368" y="2500326"/>
            <a:ext cx="2725426" cy="2517058"/>
          </a:xfrm>
          <a:prstGeom prst="roundRect">
            <a:avLst>
              <a:gd name="adj" fmla="val 8855"/>
            </a:avLst>
          </a:prstGeom>
          <a:solidFill>
            <a:schemeClr val="bg2">
              <a:lumMod val="20000"/>
              <a:lumOff val="80000"/>
            </a:schemeClr>
          </a:solidFill>
          <a:ln w="12700" cap="flat" cmpd="sng" algn="ctr">
            <a:solidFill>
              <a:srgbClr val="4F81BD">
                <a:lumMod val="60000"/>
                <a:lumOff val="40000"/>
              </a:srgbClr>
            </a:solidFill>
            <a:prstDash val="lgDashDot"/>
          </a:ln>
          <a:effectLst/>
        </p:spPr>
        <p:txBody>
          <a:bodyPr vert="horz" lIns="91415" tIns="45705" rIns="91415" bIns="45705" rtlCol="0" anchor="b"/>
          <a:lstStyle/>
          <a:p>
            <a:pPr marL="0" marR="0" lvl="0" indent="0" algn="ctr" defTabSz="91414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1200" b="1" i="0" u="none" strike="noStrike" kern="0" cap="none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Separate vorbereitende Prozesse</a:t>
            </a: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BBB91B24-18AA-3B49-B868-CB8ED40241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08.07.2026</a:t>
            </a:r>
            <a:endParaRPr lang="de-CH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81A1DFD5-CC6C-FF9B-FE38-B32A3CC35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Zwischenbericht Digitalisierung Austrittsprozess USB</a:t>
            </a:r>
            <a:endParaRPr lang="de-CH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7B79760D-CB24-BB77-2A08-ADDE5FEDF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/>
              <a:t>Flugebene 1: SOLL Austrittsprozess – Harmonisierung und Reduktion der Varianten </a:t>
            </a:r>
          </a:p>
        </p:txBody>
      </p:sp>
      <p:sp>
        <p:nvSpPr>
          <p:cNvPr id="8" name="AutoShape 24">
            <a:extLst>
              <a:ext uri="{FF2B5EF4-FFF2-40B4-BE49-F238E27FC236}">
                <a16:creationId xmlns:a16="http://schemas.microsoft.com/office/drawing/2014/main" id="{531B0B0E-5487-EB36-3857-C0BDE54212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58660" y="2299688"/>
            <a:ext cx="1051394" cy="396345"/>
          </a:xfrm>
          <a:prstGeom prst="chevron">
            <a:avLst>
              <a:gd name="adj" fmla="val 37537"/>
            </a:avLst>
          </a:prstGeom>
          <a:solidFill>
            <a:schemeClr val="accent2">
              <a:lumMod val="60000"/>
              <a:lumOff val="40000"/>
            </a:schemeClr>
          </a:solidFill>
          <a:ln w="9525" algn="ctr">
            <a:solidFill>
              <a:srgbClr val="4F81BD">
                <a:lumMod val="20000"/>
                <a:lumOff val="80000"/>
              </a:srgb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45716" rIns="36000" bIns="45716" anchor="ctr" anchorCtr="1"/>
          <a:lstStyle/>
          <a:p>
            <a:pPr marL="0" marR="0" lvl="0" indent="0" algn="ctr" defTabSz="914400" eaLnBrk="0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10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Austritt bearbeiten</a:t>
            </a:r>
          </a:p>
        </p:txBody>
      </p:sp>
      <p:sp>
        <p:nvSpPr>
          <p:cNvPr id="19" name="AutoShape 24">
            <a:extLst>
              <a:ext uri="{FF2B5EF4-FFF2-40B4-BE49-F238E27FC236}">
                <a16:creationId xmlns:a16="http://schemas.microsoft.com/office/drawing/2014/main" id="{7AC46E9B-6A2F-DD1A-067F-15C1B370C1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91668" y="1346426"/>
            <a:ext cx="6800926" cy="396345"/>
          </a:xfrm>
          <a:prstGeom prst="chevron">
            <a:avLst>
              <a:gd name="adj" fmla="val 37537"/>
            </a:avLst>
          </a:prstGeom>
          <a:solidFill>
            <a:schemeClr val="accent6">
              <a:lumMod val="20000"/>
              <a:lumOff val="80000"/>
            </a:schemeClr>
          </a:solidFill>
          <a:ln w="9525" algn="ctr">
            <a:solidFill>
              <a:srgbClr val="4F81BD">
                <a:lumMod val="20000"/>
                <a:lumOff val="80000"/>
              </a:srgb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45716" rIns="36000" bIns="45716" anchor="ctr" anchorCtr="1"/>
          <a:lstStyle/>
          <a:p>
            <a:pPr marL="0" marR="0" lvl="0" indent="0" algn="ctr" defTabSz="914400" eaLnBrk="0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1000" b="1" i="0" u="none" strike="noStrike" kern="0" cap="none" spc="0" normalizeH="0" baseline="0" noProof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</a:rPr>
              <a:t>Anstellung USB</a:t>
            </a:r>
          </a:p>
        </p:txBody>
      </p:sp>
      <p:sp>
        <p:nvSpPr>
          <p:cNvPr id="20" name="AutoShape 24">
            <a:extLst>
              <a:ext uri="{FF2B5EF4-FFF2-40B4-BE49-F238E27FC236}">
                <a16:creationId xmlns:a16="http://schemas.microsoft.com/office/drawing/2014/main" id="{90E55CD8-6E3D-66D1-5E3C-E8692BE542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22268" y="1346426"/>
            <a:ext cx="1051394" cy="396345"/>
          </a:xfrm>
          <a:prstGeom prst="chevron">
            <a:avLst>
              <a:gd name="adj" fmla="val 37537"/>
            </a:avLst>
          </a:prstGeom>
          <a:solidFill>
            <a:schemeClr val="accent5">
              <a:lumMod val="20000"/>
              <a:lumOff val="80000"/>
            </a:schemeClr>
          </a:solidFill>
          <a:ln w="9525" algn="ctr">
            <a:solidFill>
              <a:srgbClr val="4F81BD">
                <a:lumMod val="20000"/>
                <a:lumOff val="80000"/>
              </a:srgb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45716" rIns="36000" bIns="45716" anchor="ctr" anchorCtr="1"/>
          <a:lstStyle/>
          <a:p>
            <a:pPr marL="0" marR="0" lvl="0" indent="0" algn="ctr" defTabSz="914400" eaLnBrk="0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1000" b="1" i="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</a:rPr>
              <a:t>Austritt</a:t>
            </a:r>
          </a:p>
        </p:txBody>
      </p:sp>
      <p:sp>
        <p:nvSpPr>
          <p:cNvPr id="22" name="Eingekerbter Richtungspfeil 85">
            <a:extLst>
              <a:ext uri="{FF2B5EF4-FFF2-40B4-BE49-F238E27FC236}">
                <a16:creationId xmlns:a16="http://schemas.microsoft.com/office/drawing/2014/main" id="{A2884065-EA6D-DD53-77D5-F7A978D37271}"/>
              </a:ext>
            </a:extLst>
          </p:cNvPr>
          <p:cNvSpPr/>
          <p:nvPr/>
        </p:nvSpPr>
        <p:spPr>
          <a:xfrm>
            <a:off x="5751062" y="1982439"/>
            <a:ext cx="400846" cy="2375116"/>
          </a:xfrm>
          <a:prstGeom prst="roundRect">
            <a:avLst/>
          </a:prstGeom>
          <a:solidFill>
            <a:schemeClr val="bg2">
              <a:lumMod val="20000"/>
              <a:lumOff val="80000"/>
            </a:schemeClr>
          </a:solidFill>
          <a:ln w="12700" cap="flat" cmpd="sng" algn="ctr">
            <a:solidFill>
              <a:srgbClr val="4F81BD">
                <a:lumMod val="60000"/>
                <a:lumOff val="40000"/>
              </a:srgbClr>
            </a:solidFill>
            <a:prstDash val="lgDashDot"/>
          </a:ln>
          <a:effectLst/>
        </p:spPr>
        <p:txBody>
          <a:bodyPr vert="vert270" lIns="91415" tIns="45705" rIns="91415" bIns="45705" rtlCol="0" anchor="t"/>
          <a:lstStyle/>
          <a:p>
            <a:pPr marL="0" marR="0" lvl="0" indent="0" algn="ctr" defTabSz="91414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1200" b="0" i="0" u="none" strike="noStrike" kern="0" cap="none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Austritt ist bestätigt</a:t>
            </a:r>
          </a:p>
        </p:txBody>
      </p:sp>
      <p:sp>
        <p:nvSpPr>
          <p:cNvPr id="7" name="AutoShape 24">
            <a:extLst>
              <a:ext uri="{FF2B5EF4-FFF2-40B4-BE49-F238E27FC236}">
                <a16:creationId xmlns:a16="http://schemas.microsoft.com/office/drawing/2014/main" id="{4F278493-B495-8465-DD25-CB005038D7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4494" y="3650378"/>
            <a:ext cx="1051394" cy="396345"/>
          </a:xfrm>
          <a:prstGeom prst="chevron">
            <a:avLst>
              <a:gd name="adj" fmla="val 37537"/>
            </a:avLst>
          </a:prstGeom>
          <a:solidFill>
            <a:schemeClr val="bg1">
              <a:lumMod val="85000"/>
            </a:schemeClr>
          </a:solidFill>
          <a:ln w="9525" algn="ctr">
            <a:solidFill>
              <a:srgbClr val="4F81BD">
                <a:lumMod val="20000"/>
                <a:lumOff val="80000"/>
              </a:srgb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45716" rIns="36000" bIns="45716" anchor="ctr" anchorCtr="1"/>
          <a:lstStyle/>
          <a:p>
            <a:pPr marL="0" marR="0" lvl="0" indent="0" algn="ctr" defTabSz="914400" eaLnBrk="0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10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(Teil-)</a:t>
            </a:r>
          </a:p>
          <a:p>
            <a:pPr marL="0" marR="0" lvl="0" indent="0" algn="ctr" defTabSz="914400" eaLnBrk="0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10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Ablauf Befristung</a:t>
            </a:r>
          </a:p>
        </p:txBody>
      </p:sp>
      <p:sp>
        <p:nvSpPr>
          <p:cNvPr id="13" name="AutoShape 24">
            <a:extLst>
              <a:ext uri="{FF2B5EF4-FFF2-40B4-BE49-F238E27FC236}">
                <a16:creationId xmlns:a16="http://schemas.microsoft.com/office/drawing/2014/main" id="{45A03DD0-C225-69DF-2ACC-17C3E9E7FE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4993" y="3018718"/>
            <a:ext cx="1051394" cy="396345"/>
          </a:xfrm>
          <a:prstGeom prst="chevron">
            <a:avLst>
              <a:gd name="adj" fmla="val 37537"/>
            </a:avLst>
          </a:prstGeom>
          <a:solidFill>
            <a:schemeClr val="accent2">
              <a:lumMod val="40000"/>
              <a:lumOff val="60000"/>
            </a:schemeClr>
          </a:solidFill>
          <a:ln w="9525" algn="ctr">
            <a:solidFill>
              <a:srgbClr val="4F81BD">
                <a:lumMod val="20000"/>
                <a:lumOff val="80000"/>
              </a:srgb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45716" rIns="36000" bIns="45716" anchor="ctr" anchorCtr="1"/>
          <a:lstStyle/>
          <a:p>
            <a:pPr marL="0" marR="0" lvl="0" indent="0" algn="ctr" defTabSz="914400" eaLnBrk="0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10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Kündigung AN</a:t>
            </a:r>
          </a:p>
        </p:txBody>
      </p:sp>
      <p:sp>
        <p:nvSpPr>
          <p:cNvPr id="14" name="AutoShape 24">
            <a:extLst>
              <a:ext uri="{FF2B5EF4-FFF2-40B4-BE49-F238E27FC236}">
                <a16:creationId xmlns:a16="http://schemas.microsoft.com/office/drawing/2014/main" id="{DFFAD4FA-5019-C2E5-4EFA-04264F7683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4494" y="3032628"/>
            <a:ext cx="1051394" cy="396345"/>
          </a:xfrm>
          <a:prstGeom prst="chevron">
            <a:avLst>
              <a:gd name="adj" fmla="val 37537"/>
            </a:avLst>
          </a:prstGeom>
          <a:solidFill>
            <a:schemeClr val="bg1">
              <a:lumMod val="85000"/>
            </a:schemeClr>
          </a:solidFill>
          <a:ln w="9525" algn="ctr">
            <a:solidFill>
              <a:srgbClr val="4F81BD">
                <a:lumMod val="20000"/>
                <a:lumOff val="80000"/>
              </a:srgb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45716" rIns="36000" bIns="45716" anchor="ctr" anchorCtr="1"/>
          <a:lstStyle/>
          <a:p>
            <a:pPr marL="0" marR="0" lvl="0" indent="0" algn="ctr" defTabSz="914400" eaLnBrk="0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10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(</a:t>
            </a:r>
            <a:r>
              <a:rPr lang="de-CH" sz="1000" b="1" kern="0">
                <a:solidFill>
                  <a:schemeClr val="tx2"/>
                </a:solidFill>
              </a:rPr>
              <a:t>Teil-) </a:t>
            </a:r>
            <a:r>
              <a:rPr kumimoji="0" lang="de-CH" sz="10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Pensionierung</a:t>
            </a:r>
          </a:p>
        </p:txBody>
      </p:sp>
      <p:sp>
        <p:nvSpPr>
          <p:cNvPr id="21" name="AutoShape 24">
            <a:extLst>
              <a:ext uri="{FF2B5EF4-FFF2-40B4-BE49-F238E27FC236}">
                <a16:creationId xmlns:a16="http://schemas.microsoft.com/office/drawing/2014/main" id="{BD79C34C-5C74-6385-2288-8A20467EE5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8048" y="2299688"/>
            <a:ext cx="1051394" cy="396345"/>
          </a:xfrm>
          <a:prstGeom prst="chevron">
            <a:avLst>
              <a:gd name="adj" fmla="val 37537"/>
            </a:avLst>
          </a:prstGeom>
          <a:solidFill>
            <a:schemeClr val="accent2">
              <a:lumMod val="60000"/>
              <a:lumOff val="40000"/>
            </a:schemeClr>
          </a:solidFill>
          <a:ln w="9525" algn="ctr">
            <a:solidFill>
              <a:srgbClr val="4F81BD">
                <a:lumMod val="20000"/>
                <a:lumOff val="80000"/>
              </a:srgb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45716" rIns="36000" bIns="45716" anchor="ctr" anchorCtr="1"/>
          <a:lstStyle/>
          <a:p>
            <a:pPr marL="0" marR="0" lvl="0" indent="0" algn="ctr" defTabSz="914400" eaLnBrk="0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10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Austritt melden</a:t>
            </a:r>
          </a:p>
        </p:txBody>
      </p:sp>
      <p:sp>
        <p:nvSpPr>
          <p:cNvPr id="25" name="AutoShape 24">
            <a:extLst>
              <a:ext uri="{FF2B5EF4-FFF2-40B4-BE49-F238E27FC236}">
                <a16:creationId xmlns:a16="http://schemas.microsoft.com/office/drawing/2014/main" id="{7C9F5584-97F2-0362-B75D-9ADD8480E0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60418" y="3613235"/>
            <a:ext cx="1051394" cy="396345"/>
          </a:xfrm>
          <a:prstGeom prst="chevron">
            <a:avLst>
              <a:gd name="adj" fmla="val 37537"/>
            </a:avLst>
          </a:prstGeom>
          <a:solidFill>
            <a:schemeClr val="bg1">
              <a:lumMod val="85000"/>
            </a:schemeClr>
          </a:solidFill>
          <a:ln w="9525" algn="ctr">
            <a:solidFill>
              <a:srgbClr val="4F81BD">
                <a:lumMod val="20000"/>
                <a:lumOff val="80000"/>
              </a:srgb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45716" rIns="36000" bIns="45716" anchor="ctr" anchorCtr="1"/>
          <a:lstStyle/>
          <a:p>
            <a:pPr marL="0" marR="0" lvl="0" indent="0" algn="ctr" defTabSz="914400" eaLnBrk="0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10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Austritts-befragung</a:t>
            </a:r>
          </a:p>
        </p:txBody>
      </p:sp>
      <p:sp>
        <p:nvSpPr>
          <p:cNvPr id="6" name="AutoShape 24">
            <a:extLst>
              <a:ext uri="{FF2B5EF4-FFF2-40B4-BE49-F238E27FC236}">
                <a16:creationId xmlns:a16="http://schemas.microsoft.com/office/drawing/2014/main" id="{6ACA92B7-EC5C-D1F8-83A6-572A55495D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4993" y="2336971"/>
            <a:ext cx="1051394" cy="396345"/>
          </a:xfrm>
          <a:prstGeom prst="chevron">
            <a:avLst>
              <a:gd name="adj" fmla="val 37537"/>
            </a:avLst>
          </a:prstGeom>
          <a:solidFill>
            <a:schemeClr val="accent2">
              <a:lumMod val="40000"/>
              <a:lumOff val="60000"/>
            </a:schemeClr>
          </a:solidFill>
          <a:ln w="9525" algn="ctr">
            <a:solidFill>
              <a:srgbClr val="4F81BD">
                <a:lumMod val="20000"/>
                <a:lumOff val="80000"/>
              </a:srgb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45716" rIns="36000" bIns="45716" anchor="ctr" anchorCtr="1"/>
          <a:lstStyle/>
          <a:p>
            <a:pPr marL="0" marR="0" lvl="0" indent="0" algn="ctr" defTabSz="914400" eaLnBrk="0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10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Kündigung AG</a:t>
            </a:r>
          </a:p>
        </p:txBody>
      </p:sp>
      <p:sp>
        <p:nvSpPr>
          <p:cNvPr id="17" name="Eingekerbter Richtungspfeil 85">
            <a:extLst>
              <a:ext uri="{FF2B5EF4-FFF2-40B4-BE49-F238E27FC236}">
                <a16:creationId xmlns:a16="http://schemas.microsoft.com/office/drawing/2014/main" id="{BD107569-CE8A-B1F7-610C-76E05F49CAE7}"/>
              </a:ext>
            </a:extLst>
          </p:cNvPr>
          <p:cNvSpPr/>
          <p:nvPr/>
        </p:nvSpPr>
        <p:spPr>
          <a:xfrm>
            <a:off x="1588932" y="4035492"/>
            <a:ext cx="1227897" cy="34572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 cap="flat" cmpd="sng" algn="ctr">
            <a:solidFill>
              <a:srgbClr val="4F81BD">
                <a:lumMod val="60000"/>
                <a:lumOff val="40000"/>
              </a:srgbClr>
            </a:solidFill>
            <a:prstDash val="lgDashDot"/>
          </a:ln>
          <a:effectLst/>
        </p:spPr>
        <p:txBody>
          <a:bodyPr vert="horz" lIns="91415" tIns="45705" rIns="91415" bIns="45705" rtlCol="0" anchor="t"/>
          <a:lstStyle/>
          <a:p>
            <a:pPr marL="0" marR="0" lvl="0" indent="0" algn="ctr" defTabSz="91414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1100" b="0" i="0" u="none" strike="noStrike" kern="0" cap="none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Info einholen</a:t>
            </a:r>
          </a:p>
        </p:txBody>
      </p:sp>
      <p:sp>
        <p:nvSpPr>
          <p:cNvPr id="24" name="Eingekerbter Richtungspfeil 85">
            <a:extLst>
              <a:ext uri="{FF2B5EF4-FFF2-40B4-BE49-F238E27FC236}">
                <a16:creationId xmlns:a16="http://schemas.microsoft.com/office/drawing/2014/main" id="{B33D391B-273D-1D56-C359-FB2F75600D21}"/>
              </a:ext>
            </a:extLst>
          </p:cNvPr>
          <p:cNvSpPr/>
          <p:nvPr/>
        </p:nvSpPr>
        <p:spPr>
          <a:xfrm>
            <a:off x="1613392" y="3283675"/>
            <a:ext cx="1197028" cy="34572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 cap="flat" cmpd="sng" algn="ctr">
            <a:solidFill>
              <a:srgbClr val="4F81BD">
                <a:lumMod val="60000"/>
                <a:lumOff val="40000"/>
              </a:srgbClr>
            </a:solidFill>
            <a:prstDash val="lgDashDot"/>
          </a:ln>
          <a:effectLst/>
        </p:spPr>
        <p:txBody>
          <a:bodyPr vert="horz" lIns="91415" tIns="45705" rIns="91415" bIns="45705" rtlCol="0" anchor="t"/>
          <a:lstStyle/>
          <a:p>
            <a:pPr marL="0" marR="0" lvl="0" indent="0" algn="ctr" defTabSz="91414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1100" b="0" i="0" u="none" strike="noStrike" kern="0" cap="none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Info einholen</a:t>
            </a:r>
          </a:p>
        </p:txBody>
      </p:sp>
      <p:sp>
        <p:nvSpPr>
          <p:cNvPr id="26" name="Eingekerbter Richtungspfeil 85">
            <a:extLst>
              <a:ext uri="{FF2B5EF4-FFF2-40B4-BE49-F238E27FC236}">
                <a16:creationId xmlns:a16="http://schemas.microsoft.com/office/drawing/2014/main" id="{A20E82CF-294F-83D2-875C-07AF35679CF9}"/>
              </a:ext>
            </a:extLst>
          </p:cNvPr>
          <p:cNvSpPr/>
          <p:nvPr/>
        </p:nvSpPr>
        <p:spPr>
          <a:xfrm>
            <a:off x="4343264" y="2620121"/>
            <a:ext cx="1227896" cy="345723"/>
          </a:xfrm>
          <a:prstGeom prst="roundRect">
            <a:avLst/>
          </a:prstGeom>
          <a:solidFill>
            <a:schemeClr val="bg2">
              <a:lumMod val="20000"/>
              <a:lumOff val="80000"/>
            </a:schemeClr>
          </a:solidFill>
          <a:ln w="12700" cap="flat" cmpd="sng" algn="ctr">
            <a:solidFill>
              <a:srgbClr val="4F81BD">
                <a:lumMod val="60000"/>
                <a:lumOff val="40000"/>
              </a:srgbClr>
            </a:solidFill>
            <a:prstDash val="lgDashDot"/>
          </a:ln>
          <a:effectLst/>
        </p:spPr>
        <p:txBody>
          <a:bodyPr vert="horz" lIns="91415" tIns="45705" rIns="91415" bIns="45705" rtlCol="0" anchor="t"/>
          <a:lstStyle/>
          <a:p>
            <a:pPr marL="0" marR="0" lvl="0" indent="0" algn="ctr" defTabSz="91414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1100" b="0" i="0" u="none" strike="noStrike" kern="0" cap="none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Einbezug HRB</a:t>
            </a:r>
          </a:p>
        </p:txBody>
      </p:sp>
      <p:cxnSp>
        <p:nvCxnSpPr>
          <p:cNvPr id="29" name="Gerade Verbindung mit Pfeil 28">
            <a:extLst>
              <a:ext uri="{FF2B5EF4-FFF2-40B4-BE49-F238E27FC236}">
                <a16:creationId xmlns:a16="http://schemas.microsoft.com/office/drawing/2014/main" id="{5DB818DD-986C-7014-0303-FA9E288F316E}"/>
              </a:ext>
            </a:extLst>
          </p:cNvPr>
          <p:cNvCxnSpPr>
            <a:cxnSpLocks/>
          </p:cNvCxnSpPr>
          <p:nvPr/>
        </p:nvCxnSpPr>
        <p:spPr>
          <a:xfrm>
            <a:off x="2473329" y="3178841"/>
            <a:ext cx="1090116" cy="655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Gerade Verbindung mit Pfeil 29">
            <a:extLst>
              <a:ext uri="{FF2B5EF4-FFF2-40B4-BE49-F238E27FC236}">
                <a16:creationId xmlns:a16="http://schemas.microsoft.com/office/drawing/2014/main" id="{DFC91BC2-FC53-29D8-D600-DC78F197FEFA}"/>
              </a:ext>
            </a:extLst>
          </p:cNvPr>
          <p:cNvCxnSpPr>
            <a:cxnSpLocks/>
          </p:cNvCxnSpPr>
          <p:nvPr/>
        </p:nvCxnSpPr>
        <p:spPr>
          <a:xfrm>
            <a:off x="2438917" y="3244346"/>
            <a:ext cx="1189048" cy="4859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Gerade Verbindung mit Pfeil 31">
            <a:extLst>
              <a:ext uri="{FF2B5EF4-FFF2-40B4-BE49-F238E27FC236}">
                <a16:creationId xmlns:a16="http://schemas.microsoft.com/office/drawing/2014/main" id="{9DDDB7A3-AF0A-B719-E12B-34532AB56B7B}"/>
              </a:ext>
            </a:extLst>
          </p:cNvPr>
          <p:cNvCxnSpPr>
            <a:cxnSpLocks/>
          </p:cNvCxnSpPr>
          <p:nvPr/>
        </p:nvCxnSpPr>
        <p:spPr>
          <a:xfrm>
            <a:off x="2490377" y="3844111"/>
            <a:ext cx="1189543" cy="691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0" name="Gruppieren 39">
            <a:extLst>
              <a:ext uri="{FF2B5EF4-FFF2-40B4-BE49-F238E27FC236}">
                <a16:creationId xmlns:a16="http://schemas.microsoft.com/office/drawing/2014/main" id="{E14450CE-20F5-106E-6408-F7ABE3C05E6A}"/>
              </a:ext>
            </a:extLst>
          </p:cNvPr>
          <p:cNvGrpSpPr/>
          <p:nvPr/>
        </p:nvGrpSpPr>
        <p:grpSpPr>
          <a:xfrm>
            <a:off x="3627965" y="3758855"/>
            <a:ext cx="1051394" cy="702644"/>
            <a:chOff x="3437696" y="3520794"/>
            <a:chExt cx="1051394" cy="702644"/>
          </a:xfrm>
        </p:grpSpPr>
        <p:sp>
          <p:nvSpPr>
            <p:cNvPr id="27" name="AutoShape 24">
              <a:extLst>
                <a:ext uri="{FF2B5EF4-FFF2-40B4-BE49-F238E27FC236}">
                  <a16:creationId xmlns:a16="http://schemas.microsoft.com/office/drawing/2014/main" id="{901E8501-7ED3-D828-F07B-D070716067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37696" y="3827093"/>
              <a:ext cx="1051394" cy="396345"/>
            </a:xfrm>
            <a:prstGeom prst="chevron">
              <a:avLst>
                <a:gd name="adj" fmla="val 0"/>
              </a:avLst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lIns="36000" tIns="45716" rIns="36000" bIns="45716" anchor="ctr" anchorCtr="1"/>
            <a:lstStyle/>
            <a:p>
              <a:pPr marL="0" marR="0" lvl="0" indent="0" algn="ctr" defTabSz="914400" eaLnBrk="0" fontAlgn="auto" latinLnBrk="0" hangingPunct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CH" sz="1000" b="1" i="0" u="none" strike="noStrike" kern="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</a:rPr>
                <a:t>Vertragsablauf</a:t>
              </a:r>
            </a:p>
          </p:txBody>
        </p:sp>
        <p:sp>
          <p:nvSpPr>
            <p:cNvPr id="37" name="Ellipse 36">
              <a:extLst>
                <a:ext uri="{FF2B5EF4-FFF2-40B4-BE49-F238E27FC236}">
                  <a16:creationId xmlns:a16="http://schemas.microsoft.com/office/drawing/2014/main" id="{6D309448-6B2B-3FC0-9841-FDD4345EC8D8}"/>
                </a:ext>
              </a:extLst>
            </p:cNvPr>
            <p:cNvSpPr/>
            <p:nvPr/>
          </p:nvSpPr>
          <p:spPr>
            <a:xfrm>
              <a:off x="3776360" y="3520794"/>
              <a:ext cx="349105" cy="349105"/>
            </a:xfrm>
            <a:prstGeom prst="ellipse">
              <a:avLst/>
            </a:prstGeom>
            <a:noFill/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</p:grpSp>
      <p:sp>
        <p:nvSpPr>
          <p:cNvPr id="38" name="Eingekerbter Richtungspfeil 85">
            <a:extLst>
              <a:ext uri="{FF2B5EF4-FFF2-40B4-BE49-F238E27FC236}">
                <a16:creationId xmlns:a16="http://schemas.microsoft.com/office/drawing/2014/main" id="{FF8541BE-BB3C-BBDE-7EC5-DD96162D55BB}"/>
              </a:ext>
            </a:extLst>
          </p:cNvPr>
          <p:cNvSpPr/>
          <p:nvPr/>
        </p:nvSpPr>
        <p:spPr>
          <a:xfrm>
            <a:off x="6249431" y="2808286"/>
            <a:ext cx="1270967" cy="872120"/>
          </a:xfrm>
          <a:prstGeom prst="roundRect">
            <a:avLst/>
          </a:prstGeom>
          <a:solidFill>
            <a:schemeClr val="bg2">
              <a:lumMod val="20000"/>
              <a:lumOff val="80000"/>
            </a:schemeClr>
          </a:solidFill>
          <a:ln w="12700" cap="flat" cmpd="sng" algn="ctr">
            <a:solidFill>
              <a:srgbClr val="4F81BD">
                <a:lumMod val="60000"/>
                <a:lumOff val="40000"/>
              </a:srgbClr>
            </a:solidFill>
            <a:prstDash val="lgDashDot"/>
          </a:ln>
          <a:effectLst/>
        </p:spPr>
        <p:txBody>
          <a:bodyPr vert="horz" lIns="91415" tIns="45705" rIns="91415" bIns="45705" rtlCol="0" anchor="t"/>
          <a:lstStyle/>
          <a:p>
            <a:pPr marL="0" marR="0" lvl="0" indent="0" algn="ctr" defTabSz="91414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1100" b="0" i="0" u="none" strike="noStrike" kern="0" cap="none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Inkl. Grund/ Details (Teil-) Pensionierung, Freistellung etc.</a:t>
            </a:r>
          </a:p>
        </p:txBody>
      </p:sp>
      <p:sp>
        <p:nvSpPr>
          <p:cNvPr id="41" name="Eingekerbter Richtungspfeil 85">
            <a:extLst>
              <a:ext uri="{FF2B5EF4-FFF2-40B4-BE49-F238E27FC236}">
                <a16:creationId xmlns:a16="http://schemas.microsoft.com/office/drawing/2014/main" id="{88439980-9CE8-E238-F532-E8E8D6BF8BBD}"/>
              </a:ext>
            </a:extLst>
          </p:cNvPr>
          <p:cNvSpPr/>
          <p:nvPr/>
        </p:nvSpPr>
        <p:spPr>
          <a:xfrm>
            <a:off x="8431573" y="6266367"/>
            <a:ext cx="176502" cy="172861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 cap="flat" cmpd="sng" algn="ctr">
            <a:noFill/>
            <a:prstDash val="lgDashDot"/>
          </a:ln>
          <a:effectLst/>
        </p:spPr>
        <p:txBody>
          <a:bodyPr vert="horz" lIns="91415" tIns="45705" rIns="91415" bIns="45705" rtlCol="0" anchor="t"/>
          <a:lstStyle/>
          <a:p>
            <a:pPr marL="0" marR="0" lvl="0" indent="0" algn="ctr" defTabSz="91414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CH" sz="1200" b="0" i="0" u="none" strike="noStrike" kern="0" cap="none" spc="0" normalizeH="0" baseline="0" noProof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2" name="Textfeld 41">
            <a:extLst>
              <a:ext uri="{FF2B5EF4-FFF2-40B4-BE49-F238E27FC236}">
                <a16:creationId xmlns:a16="http://schemas.microsoft.com/office/drawing/2014/main" id="{1F26CF1C-6F9A-4632-879C-5A880A604098}"/>
              </a:ext>
            </a:extLst>
          </p:cNvPr>
          <p:cNvSpPr txBox="1"/>
          <p:nvPr/>
        </p:nvSpPr>
        <p:spPr>
          <a:xfrm>
            <a:off x="8736911" y="6184124"/>
            <a:ext cx="1484671" cy="25510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ts val="2400"/>
              </a:lnSpc>
              <a:spcAft>
                <a:spcPts val="900"/>
              </a:spcAft>
            </a:pPr>
            <a:r>
              <a:rPr lang="de-CH" sz="1200"/>
              <a:t>Out-</a:t>
            </a:r>
            <a:r>
              <a:rPr lang="de-CH" sz="1200" err="1"/>
              <a:t>of</a:t>
            </a:r>
            <a:r>
              <a:rPr lang="de-CH" sz="1200"/>
              <a:t>-</a:t>
            </a:r>
            <a:r>
              <a:rPr lang="de-CH" sz="1200" err="1"/>
              <a:t>scope</a:t>
            </a:r>
            <a:endParaRPr lang="de-CH" sz="1200"/>
          </a:p>
        </p:txBody>
      </p:sp>
      <p:sp>
        <p:nvSpPr>
          <p:cNvPr id="43" name="Textfeld 42">
            <a:extLst>
              <a:ext uri="{FF2B5EF4-FFF2-40B4-BE49-F238E27FC236}">
                <a16:creationId xmlns:a16="http://schemas.microsoft.com/office/drawing/2014/main" id="{7FC8DA82-B1AB-2051-A477-72DD920E0FFD}"/>
              </a:ext>
            </a:extLst>
          </p:cNvPr>
          <p:cNvSpPr txBox="1"/>
          <p:nvPr/>
        </p:nvSpPr>
        <p:spPr>
          <a:xfrm>
            <a:off x="3193343" y="5215016"/>
            <a:ext cx="7223413" cy="67519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ts val="2400"/>
              </a:lnSpc>
              <a:spcAft>
                <a:spcPts val="900"/>
              </a:spcAft>
            </a:pPr>
            <a:r>
              <a:rPr lang="de-CH" sz="1200"/>
              <a:t>Einheitlicher Prozess für alle Austrittsarten. Variationen werden aufgrund des unterschiedlichen «Austrittsgrunds» in der Meldung festgehalten und steuern entsprechend den weiterführenden Prozess. </a:t>
            </a:r>
          </a:p>
        </p:txBody>
      </p:sp>
      <p:sp>
        <p:nvSpPr>
          <p:cNvPr id="48" name="Eingekerbter Richtungspfeil 85">
            <a:extLst>
              <a:ext uri="{FF2B5EF4-FFF2-40B4-BE49-F238E27FC236}">
                <a16:creationId xmlns:a16="http://schemas.microsoft.com/office/drawing/2014/main" id="{14489E08-7976-7CCE-BC28-D702308C17F9}"/>
              </a:ext>
            </a:extLst>
          </p:cNvPr>
          <p:cNvSpPr/>
          <p:nvPr/>
        </p:nvSpPr>
        <p:spPr>
          <a:xfrm>
            <a:off x="8431573" y="6521081"/>
            <a:ext cx="176502" cy="172861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12700" cap="flat" cmpd="sng" algn="ctr">
            <a:noFill/>
            <a:prstDash val="lgDashDot"/>
          </a:ln>
          <a:effectLst/>
        </p:spPr>
        <p:txBody>
          <a:bodyPr vert="horz" lIns="91415" tIns="45705" rIns="91415" bIns="45705" rtlCol="0" anchor="t"/>
          <a:lstStyle/>
          <a:p>
            <a:pPr marL="0" marR="0" lvl="0" indent="0" algn="ctr" defTabSz="91414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CH" sz="1200" b="0" i="0" u="none" strike="noStrike" kern="0" cap="none" spc="0" normalizeH="0" baseline="0" noProof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9" name="Textfeld 48">
            <a:extLst>
              <a:ext uri="{FF2B5EF4-FFF2-40B4-BE49-F238E27FC236}">
                <a16:creationId xmlns:a16="http://schemas.microsoft.com/office/drawing/2014/main" id="{8953A345-C68C-8A83-B03D-E2F11FE3917F}"/>
              </a:ext>
            </a:extLst>
          </p:cNvPr>
          <p:cNvSpPr txBox="1"/>
          <p:nvPr/>
        </p:nvSpPr>
        <p:spPr>
          <a:xfrm>
            <a:off x="8736911" y="6438838"/>
            <a:ext cx="1484671" cy="25510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ts val="2400"/>
              </a:lnSpc>
              <a:spcAft>
                <a:spcPts val="900"/>
              </a:spcAft>
            </a:pPr>
            <a:r>
              <a:rPr lang="de-CH" sz="1200"/>
              <a:t>In-</a:t>
            </a:r>
            <a:r>
              <a:rPr lang="de-CH" sz="1200" err="1"/>
              <a:t>scope</a:t>
            </a:r>
            <a:endParaRPr lang="de-CH" sz="1200"/>
          </a:p>
        </p:txBody>
      </p:sp>
    </p:spTree>
    <p:extLst>
      <p:ext uri="{BB962C8B-B14F-4D97-AF65-F5344CB8AC3E}">
        <p14:creationId xmlns:p14="http://schemas.microsoft.com/office/powerpoint/2010/main" val="39692569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B20D7D39-A12F-4AE8-729E-56658C7E9A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08.07.2026</a:t>
            </a:r>
            <a:endParaRPr lang="de-CH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AF8B5C00-47AE-6B38-82A9-7C5E9B2202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Zwischenbericht Digitalisierung Austrittsprozess USB</a:t>
            </a:r>
            <a:endParaRPr lang="de-CH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D556B6F4-6E72-10B9-DBA9-D7D33AEDF0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/>
              <a:t>Kündigung AG</a:t>
            </a:r>
          </a:p>
        </p:txBody>
      </p:sp>
      <p:graphicFrame>
        <p:nvGraphicFramePr>
          <p:cNvPr id="6" name="Inhaltsplatzhalter 5">
            <a:extLst>
              <a:ext uri="{FF2B5EF4-FFF2-40B4-BE49-F238E27FC236}">
                <a16:creationId xmlns:a16="http://schemas.microsoft.com/office/drawing/2014/main" id="{185E4CEA-EE62-B683-0EDB-79A3998E1C03}"/>
              </a:ext>
            </a:extLst>
          </p:cNvPr>
          <p:cNvGraphicFramePr>
            <a:graphicFrameLocks noGrp="1"/>
          </p:cNvGraphicFramePr>
          <p:nvPr>
            <p:ph sz="quarter" idx="14"/>
          </p:nvPr>
        </p:nvGraphicFramePr>
        <p:xfrm>
          <a:off x="0" y="875122"/>
          <a:ext cx="12192000" cy="61972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1126">
                  <a:extLst>
                    <a:ext uri="{9D8B030D-6E8A-4147-A177-3AD203B41FA5}">
                      <a16:colId xmlns:a16="http://schemas.microsoft.com/office/drawing/2014/main" val="773636897"/>
                    </a:ext>
                  </a:extLst>
                </a:gridCol>
                <a:gridCol w="2507925">
                  <a:extLst>
                    <a:ext uri="{9D8B030D-6E8A-4147-A177-3AD203B41FA5}">
                      <a16:colId xmlns:a16="http://schemas.microsoft.com/office/drawing/2014/main" val="839092468"/>
                    </a:ext>
                  </a:extLst>
                </a:gridCol>
                <a:gridCol w="2936149">
                  <a:extLst>
                    <a:ext uri="{9D8B030D-6E8A-4147-A177-3AD203B41FA5}">
                      <a16:colId xmlns:a16="http://schemas.microsoft.com/office/drawing/2014/main" val="2842277065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1223205276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1261674189"/>
                    </a:ext>
                  </a:extLst>
                </a:gridCol>
              </a:tblGrid>
              <a:tr h="421190">
                <a:tc>
                  <a:txBody>
                    <a:bodyPr/>
                    <a:lstStyle/>
                    <a:p>
                      <a:r>
                        <a:rPr lang="de-CH" sz="1600"/>
                        <a:t>Supplier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1600"/>
                        <a:t>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1600"/>
                        <a:t>Prozess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1600"/>
                        <a:t>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1600"/>
                        <a:t>Customer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899329"/>
                  </a:ext>
                </a:extLst>
              </a:tr>
              <a:tr h="1488590">
                <a:tc>
                  <a:txBody>
                    <a:bodyPr/>
                    <a:lstStyle/>
                    <a:p>
                      <a:r>
                        <a:rPr lang="de-CH" sz="1600"/>
                        <a:t>Vorgesetzter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1600"/>
                        <a:t>Kündigungsgrund</a:t>
                      </a:r>
                    </a:p>
                    <a:p>
                      <a:r>
                        <a:rPr lang="de-CH" sz="1600"/>
                        <a:t>Informationen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de-CH" sz="1600"/>
                        <a:t>HR Beratung über Kündigungsabsicht informieren 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de-CH" sz="1600"/>
                        <a:t>Mit HR Beratung Details besprechen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de-CH" sz="1600"/>
                        <a:t>Details zur Kündigung sind geklärt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de-CH" sz="1600"/>
                        <a:t>HR Beratung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3149185"/>
                  </a:ext>
                </a:extLst>
              </a:tr>
              <a:tr h="1488590">
                <a:tc>
                  <a:txBody>
                    <a:bodyPr/>
                    <a:lstStyle/>
                    <a:p>
                      <a:r>
                        <a:rPr lang="de-CH" sz="1600"/>
                        <a:t>Vorgesetzter (</a:t>
                      </a:r>
                      <a:r>
                        <a:rPr lang="de-CH" sz="1600" err="1"/>
                        <a:t>AuW</a:t>
                      </a:r>
                      <a:r>
                        <a:rPr lang="de-CH" sz="160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1600"/>
                        <a:t>Kündigungsgrund</a:t>
                      </a:r>
                    </a:p>
                    <a:p>
                      <a:r>
                        <a:rPr lang="de-CH" sz="1600"/>
                        <a:t>Informationen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de-CH" sz="1600"/>
                        <a:t>BV über Kündigungsabsicht informieren 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de-CH" sz="1600"/>
                        <a:t>Mit BV Details besprechen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de-CH" sz="1600"/>
                        <a:t>Ausbildungsbehörden informieren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de-CH" sz="1600"/>
                        <a:t>Details zur Kündigung sind geklärt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de-CH" sz="1600"/>
                        <a:t>BV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de-CH" sz="1600"/>
                        <a:t>Ausbildungsbehörden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4760123"/>
                  </a:ext>
                </a:extLst>
              </a:tr>
              <a:tr h="934696">
                <a:tc>
                  <a:txBody>
                    <a:bodyPr/>
                    <a:lstStyle/>
                    <a:p>
                      <a:r>
                        <a:rPr lang="de-CH" sz="1600"/>
                        <a:t>HR Beratung, BV, FV, HR Support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CH" sz="1600"/>
                        <a:t>Details zur Kündigung sind geklärt</a:t>
                      </a:r>
                    </a:p>
                    <a:p>
                      <a:endParaRPr lang="de-CH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de-CH" sz="1600"/>
                        <a:t>Kündigung/Vereinbarung erstellen (HR Support) &amp; unterzeichnen (FV+ HR Beratung oder BV + Leitung Ausbildung)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de-CH" sz="1600"/>
                        <a:t>Dem MA übergeben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de-CH" sz="1600"/>
                        <a:t>Ablage im </a:t>
                      </a:r>
                      <a:r>
                        <a:rPr lang="de-CH" sz="1600" err="1"/>
                        <a:t>eDossier</a:t>
                      </a:r>
                      <a:endParaRPr lang="de-CH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de-CH" sz="1600"/>
                        <a:t>Kündigungsschreiben (Auflösungsvereinbarung), Verfügung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de-CH" sz="1600"/>
                        <a:t>MA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4676732"/>
                  </a:ext>
                </a:extLst>
              </a:tr>
              <a:tr h="934696">
                <a:tc>
                  <a:txBody>
                    <a:bodyPr/>
                    <a:lstStyle/>
                    <a:p>
                      <a:r>
                        <a:rPr lang="de-CH" sz="1600"/>
                        <a:t>HR Beratung, BV, FV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1600"/>
                        <a:t>Freistellungsvereinbarung innerhalb Kündigung / Auflösung ist gegeben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de-CH" sz="1600"/>
                        <a:t>Details zur Freistellung geklärt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de-CH" sz="1600"/>
                        <a:t>Freistellung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de-CH" sz="1600"/>
                        <a:t>HR Time Management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27457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109714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6A1C20-9B89-62D0-015A-831B7E4977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64EFEB0F-4EBB-5800-5424-A0DC4309A7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08.07.2026</a:t>
            </a:r>
            <a:endParaRPr lang="de-CH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64717416-9A3B-3144-46FC-A9472B7F26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Zwischenbericht Digitalisierung Austrittsprozess USB</a:t>
            </a:r>
            <a:endParaRPr lang="de-CH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1DA1FCF7-8CEC-E8C4-995D-9DB30352B7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368" y="133407"/>
            <a:ext cx="11376644" cy="863874"/>
          </a:xfrm>
        </p:spPr>
        <p:txBody>
          <a:bodyPr/>
          <a:lstStyle/>
          <a:p>
            <a:r>
              <a:rPr lang="de-CH"/>
              <a:t>Austritt melden</a:t>
            </a:r>
          </a:p>
        </p:txBody>
      </p:sp>
      <p:graphicFrame>
        <p:nvGraphicFramePr>
          <p:cNvPr id="6" name="Inhaltsplatzhalter 5">
            <a:extLst>
              <a:ext uri="{FF2B5EF4-FFF2-40B4-BE49-F238E27FC236}">
                <a16:creationId xmlns:a16="http://schemas.microsoft.com/office/drawing/2014/main" id="{7991B972-7CAB-ACDA-0B50-5272649698E7}"/>
              </a:ext>
            </a:extLst>
          </p:cNvPr>
          <p:cNvGraphicFramePr>
            <a:graphicFrameLocks noGrp="1"/>
          </p:cNvGraphicFramePr>
          <p:nvPr>
            <p:ph sz="quarter" idx="14"/>
          </p:nvPr>
        </p:nvGraphicFramePr>
        <p:xfrm>
          <a:off x="-360" y="635103"/>
          <a:ext cx="12192000" cy="63078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0621">
                  <a:extLst>
                    <a:ext uri="{9D8B030D-6E8A-4147-A177-3AD203B41FA5}">
                      <a16:colId xmlns:a16="http://schemas.microsoft.com/office/drawing/2014/main" val="773636897"/>
                    </a:ext>
                  </a:extLst>
                </a:gridCol>
                <a:gridCol w="2494722">
                  <a:extLst>
                    <a:ext uri="{9D8B030D-6E8A-4147-A177-3AD203B41FA5}">
                      <a16:colId xmlns:a16="http://schemas.microsoft.com/office/drawing/2014/main" val="839092468"/>
                    </a:ext>
                  </a:extLst>
                </a:gridCol>
                <a:gridCol w="4214191">
                  <a:extLst>
                    <a:ext uri="{9D8B030D-6E8A-4147-A177-3AD203B41FA5}">
                      <a16:colId xmlns:a16="http://schemas.microsoft.com/office/drawing/2014/main" val="2842277065"/>
                    </a:ext>
                  </a:extLst>
                </a:gridCol>
                <a:gridCol w="1997765">
                  <a:extLst>
                    <a:ext uri="{9D8B030D-6E8A-4147-A177-3AD203B41FA5}">
                      <a16:colId xmlns:a16="http://schemas.microsoft.com/office/drawing/2014/main" val="1223205276"/>
                    </a:ext>
                  </a:extLst>
                </a:gridCol>
                <a:gridCol w="1894701">
                  <a:extLst>
                    <a:ext uri="{9D8B030D-6E8A-4147-A177-3AD203B41FA5}">
                      <a16:colId xmlns:a16="http://schemas.microsoft.com/office/drawing/2014/main" val="1261674189"/>
                    </a:ext>
                  </a:extLst>
                </a:gridCol>
              </a:tblGrid>
              <a:tr h="425234">
                <a:tc>
                  <a:txBody>
                    <a:bodyPr/>
                    <a:lstStyle/>
                    <a:p>
                      <a:r>
                        <a:rPr lang="de-CH" sz="1600"/>
                        <a:t>Supplier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1600"/>
                        <a:t>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1600"/>
                        <a:t>Prozess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1600"/>
                        <a:t>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1600"/>
                        <a:t>Customer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899329"/>
                  </a:ext>
                </a:extLst>
              </a:tr>
              <a:tr h="943669">
                <a:tc>
                  <a:txBody>
                    <a:bodyPr/>
                    <a:lstStyle/>
                    <a:p>
                      <a:r>
                        <a:rPr lang="de-CH" sz="1600"/>
                        <a:t>HR Beratung, </a:t>
                      </a:r>
                      <a:r>
                        <a:rPr lang="de-CH" sz="1600" err="1">
                          <a:highlight>
                            <a:srgbClr val="FFFF00"/>
                          </a:highlight>
                        </a:rPr>
                        <a:t>AuW</a:t>
                      </a:r>
                      <a:endParaRPr lang="de-CH" sz="160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1600"/>
                        <a:t>Kündigung AG (Kündigungsschreiben / Auflösungsvereinbarung)</a:t>
                      </a:r>
                      <a:endParaRPr lang="de-CH" sz="160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de-CH" sz="1600"/>
                        <a:t>Kündigung AG mit allen nötigen Informationen an HR Support übergeben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de-CH" sz="1600"/>
                        <a:t>Jira Ticket mit Kündigung / Auflösung im Anhang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de-CH" sz="1600"/>
                        <a:t>HR Support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3149185"/>
                  </a:ext>
                </a:extLst>
              </a:tr>
              <a:tr h="943669">
                <a:tc>
                  <a:txBody>
                    <a:bodyPr/>
                    <a:lstStyle/>
                    <a:p>
                      <a:r>
                        <a:rPr lang="de-CH" sz="1600"/>
                        <a:t>MA / FV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1600"/>
                        <a:t>Kündigung AN (inkl. Frühzeitige Pensionierung)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de-CH" sz="1600"/>
                        <a:t>MA oder FV: Kündigung melden (digital)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de-CH" sz="1600"/>
                        <a:t>Auswahl der Anstellung, die gekündigt wird. Frühzeitige Pensionierung: zusätzliche Felder, Übertritt keine Kündigung.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de-CH" sz="1600"/>
                        <a:t>Eingang über HR Support weiterhin möglich.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de-CH" sz="1600"/>
                        <a:t>Wenn durch MA an HR Support gemeldet wird -&gt; FV wird automatisch informiert 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de-CH" sz="1600"/>
                        <a:t>Wenn gemäss EAV/GAV Kündigungsfrist nicht eingehalten, Bestätigung durch FV der frühzeitigen Kündigung nötig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de-CH" sz="1600"/>
                        <a:t>Kündigung im </a:t>
                      </a:r>
                      <a:r>
                        <a:rPr lang="de-CH" sz="1600" err="1"/>
                        <a:t>eDossier</a:t>
                      </a:r>
                      <a:r>
                        <a:rPr lang="de-CH" sz="1600"/>
                        <a:t> ablegen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de-CH" sz="1600"/>
                        <a:t>Jira Ticket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de-CH" sz="1600">
                          <a:highlight>
                            <a:srgbClr val="FFFF00"/>
                          </a:highlight>
                        </a:rPr>
                        <a:t>HR Admin (wenn frühzeitiger Austritt bestätigt, sonst Zwischenkontrolle bei HR Support)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de-CH" sz="1600"/>
                        <a:t>HR Beratung (Rückzahlungspflicht ja)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4676732"/>
                  </a:ext>
                </a:extLst>
              </a:tr>
              <a:tr h="1223275">
                <a:tc>
                  <a:txBody>
                    <a:bodyPr/>
                    <a:lstStyle/>
                    <a:p>
                      <a:r>
                        <a:rPr lang="de-CH" sz="1600"/>
                        <a:t>HR Support,</a:t>
                      </a:r>
                    </a:p>
                    <a:p>
                      <a:r>
                        <a:rPr lang="de-CH" sz="1600" err="1"/>
                        <a:t>AuW</a:t>
                      </a:r>
                      <a:endParaRPr lang="de-CH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1600"/>
                        <a:t>Bestätigung Vertragsablauf von FV (inkl. Ordentliche Pensionierung)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de-CH" sz="1600"/>
                        <a:t>Information zu Ablauf als Jira Ticket erfassen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de-CH" sz="1600" err="1"/>
                        <a:t>AuW</a:t>
                      </a:r>
                      <a:r>
                        <a:rPr lang="de-CH" sz="1600"/>
                        <a:t> = Excel gemeinsame SP Liste bleibt </a:t>
                      </a:r>
                      <a:r>
                        <a:rPr lang="de-CH" sz="1600">
                          <a:highlight>
                            <a:srgbClr val="FFFF00"/>
                          </a:highlight>
                          <a:sym typeface="Wingdings" panose="05000000000000000000" pitchFamily="2" charset="2"/>
                        </a:rPr>
                        <a:t> was braucht es, dass der Prozess hier harmonisiert werden kann?</a:t>
                      </a:r>
                      <a:endParaRPr lang="de-CH" sz="160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de-CH" sz="1600"/>
                        <a:t>Jira Ticket mit Info zum Austritt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de-CH" sz="1600">
                          <a:highlight>
                            <a:srgbClr val="FFFF00"/>
                          </a:highlight>
                        </a:rPr>
                        <a:t>HR Admin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de-CH" sz="1600">
                          <a:highlight>
                            <a:srgbClr val="FFFF00"/>
                          </a:highlight>
                        </a:rPr>
                        <a:t>HR </a:t>
                      </a:r>
                      <a:r>
                        <a:rPr lang="de-CH" sz="1600" err="1">
                          <a:highlight>
                            <a:srgbClr val="FFFF00"/>
                          </a:highlight>
                        </a:rPr>
                        <a:t>Payroll</a:t>
                      </a:r>
                      <a:endParaRPr lang="de-CH" sz="1600">
                        <a:highlight>
                          <a:srgbClr val="FFFF00"/>
                        </a:highlight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de-CH" sz="1600">
                          <a:highlight>
                            <a:srgbClr val="FFFF00"/>
                          </a:highlight>
                        </a:rPr>
                        <a:t>HR TM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84765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9376689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94A8D1-630A-4A4B-3284-3B10A373C1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8C64A3E1-ED1C-5081-4834-0E65D043AF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08.07.2026</a:t>
            </a:r>
            <a:endParaRPr lang="de-CH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C667714A-A94B-0AC6-83F9-AFFB4D1D33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Zwischenbericht Digitalisierung Austrittsprozess USB</a:t>
            </a:r>
            <a:endParaRPr lang="de-CH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B0793B80-BEF1-986D-8DC8-BFE6D575E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368" y="133407"/>
            <a:ext cx="11376644" cy="863874"/>
          </a:xfrm>
        </p:spPr>
        <p:txBody>
          <a:bodyPr/>
          <a:lstStyle/>
          <a:p>
            <a:r>
              <a:rPr lang="de-CH"/>
              <a:t>Austritt melden</a:t>
            </a:r>
          </a:p>
        </p:txBody>
      </p:sp>
      <p:graphicFrame>
        <p:nvGraphicFramePr>
          <p:cNvPr id="6" name="Inhaltsplatzhalter 5">
            <a:extLst>
              <a:ext uri="{FF2B5EF4-FFF2-40B4-BE49-F238E27FC236}">
                <a16:creationId xmlns:a16="http://schemas.microsoft.com/office/drawing/2014/main" id="{4A1BCE8F-E5E8-7541-1223-B791C6C6368E}"/>
              </a:ext>
            </a:extLst>
          </p:cNvPr>
          <p:cNvGraphicFramePr>
            <a:graphicFrameLocks noGrp="1"/>
          </p:cNvGraphicFramePr>
          <p:nvPr>
            <p:ph sz="quarter" idx="14"/>
          </p:nvPr>
        </p:nvGraphicFramePr>
        <p:xfrm>
          <a:off x="-360" y="793966"/>
          <a:ext cx="12192000" cy="47533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0621">
                  <a:extLst>
                    <a:ext uri="{9D8B030D-6E8A-4147-A177-3AD203B41FA5}">
                      <a16:colId xmlns:a16="http://schemas.microsoft.com/office/drawing/2014/main" val="773636897"/>
                    </a:ext>
                  </a:extLst>
                </a:gridCol>
                <a:gridCol w="2494722">
                  <a:extLst>
                    <a:ext uri="{9D8B030D-6E8A-4147-A177-3AD203B41FA5}">
                      <a16:colId xmlns:a16="http://schemas.microsoft.com/office/drawing/2014/main" val="839092468"/>
                    </a:ext>
                  </a:extLst>
                </a:gridCol>
                <a:gridCol w="4214191">
                  <a:extLst>
                    <a:ext uri="{9D8B030D-6E8A-4147-A177-3AD203B41FA5}">
                      <a16:colId xmlns:a16="http://schemas.microsoft.com/office/drawing/2014/main" val="2842277065"/>
                    </a:ext>
                  </a:extLst>
                </a:gridCol>
                <a:gridCol w="1997765">
                  <a:extLst>
                    <a:ext uri="{9D8B030D-6E8A-4147-A177-3AD203B41FA5}">
                      <a16:colId xmlns:a16="http://schemas.microsoft.com/office/drawing/2014/main" val="1223205276"/>
                    </a:ext>
                  </a:extLst>
                </a:gridCol>
                <a:gridCol w="1894701">
                  <a:extLst>
                    <a:ext uri="{9D8B030D-6E8A-4147-A177-3AD203B41FA5}">
                      <a16:colId xmlns:a16="http://schemas.microsoft.com/office/drawing/2014/main" val="1261674189"/>
                    </a:ext>
                  </a:extLst>
                </a:gridCol>
              </a:tblGrid>
              <a:tr h="425234">
                <a:tc>
                  <a:txBody>
                    <a:bodyPr/>
                    <a:lstStyle/>
                    <a:p>
                      <a:r>
                        <a:rPr lang="de-CH" sz="1600"/>
                        <a:t>Supplier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1600"/>
                        <a:t>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1600"/>
                        <a:t>Prozess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1600"/>
                        <a:t>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1600"/>
                        <a:t>Customer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899329"/>
                  </a:ext>
                </a:extLst>
              </a:tr>
              <a:tr h="510708">
                <a:tc>
                  <a:txBody>
                    <a:bodyPr/>
                    <a:lstStyle/>
                    <a:p>
                      <a:r>
                        <a:rPr lang="de-CH" sz="1600"/>
                        <a:t>System oder HR Admin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1600"/>
                        <a:t>Kündigungsdatum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de-CH" sz="1600"/>
                        <a:t>Kündigung bestätigen (Auslösen der Bestätigung an MA mit x Anhängen, Auslösen der Info an FV </a:t>
                      </a:r>
                      <a:r>
                        <a:rPr lang="de-CH" sz="1600">
                          <a:sym typeface="Wingdings" panose="05000000000000000000" pitchFamily="2" charset="2"/>
                        </a:rPr>
                        <a:t> Vorlagen auslösen/ </a:t>
                      </a:r>
                      <a:r>
                        <a:rPr lang="de-CH" sz="1600" err="1">
                          <a:sym typeface="Wingdings" panose="05000000000000000000" pitchFamily="2" charset="2"/>
                        </a:rPr>
                        <a:t>autom</a:t>
                      </a:r>
                      <a:r>
                        <a:rPr lang="de-CH" sz="1600">
                          <a:sym typeface="Wingdings" panose="05000000000000000000" pitchFamily="2" charset="2"/>
                        </a:rPr>
                        <a:t>. versenden</a:t>
                      </a:r>
                      <a:r>
                        <a:rPr lang="de-CH" sz="1600"/>
                        <a:t>), Bestätigungsschreiben </a:t>
                      </a:r>
                      <a:r>
                        <a:rPr lang="de-CH" sz="1600" err="1"/>
                        <a:t>autom</a:t>
                      </a:r>
                      <a:r>
                        <a:rPr lang="de-CH" sz="1600"/>
                        <a:t>. Ins </a:t>
                      </a:r>
                      <a:r>
                        <a:rPr lang="de-CH" sz="1600" err="1"/>
                        <a:t>eDossier</a:t>
                      </a:r>
                      <a:r>
                        <a:rPr lang="de-CH" sz="1600"/>
                        <a:t>.  </a:t>
                      </a:r>
                      <a:r>
                        <a:rPr lang="de-CH" sz="1600">
                          <a:highlight>
                            <a:srgbClr val="FFFF00"/>
                          </a:highlight>
                          <a:sym typeface="Wingdings" panose="05000000000000000000" pitchFamily="2" charset="2"/>
                        </a:rPr>
                        <a:t> kann das automatisiert/standardisiert werden? </a:t>
                      </a:r>
                      <a:r>
                        <a:rPr lang="de-CH" sz="1600">
                          <a:highlight>
                            <a:srgbClr val="00FF00"/>
                          </a:highlight>
                          <a:sym typeface="Wingdings" panose="05000000000000000000" pitchFamily="2" charset="2"/>
                        </a:rPr>
                        <a:t>Geschäftlich oder Privat? + Freitext für eine andere E-Mail Adresse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de-CH" sz="1600"/>
                        <a:t>Kündigungsbestätigung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de-CH" sz="1600"/>
                        <a:t>Austrittsinformationen 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de-CH" sz="1600"/>
                        <a:t>Oberer Teil vom Austrittsschein </a:t>
                      </a:r>
                      <a:r>
                        <a:rPr lang="de-CH" sz="1600">
                          <a:sym typeface="Wingdings" panose="05000000000000000000" pitchFamily="2" charset="2"/>
                        </a:rPr>
                        <a:t> MA abgefragt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de-CH" sz="1600">
                          <a:sym typeface="Wingdings" panose="05000000000000000000" pitchFamily="2" charset="2"/>
                        </a:rPr>
                        <a:t>Info an VF zur Handhabung der Zeitsaldi</a:t>
                      </a:r>
                      <a:endParaRPr lang="de-CH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de-CH" sz="1600"/>
                        <a:t>MA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de-CH" sz="1600"/>
                        <a:t>FV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8991053"/>
                  </a:ext>
                </a:extLst>
              </a:tr>
              <a:tr h="1037482">
                <a:tc>
                  <a:txBody>
                    <a:bodyPr/>
                    <a:lstStyle/>
                    <a:p>
                      <a:r>
                        <a:rPr lang="de-CH" sz="1600"/>
                        <a:t>HR Beratung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CH" sz="1600"/>
                        <a:t>In SAP vorhandene Rückzahlungspflicht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de-CH" sz="1600"/>
                        <a:t>Wenn gemäss SAP (Schnittstelle) eine Rückzahlungspflicht vorhanden ist, wird </a:t>
                      </a:r>
                      <a:r>
                        <a:rPr lang="de-CH" sz="1600" err="1"/>
                        <a:t>autom</a:t>
                      </a:r>
                      <a:r>
                        <a:rPr lang="de-CH" sz="1600"/>
                        <a:t>. ein Subticket an die HR Beratung generiert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de-CH" sz="1600"/>
                        <a:t>HR Beratung klärt Details zur Rückzahlungspflicht inkl. Vereinbarung und dokumentiert sie im Ticket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de-CH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de-CH" sz="1600">
                          <a:highlight>
                            <a:srgbClr val="FFFF00"/>
                          </a:highlight>
                        </a:rPr>
                        <a:t>HR Payroll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91411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463750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C2083C38-A190-2EE3-637D-7EE1D19FFF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08.07.2026</a:t>
            </a:r>
            <a:endParaRPr lang="de-CH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15D08DE8-7816-AE26-91B7-18523CC5CE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Zwischenbericht Digitalisierung Austrittsprozess USB</a:t>
            </a:r>
            <a:endParaRPr lang="de-CH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1ABE7954-BCB9-E310-6B22-7E3FA2E2C7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/>
              <a:t>Diskussionspunkte «Austritt melden (2/2)»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022FEBA0-653E-B71C-CD57-08453777B49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7368" y="725488"/>
            <a:ext cx="11376025" cy="5733884"/>
          </a:xfrm>
        </p:spPr>
        <p:txBody>
          <a:bodyPr/>
          <a:lstStyle/>
          <a:p>
            <a:pPr marL="0" indent="0">
              <a:buNone/>
            </a:pPr>
            <a:r>
              <a:rPr lang="de-CH" b="1"/>
              <a:t>2. Weitergabe von Auflösungsvereinbarungen</a:t>
            </a:r>
            <a:r>
              <a:rPr lang="de-CH"/>
              <a:t> </a:t>
            </a:r>
            <a:r>
              <a:rPr lang="de-CH" i="1"/>
              <a:t>(Bezug: „Austritt melden", Zeile 3)</a:t>
            </a:r>
            <a:endParaRPr lang="de-CH"/>
          </a:p>
          <a:p>
            <a:r>
              <a:rPr lang="de-CH" u="sng"/>
              <a:t>Szenarien</a:t>
            </a:r>
            <a:r>
              <a:rPr lang="de-CH"/>
              <a:t>: Bei den Auflösungsvereinbarungen gibt es verschiedene Szenarien: Abfindungszahlung, PEP-Saldi-Auszahlung, „per Saldo aller Ansprüche" usw.</a:t>
            </a:r>
          </a:p>
          <a:p>
            <a:endParaRPr lang="de-CH"/>
          </a:p>
          <a:p>
            <a:r>
              <a:rPr lang="de-CH" u="sng"/>
              <a:t>Fragen</a:t>
            </a:r>
            <a:r>
              <a:rPr lang="de-CH"/>
              <a:t>:</a:t>
            </a:r>
          </a:p>
          <a:p>
            <a:pPr lvl="1"/>
            <a:r>
              <a:rPr lang="de-DE"/>
              <a:t>Was sind die einzelnen Informationen einer Auflösungsvereinbarung? </a:t>
            </a:r>
          </a:p>
          <a:p>
            <a:pPr lvl="2"/>
            <a:r>
              <a:rPr lang="de-DE"/>
              <a:t>Betrag Rückzahlung = Payroll </a:t>
            </a:r>
          </a:p>
          <a:p>
            <a:pPr lvl="1"/>
            <a:r>
              <a:rPr lang="de-DE"/>
              <a:t>Welche Information ist für welche HR-Einheit relevant – und welche nicht?</a:t>
            </a:r>
          </a:p>
          <a:p>
            <a:pPr lvl="2"/>
            <a:r>
              <a:rPr lang="de-DE"/>
              <a:t>Was passiert mit dem PEP Saldo / Freistellungsdatum = TM </a:t>
            </a:r>
            <a:r>
              <a:rPr lang="de-DE">
                <a:sym typeface="Wingdings" panose="05000000000000000000" pitchFamily="2" charset="2"/>
              </a:rPr>
              <a:t> Aufhebungsvereinbarung enthält die relevanten Infos, es braucht keinen Austrittsschein</a:t>
            </a:r>
          </a:p>
          <a:p>
            <a:pPr lvl="2"/>
            <a:r>
              <a:rPr lang="de-DE">
                <a:highlight>
                  <a:srgbClr val="00FF00"/>
                </a:highlight>
                <a:sym typeface="Wingdings" panose="05000000000000000000" pitchFamily="2" charset="2"/>
              </a:rPr>
              <a:t>Nur bei Freistellung gibt es „per Saldo aller Ansprüche“ -&gt; kommt selten vor </a:t>
            </a:r>
            <a:r>
              <a:rPr lang="de-DE" err="1">
                <a:highlight>
                  <a:srgbClr val="00FF00"/>
                </a:highlight>
                <a:sym typeface="Wingdings" panose="05000000000000000000" pitchFamily="2" charset="2"/>
              </a:rPr>
              <a:t>gemäss</a:t>
            </a:r>
            <a:r>
              <a:rPr lang="de-DE">
                <a:highlight>
                  <a:srgbClr val="00FF00"/>
                </a:highlight>
                <a:sym typeface="Wingdings" panose="05000000000000000000" pitchFamily="2" charset="2"/>
              </a:rPr>
              <a:t> Sarah Bass</a:t>
            </a:r>
          </a:p>
          <a:p>
            <a:pPr lvl="2"/>
            <a:r>
              <a:rPr lang="de-DE">
                <a:sym typeface="Wingdings" panose="05000000000000000000" pitchFamily="2" charset="2"/>
              </a:rPr>
              <a:t>Pain Point: zuerst ausbuchen im TM, danach Auszahlung Payroll. Wenn es nicht korrespondiert, merkt das niemand mehr. Wichtig: HR Beratung rechnet nicht – HRB nur Info: Flexi zahlt, Ferien zahlt oder nicht wegen Freistellung, keine Zahlen. Ferienkürzungen werden erst nachtgelagert berechnet, HRB hat dann schon kommuniziert. </a:t>
            </a:r>
          </a:p>
          <a:p>
            <a:pPr lvl="2"/>
            <a:r>
              <a:rPr lang="de-DE">
                <a:sym typeface="Wingdings" panose="05000000000000000000" pitchFamily="2" charset="2"/>
              </a:rPr>
              <a:t>SOLL: Abklärung durch HRB: Termin mit Absenzen und TM zur Besprechung. Keine Beträge sondern in Tage rechnen.</a:t>
            </a:r>
            <a:endParaRPr lang="de-DE"/>
          </a:p>
          <a:p>
            <a:pPr lvl="1"/>
            <a:r>
              <a:rPr lang="de-DE"/>
              <a:t>Wie werden die relevanten Punkte strukturiert übergeben (z. B. Pflichtfelder/Kategorien im Jira-Ticket), </a:t>
            </a:r>
            <a:r>
              <a:rPr lang="de-DE" u="sng"/>
              <a:t>sodass</a:t>
            </a:r>
            <a:r>
              <a:rPr lang="de-DE"/>
              <a:t> das nachgelagerte Team sofort erkennt, was relevant ist – ohne die ganze Vereinbarung lesen zu müssen und ohne dass etwas untergeht?</a:t>
            </a:r>
            <a:endParaRPr lang="de-CH"/>
          </a:p>
          <a:p>
            <a:endParaRPr lang="de-CH"/>
          </a:p>
          <a:p>
            <a:pPr marL="0" indent="0">
              <a:buNone/>
            </a:pPr>
            <a:endParaRPr lang="de-CH"/>
          </a:p>
          <a:p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0153599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FB2DFB-3269-7617-30CA-49BA143266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7C0C75E6-1E8B-8941-73C8-4C36818230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08.07.2026</a:t>
            </a:r>
            <a:endParaRPr lang="de-CH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BBBD26E0-C5A8-DBA1-FC9C-35F2047861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Zwischenbericht Digitalisierung Austrittsprozess USB</a:t>
            </a:r>
            <a:endParaRPr lang="de-CH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DF065591-4E58-F87C-01B0-7422E61FF1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/>
              <a:t>Austritt bearbeiten</a:t>
            </a:r>
          </a:p>
        </p:txBody>
      </p:sp>
      <p:graphicFrame>
        <p:nvGraphicFramePr>
          <p:cNvPr id="6" name="Inhaltsplatzhalter 5">
            <a:extLst>
              <a:ext uri="{FF2B5EF4-FFF2-40B4-BE49-F238E27FC236}">
                <a16:creationId xmlns:a16="http://schemas.microsoft.com/office/drawing/2014/main" id="{2F048C76-ECCF-078F-6BFC-8CF72F011AEB}"/>
              </a:ext>
            </a:extLst>
          </p:cNvPr>
          <p:cNvGraphicFramePr>
            <a:graphicFrameLocks noGrp="1"/>
          </p:cNvGraphicFramePr>
          <p:nvPr>
            <p:ph sz="quarter" idx="14"/>
          </p:nvPr>
        </p:nvGraphicFramePr>
        <p:xfrm>
          <a:off x="-361" y="754937"/>
          <a:ext cx="12192001" cy="6309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5538">
                  <a:extLst>
                    <a:ext uri="{9D8B030D-6E8A-4147-A177-3AD203B41FA5}">
                      <a16:colId xmlns:a16="http://schemas.microsoft.com/office/drawing/2014/main" val="773636897"/>
                    </a:ext>
                  </a:extLst>
                </a:gridCol>
                <a:gridCol w="2506853">
                  <a:extLst>
                    <a:ext uri="{9D8B030D-6E8A-4147-A177-3AD203B41FA5}">
                      <a16:colId xmlns:a16="http://schemas.microsoft.com/office/drawing/2014/main" val="839092468"/>
                    </a:ext>
                  </a:extLst>
                </a:gridCol>
                <a:gridCol w="2934894">
                  <a:extLst>
                    <a:ext uri="{9D8B030D-6E8A-4147-A177-3AD203B41FA5}">
                      <a16:colId xmlns:a16="http://schemas.microsoft.com/office/drawing/2014/main" val="2842277065"/>
                    </a:ext>
                  </a:extLst>
                </a:gridCol>
                <a:gridCol w="2437358">
                  <a:extLst>
                    <a:ext uri="{9D8B030D-6E8A-4147-A177-3AD203B41FA5}">
                      <a16:colId xmlns:a16="http://schemas.microsoft.com/office/drawing/2014/main" val="1223205276"/>
                    </a:ext>
                  </a:extLst>
                </a:gridCol>
                <a:gridCol w="2437358">
                  <a:extLst>
                    <a:ext uri="{9D8B030D-6E8A-4147-A177-3AD203B41FA5}">
                      <a16:colId xmlns:a16="http://schemas.microsoft.com/office/drawing/2014/main" val="1261674189"/>
                    </a:ext>
                  </a:extLst>
                </a:gridCol>
              </a:tblGrid>
              <a:tr h="259580">
                <a:tc>
                  <a:txBody>
                    <a:bodyPr/>
                    <a:lstStyle/>
                    <a:p>
                      <a:r>
                        <a:rPr lang="de-CH" sz="1600"/>
                        <a:t>Supplier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1600"/>
                        <a:t>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1600"/>
                        <a:t>Prozess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1600"/>
                        <a:t>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1600"/>
                        <a:t>Customer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899329"/>
                  </a:ext>
                </a:extLst>
              </a:tr>
              <a:tr h="2053039">
                <a:tc>
                  <a:txBody>
                    <a:bodyPr/>
                    <a:lstStyle/>
                    <a:p>
                      <a:r>
                        <a:rPr lang="de-CH" sz="1600"/>
                        <a:t>HR </a:t>
                      </a:r>
                      <a:r>
                        <a:rPr lang="de-CH" sz="1600" err="1"/>
                        <a:t>Payroll</a:t>
                      </a:r>
                      <a:endParaRPr lang="de-CH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CH" sz="1600"/>
                        <a:t>Jira Ticket mit Info zum Austritt (inkl. Austrittsdatum)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de-CH" sz="1400"/>
                        <a:t>Austritt in SAP hinterlegen </a:t>
                      </a:r>
                      <a:r>
                        <a:rPr lang="de-CH" sz="1400">
                          <a:highlight>
                            <a:srgbClr val="00FF00"/>
                          </a:highlight>
                        </a:rPr>
                        <a:t>(muss zwingend richtig sein -&gt; Alles rückgängig machen erfordert viel Aufwand) + Muss früh wie möglich passieren, da einige Abteilungen früh planen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de-CH" sz="1400"/>
                        <a:t>Rückzahlungsbetrag einfordern (Verrechnung mit Lohn oder Rechnung stellen via FIBU)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de-CH" sz="1400"/>
                        <a:t>Abmeldung Versicherungen 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de-CH" sz="1400"/>
                        <a:t>Bei laufende Familienzulagen -&gt; Meldung an Ausgleichskasse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de-CH" sz="1400"/>
                        <a:t>ESS-Versandart im SAP ggf. umstellen auf Postversand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de-CH" sz="1400"/>
                        <a:t>Letzte Lohnabrechnung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lang="de-CH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de-CH" sz="1600"/>
                        <a:t>Dokumentiertes SAP-Austrittsdatum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de-CH" sz="1600"/>
                        <a:t>Dokumentiertes Jira Ticket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de-CH" sz="1600"/>
                        <a:t>Lohnabrechnung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de-CH" sz="1600">
                          <a:highlight>
                            <a:srgbClr val="FFFF00"/>
                          </a:highlight>
                        </a:rPr>
                        <a:t>Automatische Auslösung des Zeugnisprozesses (effektives Austrittsdatum verwenden, kann das umgewandelt werden in ein ZZ?)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de-CH" sz="1600"/>
                        <a:t>Versicherungen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de-CH" sz="1600"/>
                        <a:t>Ausgleichskasse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de-CH" sz="1600"/>
                        <a:t>IAM für alle ICT-Umsysteme inkl. PEP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de-CH" sz="1600"/>
                        <a:t>MA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de-CH" sz="1600">
                          <a:highlight>
                            <a:srgbClr val="FFFF00"/>
                          </a:highlight>
                        </a:rPr>
                        <a:t>Z-Tool (Zeugnisprozess; HR Admin)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de-CH" sz="1600">
                          <a:highlight>
                            <a:srgbClr val="FFFF00"/>
                          </a:highlight>
                        </a:rPr>
                        <a:t>FIBU (Rechnungstellung)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0983946"/>
                  </a:ext>
                </a:extLst>
              </a:tr>
              <a:tr h="1014721">
                <a:tc>
                  <a:txBody>
                    <a:bodyPr/>
                    <a:lstStyle/>
                    <a:p>
                      <a:r>
                        <a:rPr lang="de-CH" sz="1600"/>
                        <a:t>HR Time Management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CH" sz="1600"/>
                        <a:t>Jira Ticket mit Info zum Austritt (inkl. Austrittsdatum)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de-CH" sz="1600">
                          <a:highlight>
                            <a:srgbClr val="FFFF00"/>
                          </a:highlight>
                        </a:rPr>
                        <a:t>Zeitsaldi begleichen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de-CH" sz="1600"/>
                        <a:t>UKA-Fallabschluss (bei Krankheit während Austritt oder LZK) -&gt; </a:t>
                      </a:r>
                      <a:r>
                        <a:rPr lang="de-CH" sz="1600">
                          <a:highlight>
                            <a:srgbClr val="00FF00"/>
                          </a:highlight>
                        </a:rPr>
                        <a:t>Bei Auszahlung oder Forderung geht es an HR </a:t>
                      </a:r>
                      <a:r>
                        <a:rPr lang="de-CH" sz="1600" err="1">
                          <a:highlight>
                            <a:srgbClr val="00FF00"/>
                          </a:highlight>
                        </a:rPr>
                        <a:t>Payroll</a:t>
                      </a:r>
                      <a:r>
                        <a:rPr lang="de-CH" sz="1600">
                          <a:highlight>
                            <a:srgbClr val="00FF00"/>
                          </a:highlight>
                        </a:rPr>
                        <a:t> weiter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lang="de-CH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de-CH" sz="1600">
                          <a:highlight>
                            <a:srgbClr val="FFFF00"/>
                          </a:highlight>
                        </a:rPr>
                        <a:t>PEP File zum Import zur Abrechnung in SAP (</a:t>
                      </a:r>
                      <a:r>
                        <a:rPr lang="de-CH" sz="1600">
                          <a:highlight>
                            <a:srgbClr val="FFFF00"/>
                          </a:highlight>
                          <a:sym typeface="Wingdings" panose="05000000000000000000" pitchFamily="2" charset="2"/>
                        </a:rPr>
                        <a:t> Kommunikation/ Schulung durch HRB)</a:t>
                      </a:r>
                      <a:endParaRPr lang="de-CH" sz="1600">
                        <a:highlight>
                          <a:srgbClr val="FFFF00"/>
                        </a:highlight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de-CH" sz="1600"/>
                        <a:t>Ergänztes Jira Ticket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de-CH" sz="1600"/>
                        <a:t>Offene Fälle im UKA abgeschlossen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de-CH" sz="1600"/>
                        <a:t>HR </a:t>
                      </a:r>
                      <a:r>
                        <a:rPr lang="de-CH" sz="1600" err="1"/>
                        <a:t>Payroll</a:t>
                      </a:r>
                      <a:endParaRPr lang="de-CH" sz="160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de-CH" sz="1600"/>
                        <a:t>Unfall-/ Krankentaggeldversicherung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84765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4592352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268B3-5496-3F6E-5C68-8FAF958FA9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4C2ABF6A-5C7E-849E-948A-DCAC743095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08.07.2026</a:t>
            </a:r>
            <a:endParaRPr lang="de-CH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2C088A14-3365-5D78-64CA-81CF42921F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Zwischenbericht Digitalisierung Austrittsprozess USB</a:t>
            </a:r>
            <a:endParaRPr lang="de-CH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5261F68A-3744-25FB-AB6E-5DBB7F8C9C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/>
              <a:t>Austritt bearbeiten</a:t>
            </a:r>
          </a:p>
        </p:txBody>
      </p:sp>
      <p:graphicFrame>
        <p:nvGraphicFramePr>
          <p:cNvPr id="6" name="Inhaltsplatzhalter 5">
            <a:extLst>
              <a:ext uri="{FF2B5EF4-FFF2-40B4-BE49-F238E27FC236}">
                <a16:creationId xmlns:a16="http://schemas.microsoft.com/office/drawing/2014/main" id="{64362350-84AB-EE19-F040-14DC1D277599}"/>
              </a:ext>
            </a:extLst>
          </p:cNvPr>
          <p:cNvGraphicFramePr>
            <a:graphicFrameLocks noGrp="1"/>
          </p:cNvGraphicFramePr>
          <p:nvPr>
            <p:ph sz="quarter" idx="14"/>
          </p:nvPr>
        </p:nvGraphicFramePr>
        <p:xfrm>
          <a:off x="-361" y="1001066"/>
          <a:ext cx="12192001" cy="2712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5538">
                  <a:extLst>
                    <a:ext uri="{9D8B030D-6E8A-4147-A177-3AD203B41FA5}">
                      <a16:colId xmlns:a16="http://schemas.microsoft.com/office/drawing/2014/main" val="773636897"/>
                    </a:ext>
                  </a:extLst>
                </a:gridCol>
                <a:gridCol w="2506853">
                  <a:extLst>
                    <a:ext uri="{9D8B030D-6E8A-4147-A177-3AD203B41FA5}">
                      <a16:colId xmlns:a16="http://schemas.microsoft.com/office/drawing/2014/main" val="839092468"/>
                    </a:ext>
                  </a:extLst>
                </a:gridCol>
                <a:gridCol w="2934894">
                  <a:extLst>
                    <a:ext uri="{9D8B030D-6E8A-4147-A177-3AD203B41FA5}">
                      <a16:colId xmlns:a16="http://schemas.microsoft.com/office/drawing/2014/main" val="2842277065"/>
                    </a:ext>
                  </a:extLst>
                </a:gridCol>
                <a:gridCol w="2437358">
                  <a:extLst>
                    <a:ext uri="{9D8B030D-6E8A-4147-A177-3AD203B41FA5}">
                      <a16:colId xmlns:a16="http://schemas.microsoft.com/office/drawing/2014/main" val="1223205276"/>
                    </a:ext>
                  </a:extLst>
                </a:gridCol>
                <a:gridCol w="2437358">
                  <a:extLst>
                    <a:ext uri="{9D8B030D-6E8A-4147-A177-3AD203B41FA5}">
                      <a16:colId xmlns:a16="http://schemas.microsoft.com/office/drawing/2014/main" val="1261674189"/>
                    </a:ext>
                  </a:extLst>
                </a:gridCol>
              </a:tblGrid>
              <a:tr h="259580">
                <a:tc>
                  <a:txBody>
                    <a:bodyPr/>
                    <a:lstStyle/>
                    <a:p>
                      <a:r>
                        <a:rPr lang="de-CH" sz="1600"/>
                        <a:t>Supplier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1600"/>
                        <a:t>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1600"/>
                        <a:t>Prozess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1600"/>
                        <a:t>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1600"/>
                        <a:t>Customer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899329"/>
                  </a:ext>
                </a:extLst>
              </a:tr>
              <a:tr h="825515">
                <a:tc>
                  <a:txBody>
                    <a:bodyPr/>
                    <a:lstStyle/>
                    <a:p>
                      <a:r>
                        <a:rPr lang="de-CH" sz="1600"/>
                        <a:t>HR Time Management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CH" sz="1600"/>
                        <a:t>Jira Ticket mit Info zur Freistellung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de-CH" sz="1600">
                          <a:highlight>
                            <a:srgbClr val="FFFF00"/>
                          </a:highlight>
                        </a:rPr>
                        <a:t>Freistellung in PEP dokumentieren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de-CH" sz="1600"/>
                        <a:t>UKA-Fallabschluss (bei Krankheit während Austritt oder LZK)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de-CH" sz="1600"/>
                        <a:t>Übersicht Guthaben / Zeitsaldi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de-CH" sz="1600"/>
                        <a:t>Ergänztes Jira Ticket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de-CH" sz="1600"/>
                        <a:t>Offene Fälle im UKA abgeschlossen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de-CH" sz="1600"/>
                        <a:t>HR </a:t>
                      </a:r>
                      <a:r>
                        <a:rPr lang="de-CH" sz="1600" err="1"/>
                        <a:t>Payroll</a:t>
                      </a:r>
                      <a:endParaRPr lang="de-CH" sz="1600"/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de-CH" sz="1600"/>
                        <a:t>Unfall-/ Krankentaggeldversicherung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2061286"/>
                  </a:ext>
                </a:extLst>
              </a:tr>
              <a:tr h="825515">
                <a:tc>
                  <a:txBody>
                    <a:bodyPr/>
                    <a:lstStyle/>
                    <a:p>
                      <a:r>
                        <a:rPr lang="de-CH" sz="1600"/>
                        <a:t>HR </a:t>
                      </a:r>
                      <a:r>
                        <a:rPr lang="de-CH" sz="1600" err="1"/>
                        <a:t>Payroll</a:t>
                      </a:r>
                      <a:endParaRPr lang="de-CH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de-CH" sz="1600"/>
                        <a:t>Freistellungsinformation +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de-CH" sz="1600"/>
                        <a:t>PEP Import File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de-CH" sz="1600"/>
                        <a:t>Guthaben auszahlen / einfordern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de-CH" sz="1600"/>
                        <a:t>Innerhalb der Lohnabrechnung (auch erst im Folgemonat möglich)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de-CH" sz="1600"/>
                        <a:t>MA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3046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756001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024BB8-9775-9F64-6EF3-87AAE31803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2ECFB759-8192-C83F-5D86-9A27733BE0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08.07.2026</a:t>
            </a:r>
            <a:endParaRPr lang="de-CH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373AFF06-A152-85E9-7093-CCFE9F00CC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Zwischenbericht Digitalisierung Austrittsprozess USB</a:t>
            </a:r>
            <a:endParaRPr lang="de-CH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03D799F1-E892-8F0F-2964-03064A2F6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869" y="155222"/>
            <a:ext cx="11376644" cy="863874"/>
          </a:xfrm>
        </p:spPr>
        <p:txBody>
          <a:bodyPr/>
          <a:lstStyle/>
          <a:p>
            <a:r>
              <a:rPr lang="de-CH"/>
              <a:t>Austritt bearbeiten</a:t>
            </a:r>
          </a:p>
        </p:txBody>
      </p:sp>
      <p:graphicFrame>
        <p:nvGraphicFramePr>
          <p:cNvPr id="6" name="Inhaltsplatzhalter 5">
            <a:extLst>
              <a:ext uri="{FF2B5EF4-FFF2-40B4-BE49-F238E27FC236}">
                <a16:creationId xmlns:a16="http://schemas.microsoft.com/office/drawing/2014/main" id="{ED94307C-B950-943E-5A03-8AF8477AC502}"/>
              </a:ext>
            </a:extLst>
          </p:cNvPr>
          <p:cNvGraphicFramePr>
            <a:graphicFrameLocks noGrp="1"/>
          </p:cNvGraphicFramePr>
          <p:nvPr>
            <p:ph sz="quarter" idx="14"/>
          </p:nvPr>
        </p:nvGraphicFramePr>
        <p:xfrm>
          <a:off x="0" y="602897"/>
          <a:ext cx="12192001" cy="33108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5538">
                  <a:extLst>
                    <a:ext uri="{9D8B030D-6E8A-4147-A177-3AD203B41FA5}">
                      <a16:colId xmlns:a16="http://schemas.microsoft.com/office/drawing/2014/main" val="773636897"/>
                    </a:ext>
                  </a:extLst>
                </a:gridCol>
                <a:gridCol w="2506853">
                  <a:extLst>
                    <a:ext uri="{9D8B030D-6E8A-4147-A177-3AD203B41FA5}">
                      <a16:colId xmlns:a16="http://schemas.microsoft.com/office/drawing/2014/main" val="839092468"/>
                    </a:ext>
                  </a:extLst>
                </a:gridCol>
                <a:gridCol w="3380845">
                  <a:extLst>
                    <a:ext uri="{9D8B030D-6E8A-4147-A177-3AD203B41FA5}">
                      <a16:colId xmlns:a16="http://schemas.microsoft.com/office/drawing/2014/main" val="2842277065"/>
                    </a:ext>
                  </a:extLst>
                </a:gridCol>
                <a:gridCol w="1991407">
                  <a:extLst>
                    <a:ext uri="{9D8B030D-6E8A-4147-A177-3AD203B41FA5}">
                      <a16:colId xmlns:a16="http://schemas.microsoft.com/office/drawing/2014/main" val="1223205276"/>
                    </a:ext>
                  </a:extLst>
                </a:gridCol>
                <a:gridCol w="2437358">
                  <a:extLst>
                    <a:ext uri="{9D8B030D-6E8A-4147-A177-3AD203B41FA5}">
                      <a16:colId xmlns:a16="http://schemas.microsoft.com/office/drawing/2014/main" val="1261674189"/>
                    </a:ext>
                  </a:extLst>
                </a:gridCol>
              </a:tblGrid>
              <a:tr h="398180">
                <a:tc>
                  <a:txBody>
                    <a:bodyPr/>
                    <a:lstStyle/>
                    <a:p>
                      <a:r>
                        <a:rPr lang="de-CH" sz="1600"/>
                        <a:t>Supplier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1600"/>
                        <a:t>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1600"/>
                        <a:t>Prozess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1600"/>
                        <a:t>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1600"/>
                        <a:t>Customer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899329"/>
                  </a:ext>
                </a:extLst>
              </a:tr>
              <a:tr h="2912717">
                <a:tc>
                  <a:txBody>
                    <a:bodyPr/>
                    <a:lstStyle/>
                    <a:p>
                      <a:r>
                        <a:rPr lang="de-CH" sz="1600"/>
                        <a:t>HR Admin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CH" sz="1600"/>
                        <a:t>Jira Ticket mit Info zum Austritt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de-CH" sz="1600"/>
                        <a:t>Austrittsrelevante Prüfungen</a:t>
                      </a:r>
                    </a:p>
                    <a:p>
                      <a:pPr marL="800100" marR="0" lvl="1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de-CH" sz="1400"/>
                        <a:t>Eingeschobener Vertrag?</a:t>
                      </a:r>
                    </a:p>
                    <a:p>
                      <a:pPr marL="800100" marR="0" lvl="1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de-CH" sz="1400"/>
                        <a:t>Frühpensionierung möglich?</a:t>
                      </a:r>
                    </a:p>
                    <a:p>
                      <a:pPr marL="800100" marR="0" lvl="1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de-CH" sz="1400"/>
                        <a:t>Rückwirkender Austritt?</a:t>
                      </a:r>
                    </a:p>
                    <a:p>
                      <a:pPr marL="800100" marR="0" lvl="1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de-CH" sz="1400">
                          <a:highlight>
                            <a:srgbClr val="FFFF00"/>
                          </a:highlight>
                        </a:rPr>
                        <a:t>Mehrfachanstellung mit einer Personalnummer? </a:t>
                      </a:r>
                      <a:r>
                        <a:rPr lang="de-CH" sz="1400">
                          <a:highlight>
                            <a:srgbClr val="FFFF00"/>
                          </a:highlight>
                          <a:sym typeface="Wingdings" panose="05000000000000000000" pitchFamily="2" charset="2"/>
                        </a:rPr>
                        <a:t> Miriam: was macht die Schnittstelle?</a:t>
                      </a:r>
                      <a:endParaRPr lang="de-CH" sz="1400">
                        <a:highlight>
                          <a:srgbClr val="FFFF00"/>
                        </a:highlight>
                      </a:endParaRPr>
                    </a:p>
                    <a:p>
                      <a:pPr marL="800100" marR="0" lvl="1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de-CH" sz="1400"/>
                        <a:t>SMU-Fall?</a:t>
                      </a:r>
                    </a:p>
                    <a:p>
                      <a:pPr marL="800100" marR="0" lvl="1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de-CH" sz="1400"/>
                        <a:t>LZK?</a:t>
                      </a:r>
                    </a:p>
                    <a:p>
                      <a:pPr marL="800100" marR="0" lvl="1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de-CH" sz="1400"/>
                        <a:t>Dienstjubiläumsanspruch (nur bei (Teil-)Pensionierung)</a:t>
                      </a:r>
                    </a:p>
                    <a:p>
                      <a:pPr marL="800100" marR="0" lvl="1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de-CH" sz="1400" err="1">
                          <a:highlight>
                            <a:srgbClr val="FFFF00"/>
                          </a:highlight>
                        </a:rPr>
                        <a:t>Geburtstagsbon</a:t>
                      </a:r>
                      <a:r>
                        <a:rPr lang="de-CH" sz="1400">
                          <a:highlight>
                            <a:srgbClr val="FFFF00"/>
                          </a:highlight>
                        </a:rPr>
                        <a:t>? </a:t>
                      </a:r>
                      <a:r>
                        <a:rPr lang="de-CH" sz="1400">
                          <a:highlight>
                            <a:srgbClr val="FFFF00"/>
                          </a:highlight>
                          <a:sym typeface="Wingdings" panose="05000000000000000000" pitchFamily="2" charset="2"/>
                        </a:rPr>
                        <a:t> braucht es das noch?</a:t>
                      </a:r>
                      <a:endParaRPr lang="de-CH" sz="140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de-CH" sz="1600"/>
                        <a:t>Dokumentiertes Jira Ticket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de-CH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de-CH" sz="1600">
                          <a:highlight>
                            <a:srgbClr val="FFFF00"/>
                          </a:highlight>
                        </a:rPr>
                        <a:t>HR Admin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de-CH" sz="1600">
                          <a:highlight>
                            <a:srgbClr val="FFFF00"/>
                          </a:highlight>
                        </a:rPr>
                        <a:t>HR </a:t>
                      </a:r>
                      <a:r>
                        <a:rPr lang="de-CH" sz="1600" err="1">
                          <a:highlight>
                            <a:srgbClr val="FFFF00"/>
                          </a:highlight>
                        </a:rPr>
                        <a:t>Payroll</a:t>
                      </a:r>
                      <a:endParaRPr lang="de-CH" sz="1600">
                        <a:highlight>
                          <a:srgbClr val="FFFF00"/>
                        </a:highlight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de-CH" sz="1600">
                        <a:highlight>
                          <a:srgbClr val="FFFF00"/>
                        </a:highlight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de-CH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30276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8896046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701972-34C0-351C-6020-3F504AD748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F64F993F-22D3-A48B-7925-F28C1E799B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08.07.2026</a:t>
            </a:r>
            <a:endParaRPr lang="de-CH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CA8C0CF0-8D8D-A27D-552F-D8980BBC91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Zwischenbericht Digitalisierung Austrittsprozess USB</a:t>
            </a:r>
            <a:endParaRPr lang="de-CH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B1B9B7CA-784E-3A3F-9650-C21EC77D9D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/>
              <a:t>Austritt bearbeiten</a:t>
            </a:r>
          </a:p>
        </p:txBody>
      </p:sp>
      <p:graphicFrame>
        <p:nvGraphicFramePr>
          <p:cNvPr id="6" name="Inhaltsplatzhalter 5">
            <a:extLst>
              <a:ext uri="{FF2B5EF4-FFF2-40B4-BE49-F238E27FC236}">
                <a16:creationId xmlns:a16="http://schemas.microsoft.com/office/drawing/2014/main" id="{18E91020-9AF9-1C26-1ED3-DE05CA173550}"/>
              </a:ext>
            </a:extLst>
          </p:cNvPr>
          <p:cNvGraphicFramePr>
            <a:graphicFrameLocks noGrp="1"/>
          </p:cNvGraphicFramePr>
          <p:nvPr>
            <p:ph sz="quarter" idx="14"/>
          </p:nvPr>
        </p:nvGraphicFramePr>
        <p:xfrm>
          <a:off x="0" y="744138"/>
          <a:ext cx="12192001" cy="56164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5538">
                  <a:extLst>
                    <a:ext uri="{9D8B030D-6E8A-4147-A177-3AD203B41FA5}">
                      <a16:colId xmlns:a16="http://schemas.microsoft.com/office/drawing/2014/main" val="773636897"/>
                    </a:ext>
                  </a:extLst>
                </a:gridCol>
                <a:gridCol w="2506853">
                  <a:extLst>
                    <a:ext uri="{9D8B030D-6E8A-4147-A177-3AD203B41FA5}">
                      <a16:colId xmlns:a16="http://schemas.microsoft.com/office/drawing/2014/main" val="839092468"/>
                    </a:ext>
                  </a:extLst>
                </a:gridCol>
                <a:gridCol w="2934894">
                  <a:extLst>
                    <a:ext uri="{9D8B030D-6E8A-4147-A177-3AD203B41FA5}">
                      <a16:colId xmlns:a16="http://schemas.microsoft.com/office/drawing/2014/main" val="2842277065"/>
                    </a:ext>
                  </a:extLst>
                </a:gridCol>
                <a:gridCol w="2437358">
                  <a:extLst>
                    <a:ext uri="{9D8B030D-6E8A-4147-A177-3AD203B41FA5}">
                      <a16:colId xmlns:a16="http://schemas.microsoft.com/office/drawing/2014/main" val="1223205276"/>
                    </a:ext>
                  </a:extLst>
                </a:gridCol>
                <a:gridCol w="2437358">
                  <a:extLst>
                    <a:ext uri="{9D8B030D-6E8A-4147-A177-3AD203B41FA5}">
                      <a16:colId xmlns:a16="http://schemas.microsoft.com/office/drawing/2014/main" val="1261674189"/>
                    </a:ext>
                  </a:extLst>
                </a:gridCol>
              </a:tblGrid>
              <a:tr h="477889">
                <a:tc>
                  <a:txBody>
                    <a:bodyPr/>
                    <a:lstStyle/>
                    <a:p>
                      <a:r>
                        <a:rPr lang="de-CH" sz="1600"/>
                        <a:t>Supplier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1600"/>
                        <a:t>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1600"/>
                        <a:t>Prozess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1600"/>
                        <a:t>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1600"/>
                        <a:t>Customer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899329"/>
                  </a:ext>
                </a:extLst>
              </a:tr>
              <a:tr h="106052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CH" sz="1600"/>
                        <a:t>HR Admin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CH" sz="1600"/>
                        <a:t>Jira Ticket mit Info zum Austritt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de-CH" sz="1600"/>
                        <a:t>G-Bewilligung prüfen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de-CH" sz="1600"/>
                        <a:t>Drittstaatenbewilligung B/F/N prüfen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de-CH" sz="1600"/>
                        <a:t>Informationen und Abmeldungen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de-CH" sz="1600"/>
                        <a:t>Migrationsamt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de-CH" sz="1600"/>
                        <a:t>Basel-Stadt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3149185"/>
                  </a:ext>
                </a:extLst>
              </a:tr>
              <a:tr h="106052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CH" sz="1600"/>
                        <a:t>HR </a:t>
                      </a:r>
                      <a:r>
                        <a:rPr lang="de-CH" sz="1600" err="1"/>
                        <a:t>Payroll</a:t>
                      </a:r>
                      <a:endParaRPr lang="de-CH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CH" sz="1600"/>
                        <a:t>Dokumentiertes SAP-Austrittsdatum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de-CH" sz="1600">
                          <a:highlight>
                            <a:srgbClr val="FFFF00"/>
                          </a:highlight>
                        </a:rPr>
                        <a:t>Zeugnisprozess auslösen (</a:t>
                      </a:r>
                      <a:r>
                        <a:rPr lang="de-CH" sz="1600" err="1">
                          <a:highlight>
                            <a:srgbClr val="FFFF00"/>
                          </a:highlight>
                        </a:rPr>
                        <a:t>autom</a:t>
                      </a:r>
                      <a:r>
                        <a:rPr lang="de-CH" sz="1600">
                          <a:highlight>
                            <a:srgbClr val="FFFF00"/>
                          </a:highlight>
                        </a:rPr>
                        <a:t>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de-CH" sz="1600"/>
                        <a:t>Auftrag für Arbeitsbestätigung / Arbeitszeugnis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de-CH" sz="1600"/>
                        <a:t>HR Admin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3027627"/>
                  </a:ext>
                </a:extLst>
              </a:tr>
              <a:tr h="283865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CH" sz="1600"/>
                        <a:t>HR Admin, FV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CH" sz="1600"/>
                        <a:t>Auftrag für Austrittszeugnis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de-CH" sz="1600"/>
                        <a:t>Zeugnis / Bestätigung erstellen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de-CH" sz="1600"/>
                        <a:t>Zeugnisbausteine vorbereiten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de-DE" sz="1600"/>
                        <a:t>Bewertung/Ausfüllen durch FV/BV/VBB via Z-Tool</a:t>
                      </a:r>
                      <a:endParaRPr lang="de-CH" sz="1600"/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de-CH" sz="1600">
                          <a:highlight>
                            <a:srgbClr val="FFFF00"/>
                          </a:highlight>
                        </a:rPr>
                        <a:t>Zeugnis zur Unterschrift an FV/BV/VBB senden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de-CH" sz="1600">
                          <a:highlight>
                            <a:srgbClr val="FFFF00"/>
                          </a:highlight>
                        </a:rPr>
                        <a:t>Zeugnis unterzeichnen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de-CH" sz="1600"/>
                        <a:t>Zeugnis versenden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de-CH" sz="1600"/>
                        <a:t>Zeugnis ablegen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de-CH" sz="16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Arbeitsbestätigung / Arbeitszeugnis</a:t>
                      </a:r>
                      <a:endParaRPr lang="de-CH" sz="1600"/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de-CH" sz="1600"/>
                        <a:t>Abgelegte(s) Arbeitsbestätigung/Arbeitszeugnis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de-CH" sz="1600"/>
                        <a:t>MA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04972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2498009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365618-1629-1727-BA8A-B367908312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2F4B23D4-9986-B4EE-1134-30C25DA973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08.07.2026</a:t>
            </a:r>
            <a:endParaRPr lang="de-CH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2951ADF8-E449-891B-F6C3-4D9A6D460A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Zwischenbericht Digitalisierung Austrittsprozess USB</a:t>
            </a:r>
            <a:endParaRPr lang="de-CH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D13B776B-2A7D-2180-A2D8-45C6A5D6E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/>
              <a:t>Diskussionspunkte «Austritt bearbeiten (2/3)»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D5283332-141D-67E2-55B4-F7CD32EE514B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pPr marL="0" indent="0">
              <a:buNone/>
            </a:pPr>
            <a:r>
              <a:rPr lang="de-CH" b="1"/>
              <a:t>4. Zeugnis-Regelung</a:t>
            </a:r>
            <a:r>
              <a:rPr lang="de-CH"/>
              <a:t> </a:t>
            </a:r>
            <a:r>
              <a:rPr lang="de-CH" i="1"/>
              <a:t>(Bezug: „Zeugnis erstellen«, Zeile 2 und 3)</a:t>
            </a:r>
            <a:endParaRPr lang="de-CH"/>
          </a:p>
          <a:p>
            <a:r>
              <a:rPr lang="de-CH" u="sng"/>
              <a:t>&lt;6 Monate</a:t>
            </a:r>
            <a:r>
              <a:rPr lang="de-CH"/>
              <a:t>: Arbeitsbestätigung</a:t>
            </a:r>
          </a:p>
          <a:p>
            <a:r>
              <a:rPr lang="de-CH" u="sng"/>
              <a:t>≥6 Monate</a:t>
            </a:r>
            <a:r>
              <a:rPr lang="de-CH"/>
              <a:t>: Zeugnis</a:t>
            </a:r>
          </a:p>
          <a:p>
            <a:r>
              <a:rPr lang="de-CH" u="sng"/>
              <a:t>Ausnahme</a:t>
            </a:r>
            <a:r>
              <a:rPr lang="de-CH"/>
              <a:t>: OA/AA → kein Zeugnis</a:t>
            </a:r>
          </a:p>
          <a:p>
            <a:r>
              <a:rPr lang="de-CH" u="sng"/>
              <a:t>Ausnahme von der Ausnahme</a:t>
            </a:r>
            <a:r>
              <a:rPr lang="de-CH"/>
              <a:t>: Frauenklinik-Ärzte → Zeugnis</a:t>
            </a:r>
          </a:p>
          <a:p>
            <a:endParaRPr lang="de-CH"/>
          </a:p>
          <a:p>
            <a:r>
              <a:rPr lang="de-CH" u="sng"/>
              <a:t>Frage</a:t>
            </a:r>
            <a:r>
              <a:rPr lang="de-CH"/>
              <a:t>: So bestätigen? Wie im SOLL abbilden – Systemhinweis oder Pflichtfeld?</a:t>
            </a:r>
          </a:p>
          <a:p>
            <a:r>
              <a:rPr lang="de-CH">
                <a:highlight>
                  <a:srgbClr val="00FF00"/>
                </a:highlight>
              </a:rPr>
              <a:t>Eine Funktion für die Umwandlung von Zwischenzeugnis in ein Abschlusszeugnis wäre nötig -&gt; Z-Tool Feature </a:t>
            </a:r>
          </a:p>
          <a:p>
            <a:r>
              <a:rPr lang="de-CH">
                <a:highlight>
                  <a:srgbClr val="00FF00"/>
                </a:highlight>
              </a:rPr>
              <a:t>Ist der Direktion Personal bekannt -&gt; Sollte eine Regelung demnächst definieren</a:t>
            </a:r>
          </a:p>
          <a:p>
            <a:endParaRPr lang="de-CH"/>
          </a:p>
          <a:p>
            <a:r>
              <a:rPr lang="de-CH" b="1" u="sng"/>
              <a:t>Entscheidung</a:t>
            </a:r>
            <a:r>
              <a:rPr lang="de-CH"/>
              <a:t>: wird separat erarbeitet im Rahmen der Überarbeitung des Zeugnisprozesses. </a:t>
            </a:r>
          </a:p>
          <a:p>
            <a:endParaRPr lang="de-CH"/>
          </a:p>
          <a:p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75248573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813B8B-D866-25AF-B23C-C72BD8221A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6892A3-5384-034F-7804-A8EB6D0C66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err="1"/>
              <a:t>Flugebene</a:t>
            </a:r>
            <a:r>
              <a:t> 3: </a:t>
            </a:r>
            <a:r>
              <a:rPr err="1"/>
              <a:t>Pflichtinhalte</a:t>
            </a:r>
            <a:r>
              <a:t> </a:t>
            </a:r>
            <a:r>
              <a:rPr err="1"/>
              <a:t>Austrittsticket</a:t>
            </a:r>
            <a:r>
              <a:rPr lang="de-CH"/>
              <a:t> (1/2)</a:t>
            </a: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DEF8DA9-4965-0678-D4B7-B84BC89D5554}"/>
              </a:ext>
            </a:extLst>
          </p:cNvPr>
          <p:cNvSpPr txBox="1"/>
          <p:nvPr/>
        </p:nvSpPr>
        <p:spPr>
          <a:xfrm>
            <a:off x="407367" y="866179"/>
            <a:ext cx="5267875" cy="5534849"/>
          </a:xfrm>
          <a:prstGeom prst="rect">
            <a:avLst/>
          </a:prstGeom>
          <a:noFill/>
        </p:spPr>
        <p:txBody>
          <a:bodyPr wrap="square" lIns="25400" tIns="25400" rIns="25400">
            <a:spAutoFit/>
          </a:bodyPr>
          <a:lstStyle/>
          <a:p>
            <a:pPr>
              <a:spcBef>
                <a:spcPts val="800"/>
              </a:spcBef>
              <a:spcAft>
                <a:spcPts val="100"/>
              </a:spcAft>
            </a:pPr>
            <a:r>
              <a:rPr b="1">
                <a:solidFill>
                  <a:srgbClr val="125C57"/>
                </a:solidFill>
                <a:latin typeface="Arial"/>
              </a:rPr>
              <a:t>A — </a:t>
            </a:r>
            <a:r>
              <a:rPr b="1" err="1">
                <a:solidFill>
                  <a:srgbClr val="125C57"/>
                </a:solidFill>
                <a:latin typeface="Arial"/>
              </a:rPr>
              <a:t>Stammdaten</a:t>
            </a:r>
            <a:r>
              <a:rPr sz="1400" i="1">
                <a:solidFill>
                  <a:srgbClr val="555555"/>
                </a:solidFill>
                <a:latin typeface="Arial"/>
              </a:rPr>
              <a:t>  (</a:t>
            </a:r>
            <a:r>
              <a:rPr lang="de-CH" sz="1400" i="1">
                <a:solidFill>
                  <a:srgbClr val="555555"/>
                </a:solidFill>
                <a:latin typeface="Arial"/>
              </a:rPr>
              <a:t>Aus </a:t>
            </a:r>
            <a:r>
              <a:rPr sz="1400" i="1">
                <a:solidFill>
                  <a:srgbClr val="555555"/>
                </a:solidFill>
                <a:latin typeface="Arial"/>
              </a:rPr>
              <a:t>SAP</a:t>
            </a:r>
            <a:r>
              <a:rPr lang="de-CH" sz="1400" i="1">
                <a:solidFill>
                  <a:srgbClr val="555555"/>
                </a:solidFill>
                <a:latin typeface="Arial"/>
              </a:rPr>
              <a:t>-HCM</a:t>
            </a:r>
            <a:r>
              <a:rPr sz="1400" i="1">
                <a:solidFill>
                  <a:srgbClr val="555555"/>
                </a:solidFill>
                <a:latin typeface="Arial"/>
              </a:rPr>
              <a:t>)</a:t>
            </a:r>
            <a:endParaRPr lang="de-CH" sz="1400" i="1">
              <a:solidFill>
                <a:srgbClr val="555555"/>
              </a:solidFill>
              <a:latin typeface="Arial"/>
            </a:endParaRPr>
          </a:p>
          <a:p>
            <a:pPr>
              <a:spcBef>
                <a:spcPts val="800"/>
              </a:spcBef>
              <a:spcAft>
                <a:spcPts val="100"/>
              </a:spcAft>
            </a:pPr>
            <a:endParaRPr sz="1400" i="1">
              <a:solidFill>
                <a:srgbClr val="555555"/>
              </a:solidFill>
              <a:latin typeface="Arial"/>
            </a:endParaRPr>
          </a:p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sz="1600" err="1">
                <a:solidFill>
                  <a:srgbClr val="222222"/>
                </a:solidFill>
                <a:latin typeface="Arial"/>
              </a:rPr>
              <a:t>Anred</a:t>
            </a:r>
            <a:r>
              <a:rPr lang="de-CH" sz="1600">
                <a:solidFill>
                  <a:srgbClr val="222222"/>
                </a:solidFill>
                <a:latin typeface="Arial"/>
              </a:rPr>
              <a:t>e</a:t>
            </a:r>
          </a:p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sz="1600" err="1">
                <a:solidFill>
                  <a:srgbClr val="222222"/>
                </a:solidFill>
                <a:latin typeface="Arial"/>
              </a:rPr>
              <a:t>Personalnummer</a:t>
            </a:r>
            <a:endParaRPr lang="de-CH" sz="1600">
              <a:solidFill>
                <a:srgbClr val="222222"/>
              </a:solidFill>
              <a:latin typeface="Arial"/>
            </a:endParaRPr>
          </a:p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sz="1600" err="1">
                <a:solidFill>
                  <a:srgbClr val="222222"/>
                </a:solidFill>
                <a:latin typeface="Arial"/>
              </a:rPr>
              <a:t>Vorname</a:t>
            </a:r>
            <a:endParaRPr lang="de-CH" sz="1600">
              <a:solidFill>
                <a:srgbClr val="222222"/>
              </a:solidFill>
              <a:latin typeface="Arial"/>
            </a:endParaRPr>
          </a:p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sz="1600" err="1">
                <a:solidFill>
                  <a:srgbClr val="222222"/>
                </a:solidFill>
                <a:latin typeface="Arial"/>
              </a:rPr>
              <a:t>Nachname</a:t>
            </a:r>
            <a:endParaRPr lang="de-CH" sz="1600">
              <a:solidFill>
                <a:srgbClr val="222222"/>
              </a:solidFill>
              <a:latin typeface="Arial"/>
            </a:endParaRPr>
          </a:p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de-CH" sz="1600">
                <a:solidFill>
                  <a:srgbClr val="222222"/>
                </a:solidFill>
              </a:rPr>
              <a:t>Geschlecht</a:t>
            </a:r>
          </a:p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de-CH" sz="1600">
                <a:solidFill>
                  <a:srgbClr val="222222"/>
                </a:solidFill>
              </a:rPr>
              <a:t>Adresse</a:t>
            </a:r>
          </a:p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de-CH" sz="1600">
                <a:solidFill>
                  <a:srgbClr val="222222"/>
                </a:solidFill>
              </a:rPr>
              <a:t>Telefon geschäftlich</a:t>
            </a:r>
          </a:p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de-CH" sz="1600">
                <a:solidFill>
                  <a:srgbClr val="222222"/>
                </a:solidFill>
              </a:rPr>
              <a:t>Mail geschäftlich</a:t>
            </a:r>
          </a:p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de-CH" sz="1600">
                <a:solidFill>
                  <a:srgbClr val="222222"/>
                </a:solidFill>
              </a:rPr>
              <a:t>Telefon privat</a:t>
            </a:r>
          </a:p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de-CH" sz="1600">
                <a:solidFill>
                  <a:srgbClr val="222222"/>
                </a:solidFill>
              </a:rPr>
              <a:t>Mail privat</a:t>
            </a:r>
          </a:p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sz="1600">
                <a:solidFill>
                  <a:srgbClr val="222222"/>
                </a:solidFill>
                <a:latin typeface="Arial"/>
              </a:rPr>
              <a:t>Department</a:t>
            </a:r>
            <a:r>
              <a:rPr lang="de-CH" sz="1600">
                <a:solidFill>
                  <a:srgbClr val="222222"/>
                </a:solidFill>
                <a:latin typeface="Arial"/>
              </a:rPr>
              <a:t> / Bereich / Direktion</a:t>
            </a:r>
          </a:p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de-CH" sz="1600">
                <a:solidFill>
                  <a:srgbClr val="222222"/>
                </a:solidFill>
                <a:latin typeface="Arial"/>
              </a:rPr>
              <a:t>Klinik / Abteilung</a:t>
            </a:r>
          </a:p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de-CH" sz="1600">
                <a:solidFill>
                  <a:srgbClr val="222222"/>
                </a:solidFill>
                <a:latin typeface="Arial"/>
              </a:rPr>
              <a:t>Team</a:t>
            </a:r>
          </a:p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de-CH" sz="1600">
                <a:solidFill>
                  <a:srgbClr val="222222"/>
                </a:solidFill>
              </a:rPr>
              <a:t>Funktion</a:t>
            </a:r>
            <a:endParaRPr lang="de-CH" sz="1600">
              <a:solidFill>
                <a:srgbClr val="222222"/>
              </a:solidFill>
              <a:latin typeface="Arial"/>
            </a:endParaRPr>
          </a:p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sz="1600" err="1">
                <a:solidFill>
                  <a:srgbClr val="222222"/>
                </a:solidFill>
                <a:latin typeface="Arial"/>
              </a:rPr>
              <a:t>Führungsverantwortung</a:t>
            </a:r>
            <a:r>
              <a:rPr sz="1600">
                <a:solidFill>
                  <a:srgbClr val="222222"/>
                </a:solidFill>
                <a:latin typeface="Arial"/>
              </a:rPr>
              <a:t> (ja/</a:t>
            </a:r>
            <a:r>
              <a:rPr sz="1600" err="1">
                <a:solidFill>
                  <a:srgbClr val="222222"/>
                </a:solidFill>
                <a:latin typeface="Arial"/>
              </a:rPr>
              <a:t>nein</a:t>
            </a:r>
            <a:r>
              <a:rPr sz="1600">
                <a:solidFill>
                  <a:srgbClr val="222222"/>
                </a:solidFill>
                <a:latin typeface="Arial"/>
              </a:rPr>
              <a:t>)</a:t>
            </a:r>
            <a:r>
              <a:rPr lang="de-CH" sz="1600">
                <a:solidFill>
                  <a:srgbClr val="222222"/>
                </a:solidFill>
                <a:latin typeface="Arial"/>
              </a:rPr>
              <a:t> </a:t>
            </a:r>
            <a:r>
              <a:rPr lang="de-CH" sz="1600">
                <a:solidFill>
                  <a:srgbClr val="222222"/>
                </a:solidFill>
                <a:highlight>
                  <a:srgbClr val="FFFF00"/>
                </a:highlight>
                <a:latin typeface="Arial"/>
                <a:sym typeface="Wingdings" panose="05000000000000000000" pitchFamily="2" charset="2"/>
              </a:rPr>
              <a:t> Info in Bezug auf WFs, damit diese umgehängt werden</a:t>
            </a:r>
            <a:endParaRPr lang="de-CH" sz="1600">
              <a:solidFill>
                <a:srgbClr val="222222"/>
              </a:solidFill>
              <a:highlight>
                <a:srgbClr val="FFFF00"/>
              </a:highlight>
              <a:latin typeface="Arial"/>
            </a:endParaRPr>
          </a:p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de-CH" sz="1600">
                <a:solidFill>
                  <a:srgbClr val="222222"/>
                </a:solidFill>
                <a:latin typeface="Arial"/>
              </a:rPr>
              <a:t>Fondsverantwortung (ja/nein) </a:t>
            </a:r>
            <a:r>
              <a:rPr lang="de-CH" sz="1600">
                <a:solidFill>
                  <a:srgbClr val="222222"/>
                </a:solidFill>
                <a:highlight>
                  <a:srgbClr val="FFFF00"/>
                </a:highlight>
                <a:latin typeface="Arial"/>
                <a:sym typeface="Wingdings" panose="05000000000000000000" pitchFamily="2" charset="2"/>
              </a:rPr>
              <a:t> Info an Finanzen</a:t>
            </a:r>
            <a:endParaRPr lang="de-CH" sz="1600">
              <a:solidFill>
                <a:srgbClr val="222222"/>
              </a:solidFill>
              <a:highlight>
                <a:srgbClr val="FFFF00"/>
              </a:highlight>
              <a:latin typeface="Arial"/>
            </a:endParaRPr>
          </a:p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sz="1600" err="1">
                <a:solidFill>
                  <a:srgbClr val="222222"/>
                </a:solidFill>
                <a:latin typeface="Arial"/>
              </a:rPr>
              <a:t>Teilaustritt</a:t>
            </a:r>
            <a:r>
              <a:rPr sz="1600">
                <a:solidFill>
                  <a:srgbClr val="222222"/>
                </a:solidFill>
                <a:latin typeface="Arial"/>
              </a:rPr>
              <a:t> (ja/</a:t>
            </a:r>
            <a:r>
              <a:rPr sz="1600" err="1">
                <a:solidFill>
                  <a:srgbClr val="222222"/>
                </a:solidFill>
                <a:latin typeface="Arial"/>
              </a:rPr>
              <a:t>nein</a:t>
            </a:r>
            <a:r>
              <a:rPr sz="1600">
                <a:solidFill>
                  <a:srgbClr val="222222"/>
                </a:solidFill>
                <a:latin typeface="Arial"/>
              </a:rPr>
              <a:t>)</a:t>
            </a:r>
            <a:endParaRPr lang="de-CH" sz="1600">
              <a:solidFill>
                <a:srgbClr val="222222"/>
              </a:solidFill>
              <a:latin typeface="Arial"/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96E11F2D-11A7-87DC-8668-C3F1D7D1AC73}"/>
              </a:ext>
            </a:extLst>
          </p:cNvPr>
          <p:cNvSpPr txBox="1"/>
          <p:nvPr/>
        </p:nvSpPr>
        <p:spPr>
          <a:xfrm>
            <a:off x="5835892" y="866179"/>
            <a:ext cx="5707329" cy="388679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spcAft>
                <a:spcPts val="200"/>
              </a:spcAft>
            </a:pPr>
            <a:r>
              <a:rPr lang="de-DE" b="1">
                <a:solidFill>
                  <a:srgbClr val="125C57"/>
                </a:solidFill>
              </a:rPr>
              <a:t>B — Austrittsmerkmale</a:t>
            </a:r>
            <a:r>
              <a:rPr lang="de-DE" i="1">
                <a:solidFill>
                  <a:srgbClr val="555555"/>
                </a:solidFill>
              </a:rPr>
              <a:t>  </a:t>
            </a:r>
            <a:r>
              <a:rPr lang="de-DE" sz="1400" i="1">
                <a:solidFill>
                  <a:srgbClr val="555555"/>
                </a:solidFill>
              </a:rPr>
              <a:t>(Aus Meldung)</a:t>
            </a:r>
          </a:p>
          <a:p>
            <a:pPr>
              <a:spcAft>
                <a:spcPts val="200"/>
              </a:spcAft>
            </a:pPr>
            <a:endParaRPr lang="de-DE" sz="1400" i="1">
              <a:solidFill>
                <a:srgbClr val="555555"/>
              </a:solidFill>
            </a:endParaRPr>
          </a:p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de-CH" sz="1600"/>
              <a:t>HR Beratung (Ansprechperson) </a:t>
            </a:r>
            <a:r>
              <a:rPr lang="de-CH" sz="1600">
                <a:sym typeface="Wingdings" panose="05000000000000000000" pitchFamily="2" charset="2"/>
              </a:rPr>
              <a:t> </a:t>
            </a:r>
            <a:r>
              <a:rPr lang="de-CH" sz="1600" err="1">
                <a:sym typeface="Wingdings" panose="05000000000000000000" pitchFamily="2" charset="2"/>
              </a:rPr>
              <a:t>autom</a:t>
            </a:r>
            <a:r>
              <a:rPr lang="de-CH" sz="1600">
                <a:sym typeface="Wingdings" panose="05000000000000000000" pitchFamily="2" charset="2"/>
              </a:rPr>
              <a:t>. Ziehen aus SAP?</a:t>
            </a:r>
            <a:endParaRPr lang="de-CH" sz="1600"/>
          </a:p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de-DE" sz="1600">
                <a:solidFill>
                  <a:srgbClr val="222222"/>
                </a:solidFill>
              </a:rPr>
              <a:t>Betroffene Anstellung bei Mehrfachanstellung oder beide</a:t>
            </a:r>
          </a:p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de-DE" sz="1600">
                <a:solidFill>
                  <a:srgbClr val="222222"/>
                </a:solidFill>
              </a:rPr>
              <a:t>Details zur Anstellung (BG, Anstellungsart) </a:t>
            </a:r>
          </a:p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de-CH" sz="1600">
                <a:solidFill>
                  <a:srgbClr val="222222"/>
                </a:solidFill>
              </a:rPr>
              <a:t>Führungsperson (FV) – Ansprechperson als Vertretung</a:t>
            </a:r>
          </a:p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de-CH" sz="1600">
                <a:solidFill>
                  <a:srgbClr val="222222"/>
                </a:solidFill>
              </a:rPr>
              <a:t>Kostenstelle</a:t>
            </a:r>
          </a:p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de-CH" sz="1600">
                <a:solidFill>
                  <a:srgbClr val="222222"/>
                </a:solidFill>
                <a:highlight>
                  <a:srgbClr val="00FF00"/>
                </a:highlight>
              </a:rPr>
              <a:t>Funktion</a:t>
            </a:r>
            <a:endParaRPr lang="de-DE" sz="1600">
              <a:solidFill>
                <a:srgbClr val="222222"/>
              </a:solidFill>
              <a:highlight>
                <a:srgbClr val="00FF00"/>
              </a:highlight>
            </a:endParaRPr>
          </a:p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de-DE" sz="1600">
                <a:solidFill>
                  <a:srgbClr val="222222"/>
                </a:solidFill>
              </a:rPr>
              <a:t>Kündigungsschreiben / Auflösungsvereinbarung (als Anhang, PDF oder digitales Formular)</a:t>
            </a:r>
          </a:p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de-DE" sz="1600">
                <a:solidFill>
                  <a:srgbClr val="222222"/>
                </a:solidFill>
              </a:rPr>
              <a:t>Austrittsgrund</a:t>
            </a:r>
          </a:p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de-DE" sz="1600">
                <a:solidFill>
                  <a:srgbClr val="222222"/>
                </a:solidFill>
              </a:rPr>
              <a:t>Austrittsdatum -&gt; </a:t>
            </a:r>
            <a:r>
              <a:rPr lang="de-DE" sz="1600">
                <a:solidFill>
                  <a:srgbClr val="222222"/>
                </a:solidFill>
                <a:highlight>
                  <a:srgbClr val="00FF00"/>
                </a:highlight>
              </a:rPr>
              <a:t>muss anpassbar sein, da es oft zu Fehlern kommt oder ein Austritt gar kein Austritt ist</a:t>
            </a:r>
          </a:p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de-DE" sz="1600">
                <a:solidFill>
                  <a:srgbClr val="222222"/>
                </a:solidFill>
              </a:rPr>
              <a:t>Kündigungsdatum</a:t>
            </a:r>
          </a:p>
          <a:p>
            <a:pPr algn="l">
              <a:lnSpc>
                <a:spcPts val="2400"/>
              </a:lnSpc>
              <a:spcAft>
                <a:spcPts val="900"/>
              </a:spcAft>
            </a:pPr>
            <a:endParaRPr lang="de-CH" sz="200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A368D86-3766-19B2-CAFA-C24257CE0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08.07.2026</a:t>
            </a:r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AB720BA-5DF7-0B40-AB27-7D4ED89891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Zwischenbericht Digitalisierung Austrittsprozess USB</a:t>
            </a:r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3811806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13F00B-B576-A0EF-96FF-82EF3201C8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F2572-E1C4-FC33-2289-2C56CAD55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err="1"/>
              <a:t>Flugebene</a:t>
            </a:r>
            <a:r>
              <a:t> 3: </a:t>
            </a:r>
            <a:r>
              <a:rPr err="1"/>
              <a:t>Pflichtinhalte</a:t>
            </a:r>
            <a:r>
              <a:t> </a:t>
            </a:r>
            <a:r>
              <a:rPr err="1"/>
              <a:t>Austrittsticket</a:t>
            </a:r>
            <a:r>
              <a:rPr lang="de-CH"/>
              <a:t> (2/2)</a:t>
            </a:r>
            <a:endParaRPr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49A7136C-6441-0B7D-2326-69DA18D96228}"/>
              </a:ext>
            </a:extLst>
          </p:cNvPr>
          <p:cNvSpPr txBox="1"/>
          <p:nvPr/>
        </p:nvSpPr>
        <p:spPr>
          <a:xfrm>
            <a:off x="407369" y="762464"/>
            <a:ext cx="11717575" cy="542409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spcBef>
                <a:spcPts val="800"/>
              </a:spcBef>
              <a:spcAft>
                <a:spcPts val="100"/>
              </a:spcAft>
            </a:pPr>
            <a:r>
              <a:rPr lang="de-DE" b="1">
                <a:solidFill>
                  <a:srgbClr val="125C57"/>
                </a:solidFill>
              </a:rPr>
              <a:t>C — Bedingte Pflichtfelder</a:t>
            </a:r>
            <a:r>
              <a:rPr lang="de-DE" i="1">
                <a:solidFill>
                  <a:srgbClr val="555555"/>
                </a:solidFill>
              </a:rPr>
              <a:t>  </a:t>
            </a:r>
            <a:r>
              <a:rPr lang="de-DE" sz="1400" i="1">
                <a:solidFill>
                  <a:srgbClr val="555555"/>
                </a:solidFill>
              </a:rPr>
              <a:t>(nur wenn zutreffend – steuern den Folgeprozess)</a:t>
            </a:r>
          </a:p>
          <a:p>
            <a:r>
              <a:rPr lang="de-CH" sz="1600" b="1"/>
              <a:t>Manuell zu erfassen</a:t>
            </a:r>
            <a:r>
              <a:rPr lang="de-CH" sz="1600"/>
              <a:t> </a:t>
            </a:r>
            <a:r>
              <a:rPr lang="de-CH" sz="1600" i="1"/>
              <a:t>(nur dem Melder/HR Beratung/FV bekannt):</a:t>
            </a:r>
          </a:p>
          <a:p>
            <a:endParaRPr lang="de-CH" sz="1600" i="1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CH" sz="1600"/>
              <a:t>FV ist über Kündigung informiert (ja/nein)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CH" sz="1600"/>
              <a:t>Rückforderungsbetrag (falls eine Rückzahlungspflicht besteht)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CH" sz="1600"/>
              <a:t>Freistellung (ja/nein) + Umgang Zeitsaldi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CH" sz="1600">
                <a:highlight>
                  <a:srgbClr val="FFFF00"/>
                </a:highlight>
              </a:rPr>
              <a:t>Arbeitszeugnis (ja/nein) + Unterschriftsregelung (bei ja)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CH" sz="1600"/>
              <a:t>Spezielle Vereinbarungen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CH" sz="1600"/>
              <a:t>Rückforderungsbetrag (falls eine Rückzahlungspflicht besteht)</a:t>
            </a:r>
          </a:p>
          <a:p>
            <a:endParaRPr lang="de-CH" sz="1600"/>
          </a:p>
          <a:p>
            <a:r>
              <a:rPr lang="de-CH" sz="1600" b="1"/>
              <a:t>Automatisch aus SAP/PEP/Umsysteme ableitbar / Automatisierte Berechnung/Kennzeichnung im Ticket</a:t>
            </a:r>
          </a:p>
          <a:p>
            <a:r>
              <a:rPr lang="de-CH" sz="1600" i="1"/>
              <a:t>(heute teils manuelle HR-Admin-Prüfung)</a:t>
            </a:r>
            <a:r>
              <a:rPr lang="de-CH" sz="1600" b="1"/>
              <a:t>:</a:t>
            </a:r>
          </a:p>
          <a:p>
            <a:endParaRPr lang="de-CH" sz="1600" b="1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CH" sz="1600"/>
              <a:t>Eingeschobener Vertrag (ja/nein)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CH" sz="1600"/>
              <a:t>Rückzahlungspflicht (ja/nein)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CH" sz="1600"/>
              <a:t>Frühpensionierung möglich? (ja/nein) -&gt; ableitbar anhand Geburtstages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CH" sz="1600"/>
              <a:t>G-Bewilligung / Drittstaatenbewilligung B/F/N (Wohnort / Nationalität / Aufenthaltsstatus)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CH" sz="1600"/>
              <a:t>Krankheit bei Austritt oder LZK (aus PEP / UKA)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CH" sz="1600"/>
              <a:t>Mehrfachanstellung mit einer Personalnummer (aus SAP?)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CH" sz="1600">
                <a:highlight>
                  <a:srgbClr val="FFFF00"/>
                </a:highlight>
              </a:rPr>
              <a:t>Dienstjubiläumsanspruch (aus Dienstjahren) </a:t>
            </a:r>
            <a:r>
              <a:rPr lang="de-CH" sz="1600">
                <a:highlight>
                  <a:srgbClr val="FFFF00"/>
                </a:highlight>
                <a:sym typeface="Wingdings" panose="05000000000000000000" pitchFamily="2" charset="2"/>
              </a:rPr>
              <a:t> bei Pensionierung anzeigen, sonst nicht</a:t>
            </a:r>
            <a:endParaRPr lang="de-CH" sz="1600">
              <a:highlight>
                <a:srgbClr val="FFFF00"/>
              </a:highlight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CH" sz="1600"/>
              <a:t>SMU-Fall (z. B. aus PEP) </a:t>
            </a:r>
            <a:r>
              <a:rPr lang="de-CH" sz="1600">
                <a:sym typeface="Wingdings" panose="05000000000000000000" pitchFamily="2" charset="2"/>
              </a:rPr>
              <a:t> Manuell</a:t>
            </a:r>
            <a:endParaRPr lang="de-CH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CH" sz="1600"/>
              <a:t>Rückwirkender Austritt (Austrittsdatum &lt; heute)</a:t>
            </a:r>
          </a:p>
          <a:p>
            <a:endParaRPr lang="de-CH" sz="1600"/>
          </a:p>
          <a:p>
            <a:endParaRPr lang="de-CH" sz="1600"/>
          </a:p>
          <a:p>
            <a:pPr algn="l">
              <a:lnSpc>
                <a:spcPts val="2400"/>
              </a:lnSpc>
              <a:spcAft>
                <a:spcPts val="900"/>
              </a:spcAft>
            </a:pPr>
            <a:endParaRPr lang="de-CH" sz="2000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CDF31DBB-3A8C-5A6D-1AE6-D54EB89283F9}"/>
              </a:ext>
            </a:extLst>
          </p:cNvPr>
          <p:cNvSpPr txBox="1"/>
          <p:nvPr/>
        </p:nvSpPr>
        <p:spPr>
          <a:xfrm>
            <a:off x="407369" y="6336198"/>
            <a:ext cx="11169181" cy="452815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>
              <a:lnSpc>
                <a:spcPts val="2400"/>
              </a:lnSpc>
              <a:spcAft>
                <a:spcPts val="900"/>
              </a:spcAft>
            </a:pPr>
            <a:endParaRPr lang="de-CH" sz="90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2EDA322-2CBD-0F64-083D-C162F1B8C8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08.07.2026</a:t>
            </a:r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9F3052C-91C0-358D-629B-5B27C9577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7369" y="6459372"/>
            <a:ext cx="4114800" cy="180000"/>
          </a:xfrm>
        </p:spPr>
        <p:txBody>
          <a:bodyPr/>
          <a:lstStyle/>
          <a:p>
            <a:r>
              <a:rPr lang="de-DE"/>
              <a:t>Zwischenbericht Digitalisierung Austrittsprozess USB</a:t>
            </a:r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38559404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err="1"/>
              <a:t>Flugebene</a:t>
            </a:r>
            <a:r>
              <a:t> 3: </a:t>
            </a:r>
            <a:r>
              <a:rPr err="1"/>
              <a:t>Austrittsschein</a:t>
            </a:r>
            <a:r>
              <a:t> – </a:t>
            </a:r>
            <a:r>
              <a:rPr err="1"/>
              <a:t>Inhalte</a:t>
            </a: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07369" y="814088"/>
            <a:ext cx="5913732" cy="5575885"/>
          </a:xfrm>
          <a:prstGeom prst="rect">
            <a:avLst/>
          </a:prstGeom>
          <a:noFill/>
        </p:spPr>
        <p:txBody>
          <a:bodyPr wrap="square" lIns="25400" tIns="25400" rIns="25400">
            <a:spAutoFit/>
          </a:bodyPr>
          <a:lstStyle/>
          <a:p>
            <a:pPr>
              <a:spcBef>
                <a:spcPts val="1000"/>
              </a:spcBef>
              <a:spcAft>
                <a:spcPts val="100"/>
              </a:spcAft>
            </a:pPr>
            <a:r>
              <a:rPr b="1" err="1">
                <a:solidFill>
                  <a:srgbClr val="125C57"/>
                </a:solidFill>
                <a:latin typeface="Arial"/>
              </a:rPr>
              <a:t>Inhalte</a:t>
            </a:r>
            <a:endParaRPr lang="de-CH" b="1">
              <a:solidFill>
                <a:srgbClr val="125C57"/>
              </a:solidFill>
              <a:latin typeface="Arial"/>
            </a:endParaRPr>
          </a:p>
          <a:p>
            <a:pPr marL="285750" indent="-285750">
              <a:spcBef>
                <a:spcPts val="10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de-CH" sz="1600">
                <a:solidFill>
                  <a:srgbClr val="222222"/>
                </a:solidFill>
              </a:rPr>
              <a:t>Name, Vorname, </a:t>
            </a:r>
            <a:r>
              <a:rPr lang="de-CH" sz="1600" err="1">
                <a:solidFill>
                  <a:srgbClr val="222222"/>
                </a:solidFill>
              </a:rPr>
              <a:t>PNr</a:t>
            </a:r>
            <a:r>
              <a:rPr lang="de-CH" sz="1600">
                <a:solidFill>
                  <a:srgbClr val="222222"/>
                </a:solidFill>
              </a:rPr>
              <a:t>., Abteilung, Austrittsdatum, Department, FV</a:t>
            </a:r>
            <a:endParaRPr lang="de-CH" sz="1600">
              <a:solidFill>
                <a:srgbClr val="222222"/>
              </a:solidFill>
              <a:latin typeface="Arial"/>
            </a:endParaRPr>
          </a:p>
          <a:p>
            <a:pPr marL="285750" indent="-285750">
              <a:spcBef>
                <a:spcPts val="10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sz="1600" err="1">
                <a:solidFill>
                  <a:srgbClr val="222222"/>
                </a:solidFill>
                <a:latin typeface="Arial"/>
              </a:rPr>
              <a:t>Ferien</a:t>
            </a:r>
            <a:endParaRPr lang="de-CH" sz="1600">
              <a:solidFill>
                <a:srgbClr val="222222"/>
              </a:solidFill>
              <a:latin typeface="Arial"/>
            </a:endParaRPr>
          </a:p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sz="1600" err="1">
                <a:solidFill>
                  <a:srgbClr val="222222"/>
                </a:solidFill>
                <a:latin typeface="Arial"/>
              </a:rPr>
              <a:t>Flexitage</a:t>
            </a:r>
            <a:endParaRPr lang="de-CH" sz="1600">
              <a:solidFill>
                <a:srgbClr val="222222"/>
              </a:solidFill>
              <a:latin typeface="Arial"/>
            </a:endParaRPr>
          </a:p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sz="1600">
                <a:solidFill>
                  <a:srgbClr val="222222"/>
                </a:solidFill>
                <a:latin typeface="Arial"/>
              </a:rPr>
              <a:t>Über-/</a:t>
            </a:r>
            <a:r>
              <a:rPr sz="1600" err="1">
                <a:solidFill>
                  <a:srgbClr val="222222"/>
                </a:solidFill>
                <a:latin typeface="Arial"/>
              </a:rPr>
              <a:t>Minusstunden</a:t>
            </a:r>
            <a:endParaRPr lang="de-CH" sz="1600">
              <a:solidFill>
                <a:srgbClr val="222222"/>
              </a:solidFill>
              <a:latin typeface="Arial"/>
            </a:endParaRPr>
          </a:p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sz="1600" err="1">
                <a:solidFill>
                  <a:srgbClr val="222222"/>
                </a:solidFill>
                <a:latin typeface="Arial"/>
              </a:rPr>
              <a:t>Dienstjubiläum</a:t>
            </a:r>
            <a:endParaRPr lang="de-CH" sz="1600">
              <a:solidFill>
                <a:srgbClr val="222222"/>
              </a:solidFill>
              <a:latin typeface="Arial"/>
            </a:endParaRPr>
          </a:p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sz="1600" err="1">
                <a:solidFill>
                  <a:srgbClr val="222222"/>
                </a:solidFill>
                <a:latin typeface="Arial"/>
              </a:rPr>
              <a:t>Anerkennungsprämie</a:t>
            </a:r>
            <a:endParaRPr lang="de-CH" sz="1600">
              <a:solidFill>
                <a:srgbClr val="222222"/>
              </a:solidFill>
              <a:latin typeface="Arial"/>
            </a:endParaRPr>
          </a:p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sz="1600" err="1">
                <a:solidFill>
                  <a:srgbClr val="222222"/>
                </a:solidFill>
                <a:latin typeface="Arial"/>
              </a:rPr>
              <a:t>Schichtbonus</a:t>
            </a:r>
            <a:endParaRPr lang="de-CH" sz="1600">
              <a:solidFill>
                <a:srgbClr val="222222"/>
              </a:solidFill>
              <a:latin typeface="Arial"/>
            </a:endParaRPr>
          </a:p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de-CH" sz="1600">
                <a:solidFill>
                  <a:srgbClr val="222222"/>
                </a:solidFill>
                <a:latin typeface="Arial"/>
              </a:rPr>
              <a:t>Unterschriften (MA, FV)</a:t>
            </a:r>
          </a:p>
          <a:p>
            <a:pPr marL="742950" lvl="1" indent="-2857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de-CH" sz="1400">
                <a:solidFill>
                  <a:srgbClr val="222222"/>
                </a:solidFill>
                <a:latin typeface="Arial"/>
              </a:rPr>
              <a:t>Überstunden zwischen 61 – 170h: + </a:t>
            </a:r>
            <a:r>
              <a:rPr lang="de-CH" sz="1400" err="1">
                <a:solidFill>
                  <a:srgbClr val="222222"/>
                </a:solidFill>
                <a:latin typeface="Arial"/>
              </a:rPr>
              <a:t>Departementsleitung</a:t>
            </a:r>
            <a:endParaRPr lang="de-CH" sz="1400">
              <a:solidFill>
                <a:srgbClr val="222222"/>
              </a:solidFill>
              <a:latin typeface="Arial"/>
            </a:endParaRPr>
          </a:p>
          <a:p>
            <a:pPr marL="742950" lvl="1" indent="-2857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de-CH" sz="1400">
                <a:solidFill>
                  <a:srgbClr val="222222"/>
                </a:solidFill>
                <a:latin typeface="Arial"/>
              </a:rPr>
              <a:t>Überstunden ab 171h: + Spitaldirektor</a:t>
            </a:r>
          </a:p>
          <a:p>
            <a:pPr>
              <a:spcBef>
                <a:spcPts val="1000"/>
              </a:spcBef>
              <a:spcAft>
                <a:spcPts val="100"/>
              </a:spcAft>
            </a:pPr>
            <a:r>
              <a:rPr lang="de-CH" b="1">
                <a:solidFill>
                  <a:srgbClr val="125C57"/>
                </a:solidFill>
                <a:latin typeface="Arial"/>
              </a:rPr>
              <a:t>Ablauf heute</a:t>
            </a:r>
            <a:endParaRPr b="1">
              <a:solidFill>
                <a:srgbClr val="125C57"/>
              </a:solidFill>
              <a:latin typeface="Arial"/>
            </a:endParaRPr>
          </a:p>
          <a:p>
            <a:pPr marL="285750" indent="-285750">
              <a:spcAft>
                <a:spcPts val="200"/>
              </a:spcAft>
              <a:buFont typeface="Wingdings" panose="05000000000000000000" pitchFamily="2" charset="2"/>
              <a:buChar char="Ø"/>
            </a:pPr>
            <a:r>
              <a:rPr lang="de-CH" sz="1400">
                <a:solidFill>
                  <a:srgbClr val="222222"/>
                </a:solidFill>
                <a:latin typeface="Arial"/>
              </a:rPr>
              <a:t>HR Administration sendet den Austrittsschein an MA</a:t>
            </a:r>
          </a:p>
          <a:p>
            <a:pPr marL="285750" indent="-285750">
              <a:spcAft>
                <a:spcPts val="200"/>
              </a:spcAft>
              <a:buFont typeface="Wingdings" panose="05000000000000000000" pitchFamily="2" charset="2"/>
              <a:buChar char="Ø"/>
            </a:pPr>
            <a:r>
              <a:rPr lang="de-CH" sz="1400">
                <a:solidFill>
                  <a:srgbClr val="222222"/>
                </a:solidFill>
                <a:latin typeface="Arial"/>
              </a:rPr>
              <a:t>MA sendet den Austrittsschein ausgefüllt zurück</a:t>
            </a:r>
          </a:p>
          <a:p>
            <a:pPr marL="285750" indent="-285750">
              <a:spcAft>
                <a:spcPts val="200"/>
              </a:spcAft>
              <a:buFont typeface="Wingdings" panose="05000000000000000000" pitchFamily="2" charset="2"/>
              <a:buChar char="Ø"/>
            </a:pPr>
            <a:r>
              <a:rPr sz="1400">
                <a:solidFill>
                  <a:srgbClr val="222222"/>
                </a:solidFill>
                <a:latin typeface="Arial"/>
              </a:rPr>
              <a:t>HR Time Management </a:t>
            </a:r>
            <a:r>
              <a:rPr lang="de-CH" sz="1400">
                <a:solidFill>
                  <a:srgbClr val="222222"/>
                </a:solidFill>
                <a:latin typeface="Arial"/>
              </a:rPr>
              <a:t>erhält</a:t>
            </a:r>
            <a:r>
              <a:rPr sz="1400">
                <a:solidFill>
                  <a:srgbClr val="222222"/>
                </a:solidFill>
                <a:latin typeface="Arial"/>
              </a:rPr>
              <a:t> den </a:t>
            </a:r>
            <a:r>
              <a:rPr sz="1400" err="1">
                <a:solidFill>
                  <a:srgbClr val="222222"/>
                </a:solidFill>
                <a:latin typeface="Arial"/>
              </a:rPr>
              <a:t>Austrittsschein</a:t>
            </a:r>
            <a:endParaRPr lang="de-CH" sz="1400">
              <a:solidFill>
                <a:srgbClr val="222222"/>
              </a:solidFill>
              <a:latin typeface="Arial"/>
            </a:endParaRPr>
          </a:p>
          <a:p>
            <a:pPr marL="285750" indent="-285750">
              <a:spcAft>
                <a:spcPts val="200"/>
              </a:spcAft>
              <a:buFont typeface="Wingdings" panose="05000000000000000000" pitchFamily="2" charset="2"/>
              <a:buChar char="Ø"/>
            </a:pPr>
            <a:r>
              <a:rPr lang="de-CH" sz="1400">
                <a:solidFill>
                  <a:srgbClr val="222222"/>
                </a:solidFill>
                <a:latin typeface="Arial"/>
              </a:rPr>
              <a:t>Austrittsschein auf Unterschriften und Vollständigkeit der Daten prüfen</a:t>
            </a:r>
          </a:p>
          <a:p>
            <a:pPr marL="285750" indent="-285750">
              <a:spcAft>
                <a:spcPts val="200"/>
              </a:spcAft>
              <a:buFont typeface="Wingdings" panose="05000000000000000000" pitchFamily="2" charset="2"/>
              <a:buChar char="Ø"/>
            </a:pPr>
            <a:r>
              <a:rPr lang="de-CH" sz="1400">
                <a:solidFill>
                  <a:srgbClr val="222222"/>
                </a:solidFill>
                <a:latin typeface="Arial"/>
              </a:rPr>
              <a:t>Allenfalls den Austrittsschein zurückweisen und auf Korrektur warten</a:t>
            </a:r>
          </a:p>
          <a:p>
            <a:pPr marL="285750" indent="-285750">
              <a:spcAft>
                <a:spcPts val="200"/>
              </a:spcAft>
              <a:buFont typeface="Wingdings" panose="05000000000000000000" pitchFamily="2" charset="2"/>
              <a:buChar char="Ø"/>
            </a:pPr>
            <a:r>
              <a:rPr lang="de-CH" sz="1400">
                <a:solidFill>
                  <a:srgbClr val="222222"/>
                </a:solidFill>
                <a:latin typeface="Arial"/>
              </a:rPr>
              <a:t>PEP ausbuchen</a:t>
            </a:r>
          </a:p>
          <a:p>
            <a:pPr marL="285750" indent="-285750">
              <a:spcAft>
                <a:spcPts val="200"/>
              </a:spcAft>
              <a:buFont typeface="Wingdings" panose="05000000000000000000" pitchFamily="2" charset="2"/>
              <a:buChar char="Ø"/>
            </a:pPr>
            <a:r>
              <a:rPr lang="de-CH" sz="1400">
                <a:solidFill>
                  <a:srgbClr val="222222"/>
                </a:solidFill>
                <a:latin typeface="Arial"/>
              </a:rPr>
              <a:t>Austrittsschein + PEP-Auszug an HR </a:t>
            </a:r>
            <a:r>
              <a:rPr lang="de-CH" sz="1400" err="1">
                <a:solidFill>
                  <a:srgbClr val="222222"/>
                </a:solidFill>
                <a:latin typeface="Arial"/>
              </a:rPr>
              <a:t>Payroll</a:t>
            </a:r>
            <a:r>
              <a:rPr lang="de-CH" sz="1400">
                <a:solidFill>
                  <a:srgbClr val="222222"/>
                </a:solidFill>
                <a:latin typeface="Arial"/>
              </a:rPr>
              <a:t> weiterleiten</a:t>
            </a:r>
            <a:endParaRPr sz="1400">
              <a:solidFill>
                <a:srgbClr val="222222"/>
              </a:solidFill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654243" y="719189"/>
            <a:ext cx="5385357" cy="5765681"/>
          </a:xfrm>
          <a:prstGeom prst="rect">
            <a:avLst/>
          </a:prstGeom>
          <a:noFill/>
        </p:spPr>
        <p:txBody>
          <a:bodyPr wrap="square" lIns="25400" tIns="25400" rIns="25400">
            <a:spAutoFit/>
          </a:bodyPr>
          <a:lstStyle/>
          <a:p>
            <a:pPr>
              <a:spcBef>
                <a:spcPts val="1000"/>
              </a:spcBef>
              <a:spcAft>
                <a:spcPts val="100"/>
              </a:spcAft>
            </a:pPr>
            <a:r>
              <a:rPr lang="de-CH" b="1">
                <a:solidFill>
                  <a:srgbClr val="125C57"/>
                </a:solidFill>
                <a:latin typeface="Arial"/>
              </a:rPr>
              <a:t>Zusätzlich für HR </a:t>
            </a:r>
            <a:r>
              <a:rPr lang="de-CH" b="1" err="1">
                <a:solidFill>
                  <a:srgbClr val="125C57"/>
                </a:solidFill>
                <a:latin typeface="Arial"/>
              </a:rPr>
              <a:t>Payroll</a:t>
            </a:r>
            <a:r>
              <a:rPr lang="de-CH" b="1">
                <a:solidFill>
                  <a:srgbClr val="125C57"/>
                </a:solidFill>
                <a:latin typeface="Arial"/>
              </a:rPr>
              <a:t> relevante Daten</a:t>
            </a:r>
          </a:p>
          <a:p>
            <a:pPr marL="285750" indent="-285750">
              <a:spcBef>
                <a:spcPts val="10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de-CH" sz="1600">
                <a:solidFill>
                  <a:srgbClr val="222222"/>
                </a:solidFill>
                <a:highlight>
                  <a:srgbClr val="FFFF00"/>
                </a:highlight>
                <a:latin typeface="Arial"/>
              </a:rPr>
              <a:t>Über welchen Kanal soll die Kommunikation erfolgen? Private oder geschäftliche MA?</a:t>
            </a:r>
          </a:p>
          <a:p>
            <a:pPr marL="285750" indent="-285750">
              <a:spcBef>
                <a:spcPts val="10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sz="1600" err="1">
                <a:solidFill>
                  <a:srgbClr val="222222"/>
                </a:solidFill>
                <a:latin typeface="Arial"/>
              </a:rPr>
              <a:t>Aktuelle</a:t>
            </a:r>
            <a:r>
              <a:rPr sz="1600">
                <a:solidFill>
                  <a:srgbClr val="222222"/>
                </a:solidFill>
                <a:latin typeface="Arial"/>
              </a:rPr>
              <a:t> </a:t>
            </a:r>
            <a:r>
              <a:rPr sz="1600" err="1">
                <a:solidFill>
                  <a:srgbClr val="222222"/>
                </a:solidFill>
                <a:latin typeface="Arial"/>
              </a:rPr>
              <a:t>Adresse</a:t>
            </a:r>
            <a:r>
              <a:rPr sz="1600">
                <a:solidFill>
                  <a:srgbClr val="222222"/>
                </a:solidFill>
                <a:latin typeface="Arial"/>
              </a:rPr>
              <a:t> </a:t>
            </a:r>
            <a:endParaRPr lang="de-CH" sz="1600">
              <a:solidFill>
                <a:srgbClr val="222222"/>
              </a:solidFill>
              <a:latin typeface="Arial"/>
            </a:endParaRPr>
          </a:p>
          <a:p>
            <a:pPr marL="285750" indent="-285750">
              <a:spcBef>
                <a:spcPts val="10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sz="1600" err="1">
                <a:solidFill>
                  <a:srgbClr val="222222"/>
                </a:solidFill>
                <a:latin typeface="Arial"/>
              </a:rPr>
              <a:t>Telefon</a:t>
            </a:r>
            <a:endParaRPr lang="de-CH" sz="1600">
              <a:solidFill>
                <a:srgbClr val="222222"/>
              </a:solidFill>
              <a:latin typeface="Arial"/>
            </a:endParaRPr>
          </a:p>
          <a:p>
            <a:pPr marL="285750" indent="-285750">
              <a:spcBef>
                <a:spcPts val="10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sz="1600">
                <a:solidFill>
                  <a:srgbClr val="222222"/>
                </a:solidFill>
                <a:latin typeface="Arial"/>
              </a:rPr>
              <a:t>Mail</a:t>
            </a:r>
            <a:endParaRPr lang="de-CH" sz="1600">
              <a:solidFill>
                <a:srgbClr val="222222"/>
              </a:solidFill>
              <a:latin typeface="Arial"/>
            </a:endParaRPr>
          </a:p>
          <a:p>
            <a:pPr marL="285750" indent="-285750">
              <a:spcBef>
                <a:spcPts val="10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sz="1600" err="1">
                <a:solidFill>
                  <a:srgbClr val="222222"/>
                </a:solidFill>
                <a:latin typeface="Arial"/>
              </a:rPr>
              <a:t>Bankdaten</a:t>
            </a:r>
            <a:endParaRPr lang="de-CH" sz="1600">
              <a:solidFill>
                <a:srgbClr val="222222"/>
              </a:solidFill>
              <a:latin typeface="Arial"/>
            </a:endParaRPr>
          </a:p>
          <a:p>
            <a:pPr marL="285750" indent="-285750">
              <a:spcBef>
                <a:spcPts val="10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de-CH" sz="1600">
                <a:solidFill>
                  <a:srgbClr val="222222"/>
                </a:solidFill>
                <a:latin typeface="Arial"/>
              </a:rPr>
              <a:t>Mehrarbeit</a:t>
            </a:r>
          </a:p>
          <a:p>
            <a:pPr marL="285750" indent="-285750">
              <a:spcBef>
                <a:spcPts val="10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de-DE" sz="1600">
                <a:solidFill>
                  <a:srgbClr val="222222"/>
                </a:solidFill>
              </a:rPr>
              <a:t>PEP-Zeitausweis (enthält Guthaben und Saldi) </a:t>
            </a:r>
            <a:r>
              <a:rPr lang="de-DE" sz="1600">
                <a:solidFill>
                  <a:srgbClr val="222222"/>
                </a:solidFill>
                <a:highlight>
                  <a:srgbClr val="00FF00"/>
                </a:highlight>
              </a:rPr>
              <a:t>-&gt; PEP-File</a:t>
            </a:r>
            <a:endParaRPr lang="de-CH" b="1">
              <a:solidFill>
                <a:srgbClr val="125C57"/>
              </a:solidFill>
              <a:latin typeface="Arial"/>
            </a:endParaRPr>
          </a:p>
          <a:p>
            <a:pPr>
              <a:spcBef>
                <a:spcPts val="1000"/>
              </a:spcBef>
              <a:spcAft>
                <a:spcPts val="100"/>
              </a:spcAft>
            </a:pPr>
            <a:r>
              <a:rPr lang="de-CH" b="1">
                <a:solidFill>
                  <a:srgbClr val="125C57"/>
                </a:solidFill>
                <a:latin typeface="Arial"/>
              </a:rPr>
              <a:t>Fragen</a:t>
            </a:r>
          </a:p>
          <a:p>
            <a:pPr marL="285750" indent="-285750">
              <a:spcBef>
                <a:spcPts val="10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sz="1600">
                <a:solidFill>
                  <a:srgbClr val="222222"/>
                </a:solidFill>
                <a:latin typeface="Arial"/>
              </a:rPr>
              <a:t>Kann der </a:t>
            </a:r>
            <a:r>
              <a:rPr sz="1600" err="1">
                <a:solidFill>
                  <a:srgbClr val="222222"/>
                </a:solidFill>
                <a:latin typeface="Arial"/>
              </a:rPr>
              <a:t>heutige</a:t>
            </a:r>
            <a:r>
              <a:rPr sz="1600">
                <a:solidFill>
                  <a:srgbClr val="222222"/>
                </a:solidFill>
                <a:latin typeface="Arial"/>
              </a:rPr>
              <a:t> </a:t>
            </a:r>
            <a:r>
              <a:rPr sz="1600" err="1">
                <a:solidFill>
                  <a:srgbClr val="222222"/>
                </a:solidFill>
                <a:latin typeface="Arial"/>
              </a:rPr>
              <a:t>Austrittsschein</a:t>
            </a:r>
            <a:r>
              <a:rPr sz="1600">
                <a:solidFill>
                  <a:srgbClr val="222222"/>
                </a:solidFill>
                <a:latin typeface="Arial"/>
              </a:rPr>
              <a:t> </a:t>
            </a:r>
            <a:r>
              <a:rPr sz="1600" err="1">
                <a:solidFill>
                  <a:srgbClr val="222222"/>
                </a:solidFill>
                <a:latin typeface="Arial"/>
              </a:rPr>
              <a:t>ersetzt</a:t>
            </a:r>
            <a:r>
              <a:rPr sz="1600">
                <a:solidFill>
                  <a:srgbClr val="222222"/>
                </a:solidFill>
                <a:latin typeface="Arial"/>
              </a:rPr>
              <a:t> </a:t>
            </a:r>
            <a:r>
              <a:rPr sz="1600" err="1">
                <a:solidFill>
                  <a:srgbClr val="222222"/>
                </a:solidFill>
                <a:latin typeface="Arial"/>
              </a:rPr>
              <a:t>oder</a:t>
            </a:r>
            <a:r>
              <a:rPr sz="1600">
                <a:solidFill>
                  <a:srgbClr val="222222"/>
                </a:solidFill>
                <a:latin typeface="Arial"/>
              </a:rPr>
              <a:t> </a:t>
            </a:r>
            <a:r>
              <a:rPr sz="1600" err="1">
                <a:solidFill>
                  <a:srgbClr val="222222"/>
                </a:solidFill>
                <a:latin typeface="Arial"/>
              </a:rPr>
              <a:t>digitalisiert</a:t>
            </a:r>
            <a:r>
              <a:rPr sz="1600">
                <a:solidFill>
                  <a:srgbClr val="222222"/>
                </a:solidFill>
                <a:latin typeface="Arial"/>
              </a:rPr>
              <a:t> </a:t>
            </a:r>
            <a:r>
              <a:rPr sz="1600" err="1">
                <a:solidFill>
                  <a:srgbClr val="222222"/>
                </a:solidFill>
                <a:latin typeface="Arial"/>
              </a:rPr>
              <a:t>werden</a:t>
            </a:r>
            <a:r>
              <a:rPr sz="1600">
                <a:solidFill>
                  <a:srgbClr val="222222"/>
                </a:solidFill>
                <a:latin typeface="Arial"/>
              </a:rPr>
              <a:t>?
</a:t>
            </a:r>
            <a:r>
              <a:rPr sz="1600" err="1">
                <a:solidFill>
                  <a:srgbClr val="222222"/>
                </a:solidFill>
                <a:latin typeface="Arial"/>
              </a:rPr>
              <a:t>Standardregeln</a:t>
            </a:r>
            <a:r>
              <a:rPr sz="1600">
                <a:solidFill>
                  <a:srgbClr val="222222"/>
                </a:solidFill>
                <a:latin typeface="Arial"/>
              </a:rPr>
              <a:t> für Plus-/</a:t>
            </a:r>
            <a:r>
              <a:rPr sz="1600" err="1">
                <a:solidFill>
                  <a:srgbClr val="222222"/>
                </a:solidFill>
                <a:latin typeface="Arial"/>
              </a:rPr>
              <a:t>Minusstunden</a:t>
            </a:r>
            <a:r>
              <a:rPr sz="1600">
                <a:solidFill>
                  <a:srgbClr val="222222"/>
                </a:solidFill>
                <a:latin typeface="Arial"/>
              </a:rPr>
              <a:t> </a:t>
            </a:r>
            <a:r>
              <a:rPr sz="1600" err="1">
                <a:solidFill>
                  <a:srgbClr val="222222"/>
                </a:solidFill>
                <a:latin typeface="Arial"/>
              </a:rPr>
              <a:t>definierbar</a:t>
            </a:r>
            <a:r>
              <a:rPr sz="1600">
                <a:solidFill>
                  <a:srgbClr val="222222"/>
                </a:solidFill>
                <a:latin typeface="Arial"/>
              </a:rPr>
              <a:t>?</a:t>
            </a:r>
            <a:endParaRPr lang="de-CH" sz="1600">
              <a:solidFill>
                <a:srgbClr val="222222"/>
              </a:solidFill>
              <a:latin typeface="Arial"/>
            </a:endParaRPr>
          </a:p>
          <a:p>
            <a:pPr marL="742950" lvl="1" indent="-285750">
              <a:spcBef>
                <a:spcPts val="10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de-CH" sz="1600">
                <a:solidFill>
                  <a:srgbClr val="222222"/>
                </a:solidFill>
                <a:highlight>
                  <a:srgbClr val="00FF00"/>
                </a:highlight>
                <a:latin typeface="Arial"/>
              </a:rPr>
              <a:t>Im Lead sollte FV sein und nicht MA</a:t>
            </a:r>
          </a:p>
          <a:p>
            <a:pPr marL="285750" indent="-285750">
              <a:spcBef>
                <a:spcPts val="10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de-CH" sz="1600">
                <a:solidFill>
                  <a:srgbClr val="222222"/>
                </a:solidFill>
                <a:latin typeface="Arial"/>
              </a:rPr>
              <a:t>Ist ein Austrittsschein bei einer Freistellung nötig?</a:t>
            </a:r>
            <a:endParaRPr sz="1350">
              <a:solidFill>
                <a:srgbClr val="222222"/>
              </a:solidFill>
              <a:latin typeface="Arial"/>
            </a:endParaRP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7952FAB-32E7-6FFB-17AE-C81FF70A47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08.07.2026</a:t>
            </a:r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32639F8-1725-5E0C-B61F-F2B9ACBA14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Zwischenbericht Digitalisierung Austrittsprozess USB</a:t>
            </a:r>
            <a:endParaRPr lang="de-CH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USB Gruen">
  <a:themeElements>
    <a:clrScheme name="USB Finanz">
      <a:dk1>
        <a:sysClr val="windowText" lastClr="000000"/>
      </a:dk1>
      <a:lt1>
        <a:sysClr val="window" lastClr="FFFFFF"/>
      </a:lt1>
      <a:dk2>
        <a:srgbClr val="0A5F5A"/>
      </a:dk2>
      <a:lt2>
        <a:srgbClr val="78DEC8"/>
      </a:lt2>
      <a:accent1>
        <a:srgbClr val="0A5F5A"/>
      </a:accent1>
      <a:accent2>
        <a:srgbClr val="78DEC8"/>
      </a:accent2>
      <a:accent3>
        <a:srgbClr val="F0EB96"/>
      </a:accent3>
      <a:accent4>
        <a:srgbClr val="C6D0CF"/>
      </a:accent4>
      <a:accent5>
        <a:srgbClr val="9B233C"/>
      </a:accent5>
      <a:accent6>
        <a:srgbClr val="644164"/>
      </a:accent6>
      <a:hlink>
        <a:srgbClr val="0A5F5A"/>
      </a:hlink>
      <a:folHlink>
        <a:srgbClr val="78DEC8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lIns="0" tIns="0" rIns="0" bIns="0" rtlCol="0">
        <a:noAutofit/>
      </a:bodyPr>
      <a:lstStyle>
        <a:defPPr marL="288000" indent="-288000" algn="l">
          <a:lnSpc>
            <a:spcPts val="2400"/>
          </a:lnSpc>
          <a:spcAft>
            <a:spcPts val="900"/>
          </a:spcAft>
          <a:buBlip>
            <a:blip xmlns:r="http://schemas.openxmlformats.org/officeDocument/2006/relationships" r:embed="rId1"/>
          </a:buBlip>
          <a:defRPr sz="2000" dirty="0" smtClean="0"/>
        </a:defPPr>
      </a:lstStyle>
    </a:txDef>
  </a:objectDefaults>
  <a:extraClrSchemeLst/>
  <a:custClrLst>
    <a:custClr name="Dunkelbraun100">
      <a:srgbClr val="B96E50"/>
    </a:custClr>
    <a:custClr name="Weinrot100">
      <a:srgbClr val="9B233C"/>
    </a:custClr>
    <a:custClr name="Pink100">
      <a:srgbClr val="FA9196"/>
    </a:custClr>
    <a:custClr name="Violett100">
      <a:srgbClr val="644164"/>
    </a:custClr>
    <a:custClr name="Hellblau100">
      <a:srgbClr val="82B4D7"/>
    </a:custClr>
    <a:custClr name="Tuerkis100">
      <a:srgbClr val="78DEC8"/>
    </a:custClr>
    <a:custClr name="Dunkelgruen100">
      <a:srgbClr val="0A5F5A"/>
    </a:custClr>
    <a:custClr name="Hellgruen100">
      <a:srgbClr val="B4D796"/>
    </a:custClr>
    <a:custClr name="Lime100">
      <a:srgbClr val="F0EB96"/>
    </a:custClr>
    <a:custClr name="Apricot100">
      <a:srgbClr val="FFB97D"/>
    </a:custClr>
    <a:custClr name="Dunkelbraun75">
      <a:srgbClr val="C99277"/>
    </a:custClr>
    <a:custClr name="Weinrot75">
      <a:srgbClr val="B35861"/>
    </a:custClr>
    <a:custClr name="Pink75">
      <a:srgbClr val="F5AFB6"/>
    </a:custClr>
    <a:custClr name="Violett75">
      <a:srgbClr val="866A83"/>
    </a:custClr>
    <a:custClr name="Hellblau75">
      <a:srgbClr val="A7C7E2"/>
    </a:custClr>
    <a:custClr name="Tuerkis75">
      <a:srgbClr val="A0D4CA"/>
    </a:custClr>
    <a:custClr name="Dunkelgruen75">
      <a:srgbClr val="547F7C"/>
    </a:custClr>
    <a:custClr name="Hellgruen75">
      <a:srgbClr val="C7DFB0"/>
    </a:custClr>
    <a:custClr name="Lime75">
      <a:srgbClr val="F2F0B2"/>
    </a:custClr>
    <a:custClr name="Apricot75">
      <a:srgbClr val="F4C69C"/>
    </a:custClr>
    <a:custClr name="Dunkelbraun50">
      <a:srgbClr val="DBB6A2"/>
    </a:custClr>
    <a:custClr name="Weinrot50">
      <a:srgbClr val="C98E8F"/>
    </a:custClr>
    <a:custClr name="Pink50">
      <a:srgbClr val="F9CCCF"/>
    </a:custClr>
    <a:custClr name="Violett50">
      <a:srgbClr val="AA96A8"/>
    </a:custClr>
    <a:custClr name="Hellblau50">
      <a:srgbClr val="C7D9EC"/>
    </a:custClr>
    <a:custClr name="Tuerkis50">
      <a:srgbClr val="C4E3DD"/>
    </a:custClr>
    <a:custClr name="Dunkelgruen50">
      <a:srgbClr val="8DA5A3"/>
    </a:custClr>
    <a:custClr name="Hellgruen50">
      <a:srgbClr val="DBEACC"/>
    </a:custClr>
    <a:custClr name="Lime50">
      <a:srgbClr val="F6F5CE"/>
    </a:custClr>
    <a:custClr name="Apricot50">
      <a:srgbClr val="F8DABE"/>
    </a:custClr>
    <a:custClr name="Dunkelbraun25">
      <a:srgbClr val="ECDACF"/>
    </a:custClr>
    <a:custClr name="Weinrot25">
      <a:srgbClr val="E4C6C5"/>
    </a:custClr>
    <a:custClr name="Pink25">
      <a:srgbClr val="FCE7E7"/>
    </a:custClr>
    <a:custClr name="Violett25">
      <a:srgbClr val="D3C9D3"/>
    </a:custClr>
    <a:custClr name="Hellblau25">
      <a:srgbClr val="E4ECF6"/>
    </a:custClr>
    <a:custClr name="Tuerkis25">
      <a:srgbClr val="E2F1EE"/>
    </a:custClr>
    <a:custClr name="Dunkelgruen25">
      <a:srgbClr val="C6D0CF"/>
    </a:custClr>
    <a:custClr name="Hellgruen25">
      <a:srgbClr val="EDF5E6"/>
    </a:custClr>
    <a:custClr name="Lime25">
      <a:srgbClr val="FAFAE7"/>
    </a:custClr>
    <a:custClr name="Apricot25">
      <a:srgbClr val="FBECDE"/>
    </a:custClr>
    <a:custClr name="Red100">
      <a:srgbClr val="FF0000"/>
    </a:custClr>
    <a:custClr name="Red75">
      <a:srgbClr val="EA5E42"/>
    </a:custClr>
    <a:custClr name="Red50">
      <a:srgbClr val="F39A7D"/>
    </a:custClr>
    <a:custClr name="Red25">
      <a:srgbClr val="FAD0BE"/>
    </a:custClr>
    <a:custClr name="Lila100">
      <a:srgbClr val="DC87CD"/>
    </a:custClr>
    <a:custClr name="Lila75">
      <a:srgbClr val="D99FC7"/>
    </a:custClr>
    <a:custClr name="Lila50">
      <a:srgbClr val="E4C1DC"/>
    </a:custClr>
    <a:custClr name="Lila25">
      <a:srgbClr val="F1E0EF"/>
    </a:custClr>
  </a:custClrLst>
  <a:extLst>
    <a:ext uri="{05A4C25C-085E-4340-85A3-A5531E510DB2}">
      <thm15:themeFamily xmlns:thm15="http://schemas.microsoft.com/office/thememl/2012/main" name="USB Vorlage 2020 16 zu 9_gruen.potx" id="{9C70B0FC-C368-411E-BD7F-DAAE16757BB3}" vid="{9FEA0491-00B4-47C6-B1D5-A4DE62E2BE41}"/>
    </a:ext>
  </a:extLst>
</a:theme>
</file>

<file path=ppt/theme/theme2.xml><?xml version="1.0" encoding="utf-8"?>
<a:theme xmlns:a="http://schemas.openxmlformats.org/drawingml/2006/main" name="Office">
  <a:themeElements>
    <a:clrScheme name="USB Finanz">
      <a:dk1>
        <a:sysClr val="windowText" lastClr="000000"/>
      </a:dk1>
      <a:lt1>
        <a:sysClr val="window" lastClr="FFFFFF"/>
      </a:lt1>
      <a:dk2>
        <a:srgbClr val="0A5F5A"/>
      </a:dk2>
      <a:lt2>
        <a:srgbClr val="78DEC8"/>
      </a:lt2>
      <a:accent1>
        <a:srgbClr val="0A5F5A"/>
      </a:accent1>
      <a:accent2>
        <a:srgbClr val="78DEC8"/>
      </a:accent2>
      <a:accent3>
        <a:srgbClr val="F0EB96"/>
      </a:accent3>
      <a:accent4>
        <a:srgbClr val="C6D0CF"/>
      </a:accent4>
      <a:accent5>
        <a:srgbClr val="9B233C"/>
      </a:accent5>
      <a:accent6>
        <a:srgbClr val="644164"/>
      </a:accent6>
      <a:hlink>
        <a:srgbClr val="0A5F5A"/>
      </a:hlink>
      <a:folHlink>
        <a:srgbClr val="78DEC8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USB Finanz">
      <a:dk1>
        <a:sysClr val="windowText" lastClr="000000"/>
      </a:dk1>
      <a:lt1>
        <a:sysClr val="window" lastClr="FFFFFF"/>
      </a:lt1>
      <a:dk2>
        <a:srgbClr val="0A5F5A"/>
      </a:dk2>
      <a:lt2>
        <a:srgbClr val="78DEC8"/>
      </a:lt2>
      <a:accent1>
        <a:srgbClr val="0A5F5A"/>
      </a:accent1>
      <a:accent2>
        <a:srgbClr val="78DEC8"/>
      </a:accent2>
      <a:accent3>
        <a:srgbClr val="F0EB96"/>
      </a:accent3>
      <a:accent4>
        <a:srgbClr val="C6D0CF"/>
      </a:accent4>
      <a:accent5>
        <a:srgbClr val="9B233C"/>
      </a:accent5>
      <a:accent6>
        <a:srgbClr val="644164"/>
      </a:accent6>
      <a:hlink>
        <a:srgbClr val="0A5F5A"/>
      </a:hlink>
      <a:folHlink>
        <a:srgbClr val="78DEC8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51C1109-3401-4139-90C8-B548A790794B}">
  <we:reference id="wa200010001" version="1.0.0.1" store="de-DE" storeType="OMEX"/>
  <we:alternateReferences>
    <we:reference id="WA200010001" version="1.0.0.1" store="" storeType="OMEX"/>
  </we:alternateReferences>
  <we:properties>
    <we:property name="claude.fileId" value="&quot;6ee75fe9-572e-4d36-98a5-c19585221dbe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1a6a32df-cebd-464d-90a1-442646676872" xsi:nil="true"/>
    <lcf76f155ced4ddcb4097134ff3c332f xmlns="a5f4cae7-4d49-4c48-bd7f-5fff0e82947d">
      <Terms xmlns="http://schemas.microsoft.com/office/infopath/2007/PartnerControls"/>
    </lcf76f155ced4ddcb4097134ff3c332f>
    <Confidentiality xmlns="1a6a32df-cebd-464d-90a1-442646676872">Intern</Confidentiality>
    <Patientdata xmlns="1a6a32df-cebd-464d-90a1-442646676872">false</Patientdata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USB-Dokument" ma:contentTypeID="0x01010074254FFFFA788748BE9570FD90FA56DE009867CD9FD039AE4D8B879842556C0817" ma:contentTypeVersion="21" ma:contentTypeDescription="Ein neues USB-Dokument in der Bibliothek erstellen." ma:contentTypeScope="" ma:versionID="1845b4192588df029f4d3e042d29155e">
  <xsd:schema xmlns:xsd="http://www.w3.org/2001/XMLSchema" xmlns:xs="http://www.w3.org/2001/XMLSchema" xmlns:p="http://schemas.microsoft.com/office/2006/metadata/properties" xmlns:ns2="1a6a32df-cebd-464d-90a1-442646676872" xmlns:ns3="a5f4cae7-4d49-4c48-bd7f-5fff0e82947d" targetNamespace="http://schemas.microsoft.com/office/2006/metadata/properties" ma:root="true" ma:fieldsID="fb44a321940245152344639d0ddf4c3e" ns2:_="" ns3:_="">
    <xsd:import namespace="1a6a32df-cebd-464d-90a1-442646676872"/>
    <xsd:import namespace="a5f4cae7-4d49-4c48-bd7f-5fff0e82947d"/>
    <xsd:element name="properties">
      <xsd:complexType>
        <xsd:sequence>
          <xsd:element name="documentManagement">
            <xsd:complexType>
              <xsd:all>
                <xsd:element ref="ns2:Patientdata" minOccurs="0"/>
                <xsd:element ref="ns2:Confidentiality"/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SearchProperties" minOccurs="0"/>
                <xsd:element ref="ns3:lcf76f155ced4ddcb4097134ff3c332f" minOccurs="0"/>
                <xsd:element ref="ns2:TaxCatchAll" minOccurs="0"/>
                <xsd:element ref="ns3:MediaServiceDateTaken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2:SharedWithUsers" minOccurs="0"/>
                <xsd:element ref="ns2:SharedWithDetails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a6a32df-cebd-464d-90a1-442646676872" elementFormDefault="qualified">
    <xsd:import namespace="http://schemas.microsoft.com/office/2006/documentManagement/types"/>
    <xsd:import namespace="http://schemas.microsoft.com/office/infopath/2007/PartnerControls"/>
    <xsd:element name="Patientdata" ma:index="2" nillable="true" ma:displayName="Patientendaten" ma:default="0" ma:internalName="Patientdata">
      <xsd:simpleType>
        <xsd:restriction base="dms:Boolean"/>
      </xsd:simpleType>
    </xsd:element>
    <xsd:element name="Confidentiality" ma:index="3" ma:displayName="Vertraulichkeit" ma:default="Intern" ma:internalName="Confidentiality">
      <xsd:simpleType>
        <xsd:restriction base="dms:Choice">
          <xsd:enumeration value="Intern"/>
          <xsd:enumeration value="Öffentlich"/>
          <xsd:enumeration value="Vertraulich"/>
        </xsd:restriction>
      </xsd:simpleType>
    </xsd:element>
    <xsd:element name="TaxCatchAll" ma:index="16" nillable="true" ma:displayName="Taxonomy Catch All Column" ma:hidden="true" ma:list="{bdaec8a2-fa84-4a01-825a-8df98d1ea18a}" ma:internalName="TaxCatchAll" ma:showField="CatchAllData" ma:web="1a6a32df-cebd-464d-90a1-44264667687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1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2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5f4cae7-4d49-4c48-bd7f-5fff0e82947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5" nillable="true" ma:taxonomy="true" ma:internalName="lcf76f155ced4ddcb4097134ff3c332f" ma:taxonomyFieldName="MediaServiceImageTags" ma:displayName="Bildmarkierungen" ma:readOnly="false" ma:fieldId="{5cf76f15-5ced-4ddc-b409-7134ff3c332f}" ma:taxonomyMulti="true" ma:sspId="ce74e7c6-f287-46cf-95f5-59efda0c93b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8" ma:displayName="Inhaltstyp"/>
        <xsd:element ref="dc:title" minOccurs="0" maxOccurs="1" ma:index="1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1C2694B-096A-45FD-A240-861CD045B45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04C71BE-9143-4301-89A0-8F1E5BC1E075}">
  <ds:schemaRefs>
    <ds:schemaRef ds:uri="1a6a32df-cebd-464d-90a1-442646676872"/>
    <ds:schemaRef ds:uri="a5f4cae7-4d49-4c48-bd7f-5fff0e82947d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8440B19B-10FD-4A96-B669-15496EEBEFB3}">
  <ds:schemaRefs>
    <ds:schemaRef ds:uri="1a6a32df-cebd-464d-90a1-442646676872"/>
    <ds:schemaRef ds:uri="a5f4cae7-4d49-4c48-bd7f-5fff0e82947d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0/xmlns/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USB Vorlage 2020 16 zu 9_gruen</Template>
  <Application>Microsoft Office PowerPoint</Application>
  <PresentationFormat>Widescreen</PresentationFormat>
  <Slides>32</Slides>
  <Notes>10</Notes>
  <HiddenSlides>6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3" baseType="lpstr">
      <vt:lpstr>USB Gruen</vt:lpstr>
      <vt:lpstr>Digitalisierung Austrittsprozess</vt:lpstr>
      <vt:lpstr>Teilnehmende</vt:lpstr>
      <vt:lpstr>Was wurde bisher gemacht und wo stehen wir jetzt?</vt:lpstr>
      <vt:lpstr>Aus der IST-Analyse wurden Pain Points identifiziert und in vier Handlungsfelder abgeleitet</vt:lpstr>
      <vt:lpstr>SOLL Austrittsprozess: Harmonisierung und Reduktion der Varianten </vt:lpstr>
      <vt:lpstr>Der neue Prozess – die wichtigsten Veränderungen </vt:lpstr>
      <vt:lpstr>Fazit und Ausblick </vt:lpstr>
      <vt:lpstr>Vielen Dank für Ihre Aufmerksamkeit!</vt:lpstr>
      <vt:lpstr>Anhang</vt:lpstr>
      <vt:lpstr>Betrachtete Austrittskonstellationen</vt:lpstr>
      <vt:lpstr>IST-Konzept: Strukturierung in sechs Prozessmodelle</vt:lpstr>
      <vt:lpstr>IST Austrittsprozess(e)</vt:lpstr>
      <vt:lpstr>Bei der IST Analyse wurden vier Handlungsfelder identifiziert</vt:lpstr>
      <vt:lpstr>Bei der IST Analyse wurden erste Optimierungsideen aufgenommen</vt:lpstr>
      <vt:lpstr>Notizen Durchsicht IST-Prozesse</vt:lpstr>
      <vt:lpstr>Notizen Durchsicht IST-Prozesse</vt:lpstr>
      <vt:lpstr>Notizen Durchsicht IST-Prozesse</vt:lpstr>
      <vt:lpstr>Notizen Durchsicht IST-Prozesse</vt:lpstr>
      <vt:lpstr>Notizen Durchsicht IST-Prozesse</vt:lpstr>
      <vt:lpstr>Flugebene 1: SOLL Austrittsprozess – Harmonisierung und Reduktion der Varianten </vt:lpstr>
      <vt:lpstr>Kündigung AG</vt:lpstr>
      <vt:lpstr>Austritt melden</vt:lpstr>
      <vt:lpstr>Austritt melden</vt:lpstr>
      <vt:lpstr>Diskussionspunkte «Austritt melden (2/2)»</vt:lpstr>
      <vt:lpstr>Austritt bearbeiten</vt:lpstr>
      <vt:lpstr>Austritt bearbeiten</vt:lpstr>
      <vt:lpstr>Austritt bearbeiten</vt:lpstr>
      <vt:lpstr>Austritt bearbeiten</vt:lpstr>
      <vt:lpstr>Diskussionspunkte «Austritt bearbeiten (2/3)»</vt:lpstr>
      <vt:lpstr>Flugebene 3: Pflichtinhalte Austrittsticket (1/2)</vt:lpstr>
      <vt:lpstr>Flugebene 3: Pflichtinhalte Austrittsticket (2/2)</vt:lpstr>
      <vt:lpstr>Flugebene 3: Austrittsschein – Inhalte</vt:lpstr>
    </vt:vector>
  </TitlesOfParts>
  <Company>USB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Haefliger Sarah</dc:creator>
  <cp:revision>1</cp:revision>
  <dcterms:created xsi:type="dcterms:W3CDTF">2023-06-19T13:30:35Z</dcterms:created>
  <dcterms:modified xsi:type="dcterms:W3CDTF">2026-07-08T06:34:11Z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0x01010074254FFFFA788748BE9570FD90FA56DE009867CD9FD039AE4D8B879842556C0817</vt:lpwstr>
  </property>
  <property fmtid="{D5CDD505-2E9C-101B-9397-08002B2CF9AE}" pid="3" name="MediaServiceImageTags">
    <vt:lpwstr/>
  </property>
</Properties>
</file>